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老师好，我这次汇报的毕业论文定位是“面向密集场景的目标检测与实例分割方法及系统研究”。核心需求是看清每个可见个体，再把输出用于数量和区域分析。密集场景里，实例是否分别检出，以及每个实例的像素是否分准，是两个相互衔接的问题。</a:t>
            </a:r>
          </a:p>
          <a:p>
            <a:pPr/>
            <a:endParaRPr lang="zh-CN" dirty="0"/>
          </a:p>
          <a:p>
            <a:pPr/>
            <a:r>
              <a:rPr lang="zh-CN" dirty="0"/>
              <a:t>论文准备围绕这两个问题设置方法方向，最后形成通用检测分割分析系统。猪只群体监测利用已有数据作为应用案例，方法和接口按通用问题设计，跨场景效果通过实验验证。今天主要说明业界已有能力、尚存的具体困难，以及准备怎样攻克；实验细节放在备用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应用究竟需要什么说起。用户往往不仅关心图像中有没有某一类目标，更关心当前看到了多少个个体，以及每个个体占据哪些区域。左侧是抽象示意，不是实际检测结果。漏掉一个实例会少计，把一个实例输出两次会多计；把邻居像素分到当前个体上，或者丢掉自身的一部分，则会影响个体区域分析。</a:t>
            </a:r>
          </a:p>
          <a:p>
            <a:pPr/>
            <a:endParaRPr lang="zh-CN" dirty="0"/>
          </a:p>
          <a:p>
            <a:pPr/>
            <a:r>
              <a:rPr lang="zh-CN" dirty="0"/>
              <a:t>如果进一步统计一个指定区域的前景占比，应当使用目标掩码的并集，避免重叠部分被重复计算。动物群体、人员和车辆场景的对象不同，但这些输出要求相通。因此，论文关注实例对应关系和区域质量都可核对的输出。这里的数量是当前可见实例数量，不推断完全遮挡的实际总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目前通用检测分割已经有很强的基础能力。单个模型可以给出类别、位置和实例掩码。以官方发布的 YOLO26m-seg 为参考，六百四十输入的 COCO Box AP 为五十二点五，Mask AP 为四十四点一；这两个数是发布指标，不是本地复现结论，也不能据此推断本地验证已经对齐。</a:t>
            </a:r>
          </a:p>
          <a:p>
            <a:pPr/>
            <a:endParaRPr lang="zh-CN" dirty="0"/>
          </a:p>
          <a:p>
            <a:pPr/>
            <a:r>
              <a:rPr lang="zh-CN" dirty="0"/>
              <a:t>检测已经发展到一对一的端到端输出，可以免去最终 NMS。SAM 3 进一步支持通过文本概念或示例图像寻找多个实例，并支持检测、分割和视频跟踪。因此，本课题应在这些能力之上，检查密集位置的相邻个体是否分别保留，以及接触区域是否归属正确。前者属于实例对应问题，后者属于区域质量问题。</a:t>
            </a:r>
          </a:p>
          <a:p>
            <a:pPr/>
            <a:endParaRPr lang="zh-CN" dirty="0"/>
          </a:p>
          <a:p>
            <a:pPr/>
            <a:r>
              <a:rPr lang="zh-CN" dirty="0"/>
              <a:t>官方参考可在 https://docs.ultralytics.com/tasks/segment 和 https://docs.ultralytics.com/models/yolo26 核对；SAM 3 论文为 https://arxiv.org/abs/2511.16719 。不同模型的任务和指标条件不同，本页不构成跨模型性能排名。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针对密集检测，已有研究首先改进抑制规则。Adaptive NMS 根据局部密度调整阈值，缓解相邻行人的误抑制。CrowdDet 通过一个 proposal 表达多个实例，配合集合损失和 Set NMS 处理高重叠目标。DDQ 进一步从密集查询中选择有区分度的查询，兼顾召回和查询冗余。这几项工作分别说明，密度适应、集合预测和候选区分都已有研究基础。</a:t>
            </a:r>
          </a:p>
          <a:p>
            <a:pPr/>
            <a:endParaRPr lang="zh-CN" dirty="0"/>
          </a:p>
          <a:p>
            <a:pPr/>
            <a:r>
              <a:rPr lang="zh-CN" dirty="0"/>
              <a:t>近期的 TQS 预印本也研究固定候选上的关系建模与集合选择，但其跨域稳定性并不一致。因此，本课题的切口需要更具体：当完整候选、同一目标的局部片段，以及相邻真实个体共同存在时，如何判断应该保留哪些预测。单纯提出“加入关系”还不够，需要证明所用信息和决策方式带来的新增作用。</a:t>
            </a:r>
          </a:p>
          <a:p>
            <a:pPr/>
            <a:endParaRPr lang="zh-CN" dirty="0"/>
          </a:p>
          <a:p>
            <a:pPr/>
            <a:r>
              <a:rPr lang="zh-CN" dirty="0"/>
              <a:t>本页来源为 Adaptive NMS：https://openaccess.thecvf.com/content_CVPR_2019/html/Liu_Adaptive_NMS_Refining_Pedestrian_Detection_in_a_Crowd_CVPR_2019_paper.html ；CrowdDet：https://openaccess.thecvf.com/content_CVPR_2020/html/Chu_Detection_in_Crowded_Scenes_One_Proposal_Multiple_Predictions_CVPR_2020_paper.html ；DDQ：https://arxiv.org/abs/2303.12776 ；TQS：https://arxiv.org/abs/2608.11607 ，后者按二零二六年预印本定位。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类难点可以用两个相反的例子说明。左侧两个预测高度重叠，但它们可能对应两个相邻、互相遮挡的真实个体；如果抑制过强，就会删掉一个本来应该保留的目标。右侧两个预测重叠很少，却可能只是同一个目标的两个互补片段，单纯按重叠去重就可能将它们都保留下来。</a:t>
            </a:r>
          </a:p>
          <a:p>
            <a:pPr/>
            <a:endParaRPr lang="zh-CN" dirty="0"/>
          </a:p>
          <a:p>
            <a:pPr/>
            <a:r>
              <a:rPr lang="zh-CN" dirty="0"/>
              <a:t>所以，重叠程度和单个分类分数都不能直接回答实例身份问题。拟研究的办法是结合候选的可见完整性和相互关系，在固定候选范围与计算预算下，选择一组对应不同可见个体的预测。这里的作用范围很明确：只有候选池里已经存在有效预测，选择才有机会减少筛选造成的损失；它不能凭空生成原本没有的候选。</a:t>
            </a:r>
          </a:p>
          <a:p>
            <a:pPr/>
            <a:endParaRPr lang="zh-CN" dirty="0"/>
          </a:p>
          <a:p>
            <a:pPr/>
            <a:r>
              <a:rPr lang="zh-CN" dirty="0"/>
              <a:t>图是机制示意。历史候选追踪与竞争案例可追溯到原汇报稿附录 E8、E9；这些案例是问题动机，不是新选择方法已经有效的证据。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即使实例选对了，掩码仍然可能不够准确。关于掩码改善，已有研究也很充分。Mask Scoring R-CNN 估计 Mask IoU，用于校准质量分数；BPR 在预测边界附近提取高分辨率图像块进行细化；Mask Transfiner 使用四叉树，把处理重点放在检测出的易错节点上。</a:t>
            </a:r>
          </a:p>
          <a:p>
            <a:pPr/>
            <a:endParaRPr lang="zh-CN" dirty="0"/>
          </a:p>
          <a:p>
            <a:pPr/>
            <a:r>
              <a:rPr lang="zh-CN" dirty="0"/>
              <a:t>这说明质量感知、局部边界细化和选择性计算都已经具备方法基础。本课题把问题进一步收紧为：对于某一个实例，一次具体修正是否值得采用。当前质量差，不意味着某种操作一定能够修好；知道哪里可能出错，也不直接等于知道这次修改的净收益。我们准备把原状态、修正响应以及邻居预测用于这个判断，并通过对照检验新增信息的作用，而不把任务区分本身当成创新结论。</a:t>
            </a:r>
          </a:p>
          <a:p>
            <a:pPr/>
            <a:endParaRPr lang="zh-CN" dirty="0"/>
          </a:p>
          <a:p>
            <a:pPr/>
            <a:r>
              <a:rPr lang="zh-CN" dirty="0"/>
              <a:t>论文来源分别为 https://openaccess.thecvf.com/content_CVPR_2019/html/Huang_Mask_Scoring_R-CNN_CVPR_2019_paper.html 、https://openaccess.thecvf.com/content/CVPR2021/html/Tang_Look_Closer_To_Segment_Better_Boundary_Patch_Refinement_for_Instance_CVPR_2021_paper.html 和 https://arxiv.org/abs/2111.13673 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类困难在于，类似的修正动作可能带来相反结果。左侧把一块原本属于邻居的前景删掉，能够减少错误；右侧如果删掉的是当前目标自身的细小区域，就会破坏原本正确的输出。页面只表达这个机制，没有编造前后 IoU，也不代表某个实际样例经过新方法后已经改善。</a:t>
            </a:r>
          </a:p>
          <a:p>
            <a:pPr/>
            <a:endParaRPr lang="zh-CN" dirty="0"/>
          </a:p>
          <a:p>
            <a:pPr/>
            <a:r>
              <a:rPr lang="zh-CN" dirty="0"/>
              <a:t>部署时没有真实标注告诉我们每一块像素属于谁，邻居预测本身也可能有错。统一平滑或统一收紧，无法预先保证每个实例都获益。因此，需要根据原掩码与修正后的变化判断采用与否，并同时报告总体质量、修复数量和误伤数量。只有平均指标而没有成功保护分析，会漏掉一部分重要代价。</a:t>
            </a:r>
          </a:p>
          <a:p>
            <a:pPr/>
            <a:endParaRPr lang="zh-CN" dirty="0"/>
          </a:p>
          <a:p>
            <a:pPr/>
            <a:r>
              <a:rPr lang="zh-CN" dirty="0"/>
              <a:t>历史空间诊断提供了局部错误减少但总体质量没有改善的记录，来源为原汇报稿 E2。这支持同时考虑修复与误伤，并不构成对某个部件的因果证明。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到这里，论文可以归结为两个层次的决策。第一层决定保留哪些预测，使输出尽可能对应不同的可见个体；第二层固定已经选定的实例，判断一次区域修正是否值得采用。基础模型产生候选，实例选择形成保留集合，掩码修正改善区域，系统再将结果转化为统计和展示。</a:t>
            </a:r>
          </a:p>
          <a:p>
            <a:pPr/>
            <a:endParaRPr lang="zh-CN" dirty="0"/>
          </a:p>
          <a:p>
            <a:pPr/>
            <a:r>
              <a:rPr lang="zh-CN" dirty="0"/>
              <a:t>这两个方向各自有清楚的输入和输出。一个改变实例集合，主要关联遗漏和重复；另一个处理区域，主要关联像素归属和成功保护。它们分别评价，再检查组合效果，避免把一项方法的变化归到另一项上。失败诊断、候选追踪和分层评价作为研究基础，为这两个方向提供证据，不单独列作攻克方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个攻克方向是密集实例的候选判别与冗余控制。输入是在预先限定范围内保留下来的预测候选。准备使用的信息包括候选的可见区域完整性，以及候选之间的重叠、包含、互补和邻接关系，再结合候选质量判断哪些预测应该保留。</a:t>
            </a:r>
          </a:p>
          <a:p>
            <a:pPr/>
            <a:endParaRPr lang="zh-CN" dirty="0"/>
          </a:p>
          <a:p>
            <a:pPr/>
            <a:r>
              <a:rPr lang="zh-CN" dirty="0"/>
              <a:t>它需要面对的核心矛盾仍然是：相邻真实个体要分别保留，同一目标的局部候选又不能被重复解释。评价时固定候选范围和处理预算，沿基础模型实际使用的输出流程比较，保留候选与最终检测的身份对应。研究目标是减少选择造成的遗漏和冗余，是否能同时做到，需要实验回答。</a:t>
            </a:r>
          </a:p>
          <a:p>
            <a:pPr/>
            <a:endParaRPr lang="zh-CN" dirty="0"/>
          </a:p>
          <a:p>
            <a:pPr/>
            <a:r>
              <a:rPr lang="zh-CN" dirty="0"/>
              <a:t>已有追踪工具和候选竞争案例可以直接作为基础，但新判别方案还没有有效性结论。历史候选排序的 Gate 未通过，不能把它改写成新方法成果，也不能只换阈值追求阳性结果。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个攻克方向是邻接关系辅助的掩码修正收益预测。先对一个已选实例生成候选修正，再根据原掩码状态、修正引起的变化以及邻居预测，判断采用修正，还是保留原结果。决策对象是一项具体操作的收益，而不是只给当前掩码打一个质量分。</a:t>
            </a:r>
          </a:p>
          <a:p>
            <a:pPr/>
            <a:endParaRPr lang="zh-CN" dirty="0"/>
          </a:p>
          <a:p>
            <a:pPr/>
            <a:r>
              <a:rPr lang="zh-CN" dirty="0"/>
              <a:t>例如，同样删除一块区域，发生在邻居接触处和发生在独立细节处，可能意味着不同风险。训练时可以用标注生成收益监督，推理时只使用图像和模型预测。单独评价该方向时固定框、类别、分数和检测集合，不将计数变化或漏检恢复归因于掩码修正。</a:t>
            </a:r>
          </a:p>
          <a:p>
            <a:pPr/>
            <a:endParaRPr lang="zh-CN" dirty="0"/>
          </a:p>
          <a:p>
            <a:pPr/>
            <a:r>
              <a:rPr lang="zh-CN" dirty="0"/>
              <a:t>已有 RCMC 选择性修正原型可复用，毕业论文新增的是邻接信息及相应收益判断的研究，额外增益仍待验证。后续需要同时观察总体质量和原成功实例的退化。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两项方法放回应用需求，就可以说明它们为什么有用。实例选择改变最终保留哪些预测，因此关联可见数量中的漏计和多计。掩码修正改变每个已保留实例的像素区域，因此主要关联个体区域是否准确。区域占用则使用指定区域内所有目标掩码的并集。</a:t>
            </a:r>
          </a:p>
          <a:p>
            <a:pPr/>
            <a:endParaRPr lang="zh-CN" dirty="0"/>
          </a:p>
          <a:p>
            <a:pPr/>
            <a:r>
              <a:rPr lang="zh-CN" dirty="0"/>
              <a:t>这三者需要分开理解。如果像素只是在两个邻接实例之间重新归属，个体区域会改变，但整体前景占比可能保持不变。系统应当保留前后结果，让用户能够追溯每项数量或区域变化来自哪一步，而不能笼统地把所有统计改善都归功于同一个模块。</a:t>
            </a:r>
          </a:p>
          <a:p>
            <a:pPr/>
            <a:endParaRPr lang="zh-CN" dirty="0"/>
          </a:p>
          <a:p>
            <a:pPr/>
            <a:r>
              <a:rPr lang="zh-CN" dirty="0"/>
              <a:t>目前已有候选追踪、分层评价工具、RCMC 修正原型和动物案例数据，可以作为实施基础。详细数值放在备用页，正文重点是把方法与应用信息连接起来。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围绕前面的链路组织。输入可以是单张图片、批量图片或视频；已适配模型通过统一格式提供框、类别、分数和实例掩码，再进入候选选择与选择性修正。系统支持基线、两个单独模块以及组合模式，保留中间输出，最后叠加显示框和掩码，计算数量与占用，并保存处理结果和统计报表。</a:t>
            </a:r>
          </a:p>
          <a:p>
            <a:pPr/>
            <a:endParaRPr lang="zh-CN" dirty="0"/>
          </a:p>
          <a:p>
            <a:pPr/>
            <a:r>
              <a:rPr lang="zh-CN" dirty="0"/>
              <a:t>通用性首先通过工程接口实现：模型可以适配，类别名称可以配置，统计区域也可以调整。方法跨类别和跨场景的性能则必须另行检验，不能由界面可配置直接推出。</a:t>
            </a:r>
          </a:p>
          <a:p>
            <a:pPr/>
            <a:endParaRPr lang="zh-CN" dirty="0"/>
          </a:p>
          <a:p>
            <a:pPr/>
            <a:r>
              <a:rPr lang="zh-CN" dirty="0"/>
              <a:t>现有推理、解码和导出组件可以复用，统一界面、模型管理、视频任务和系统测试属于拟实现工作。这一页是系统设计方案，已有离线脚本并不意味着完整平台已经完成。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已有数据基础比较好的猪只群体监测说明完整使用流程。用户选择猪只模型和输入数据，查看处理前后的实例结果，设置统计区域，再保存结果与逐帧统计记录。页面展示的是界面设计示意，不是已经运行的截图，也没有虚构处理速度或统计曲线。</a:t>
            </a:r>
          </a:p>
          <a:p>
            <a:pPr/>
            <a:endParaRPr lang="zh-CN" dirty="0"/>
          </a:p>
          <a:p>
            <a:pPr/>
            <a:r>
              <a:rPr lang="zh-CN" dirty="0"/>
              <a:t>应用验证主要检查功能是否正确、数量与区域统计是否准确、端到端延迟以及连续任务稳定性。计数只针对可见实例，区域占用是图像区域内的可见前景比例；逐帧曲线不默认具有跨帧身份保持或去重计数能力。</a:t>
            </a:r>
          </a:p>
          <a:p>
            <a:pPr/>
            <a:endParaRPr lang="zh-CN" dirty="0"/>
          </a:p>
          <a:p>
            <a:pPr/>
            <a:r>
              <a:rPr lang="zh-CN" dirty="0"/>
              <a:t>论文最终形成的主线是：方法回答保留哪些实例、是否修正区域，系统把这些输出变成用户可检查、可比较、可导出的结果。猪只是其中一种配置，研究对象保持为通用的密集检测与实例分割问题。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现有基础主要分成四类。诊断与候选追踪可以复用分层评价和身份追踪实现，但新模型下的对应关系仍需重新核验。RCMC 可以复用修正规则、收益模型和历史对照，新增工作是密集子集分析、邻居信息消融和独立确认。动物案例可以复用清单与评估流程，但需要处理重复组问题，再验证新方法效果。推理与导出组件可以接入系统，统一接口、界面和完整系统测试仍需完成。</a:t>
            </a:r>
          </a:p>
          <a:p>
            <a:pPr/>
            <a:endParaRPr lang="zh-CN" dirty="0"/>
          </a:p>
          <a:p>
            <a:pPr/>
            <a:r>
              <a:rPr lang="zh-CN" dirty="0"/>
              <a:t>直接复用结果只意味着在原对象、原样本和原评价协议下引用历史事实；改变模型、数据或指标后，要重新评价。已有候选案例不等于新选择方法通过验证，旧排序 Gate 仍保留未通过状态。</a:t>
            </a:r>
          </a:p>
          <a:p>
            <a:pPr/>
            <a:endParaRPr lang="zh-CN" dirty="0"/>
          </a:p>
          <a:p>
            <a:pPr/>
            <a:r>
              <a:rPr lang="zh-CN" dirty="0"/>
              <a:t>证据索引为原汇报稿附录 E1、E2、E3、E4、E8、E9，权威文件位于 C:/Dpan/codexproject/paper-disc-organized/paper/毕业论文汇报稿_通用密集检测分割与系统_20261014.md 。其中 COCO-Dense 历史评价为一千五百七十六张图，动物外部评价为 Faro 与 Bama 共四千八百五十八条图像记录；这些规模不自动成为新实验的样本集合。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这页只说明已有原型可以作为实施起点。在 COCO val2017 相同的四千五百张图和三万二千八百三十一个普通 GT 的旧协议下，m 模型 Mask AP 从基线四十三点三八，到固定平滑四十三点八三，再到选择性响应门控四十三点九四；s 模型对应为三十九点四二、三十九点八零和三十九点九零。</a:t>
            </a:r>
          </a:p>
          <a:p>
            <a:pPr/>
            <a:endParaRPr lang="zh-CN" dirty="0"/>
          </a:p>
          <a:p>
            <a:pPr/>
            <a:r>
              <a:rPr lang="zh-CN" dirty="0"/>
              <a:t>选择性方法同时减少了修复和误伤，不能只报告其中一项。m 的修复从九百零七降到八百零一，误伤从五百七十六降到四百四十五，净修复由三百三十一升至三百五十六；s 的对应净修复由二百八十五升至三百四十。这些是固定匹配的 Mask IoU 零点七五诊断，不是 AP 的样本分母。</a:t>
            </a:r>
          </a:p>
          <a:p>
            <a:pPr/>
            <a:endParaRPr lang="zh-CN" dirty="0"/>
          </a:p>
          <a:p>
            <a:pPr/>
            <a:r>
              <a:rPr lang="zh-CN" dirty="0"/>
              <a:t>结果来自一次门控拟合，验证数据曾参与早期探索，AP 未给置信区间。因此它只能支持所测条件下的原型，不能证明新增邻居信息、密集子集或动物场景已经获益，也不能与原生五千图的基线串表。</a:t>
            </a:r>
          </a:p>
          <a:p>
            <a:pPr/>
            <a:endParaRPr lang="zh-CN" dirty="0"/>
          </a:p>
          <a:p>
            <a:pPr/>
            <a:r>
              <a:rPr lang="zh-CN" dirty="0"/>
              <a:t>m 的源 Run 为 RUN_e0e0d46defb74e3d9a90094f49ce26fe，s 为 RUN_f9df48632ac742248343184263262429，均在 C:/Dpan/codexproject/paper-disc-organized/experiments/mask_boundary_route_20260914/runs/ 对应目录中；冻结摘要副本位于 paper/manuscripts/mask_boundary_calibration/reproducibility/evidence/ 下同名 Run 目录。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施上先统一比较口径，包括模型、样本分组、候选预算和评价规则，再分别检验两个方向。候选选择要对照质量信息和关系信息各自的作用；掩码修正要比较原收益模型与新增邻居特征。之后将基线、两个单模块和组合放在同条件下比较，区分收益来自哪一步。</a:t>
            </a:r>
          </a:p>
          <a:p>
            <a:pPr/>
            <a:endParaRPr lang="zh-CN" dirty="0"/>
          </a:p>
          <a:p>
            <a:pPr/>
            <a:r>
              <a:rPr lang="zh-CN" dirty="0"/>
              <a:t>最后在猪只案例中进行独立应用确认，并测试统计误差、端到端延迟和连续任务稳定性。最近的一个具体步骤，是固定毕业论文的比较口径，并将已有基线推理接入统一接口。这里是实施建议，没有因此启动训练，也不改变独立期刊论文中系数纠错研究线的当前协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nse_instance_the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nse_instance_the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eyebrow"/>
          <p:cNvGrpSpPr/>
          <p:nvPr/>
        </p:nvGrpSpPr>
        <p:grpSpPr>
          <a:xfrm>
            <a:off x="601218" y="587375"/>
            <a:ext cx="10989563" cy="322707"/>
            <a:chOff x="601218" y="587375"/>
            <a:chExt cx="1098956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5873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毕业论文研究方案汇报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2341" y="587375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2026.10.14</a:t>
              </a:r>
            </a:p>
          </p:txBody>
        </p:sp>
      </p:grpSp>
      <p:grpSp>
        <p:nvGrpSpPr>
          <p:cNvPr id="7" name="title"/>
          <p:cNvGrpSpPr/>
          <p:nvPr/>
        </p:nvGrpSpPr>
        <p:grpSpPr>
          <a:xfrm>
            <a:off x="590550" y="1546225"/>
            <a:ext cx="4838700" cy="2811018"/>
            <a:chOff x="590550" y="1546225"/>
            <a:chExt cx="4838700" cy="2811018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6225"/>
              <a:ext cx="483870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面向密集场景的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目标检测与实例分割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方法及系统研究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7032" y="3946525"/>
              <a:ext cx="40639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实例对应 → 区域质量 → 通用系统</a:t>
              </a:r>
            </a:p>
          </p:txBody>
        </p:sp>
      </p:grpSp>
      <p:grpSp>
        <p:nvGrpSpPr>
          <p:cNvPr id="16" name="instance-conflict"/>
          <p:cNvGrpSpPr/>
          <p:nvPr/>
        </p:nvGrpSpPr>
        <p:grpSpPr>
          <a:xfrm>
            <a:off x="8610600" y="1609725"/>
            <a:ext cx="2686050" cy="3038475"/>
            <a:chOff x="8610600" y="1609725"/>
            <a:chExt cx="2686050" cy="3038475"/>
          </a:xfrm>
        </p:grpSpPr>
        <p:sp>
          <p:nvSpPr>
            <p:cNvPr id="8" name="Ellipse 8"/>
            <p:cNvSpPr/>
            <p:nvPr/>
          </p:nvSpPr>
          <p:spPr>
            <a:xfrm>
              <a:off x="8705850" y="1657350"/>
              <a:ext cx="1562100" cy="1866900"/>
            </a:xfrm>
            <a:prstGeom prst="ellipse">
              <a:avLst/>
            </a:prstGeom>
            <a:solidFill>
              <a:srgbClr val="315E9D">
                <a:alpha val="55000"/>
              </a:srgbClr>
            </a:solidFill>
            <a:ln w="19050">
              <a:solidFill>
                <a:srgbClr val="87ABD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20250" y="2152650"/>
              <a:ext cx="1562100" cy="18669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 w="19050">
              <a:solidFill>
                <a:srgbClr val="75C3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10600" y="3086100"/>
              <a:ext cx="1562100" cy="1562100"/>
            </a:xfrm>
            <a:prstGeom prst="ellipse">
              <a:avLst/>
            </a:prstGeom>
            <a:solidFill>
              <a:schemeClr val="accent3">
                <a:alpha val="25000"/>
              </a:schemeClr>
            </a:solidFill>
            <a:ln w="19050">
              <a:solidFill>
                <a:srgbClr val="DDAE8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620125" y="1609725"/>
              <a:ext cx="1724025" cy="2047875"/>
            </a:xfrm>
            <a:prstGeom prst="rect">
              <a:avLst/>
            </a:prstGeom>
            <a:noFill/>
            <a:ln w="19050">
              <a:solidFill>
                <a:srgbClr val="87ABD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63100" y="2076450"/>
              <a:ext cx="1733550" cy="2057400"/>
            </a:xfrm>
            <a:prstGeom prst="rect">
              <a:avLst/>
            </a:prstGeom>
            <a:noFill/>
            <a:ln w="19050">
              <a:solidFill>
                <a:srgbClr val="75C3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74683" y="216535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70058" y="275590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74683" y="391795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20" name="cover-takeaway"/>
          <p:cNvGrpSpPr/>
          <p:nvPr/>
        </p:nvGrpSpPr>
        <p:grpSpPr>
          <a:xfrm>
            <a:off x="597408" y="5095875"/>
            <a:ext cx="10993374" cy="1014857"/>
            <a:chOff x="597408" y="5095875"/>
            <a:chExt cx="10993374" cy="1014857"/>
          </a:xfrm>
        </p:grpSpPr>
        <p:sp>
          <p:nvSpPr>
            <p:cNvPr id="17" name="Line 17"/>
            <p:cNvSpPr/>
            <p:nvPr/>
          </p:nvSpPr>
          <p:spPr>
            <a:xfrm>
              <a:off x="609600" y="5095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49607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408" y="5318125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看清每个个体，才能用好场景数据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20363" y="5788025"/>
              <a:ext cx="4270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猪只作为应用案例 · 方法面向通用密集场景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10325"/>
              <a:ext cx="4357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DENSE INSTANCE PERCEPTION · 研究方案，方法效果待验证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01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研究背景 / 个体级感知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应用需要数量准确，也需要区域可信</a:t>
              </a:r>
            </a:p>
          </p:txBody>
        </p:sp>
      </p:grpSp>
      <p:grpSp>
        <p:nvGrpSpPr>
          <p:cNvPr id="22" name="dense-scene"/>
          <p:cNvGrpSpPr/>
          <p:nvPr/>
        </p:nvGrpSpPr>
        <p:grpSpPr>
          <a:xfrm>
            <a:off x="601218" y="1762125"/>
            <a:ext cx="4389882" cy="3443732"/>
            <a:chOff x="601218" y="1762125"/>
            <a:chExt cx="4389882" cy="3443732"/>
          </a:xfrm>
        </p:grpSpPr>
        <p:sp>
          <p:nvSpPr>
            <p:cNvPr id="5" name="Rectangle 5"/>
            <p:cNvSpPr/>
            <p:nvPr/>
          </p:nvSpPr>
          <p:spPr>
            <a:xfrm>
              <a:off x="609600" y="1762125"/>
              <a:ext cx="4381500" cy="2952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85850" y="2047875"/>
              <a:ext cx="3228975" cy="1971675"/>
              <a:chOff x="1085850" y="2047875"/>
              <a:chExt cx="3228975" cy="197167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85850" y="2228850"/>
                <a:ext cx="1181100" cy="819150"/>
              </a:xfrm>
              <a:prstGeom prst="ellipse">
                <a:avLst/>
              </a:prstGeom>
              <a:solidFill>
                <a:srgbClr val="315E9D">
                  <a:alpha val="50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2028825" y="2295525"/>
                <a:ext cx="1162050" cy="81915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3038475" y="2047875"/>
                <a:ext cx="1219200" cy="838200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71575" y="3143250"/>
                <a:ext cx="1276350" cy="81915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171700" y="3057525"/>
                <a:ext cx="1257300" cy="857250"/>
              </a:xfrm>
              <a:prstGeom prst="ellipse">
                <a:avLst/>
              </a:prstGeom>
              <a:solidFill>
                <a:srgbClr val="315E9D">
                  <a:alpha val="50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3228975" y="3048000"/>
                <a:ext cx="1085850" cy="97155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1583588" y="2298700"/>
              <a:ext cx="2281123" cy="1496568"/>
              <a:chOff x="1583588" y="2298700"/>
              <a:chExt cx="2281123" cy="149656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583588" y="247015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17038" y="2536825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55263" y="229870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16938" y="338455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07538" y="3317875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79088" y="336550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</p:grpSp>
        <p:sp>
          <p:nvSpPr>
            <p:cNvPr id="20" name="Rectangle 20"/>
            <p:cNvSpPr/>
            <p:nvPr/>
          </p:nvSpPr>
          <p:spPr>
            <a:xfrm>
              <a:off x="914400" y="2019300"/>
              <a:ext cx="3733800" cy="2295525"/>
            </a:xfrm>
            <a:prstGeom prst="rect">
              <a:avLst/>
            </a:prstGeom>
            <a:noFill/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1218" y="488315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问题示意：类别不同，输出要求相通</a:t>
              </a:r>
            </a:p>
          </p:txBody>
        </p:sp>
      </p:grpSp>
      <p:grpSp>
        <p:nvGrpSpPr>
          <p:cNvPr id="25" name="count-demand"/>
          <p:cNvGrpSpPr/>
          <p:nvPr/>
        </p:nvGrpSpPr>
        <p:grpSpPr>
          <a:xfrm>
            <a:off x="5493258" y="1698625"/>
            <a:ext cx="4224528" cy="915543"/>
            <a:chOff x="5493258" y="1698625"/>
            <a:chExt cx="4224528" cy="915543"/>
          </a:xfrm>
        </p:grpSpPr>
        <p:sp>
          <p:nvSpPr>
            <p:cNvPr id="23" name="TextBox 23"/>
            <p:cNvSpPr txBox="1"/>
            <p:nvPr/>
          </p:nvSpPr>
          <p:spPr>
            <a:xfrm>
              <a:off x="5493258" y="169862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可见数量：有几个不同个体？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94782" y="220345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漏检会少计，重复会多计。</a:t>
              </a:r>
            </a:p>
          </p:txBody>
        </p:sp>
      </p:grpSp>
      <p:grpSp>
        <p:nvGrpSpPr>
          <p:cNvPr id="28" name="region-demand"/>
          <p:cNvGrpSpPr/>
          <p:nvPr/>
        </p:nvGrpSpPr>
        <p:grpSpPr>
          <a:xfrm>
            <a:off x="5493258" y="2946400"/>
            <a:ext cx="4263390" cy="915543"/>
            <a:chOff x="5493258" y="2946400"/>
            <a:chExt cx="4263390" cy="915543"/>
          </a:xfrm>
        </p:grpSpPr>
        <p:sp>
          <p:nvSpPr>
            <p:cNvPr id="26" name="TextBox 26"/>
            <p:cNvSpPr txBox="1"/>
            <p:nvPr/>
          </p:nvSpPr>
          <p:spPr>
            <a:xfrm>
              <a:off x="5493258" y="294640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个体区域：哪些像素属于谁？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4782" y="345122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粘连与缺失会影响个体区域分析。</a:t>
              </a:r>
            </a:p>
          </p:txBody>
        </p:sp>
      </p:grpSp>
      <p:grpSp>
        <p:nvGrpSpPr>
          <p:cNvPr id="31" name="occupancy-demand"/>
          <p:cNvGrpSpPr/>
          <p:nvPr/>
        </p:nvGrpSpPr>
        <p:grpSpPr>
          <a:xfrm>
            <a:off x="5493258" y="4184650"/>
            <a:ext cx="4828794" cy="915543"/>
            <a:chOff x="5493258" y="4184650"/>
            <a:chExt cx="4828794" cy="915543"/>
          </a:xfrm>
        </p:grpSpPr>
        <p:sp>
          <p:nvSpPr>
            <p:cNvPr id="29" name="TextBox 29"/>
            <p:cNvSpPr txBox="1"/>
            <p:nvPr/>
          </p:nvSpPr>
          <p:spPr>
            <a:xfrm>
              <a:off x="5493258" y="418465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前景占用：目标占了多少区域？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94782" y="46894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按掩码并集统计，避免重叠重复计入。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609600" y="5476875"/>
            <a:ext cx="10972800" cy="619125"/>
            <a:chOff x="609600" y="5476875"/>
            <a:chExt cx="10972800" cy="619125"/>
          </a:xfrm>
        </p:grpSpPr>
        <p:sp>
          <p:nvSpPr>
            <p:cNvPr id="32" name="Rectangle 32"/>
            <p:cNvSpPr/>
            <p:nvPr/>
          </p:nvSpPr>
          <p:spPr>
            <a:xfrm>
              <a:off x="609600" y="5476875"/>
              <a:ext cx="10972800" cy="619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7532" y="5632450"/>
              <a:ext cx="73715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共同要求：实例对应与像素归属都可核对，统计才有依据。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410325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应用背景：动物群体、人员、车辆；未经实验的类别不列为已验证场景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7703820" cy="964565"/>
            <a:chOff x="594360" y="415925"/>
            <a:chExt cx="77038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049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技术现状 / 研究起点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基础能力已成熟，密集输出仍需逐实例核对</a:t>
              </a:r>
            </a:p>
          </p:txBody>
        </p:sp>
      </p:grpSp>
      <p:grpSp>
        <p:nvGrpSpPr>
          <p:cNvPr id="13" name="published-baseline"/>
          <p:cNvGrpSpPr/>
          <p:nvPr/>
        </p:nvGrpSpPr>
        <p:grpSpPr>
          <a:xfrm>
            <a:off x="609600" y="1743075"/>
            <a:ext cx="4695825" cy="3238500"/>
            <a:chOff x="609600" y="1743075"/>
            <a:chExt cx="4695825" cy="3238500"/>
          </a:xfrm>
        </p:grpSpPr>
        <p:sp>
          <p:nvSpPr>
            <p:cNvPr id="5" name="Rectangle 5"/>
            <p:cNvSpPr/>
            <p:nvPr/>
          </p:nvSpPr>
          <p:spPr>
            <a:xfrm>
              <a:off x="609600" y="1743075"/>
              <a:ext cx="4695825" cy="3238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936750"/>
              <a:ext cx="20511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YOLO26m-seg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7918" y="2339975"/>
              <a:ext cx="29427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COCO · 640 输入 · 官方参考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7250" y="2851150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52.5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33725" y="2851150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44.1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4682" y="3717925"/>
              <a:ext cx="9128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Box 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61157" y="3717925"/>
              <a:ext cx="11260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Mask AP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4450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发布指标，不是本地复现结果</a:t>
              </a:r>
            </a:p>
          </p:txBody>
        </p:sp>
      </p:grpSp>
      <p:grpSp>
        <p:nvGrpSpPr>
          <p:cNvPr id="16" name="capability-one"/>
          <p:cNvGrpSpPr/>
          <p:nvPr/>
        </p:nvGrpSpPr>
        <p:grpSpPr>
          <a:xfrm>
            <a:off x="5798058" y="1784350"/>
            <a:ext cx="3697986" cy="877443"/>
            <a:chOff x="5798058" y="1784350"/>
            <a:chExt cx="3697986" cy="877443"/>
          </a:xfrm>
        </p:grpSpPr>
        <p:sp>
          <p:nvSpPr>
            <p:cNvPr id="14" name="TextBox 14"/>
            <p:cNvSpPr txBox="1"/>
            <p:nvPr/>
          </p:nvSpPr>
          <p:spPr>
            <a:xfrm>
              <a:off x="5798058" y="178435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类别、位置与实例掩码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99582" y="225107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单个模型可完成检测与分割。</a:t>
              </a:r>
            </a:p>
          </p:txBody>
        </p:sp>
      </p:grpSp>
      <p:grpSp>
        <p:nvGrpSpPr>
          <p:cNvPr id="19" name="capability-two"/>
          <p:cNvGrpSpPr/>
          <p:nvPr/>
        </p:nvGrpSpPr>
        <p:grpSpPr>
          <a:xfrm>
            <a:off x="5798058" y="2917825"/>
            <a:ext cx="4147109" cy="877443"/>
            <a:chOff x="5798058" y="2917825"/>
            <a:chExt cx="4147109" cy="877443"/>
          </a:xfrm>
        </p:grpSpPr>
        <p:sp>
          <p:nvSpPr>
            <p:cNvPr id="17" name="TextBox 17"/>
            <p:cNvSpPr txBox="1"/>
            <p:nvPr/>
          </p:nvSpPr>
          <p:spPr>
            <a:xfrm>
              <a:off x="5798058" y="291782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端到端实例输出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9582" y="3384550"/>
              <a:ext cx="41455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已有一对一、免最终 NMS 分支。</a:t>
              </a:r>
            </a:p>
          </p:txBody>
        </p:sp>
      </p:grpSp>
      <p:grpSp>
        <p:nvGrpSpPr>
          <p:cNvPr id="22" name="capability-three"/>
          <p:cNvGrpSpPr/>
          <p:nvPr/>
        </p:nvGrpSpPr>
        <p:grpSpPr>
          <a:xfrm>
            <a:off x="5798058" y="4051300"/>
            <a:ext cx="3383852" cy="1084707"/>
            <a:chOff x="5798058" y="4051300"/>
            <a:chExt cx="3383852" cy="1084707"/>
          </a:xfrm>
        </p:grpSpPr>
        <p:sp>
          <p:nvSpPr>
            <p:cNvPr id="20" name="TextBox 20"/>
            <p:cNvSpPr txBox="1"/>
            <p:nvPr/>
          </p:nvSpPr>
          <p:spPr>
            <a:xfrm>
              <a:off x="5798058" y="405130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概念驱动的多实例感知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868" y="4527550"/>
              <a:ext cx="338004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 3（2025）：文本 / 示例提示，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检测、分割及视频跟踪。</a:t>
              </a:r>
            </a:p>
          </p:txBody>
        </p:sp>
      </p:grpSp>
      <p:grpSp>
        <p:nvGrpSpPr>
          <p:cNvPr id="25" name="research-gap"/>
          <p:cNvGrpSpPr/>
          <p:nvPr/>
        </p:nvGrpSpPr>
        <p:grpSpPr>
          <a:xfrm>
            <a:off x="597408" y="5314950"/>
            <a:ext cx="10984992" cy="672592"/>
            <a:chOff x="597408" y="5314950"/>
            <a:chExt cx="10984992" cy="672592"/>
          </a:xfrm>
        </p:grpSpPr>
        <p:sp>
          <p:nvSpPr>
            <p:cNvPr id="23" name="Line 23"/>
            <p:cNvSpPr/>
            <p:nvPr/>
          </p:nvSpPr>
          <p:spPr>
            <a:xfrm>
              <a:off x="609600" y="5314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518150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下一层要求：</a:t>
              </a:r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相邻个体分清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可见区域分准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315075"/>
            <a:ext cx="10984992" cy="425196"/>
            <a:chOff x="603504" y="6315075"/>
            <a:chExt cx="10984992" cy="4251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315075"/>
              <a:ext cx="5751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来源：Ultralytics YOLO26 / Segment 官方文档；SAM 3，arXiv:2511.16719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504" y="6505575"/>
              <a:ext cx="5366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不同任务指标不可直接横向比较；本页不据发布 AP 判断本地基线 parity。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方向一 / 已有研究走到哪里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实例选择已从固定抑制走向集合建模</a:t>
              </a:r>
            </a:p>
          </p:txBody>
        </p:sp>
      </p:grpSp>
      <p:grpSp>
        <p:nvGrpSpPr>
          <p:cNvPr id="24" name="prior-work-path"/>
          <p:cNvGrpSpPr/>
          <p:nvPr/>
        </p:nvGrpSpPr>
        <p:grpSpPr>
          <a:xfrm>
            <a:off x="590550" y="1746250"/>
            <a:ext cx="10706100" cy="2928493"/>
            <a:chOff x="590550" y="1746250"/>
            <a:chExt cx="10706100" cy="2928493"/>
          </a:xfrm>
        </p:grpSpPr>
        <p:sp>
          <p:nvSpPr>
            <p:cNvPr id="5" name="Line 5"/>
            <p:cNvSpPr/>
            <p:nvPr/>
          </p:nvSpPr>
          <p:spPr>
            <a:xfrm>
              <a:off x="771525" y="2695575"/>
              <a:ext cx="10525125" cy="9525"/>
            </a:xfrm>
            <a:custGeom>
              <a:avLst/>
              <a:gdLst/>
              <a:ahLst/>
              <a:cxnLst/>
              <a:rect l="l" t="t" r="r" b="b"/>
              <a:pathLst>
                <a:path w="10525125" h="9525">
                  <a:moveTo>
                    <a:pt x="0" y="0"/>
                  </a:moveTo>
                  <a:lnTo>
                    <a:pt x="105251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1" name="adaptive-nms"/>
            <p:cNvGrpSpPr/>
            <p:nvPr/>
          </p:nvGrpSpPr>
          <p:grpSpPr>
            <a:xfrm>
              <a:off x="590550" y="1746250"/>
              <a:ext cx="2430018" cy="2928493"/>
              <a:chOff x="590550" y="1746250"/>
              <a:chExt cx="2430018" cy="2928493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90550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2019</a:t>
                </a:r>
              </a:p>
            </p:txBody>
          </p:sp>
          <p:sp>
            <p:nvSpPr>
              <p:cNvPr id="7" name="Ellipse 7"/>
              <p:cNvSpPr/>
              <p:nvPr/>
            </p:nvSpPr>
            <p:spPr>
              <a:xfrm>
                <a:off x="704850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98932" y="2955925"/>
                <a:ext cx="192990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Adaptive NMS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01218" y="3406775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密度自适应抑制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8932" y="3844925"/>
                <a:ext cx="242163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局部密度调整阈值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缓解相邻行人误抑制</a:t>
                </a:r>
              </a:p>
            </p:txBody>
          </p:sp>
        </p:grpSp>
        <p:grpSp>
          <p:nvGrpSpPr>
            <p:cNvPr id="17" name="crowddet"/>
            <p:cNvGrpSpPr/>
            <p:nvPr/>
          </p:nvGrpSpPr>
          <p:grpSpPr>
            <a:xfrm>
              <a:off x="4391025" y="1746250"/>
              <a:ext cx="2630043" cy="2928493"/>
              <a:chOff x="4391025" y="1746250"/>
              <a:chExt cx="2630043" cy="292849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391025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505325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399407" y="2955925"/>
                <a:ext cx="140610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CrowdDet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01693" y="3406775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一组候选解释多个目标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99407" y="3844925"/>
                <a:ext cx="2621661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一个 proposal 多实例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集合损失与 Set NMS</a:t>
                </a:r>
              </a:p>
            </p:txBody>
          </p:sp>
        </p:grpSp>
        <p:grpSp>
          <p:nvGrpSpPr>
            <p:cNvPr id="23" name="ddq"/>
            <p:cNvGrpSpPr/>
            <p:nvPr/>
          </p:nvGrpSpPr>
          <p:grpSpPr>
            <a:xfrm>
              <a:off x="8191500" y="1746250"/>
              <a:ext cx="2248662" cy="2928493"/>
              <a:chOff x="8191500" y="1746250"/>
              <a:chExt cx="2248662" cy="292849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191500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2023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8305800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199882" y="2955925"/>
                <a:ext cx="60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DDQ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02168" y="3406775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密集且有区分度的查询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99882" y="3844925"/>
                <a:ext cx="188823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兼顾候选召回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与查询冗余控制</a:t>
                </a:r>
              </a:p>
            </p:txBody>
          </p:sp>
        </p:grpSp>
      </p:grpSp>
      <p:grpSp>
        <p:nvGrpSpPr>
          <p:cNvPr id="28" name="specific-gap"/>
          <p:cNvGrpSpPr/>
          <p:nvPr/>
        </p:nvGrpSpPr>
        <p:grpSpPr>
          <a:xfrm>
            <a:off x="609600" y="5162550"/>
            <a:ext cx="10972800" cy="866775"/>
            <a:chOff x="609600" y="5162550"/>
            <a:chExt cx="10972800" cy="866775"/>
          </a:xfrm>
        </p:grpSpPr>
        <p:sp>
          <p:nvSpPr>
            <p:cNvPr id="25" name="Rectangle 25"/>
            <p:cNvSpPr/>
            <p:nvPr/>
          </p:nvSpPr>
          <p:spPr>
            <a:xfrm>
              <a:off x="609600" y="5162550"/>
              <a:ext cx="10972800" cy="866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532" y="5289550"/>
              <a:ext cx="85023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课题切口：完整候选、局部片段、相邻个体混在一起时，怎样取舍？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818" y="567372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关系建模已有研究；需要证明具体信息和选择策略带来的新增作用。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267450"/>
            <a:ext cx="10984992" cy="463296"/>
            <a:chOff x="603504" y="6267450"/>
            <a:chExt cx="10984992" cy="4632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267450"/>
              <a:ext cx="6303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来源：Adaptive NMS（CVPR 2019）；CrowdDet（CVPR 2020）；DDQ（CVPR 2023）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504" y="6496050"/>
              <a:ext cx="7136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近期参照：TQS（2026 预印本，arXiv:2608.11607），固定候选关系选择；跨域稳定性并不一致。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7362558" cy="964565"/>
            <a:chOff x="594360" y="415925"/>
            <a:chExt cx="7362558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核心难点一 / 实例身份歧义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73625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重叠程度无法直接回答“是不是同一个体”</a:t>
              </a:r>
            </a:p>
          </p:txBody>
        </p:sp>
      </p:grpSp>
      <p:grpSp>
        <p:nvGrpSpPr>
          <p:cNvPr id="13" name="different-overlapping"/>
          <p:cNvGrpSpPr/>
          <p:nvPr/>
        </p:nvGrpSpPr>
        <p:grpSpPr>
          <a:xfrm>
            <a:off x="597408" y="1755775"/>
            <a:ext cx="3901440" cy="3096768"/>
            <a:chOff x="597408" y="1755775"/>
            <a:chExt cx="3901440" cy="30967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高重叠：也可能是不同个体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504950" y="2505075"/>
              <a:ext cx="1847850" cy="14097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28575">
              <a:solidFill>
                <a:srgbClr val="315E9D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57450" y="2628900"/>
              <a:ext cx="1847850" cy="1409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43025" y="2352675"/>
              <a:ext cx="2171700" cy="165735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295525" y="2486025"/>
              <a:ext cx="2171700" cy="16573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41957" y="3060700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6932" y="320357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441825"/>
              <a:ext cx="3738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抑制过强 → 相邻真实实例被删</a:t>
              </a:r>
            </a:p>
          </p:txBody>
        </p:sp>
      </p:grpSp>
      <p:grpSp>
        <p:nvGrpSpPr>
          <p:cNvPr id="22" name="same-fragments"/>
          <p:cNvGrpSpPr/>
          <p:nvPr/>
        </p:nvGrpSpPr>
        <p:grpSpPr>
          <a:xfrm>
            <a:off x="6331458" y="1755775"/>
            <a:ext cx="4514850" cy="3096768"/>
            <a:chOff x="6331458" y="1755775"/>
            <a:chExt cx="4514850" cy="30967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55775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低重叠：也可能是同一目标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10450" y="2514600"/>
              <a:ext cx="3162300" cy="1524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16" name="Ellipse 16"/>
            <p:cNvSpPr/>
            <p:nvPr/>
          </p:nvSpPr>
          <p:spPr>
            <a:xfrm>
              <a:off x="765810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04875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57007" y="31178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7657" y="31178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64068" y="40830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虚线：同一实例的可见范围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2982" y="4441825"/>
              <a:ext cx="3738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只按重叠去重 → 局部重复保留</a:t>
              </a:r>
            </a:p>
          </p:txBody>
        </p:sp>
      </p:grpSp>
      <p:grpSp>
        <p:nvGrpSpPr>
          <p:cNvPr id="26" name="research-question"/>
          <p:cNvGrpSpPr/>
          <p:nvPr/>
        </p:nvGrpSpPr>
        <p:grpSpPr>
          <a:xfrm>
            <a:off x="597408" y="5267325"/>
            <a:ext cx="10984992" cy="900557"/>
            <a:chOff x="597408" y="5267325"/>
            <a:chExt cx="10984992" cy="900557"/>
          </a:xfrm>
        </p:grpSpPr>
        <p:sp>
          <p:nvSpPr>
            <p:cNvPr id="23" name="Line 23"/>
            <p:cNvSpPr/>
            <p:nvPr/>
          </p:nvSpPr>
          <p:spPr>
            <a:xfrm>
              <a:off x="609600" y="5267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413375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需要判断：候选是否完整，以及它与邻居是什么关系。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845175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作用边界：固定候选与计算预算；仅靠选择无法补出候选池中不存在的目标。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10325"/>
              <a:ext cx="54992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机制示意，不是模型实测；候选追踪与竞争案例来源见原汇报稿 [E8][E9]。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213577" cy="964565"/>
            <a:chOff x="594360" y="415925"/>
            <a:chExt cx="6213577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方向二 / 已有研究走到哪里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2135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“当前有多好”与“这次改得值不值”</a:t>
              </a:r>
            </a:p>
          </p:txBody>
        </p:sp>
      </p:grpSp>
      <p:grpSp>
        <p:nvGrpSpPr>
          <p:cNvPr id="8" name="quality-scoring"/>
          <p:cNvGrpSpPr/>
          <p:nvPr/>
        </p:nvGrpSpPr>
        <p:grpSpPr>
          <a:xfrm>
            <a:off x="597408" y="1755775"/>
            <a:ext cx="3909223" cy="1078357"/>
            <a:chOff x="597408" y="1755775"/>
            <a:chExt cx="3909223" cy="107835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估计当前质量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218" y="2244725"/>
              <a:ext cx="3493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Scoring R-CNN · CVPR 2019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2511425"/>
              <a:ext cx="3905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 Mask IoU，校准掩码与分类分数。</a:t>
              </a:r>
            </a:p>
          </p:txBody>
        </p:sp>
      </p:grpSp>
      <p:grpSp>
        <p:nvGrpSpPr>
          <p:cNvPr id="12" name="boundary-refinement"/>
          <p:cNvGrpSpPr/>
          <p:nvPr/>
        </p:nvGrpSpPr>
        <p:grpSpPr>
          <a:xfrm>
            <a:off x="597408" y="3098800"/>
            <a:ext cx="4314114" cy="1078357"/>
            <a:chOff x="597408" y="3098800"/>
            <a:chExt cx="4314114" cy="1078357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30988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细化局部边界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87750"/>
              <a:ext cx="43103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Boundary Patch Refinement · CVPR 2021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385445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提取边界附近高分辨率图像块进行修正。</a:t>
              </a:r>
            </a:p>
          </p:txBody>
        </p:sp>
      </p:grpSp>
      <p:grpSp>
        <p:nvGrpSpPr>
          <p:cNvPr id="16" name="selective-refinement"/>
          <p:cNvGrpSpPr/>
          <p:nvPr/>
        </p:nvGrpSpPr>
        <p:grpSpPr>
          <a:xfrm>
            <a:off x="597408" y="4441825"/>
            <a:ext cx="4240911" cy="1078357"/>
            <a:chOff x="597408" y="4441825"/>
            <a:chExt cx="4240911" cy="1078357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44418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聚焦易错区域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4930775"/>
              <a:ext cx="31398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Transfiner · CVPR 2022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218" y="519747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使用四叉树，重点处理检测出的易错节点。</a:t>
              </a:r>
            </a:p>
          </p:txBody>
        </p:sp>
      </p:grpSp>
      <p:grpSp>
        <p:nvGrpSpPr>
          <p:cNvPr id="23" name="operation-benefit"/>
          <p:cNvGrpSpPr/>
          <p:nvPr/>
        </p:nvGrpSpPr>
        <p:grpSpPr>
          <a:xfrm>
            <a:off x="6591300" y="1752600"/>
            <a:ext cx="4991100" cy="3743325"/>
            <a:chOff x="6591300" y="1752600"/>
            <a:chExt cx="4991100" cy="3743325"/>
          </a:xfrm>
        </p:grpSpPr>
        <p:sp>
          <p:nvSpPr>
            <p:cNvPr id="17" name="Rectangle 17"/>
            <p:cNvSpPr/>
            <p:nvPr/>
          </p:nvSpPr>
          <p:spPr>
            <a:xfrm>
              <a:off x="6591300" y="1752600"/>
              <a:ext cx="4991100" cy="37433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87718" y="200660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本课题进一步聚焦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0860" y="2495550"/>
              <a:ext cx="269748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一次具体修正，</a:t>
              </a:r>
              <a:b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是否值得采用？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96100" y="38290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5432" y="4098925"/>
              <a:ext cx="34561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质量差 ≠ 某种操作一定有效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87718" y="4603750"/>
              <a:ext cx="29504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把原状态、操作响应与邻接信息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用于具体操作的收益判断。</a:t>
              </a:r>
            </a:p>
          </p:txBody>
        </p:sp>
      </p:grpSp>
      <p:grpSp>
        <p:nvGrpSpPr>
          <p:cNvPr id="25" name="scope"/>
          <p:cNvGrpSpPr/>
          <p:nvPr/>
        </p:nvGrpSpPr>
        <p:grpSpPr>
          <a:xfrm>
            <a:off x="601218" y="5807075"/>
            <a:ext cx="8679561" cy="322707"/>
            <a:chOff x="601218" y="5807075"/>
            <a:chExt cx="8679561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807075"/>
              <a:ext cx="8679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研究边界：质量感知、边界细化、选择性处理均已有基础；新增信息的作用需对照验证。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10325"/>
              <a:ext cx="6584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来源：Huang et al., 2019；Tang et al., 2021；Ke et al., 2022。论文链接见本页备注。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33819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核心难点二 / 像素归属与成功保护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同一次修正，可能修好，也可能误伤</a:t>
              </a:r>
            </a:p>
          </p:txBody>
        </p:sp>
      </p:grpSp>
      <p:grpSp>
        <p:nvGrpSpPr>
          <p:cNvPr id="13" name="repair-example"/>
          <p:cNvGrpSpPr/>
          <p:nvPr/>
        </p:nvGrpSpPr>
        <p:grpSpPr>
          <a:xfrm>
            <a:off x="597408" y="1774825"/>
            <a:ext cx="4669917" cy="2982468"/>
            <a:chOff x="597408" y="1774825"/>
            <a:chExt cx="4669917" cy="29824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74825"/>
              <a:ext cx="299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删掉邻居像素 → 修复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1144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247900" y="2914650"/>
              <a:ext cx="552450" cy="7620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981325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38957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6095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232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34657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删去的区域原本属于其他实例</a:t>
              </a:r>
            </a:p>
          </p:txBody>
        </p:sp>
      </p:grpSp>
      <p:grpSp>
        <p:nvGrpSpPr>
          <p:cNvPr id="23" name="damage-example"/>
          <p:cNvGrpSpPr/>
          <p:nvPr/>
        </p:nvGrpSpPr>
        <p:grpSpPr>
          <a:xfrm>
            <a:off x="6331458" y="1774825"/>
            <a:ext cx="4660392" cy="2982468"/>
            <a:chOff x="6331458" y="1774825"/>
            <a:chExt cx="4660392" cy="29824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74825"/>
              <a:ext cx="299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删掉自身细节 → 误伤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4847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81950" y="3076575"/>
              <a:ext cx="561975" cy="409575"/>
            </a:xfrm>
            <a:prstGeom prst="rect">
              <a:avLst/>
            </a:prstGeom>
            <a:solidFill>
              <a:schemeClr val="accent2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86725" y="2990850"/>
              <a:ext cx="495300" cy="6000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8705850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9620250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950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66782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2982" y="434657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删去的区域原本是正确的自身像素</a:t>
              </a:r>
            </a:p>
          </p:txBody>
        </p:sp>
      </p:grpSp>
      <p:grpSp>
        <p:nvGrpSpPr>
          <p:cNvPr id="27" name="same-operation"/>
          <p:cNvGrpSpPr/>
          <p:nvPr/>
        </p:nvGrpSpPr>
        <p:grpSpPr>
          <a:xfrm>
            <a:off x="609600" y="5133975"/>
            <a:ext cx="10972800" cy="971550"/>
            <a:chOff x="609600" y="5133975"/>
            <a:chExt cx="10972800" cy="971550"/>
          </a:xfrm>
        </p:grpSpPr>
        <p:sp>
          <p:nvSpPr>
            <p:cNvPr id="24" name="Rectangle 24"/>
            <p:cNvSpPr/>
            <p:nvPr/>
          </p:nvSpPr>
          <p:spPr>
            <a:xfrm>
              <a:off x="609600" y="5133975"/>
              <a:ext cx="10972800" cy="971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6008" y="526097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难点在于：推理时没有真实标注，邻居预测也可能有误。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" y="571182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需要同时检验总体质量、修复数量与误伤数量，不能只看平均提升。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5570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同类收紧操作的机制示意，无虚构 IoU。历史空间诊断来源见原汇报稿 [E2]。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研究框架 / 从矛盾到决策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先判断保留谁，再判断怎样修正</a:t>
              </a:r>
            </a:p>
          </p:txBody>
        </p:sp>
      </p:grpSp>
      <p:grpSp>
        <p:nvGrpSpPr>
          <p:cNvPr id="22" name="main-pipeline"/>
          <p:cNvGrpSpPr/>
          <p:nvPr/>
        </p:nvGrpSpPr>
        <p:grpSpPr>
          <a:xfrm>
            <a:off x="601218" y="1997075"/>
            <a:ext cx="10981182" cy="1470025"/>
            <a:chOff x="601218" y="1997075"/>
            <a:chExt cx="10981182" cy="1470025"/>
          </a:xfrm>
        </p:grpSpPr>
        <p:sp>
          <p:nvSpPr>
            <p:cNvPr id="5" name="Rectangle 5"/>
            <p:cNvSpPr/>
            <p:nvPr/>
          </p:nvSpPr>
          <p:spPr>
            <a:xfrm>
              <a:off x="609600" y="2400300"/>
              <a:ext cx="20764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314700" y="2400300"/>
              <a:ext cx="2266950" cy="1066800"/>
            </a:xfrm>
            <a:prstGeom prst="rect">
              <a:avLst/>
            </a:prstGeom>
            <a:solidFill>
              <a:srgbClr val="315E9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210300" y="2400300"/>
              <a:ext cx="2266950" cy="106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05900" y="2400300"/>
              <a:ext cx="24765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218" y="19970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基础模型输出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06318" y="1997075"/>
              <a:ext cx="18270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方向一 · 实例集合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01918" y="1997075"/>
              <a:ext cx="18270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方向二 · 像素区域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7518" y="19970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系统应用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89457" y="2746375"/>
              <a:ext cx="10174605" cy="469392"/>
              <a:chOff x="989457" y="2746375"/>
              <a:chExt cx="10174605" cy="46939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8945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候选集合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8980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实例选择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8540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掩码修正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524238" y="2746375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统计与展示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819400" y="2933700"/>
              <a:ext cx="6153150" cy="1"/>
              <a:chOff x="2819400" y="2933700"/>
              <a:chExt cx="6153150" cy="1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28194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7150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86106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</p:grpSp>
      <p:grpSp>
        <p:nvGrpSpPr>
          <p:cNvPr id="25" name="question-instance"/>
          <p:cNvGrpSpPr/>
          <p:nvPr/>
        </p:nvGrpSpPr>
        <p:grpSpPr>
          <a:xfrm>
            <a:off x="597408" y="4070350"/>
            <a:ext cx="4263390" cy="915543"/>
            <a:chOff x="597408" y="4070350"/>
            <a:chExt cx="4263390" cy="915543"/>
          </a:xfrm>
        </p:grpSpPr>
        <p:sp>
          <p:nvSpPr>
            <p:cNvPr id="23" name="TextBox 23"/>
            <p:cNvSpPr txBox="1"/>
            <p:nvPr/>
          </p:nvSpPr>
          <p:spPr>
            <a:xfrm>
              <a:off x="597408" y="407035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哪些预测代表不同个体？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8932" y="457517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处理遗漏、重复与局部片段歧义。</a:t>
              </a:r>
            </a:p>
          </p:txBody>
        </p:sp>
      </p:grpSp>
      <p:grpSp>
        <p:nvGrpSpPr>
          <p:cNvPr id="28" name="question-mask"/>
          <p:cNvGrpSpPr/>
          <p:nvPr/>
        </p:nvGrpSpPr>
        <p:grpSpPr>
          <a:xfrm>
            <a:off x="6369558" y="4070350"/>
            <a:ext cx="4546092" cy="915543"/>
            <a:chOff x="6369558" y="4070350"/>
            <a:chExt cx="4546092" cy="915543"/>
          </a:xfrm>
        </p:grpSpPr>
        <p:sp>
          <p:nvSpPr>
            <p:cNvPr id="26" name="TextBox 26"/>
            <p:cNvSpPr txBox="1"/>
            <p:nvPr/>
          </p:nvSpPr>
          <p:spPr>
            <a:xfrm>
              <a:off x="6369558" y="407035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这次修正是否应该采用？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1082" y="457517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改善可见区域，同时保护已有成功。</a:t>
              </a:r>
            </a:p>
          </p:txBody>
        </p:sp>
      </p:grpSp>
      <p:grpSp>
        <p:nvGrpSpPr>
          <p:cNvPr id="31" name="foundation"/>
          <p:cNvGrpSpPr/>
          <p:nvPr/>
        </p:nvGrpSpPr>
        <p:grpSpPr>
          <a:xfrm>
            <a:off x="598932" y="5467350"/>
            <a:ext cx="10983468" cy="585343"/>
            <a:chOff x="598932" y="5467350"/>
            <a:chExt cx="10983468" cy="585343"/>
          </a:xfrm>
        </p:grpSpPr>
        <p:sp>
          <p:nvSpPr>
            <p:cNvPr id="29" name="Line 29"/>
            <p:cNvSpPr/>
            <p:nvPr/>
          </p:nvSpPr>
          <p:spPr>
            <a:xfrm>
              <a:off x="609600" y="5467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8932" y="5641975"/>
              <a:ext cx="93505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失败诊断与分层评价提供研究基础，两项方法分别验证，再评价组合效果。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41032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框架为拟研究方案；通用效果与系统能力以后续验证为准。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4492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攻克方向一 / 密集实例的候选判别与冗余控制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结合候选质量与关系，选择不同实例</a:t>
              </a:r>
            </a:p>
          </p:txBody>
        </p:sp>
      </p:grpSp>
      <p:grpSp>
        <p:nvGrpSpPr>
          <p:cNvPr id="26" name="selection-method"/>
          <p:cNvGrpSpPr/>
          <p:nvPr/>
        </p:nvGrpSpPr>
        <p:grpSpPr>
          <a:xfrm>
            <a:off x="601218" y="1984375"/>
            <a:ext cx="10989564" cy="2888107"/>
            <a:chOff x="601218" y="1984375"/>
            <a:chExt cx="10989564" cy="2888107"/>
          </a:xfrm>
        </p:grpSpPr>
        <p:sp>
          <p:nvSpPr>
            <p:cNvPr id="5" name="Rectangle 5"/>
            <p:cNvSpPr/>
            <p:nvPr/>
          </p:nvSpPr>
          <p:spPr>
            <a:xfrm>
              <a:off x="609600" y="2019300"/>
              <a:ext cx="2190750" cy="23145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52500" y="2390775"/>
              <a:ext cx="1028700" cy="99060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304925" y="2667000"/>
              <a:ext cx="1028700" cy="9906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09650" y="3048000"/>
              <a:ext cx="733425" cy="4095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6582" y="38227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限定候选集合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952750" y="3162300"/>
              <a:ext cx="6915150" cy="1"/>
              <a:chOff x="2952750" y="3162300"/>
              <a:chExt cx="6915150" cy="1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2952750" y="3162300"/>
                <a:ext cx="4476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667500" y="3162300"/>
                <a:ext cx="4381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429750" y="3162300"/>
                <a:ext cx="4381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  <p:grpSp>
          <p:nvGrpSpPr>
            <p:cNvPr id="17" name="information"/>
            <p:cNvGrpSpPr/>
            <p:nvPr/>
          </p:nvGrpSpPr>
          <p:grpSpPr>
            <a:xfrm>
              <a:off x="3607308" y="1984375"/>
              <a:ext cx="2999217" cy="1956943"/>
              <a:chOff x="3607308" y="1984375"/>
              <a:chExt cx="2999217" cy="195694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607308" y="1984375"/>
                <a:ext cx="299921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候选质量 + 相互关系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619500" y="2514600"/>
                <a:ext cx="28860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6075" h="9525">
                    <a:moveTo>
                      <a:pt x="0" y="0"/>
                    </a:moveTo>
                    <a:lnTo>
                      <a:pt x="2886075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608832" y="2597150"/>
                <a:ext cx="2154936" cy="1344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675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可见区域完整性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重叠、包含与互补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与相邻预测的关联</a:t>
                </a:r>
              </a:p>
            </p:txBody>
          </p:sp>
        </p:grpSp>
        <p:sp>
          <p:nvSpPr>
            <p:cNvPr id="18" name="Rectangle 18"/>
            <p:cNvSpPr/>
            <p:nvPr/>
          </p:nvSpPr>
          <p:spPr>
            <a:xfrm>
              <a:off x="7315200" y="2495550"/>
              <a:ext cx="1914525" cy="1323975"/>
            </a:xfrm>
            <a:prstGeom prst="rect">
              <a:avLst/>
            </a:prstGeom>
            <a:solidFill>
              <a:srgbClr val="315E9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612" y="2692400"/>
              <a:ext cx="141017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联合判断</a:t>
              </a:r>
              <a:b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 / 舍弃</a:t>
              </a:r>
            </a:p>
          </p:txBody>
        </p:sp>
        <p:grpSp>
          <p:nvGrpSpPr>
            <p:cNvPr id="23" name="selected-set"/>
            <p:cNvGrpSpPr/>
            <p:nvPr/>
          </p:nvGrpSpPr>
          <p:grpSpPr>
            <a:xfrm>
              <a:off x="9981057" y="2552700"/>
              <a:ext cx="1420368" cy="1823593"/>
              <a:chOff x="9981057" y="2552700"/>
              <a:chExt cx="1420368" cy="1823593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0134600" y="2552700"/>
                <a:ext cx="1000125" cy="800100"/>
              </a:xfrm>
              <a:prstGeom prst="rect">
                <a:avLst/>
              </a:prstGeom>
              <a:solidFill>
                <a:srgbClr val="315E9D">
                  <a:alpha val="12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0401300" y="2914650"/>
                <a:ext cx="1000125" cy="800100"/>
              </a:xfrm>
              <a:prstGeom prst="rect">
                <a:avLst/>
              </a:prstGeom>
              <a:solidFill>
                <a:schemeClr val="accent2">
                  <a:alpha val="12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981057" y="396557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实例集合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01218" y="454977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输入：预先限定的预测候选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20050" y="454977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输出：代表不同可见个体的保留集合</a:t>
              </a:r>
            </a:p>
          </p:txBody>
        </p:sp>
      </p:grpSp>
      <p:grpSp>
        <p:nvGrpSpPr>
          <p:cNvPr id="30" name="selection-claim"/>
          <p:cNvGrpSpPr/>
          <p:nvPr/>
        </p:nvGrpSpPr>
        <p:grpSpPr>
          <a:xfrm>
            <a:off x="609600" y="5181600"/>
            <a:ext cx="10972800" cy="933450"/>
            <a:chOff x="609600" y="5181600"/>
            <a:chExt cx="10972800" cy="933450"/>
          </a:xfrm>
        </p:grpSpPr>
        <p:sp>
          <p:nvSpPr>
            <p:cNvPr id="27" name="Rectangle 27"/>
            <p:cNvSpPr/>
            <p:nvPr/>
          </p:nvSpPr>
          <p:spPr>
            <a:xfrm>
              <a:off x="609600" y="5181600"/>
              <a:ext cx="109728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6008" y="5280025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拟验证：能否同时减少选择造成的遗漏与冗余？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18" y="573087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保持候选范围和预算一致；沿模型真实输出流程评价，单独记录实例身份。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410325"/>
              <a:ext cx="54787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候选判别新方法尚待验证；旧候选排序 Gate 未通过，不转写为新方法成果。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攻克方向二 / 邻接关系辅助的掩码修正收益预测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先试修正，再判断是否采用</a:t>
              </a:r>
            </a:p>
          </p:txBody>
        </p:sp>
      </p:grpSp>
      <p:grpSp>
        <p:nvGrpSpPr>
          <p:cNvPr id="22" name="trial-and-decision"/>
          <p:cNvGrpSpPr/>
          <p:nvPr/>
        </p:nvGrpSpPr>
        <p:grpSpPr>
          <a:xfrm>
            <a:off x="601218" y="1806575"/>
            <a:ext cx="10981182" cy="2493518"/>
            <a:chOff x="601218" y="1806575"/>
            <a:chExt cx="10981182" cy="2493518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8065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已选实例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800100" y="2428875"/>
              <a:ext cx="1238250" cy="12763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790700" y="2809875"/>
              <a:ext cx="428625" cy="361950"/>
            </a:xfrm>
            <a:prstGeom prst="rect">
              <a:avLst/>
            </a:prstGeom>
            <a:solidFill>
              <a:schemeClr val="accent3">
                <a:alpha val="35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8957" y="388937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原掩码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419350" y="3067050"/>
              <a:ext cx="7239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3457575" y="2438400"/>
              <a:ext cx="1219200" cy="12573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23082" y="38893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候选修正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895850" y="3067050"/>
              <a:ext cx="7239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829300" y="2466975"/>
              <a:ext cx="238125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64758" y="2625725"/>
              <a:ext cx="191033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收益预测</a:t>
              </a:r>
            </a:p>
            <a:p>
              <a:pPr algn="ctr">
                <a:lnSpc>
                  <a:spcPts val="33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这次修改值不值得？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391525" y="2390775"/>
              <a:ext cx="952500" cy="1343025"/>
              <a:chOff x="8391525" y="2390775"/>
              <a:chExt cx="952500" cy="1343025"/>
            </a:xfrm>
          </p:grpSpPr>
          <p:sp>
            <p:nvSpPr>
              <p:cNvPr id="15" name="Line 15"/>
              <p:cNvSpPr/>
              <p:nvPr/>
            </p:nvSpPr>
            <p:spPr>
              <a:xfrm flipV="1">
                <a:off x="8391525" y="2390775"/>
                <a:ext cx="952500" cy="552450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8391525" y="3181350"/>
                <a:ext cx="952500" cy="552450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  <p:sp>
          <p:nvSpPr>
            <p:cNvPr id="18" name="Rectangle 18"/>
            <p:cNvSpPr/>
            <p:nvPr/>
          </p:nvSpPr>
          <p:spPr>
            <a:xfrm>
              <a:off x="9544050" y="2019300"/>
              <a:ext cx="2038350" cy="7715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87153" y="22510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采用修正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44050" y="3352800"/>
              <a:ext cx="2038350" cy="771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5802" y="35845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保留原结果</a:t>
              </a:r>
            </a:p>
          </p:txBody>
        </p:sp>
      </p:grpSp>
      <p:grpSp>
        <p:nvGrpSpPr>
          <p:cNvPr id="25" name="benefit-features"/>
          <p:cNvGrpSpPr/>
          <p:nvPr/>
        </p:nvGrpSpPr>
        <p:grpSpPr>
          <a:xfrm>
            <a:off x="609600" y="4667250"/>
            <a:ext cx="10972800" cy="704850"/>
            <a:chOff x="609600" y="4667250"/>
            <a:chExt cx="10972800" cy="704850"/>
          </a:xfrm>
        </p:grpSpPr>
        <p:sp>
          <p:nvSpPr>
            <p:cNvPr id="23" name="Rectangle 23"/>
            <p:cNvSpPr/>
            <p:nvPr/>
          </p:nvSpPr>
          <p:spPr>
            <a:xfrm>
              <a:off x="609600" y="4667250"/>
              <a:ext cx="109728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532" y="4860925"/>
              <a:ext cx="73998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判断信息：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原掩码状态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+　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修正引起的变化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+　</a:t>
              </a:r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邻居预测</a:t>
              </a:r>
            </a:p>
          </p:txBody>
        </p:sp>
      </p:grpSp>
      <p:grpSp>
        <p:nvGrpSpPr>
          <p:cNvPr id="28" name="scope"/>
          <p:cNvGrpSpPr/>
          <p:nvPr/>
        </p:nvGrpSpPr>
        <p:grpSpPr>
          <a:xfrm>
            <a:off x="601218" y="5588000"/>
            <a:ext cx="7346823" cy="617982"/>
            <a:chOff x="601218" y="5588000"/>
            <a:chExt cx="7346823" cy="617982"/>
          </a:xfrm>
        </p:grpSpPr>
        <p:sp>
          <p:nvSpPr>
            <p:cNvPr id="26" name="TextBox 26"/>
            <p:cNvSpPr txBox="1"/>
            <p:nvPr/>
          </p:nvSpPr>
          <p:spPr>
            <a:xfrm>
              <a:off x="601218" y="558800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训练可用标注生成收益监督；推理仅使用图像和模型预测。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218" y="588327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单独评价时固定框、类别、分数与检测集合；新增邻居信息的作用待验证。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410325"/>
              <a:ext cx="6161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可复用 RCMC 选择性修正原型；原型历史证据见备用页 B，不等于此新方案已获增益。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896100" cy="964565"/>
            <a:chOff x="594360" y="415925"/>
            <a:chExt cx="68961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应用链路 / 方法为什么有用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把算法输出转化为可核对的数量与区域</a:t>
              </a:r>
            </a:p>
          </p:txBody>
        </p:sp>
      </p:grpSp>
      <p:grpSp>
        <p:nvGrpSpPr>
          <p:cNvPr id="11" name="count"/>
          <p:cNvGrpSpPr/>
          <p:nvPr/>
        </p:nvGrpSpPr>
        <p:grpSpPr>
          <a:xfrm>
            <a:off x="597408" y="1784350"/>
            <a:ext cx="3223260" cy="2833243"/>
            <a:chOff x="597408" y="1784350"/>
            <a:chExt cx="3223260" cy="2833243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84350"/>
              <a:ext cx="299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实例集合 → 可见数量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933450" y="2390775"/>
              <a:ext cx="2590800" cy="1219200"/>
              <a:chOff x="933450" y="2390775"/>
              <a:chExt cx="2590800" cy="12192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933450" y="2533650"/>
                <a:ext cx="704850" cy="885825"/>
              </a:xfrm>
              <a:prstGeom prst="rect">
                <a:avLst/>
              </a:prstGeom>
              <a:noFill/>
              <a:ln w="28575">
                <a:solidFill>
                  <a:srgbClr val="315E9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876425" y="2724150"/>
                <a:ext cx="704850" cy="885825"/>
              </a:xfrm>
              <a:prstGeom prst="rect">
                <a:avLst/>
              </a:prstGeom>
              <a:noFill/>
              <a:ln w="28575">
                <a:solidFill>
                  <a:srgbClr val="315E9D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2819400" y="2390775"/>
                <a:ext cx="704850" cy="885825"/>
              </a:xfrm>
              <a:prstGeom prst="rect">
                <a:avLst/>
              </a:prstGeom>
              <a:noFill/>
              <a:ln w="28575">
                <a:solidFill>
                  <a:srgbClr val="315E9D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598932" y="3787775"/>
              <a:ext cx="32217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是否漏掉个体？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是否把一个目标计了两次？</a:t>
              </a:r>
            </a:p>
          </p:txBody>
        </p:sp>
      </p:grpSp>
      <p:grpSp>
        <p:nvGrpSpPr>
          <p:cNvPr id="18" name="individual-region"/>
          <p:cNvGrpSpPr/>
          <p:nvPr/>
        </p:nvGrpSpPr>
        <p:grpSpPr>
          <a:xfrm>
            <a:off x="4397883" y="1784350"/>
            <a:ext cx="2999217" cy="2833243"/>
            <a:chOff x="4397883" y="1784350"/>
            <a:chExt cx="2999217" cy="2833243"/>
          </a:xfrm>
        </p:grpSpPr>
        <p:sp>
          <p:nvSpPr>
            <p:cNvPr id="12" name="TextBox 12"/>
            <p:cNvSpPr txBox="1"/>
            <p:nvPr/>
          </p:nvSpPr>
          <p:spPr>
            <a:xfrm>
              <a:off x="4397883" y="1784350"/>
              <a:ext cx="299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实例掩码 → 个体区域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4886325" y="2495550"/>
              <a:ext cx="1371600" cy="108585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838825" y="2495550"/>
              <a:ext cx="1371600" cy="1085850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99532" y="287972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2532" y="287972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99407" y="3787775"/>
              <a:ext cx="24216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像素是否归属正确？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细节是否被保留？</a:t>
              </a:r>
            </a:p>
          </p:txBody>
        </p:sp>
      </p:grpSp>
      <p:grpSp>
        <p:nvGrpSpPr>
          <p:cNvPr id="24" name="union-region"/>
          <p:cNvGrpSpPr/>
          <p:nvPr/>
        </p:nvGrpSpPr>
        <p:grpSpPr>
          <a:xfrm>
            <a:off x="8236458" y="1784350"/>
            <a:ext cx="3145917" cy="2833243"/>
            <a:chOff x="8236458" y="1784350"/>
            <a:chExt cx="3145917" cy="2833243"/>
          </a:xfrm>
        </p:grpSpPr>
        <p:sp>
          <p:nvSpPr>
            <p:cNvPr id="19" name="TextBox 19"/>
            <p:cNvSpPr txBox="1"/>
            <p:nvPr/>
          </p:nvSpPr>
          <p:spPr>
            <a:xfrm>
              <a:off x="8236458" y="1784350"/>
              <a:ext cx="299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掩码并集 → 区域占用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48675" y="2409825"/>
              <a:ext cx="2933700" cy="132397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21" name="Ellipse 21"/>
            <p:cNvSpPr/>
            <p:nvPr/>
          </p:nvSpPr>
          <p:spPr>
            <a:xfrm>
              <a:off x="8791575" y="2495550"/>
              <a:ext cx="1371600" cy="1085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696450" y="2495550"/>
              <a:ext cx="1371600" cy="1085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37982" y="3787775"/>
              <a:ext cx="26883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指定区域内前景并集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占该图像区域的比例。</a:t>
              </a:r>
            </a:p>
          </p:txBody>
        </p:sp>
      </p:grpSp>
      <p:grpSp>
        <p:nvGrpSpPr>
          <p:cNvPr id="27" name="statistical-scope"/>
          <p:cNvGrpSpPr/>
          <p:nvPr/>
        </p:nvGrpSpPr>
        <p:grpSpPr>
          <a:xfrm>
            <a:off x="609600" y="5172075"/>
            <a:ext cx="10972800" cy="542925"/>
            <a:chOff x="609600" y="5172075"/>
            <a:chExt cx="10972800" cy="542925"/>
          </a:xfrm>
        </p:grpSpPr>
        <p:sp>
          <p:nvSpPr>
            <p:cNvPr id="25" name="Rectangle 25"/>
            <p:cNvSpPr/>
            <p:nvPr/>
          </p:nvSpPr>
          <p:spPr>
            <a:xfrm>
              <a:off x="609600" y="5172075"/>
              <a:ext cx="10972800" cy="542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818" y="5330825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像素只在相邻实例之间重新归属时，个体区域会改变，整体前景占比可能不变。</a:t>
              </a:r>
            </a:p>
          </p:txBody>
        </p:sp>
      </p:grpSp>
      <p:grpSp>
        <p:nvGrpSpPr>
          <p:cNvPr id="29" name="existing-foundation"/>
          <p:cNvGrpSpPr/>
          <p:nvPr/>
        </p:nvGrpSpPr>
        <p:grpSpPr>
          <a:xfrm>
            <a:off x="601218" y="5883275"/>
            <a:ext cx="9313240" cy="322707"/>
            <a:chOff x="601218" y="5883275"/>
            <a:chExt cx="9313240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601218" y="5883275"/>
              <a:ext cx="9313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已有基础：候选追踪与分层评价工具、RCMC 修正原型、动物案例数据；详细实验放在备用页。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03504" y="6410325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预期作用需验证。图为指标定义示意；可见数量不含无法观测的完全遮挡目标。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088380" cy="964565"/>
            <a:chOff x="594360" y="415925"/>
            <a:chExt cx="608838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33819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系统设计 / 通用检测分割分析平台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把模型、方法与统计串成统一流程</a:t>
              </a:r>
            </a:p>
          </p:txBody>
        </p:sp>
      </p:grpSp>
      <p:grpSp>
        <p:nvGrpSpPr>
          <p:cNvPr id="23" name="system-architecture"/>
          <p:cNvGrpSpPr/>
          <p:nvPr/>
        </p:nvGrpSpPr>
        <p:grpSpPr>
          <a:xfrm>
            <a:off x="601218" y="1943100"/>
            <a:ext cx="10981182" cy="3005582"/>
            <a:chOff x="601218" y="1943100"/>
            <a:chExt cx="10981182" cy="3005582"/>
          </a:xfrm>
        </p:grpSpPr>
        <p:sp>
          <p:nvSpPr>
            <p:cNvPr id="5" name="Rectangle 5"/>
            <p:cNvSpPr/>
            <p:nvPr/>
          </p:nvSpPr>
          <p:spPr>
            <a:xfrm>
              <a:off x="609600" y="1943100"/>
              <a:ext cx="2057400" cy="259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6008" y="2079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数据输入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7532" y="2606675"/>
              <a:ext cx="1088136" cy="1344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单张图像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批量图片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视频文件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809875" y="3219450"/>
              <a:ext cx="32385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9" name="Rectangle 9"/>
            <p:cNvSpPr/>
            <p:nvPr/>
          </p:nvSpPr>
          <p:spPr>
            <a:xfrm>
              <a:off x="3324225" y="1943100"/>
              <a:ext cx="2466975" cy="259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40633" y="2079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模型适配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42157" y="2606675"/>
              <a:ext cx="1888236" cy="1344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模型与类别配置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统一预测格式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保留处理配置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924550" y="3219450"/>
              <a:ext cx="32385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438900" y="1943100"/>
              <a:ext cx="2419350" cy="259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55308" y="2079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方法处理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56832" y="27082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关系辅助选择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6832" y="31750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选择性掩码修正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6832" y="3641725"/>
              <a:ext cx="23677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 / 单独 / 组合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991600" y="3219450"/>
              <a:ext cx="32385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05950" y="1943100"/>
              <a:ext cx="2076450" cy="2590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22358" y="20796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展示与保存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23882" y="2606675"/>
              <a:ext cx="1621536" cy="1344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框与掩码叠加</a:t>
              </a:r>
              <a:b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数量与占用</a:t>
              </a:r>
              <a:b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结果导出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462597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设计方案：保留中间结果，支持逐阶段查看和对比。</a:t>
              </a:r>
            </a:p>
          </p:txBody>
        </p:sp>
      </p:grpSp>
      <p:grpSp>
        <p:nvGrpSpPr>
          <p:cNvPr id="27" name="generality"/>
          <p:cNvGrpSpPr/>
          <p:nvPr/>
        </p:nvGrpSpPr>
        <p:grpSpPr>
          <a:xfrm>
            <a:off x="597408" y="5181600"/>
            <a:ext cx="10984992" cy="948182"/>
            <a:chOff x="597408" y="5181600"/>
            <a:chExt cx="10984992" cy="948182"/>
          </a:xfrm>
        </p:grpSpPr>
        <p:sp>
          <p:nvSpPr>
            <p:cNvPr id="24" name="Line 24"/>
            <p:cNvSpPr/>
            <p:nvPr/>
          </p:nvSpPr>
          <p:spPr>
            <a:xfrm>
              <a:off x="609600" y="5181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7408" y="5356225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通用性落实为：模型接口可适配，类别与统计区域可配置。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807075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方法的跨类别、跨场景效果另行验证；已有离线脚本不等于完整系统已完成。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6635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拟实现：统一界面、模型管理、视频任务、统计与系统测试。复用：推理、解码和导出组件。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应用案例 / 猪只群体监测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猪只群体监测是通用系统的一种配置</a:t>
              </a:r>
            </a:p>
          </p:txBody>
        </p:sp>
      </p:grpSp>
      <p:grpSp>
        <p:nvGrpSpPr>
          <p:cNvPr id="23" name="system-ui-concept"/>
          <p:cNvGrpSpPr/>
          <p:nvPr/>
        </p:nvGrpSpPr>
        <p:grpSpPr>
          <a:xfrm>
            <a:off x="609600" y="1752600"/>
            <a:ext cx="7067550" cy="3390900"/>
            <a:chOff x="609600" y="1752600"/>
            <a:chExt cx="7067550" cy="339090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7067550" cy="3390900"/>
            </a:xfrm>
            <a:prstGeom prst="rect">
              <a:avLst/>
            </a:prstGeom>
            <a:solidFill>
              <a:srgbClr val="F7F9FB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752600"/>
              <a:ext cx="7067550" cy="4667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1243" y="186372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通用检测分割分析平台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79694" y="1914525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界面设计示意 · 非运行截图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81050" y="2381250"/>
              <a:ext cx="1743075" cy="21431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5068" y="24733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068" y="2813050"/>
              <a:ext cx="1515046" cy="1465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模型：猪只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模式：方法组合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区域：可设置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显示：框 + 掩码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76525" y="2381250"/>
              <a:ext cx="4819650" cy="2143125"/>
            </a:xfrm>
            <a:prstGeom prst="rect">
              <a:avLst/>
            </a:prstGeom>
            <a:solidFill>
              <a:srgbClr val="E6EDF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914650" y="2562225"/>
              <a:ext cx="4343400" cy="1743075"/>
            </a:xfrm>
            <a:prstGeom prst="rect">
              <a:avLst/>
            </a:prstGeom>
            <a:noFill/>
            <a:ln w="9525">
              <a:solidFill>
                <a:srgbClr val="596B80"/>
              </a:solidFill>
              <a:prstDash val="lgDash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190875" y="2781300"/>
              <a:ext cx="3657600" cy="1333500"/>
              <a:chOff x="3190875" y="2781300"/>
              <a:chExt cx="3657600" cy="13335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3190875" y="2781300"/>
                <a:ext cx="933450" cy="609600"/>
              </a:xfrm>
              <a:prstGeom prst="ellipse">
                <a:avLst/>
              </a:prstGeom>
              <a:solidFill>
                <a:srgbClr val="315E9D">
                  <a:alpha val="42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029075" y="2828925"/>
                <a:ext cx="952500" cy="628650"/>
              </a:xfrm>
              <a:prstGeom prst="ellipse">
                <a:avLst/>
              </a:prstGeom>
              <a:solidFill>
                <a:schemeClr val="accent2">
                  <a:alpha val="42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5514975" y="2819400"/>
                <a:ext cx="1123950" cy="647700"/>
              </a:xfrm>
              <a:prstGeom prst="ellipse">
                <a:avLst/>
              </a:prstGeom>
              <a:solidFill>
                <a:srgbClr val="315E9D">
                  <a:alpha val="42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619500" y="3514725"/>
                <a:ext cx="990600" cy="590550"/>
              </a:xfrm>
              <a:prstGeom prst="ellipse">
                <a:avLst/>
              </a:prstGeom>
              <a:solidFill>
                <a:schemeClr val="accent2">
                  <a:alpha val="42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4667250" y="3438525"/>
                <a:ext cx="1123950" cy="590550"/>
              </a:xfrm>
              <a:prstGeom prst="ellipse">
                <a:avLst/>
              </a:prstGeom>
              <a:solidFill>
                <a:srgbClr val="315E9D">
                  <a:alpha val="42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5953125" y="3543300"/>
                <a:ext cx="895350" cy="571500"/>
              </a:xfrm>
              <a:prstGeom prst="ellipse">
                <a:avLst/>
              </a:prstGeom>
              <a:solidFill>
                <a:schemeClr val="accent2">
                  <a:alpha val="42000"/>
                </a:schemeClr>
              </a:solidFill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2858643" y="4606925"/>
              <a:ext cx="39483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 / 处理结果对比　·　统计按帧生成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5068" y="4606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导出结果</a:t>
              </a:r>
            </a:p>
          </p:txBody>
        </p:sp>
      </p:grpSp>
      <p:grpSp>
        <p:nvGrpSpPr>
          <p:cNvPr id="28" name="application-flow"/>
          <p:cNvGrpSpPr/>
          <p:nvPr/>
        </p:nvGrpSpPr>
        <p:grpSpPr>
          <a:xfrm>
            <a:off x="8104632" y="1774825"/>
            <a:ext cx="3477768" cy="3358007"/>
            <a:chOff x="8104632" y="1774825"/>
            <a:chExt cx="3477768" cy="3358007"/>
          </a:xfrm>
        </p:grpSpPr>
        <p:sp>
          <p:nvSpPr>
            <p:cNvPr id="24" name="TextBox 24"/>
            <p:cNvSpPr txBox="1"/>
            <p:nvPr/>
          </p:nvSpPr>
          <p:spPr>
            <a:xfrm>
              <a:off x="8104632" y="17748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完成一条使用流程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4632" y="2206625"/>
              <a:ext cx="1888236" cy="1810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选择模型与数据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查看前后结果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设置统计区域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保存结果与记录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115300" y="4352925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06918" y="4505325"/>
              <a:ext cx="2950464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验证：功能、统计误差、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端到端延迟、连续任务稳定性。</a:t>
              </a:r>
            </a:p>
          </p:txBody>
        </p:sp>
      </p:grpSp>
      <p:grpSp>
        <p:nvGrpSpPr>
          <p:cNvPr id="31" name="closing"/>
          <p:cNvGrpSpPr/>
          <p:nvPr/>
        </p:nvGrpSpPr>
        <p:grpSpPr>
          <a:xfrm>
            <a:off x="609600" y="5438775"/>
            <a:ext cx="10972800" cy="704850"/>
            <a:chOff x="609600" y="5438775"/>
            <a:chExt cx="10972800" cy="704850"/>
          </a:xfrm>
        </p:grpSpPr>
        <p:sp>
          <p:nvSpPr>
            <p:cNvPr id="29" name="Rectangle 29"/>
            <p:cNvSpPr/>
            <p:nvPr/>
          </p:nvSpPr>
          <p:spPr>
            <a:xfrm>
              <a:off x="609600" y="5438775"/>
              <a:ext cx="10972800" cy="70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6008" y="5603875"/>
              <a:ext cx="71969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方法回答“保留谁、怎样修”，系统回答“怎样用”。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410325"/>
              <a:ext cx="7103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首版：可见计数、图像区域占用与导出；逐帧曲线不默认跨帧身份保持。已有动物数据见备用页 A。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7299960" cy="964565"/>
            <a:chOff x="594360" y="415925"/>
            <a:chExt cx="72999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2631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备用 A / 实验复用边界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复用工具、缓存与原型，新方法重新验证</a:t>
              </a:r>
            </a:p>
          </p:txBody>
        </p:sp>
      </p:grpSp>
      <p:graphicFrame>
        <p:nvGraphicFramePr>
          <p:cNvPr id="5" name="reuse-matrix"/>
          <p:cNvGraphicFramePr>
            <a:graphicFrameLocks noGrp="1"/>
          </p:cNvGraphicFramePr>
          <p:nvPr/>
        </p:nvGraphicFramePr>
        <p:xfrm>
          <a:off x="609600" y="1800225"/>
          <a:ext cx="10972800" cy="33909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90800"/>
                <a:gridCol w="4019550"/>
                <a:gridCol w="4362450"/>
              </a:tblGrid>
              <a:tr h="647700"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已有基础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直接复用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仍需补充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诊断与候选追踪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分层评价、身份追踪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新模型下的对应关系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RCMC 原型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规则、收益模型与旧对照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密集子集、邻居信息消融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动物案例数据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数据清单、推理与评估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新方法效果与组间独立性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推理与导出组件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模型运行、掩码、结果保存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统一接口、界面与系统测试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" name="reuse-boundary"/>
          <p:cNvGrpSpPr/>
          <p:nvPr/>
        </p:nvGrpSpPr>
        <p:grpSpPr>
          <a:xfrm>
            <a:off x="598932" y="5480050"/>
            <a:ext cx="9067800" cy="735457"/>
            <a:chOff x="598932" y="5480050"/>
            <a:chExt cx="9067800" cy="735457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5480050"/>
              <a:ext cx="90678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旧结果只在原对象与协议下引用；改变模型、数据或指标后需重新评价。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5892800"/>
              <a:ext cx="66448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候选判别新方法未验证，旧排序 Gate 未通过；完整系统仍需实现。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603504" y="6410325"/>
              <a:ext cx="5330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来源：原汇报稿附录 A / E1–E4、E8–E9；各实验身份与对应路径见备注。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备用 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8107680" cy="964565"/>
            <a:chOff x="594360" y="415925"/>
            <a:chExt cx="810768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33737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备用 B / 可复用的选择性修正原型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81076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已有原型证据，新增关系信息的增益仍待验证</a:t>
              </a:r>
            </a:p>
          </p:txBody>
        </p:sp>
      </p:grpSp>
      <p:grpSp>
        <p:nvGrpSpPr>
          <p:cNvPr id="6" name="protocol"/>
          <p:cNvGrpSpPr/>
          <p:nvPr/>
        </p:nvGrpSpPr>
        <p:grpSpPr>
          <a:xfrm>
            <a:off x="598932" y="1660525"/>
            <a:ext cx="10232741" cy="410718"/>
            <a:chOff x="598932" y="1660525"/>
            <a:chExt cx="10232741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660525"/>
              <a:ext cx="102327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同一旧协议：COCO val2017 · 4,500 图 · 32,831 普通 GT · Mask AP（0—100）</a:t>
              </a:r>
            </a:p>
          </p:txBody>
        </p:sp>
      </p:grpSp>
      <p:graphicFrame>
        <p:nvGraphicFramePr>
          <p:cNvPr id="7" name="rcmc-metrics"/>
          <p:cNvGraphicFramePr>
            <a:graphicFrameLocks noGrp="1"/>
          </p:cNvGraphicFramePr>
          <p:nvPr/>
        </p:nvGraphicFramePr>
        <p:xfrm>
          <a:off x="609600" y="2286000"/>
          <a:ext cx="10972800" cy="2095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00400"/>
                <a:gridCol w="2190750"/>
                <a:gridCol w="2438400"/>
                <a:gridCol w="3143250"/>
              </a:tblGrid>
              <a:tr h="647700"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模型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基线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固定平滑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选择性响应门控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YOLO26m-seg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43.38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43.83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43.94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YOLO26s-seg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39.42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39.80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39.90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" name="tradeoff"/>
          <p:cNvGrpSpPr/>
          <p:nvPr/>
        </p:nvGrpSpPr>
        <p:grpSpPr>
          <a:xfrm>
            <a:off x="601218" y="4692650"/>
            <a:ext cx="5791962" cy="646557"/>
            <a:chOff x="601218" y="4692650"/>
            <a:chExt cx="5791962" cy="646557"/>
          </a:xfrm>
        </p:grpSpPr>
        <p:sp>
          <p:nvSpPr>
            <p:cNvPr id="8" name="TextBox 8"/>
            <p:cNvSpPr txBox="1"/>
            <p:nvPr/>
          </p:nvSpPr>
          <p:spPr>
            <a:xfrm>
              <a:off x="601218" y="469265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m：修复 907 → 801，误伤 576 → 445，净修复 331 → 356。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5016500"/>
              <a:ext cx="5747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s：修复 841 → 729，误伤 556 → 389，净修复 285 → 340。</a:t>
              </a:r>
            </a:p>
          </p:txBody>
        </p:sp>
      </p:grpSp>
      <p:grpSp>
        <p:nvGrpSpPr>
          <p:cNvPr id="13" name="evidence-boundary"/>
          <p:cNvGrpSpPr/>
          <p:nvPr/>
        </p:nvGrpSpPr>
        <p:grpSpPr>
          <a:xfrm>
            <a:off x="601218" y="5597525"/>
            <a:ext cx="8090935" cy="617982"/>
            <a:chOff x="601218" y="5597525"/>
            <a:chExt cx="8090935" cy="617982"/>
          </a:xfrm>
        </p:grpSpPr>
        <p:sp>
          <p:nvSpPr>
            <p:cNvPr id="11" name="TextBox 11"/>
            <p:cNvSpPr txBox="1"/>
            <p:nvPr/>
          </p:nvSpPr>
          <p:spPr>
            <a:xfrm>
              <a:off x="601218" y="5597525"/>
              <a:ext cx="6120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一次门控拟合；验证数据曾参与早期探索；AP 未给置信区间。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218" y="5892800"/>
              <a:ext cx="8090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不与原生 5,000 图基线串表；不能据此证明密集子集、未知类别或动物场景增益。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6410325"/>
              <a:ext cx="5130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来源：原汇报稿 [E3]；m / s 冻结评价 Run 及评价身份详见本页备注。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备用 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7073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备用 C / 毕业论文实施路径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从可复用原型出发，逐层验证到系统</a:t>
              </a:r>
            </a:p>
          </p:txBody>
        </p:sp>
      </p:grpSp>
      <p:grpSp>
        <p:nvGrpSpPr>
          <p:cNvPr id="8" name="protocol-first"/>
          <p:cNvGrpSpPr/>
          <p:nvPr/>
        </p:nvGrpSpPr>
        <p:grpSpPr>
          <a:xfrm>
            <a:off x="594360" y="1822450"/>
            <a:ext cx="9089898" cy="586740"/>
            <a:chOff x="594360" y="1822450"/>
            <a:chExt cx="9089898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82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92758" y="18415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统一口径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008882" y="187960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固定模型、样本分组、候选预算与评价规则。</a:t>
              </a:r>
            </a:p>
          </p:txBody>
        </p:sp>
      </p:grpSp>
      <p:grpSp>
        <p:nvGrpSpPr>
          <p:cNvPr id="12" name="independent-modules"/>
          <p:cNvGrpSpPr/>
          <p:nvPr/>
        </p:nvGrpSpPr>
        <p:grpSpPr>
          <a:xfrm>
            <a:off x="594360" y="2765425"/>
            <a:ext cx="9372600" cy="586740"/>
            <a:chOff x="594360" y="2765425"/>
            <a:chExt cx="9372600" cy="586740"/>
          </a:xfrm>
        </p:grpSpPr>
        <p:sp>
          <p:nvSpPr>
            <p:cNvPr id="9" name="TextBox 9"/>
            <p:cNvSpPr txBox="1"/>
            <p:nvPr/>
          </p:nvSpPr>
          <p:spPr>
            <a:xfrm>
              <a:off x="594360" y="276542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92758" y="27844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分别验证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08882" y="2822575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候选关系选择对照；修正收益的邻居特征消融。</a:t>
              </a:r>
            </a:p>
          </p:txBody>
        </p:sp>
      </p:grpSp>
      <p:grpSp>
        <p:nvGrpSpPr>
          <p:cNvPr id="16" name="combined-evaluation"/>
          <p:cNvGrpSpPr/>
          <p:nvPr/>
        </p:nvGrpSpPr>
        <p:grpSpPr>
          <a:xfrm>
            <a:off x="594360" y="3708400"/>
            <a:ext cx="8524494" cy="586740"/>
            <a:chOff x="594360" y="3708400"/>
            <a:chExt cx="8524494" cy="586740"/>
          </a:xfrm>
        </p:grpSpPr>
        <p:sp>
          <p:nvSpPr>
            <p:cNvPr id="13" name="TextBox 13"/>
            <p:cNvSpPr txBox="1"/>
            <p:nvPr/>
          </p:nvSpPr>
          <p:spPr>
            <a:xfrm>
              <a:off x="594360" y="37084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92758" y="37274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组合检验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8882" y="376555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基线、两个单模块与组合，同条件比较。</a:t>
              </a:r>
            </a:p>
          </p:txBody>
        </p:sp>
      </p:grpSp>
      <p:grpSp>
        <p:nvGrpSpPr>
          <p:cNvPr id="20" name="system-validation"/>
          <p:cNvGrpSpPr/>
          <p:nvPr/>
        </p:nvGrpSpPr>
        <p:grpSpPr>
          <a:xfrm>
            <a:off x="594360" y="4651375"/>
            <a:ext cx="9655302" cy="586740"/>
            <a:chOff x="594360" y="4651375"/>
            <a:chExt cx="9655302" cy="586740"/>
          </a:xfrm>
        </p:grpSpPr>
        <p:sp>
          <p:nvSpPr>
            <p:cNvPr id="17" name="TextBox 17"/>
            <p:cNvSpPr txBox="1"/>
            <p:nvPr/>
          </p:nvSpPr>
          <p:spPr>
            <a:xfrm>
              <a:off x="594360" y="465137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2758" y="46704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应用确认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8882" y="470852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猪只案例独立确认，测试统计误差与系统稳定性。</a:t>
              </a:r>
            </a:p>
          </p:txBody>
        </p:sp>
      </p:grpSp>
      <p:grpSp>
        <p:nvGrpSpPr>
          <p:cNvPr id="23" name="next-step"/>
          <p:cNvGrpSpPr/>
          <p:nvPr/>
        </p:nvGrpSpPr>
        <p:grpSpPr>
          <a:xfrm>
            <a:off x="609600" y="5495925"/>
            <a:ext cx="10972800" cy="628650"/>
            <a:chOff x="609600" y="5495925"/>
            <a:chExt cx="10972800" cy="628650"/>
          </a:xfrm>
        </p:grpSpPr>
        <p:sp>
          <p:nvSpPr>
            <p:cNvPr id="21" name="Rectangle 21"/>
            <p:cNvSpPr/>
            <p:nvPr/>
          </p:nvSpPr>
          <p:spPr>
            <a:xfrm>
              <a:off x="609600" y="5495925"/>
              <a:ext cx="10972800" cy="628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532" y="5651500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下一步：固定毕业论文比较口径，并把基线推理接入统一接口。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10325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实施建议，不代表实验已启动；与期刊论文的系数纠错研究线分别管理。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备用 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2026-10-13T18:23:13Z</dcterms:created>
  <dcterms:modified xsi:type="dcterms:W3CDTF">2026-10-13T18:23:13Z</dcterms:modified>
  <cp:category/>
  <cp:contentStatus/>
</cp:coreProperties>
</file>