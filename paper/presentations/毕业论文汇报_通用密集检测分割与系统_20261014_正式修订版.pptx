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各位老师好，本次汇报的题目是“面向密集场景的目标检测与实例分割方法及系统研究”。论文围绕密集场景的个体级感知展开，重点研究实例之间如何准确区分，以及接触区域的像素如何准确归属。</a:t>
            </a:r>
          </a:p>
          <a:p>
            <a:pPr/>
            <a:endParaRPr lang="zh-CN" dirty="0"/>
          </a:p>
          <a:p>
            <a:pPr/>
            <a:r>
              <a:rPr lang="zh-CN" dirty="0"/>
              <a:t>这两个问题分别影响检测结果的完整性和分割结果的可靠性，进一步影响数量统计与区域分析。因此，论文拟设置候选判别和掩码修正两项研究内容，并将方法集成到通用检测分割系统中。猪只群体监测作为应用验证场景，系统接口和方法设计面向通用密集实例问题。本次汇报重点说明技术背景、关键难点、研究内容及系统设计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密集场景中的感知需求可以归纳为数量、个体区域和前景占用三个方面。动物群体监测、人员分析和交通感知虽然处理的对象不同，但都需要从图像中区分具体个体，并获得可用于统计的实例级输出。</a:t>
            </a:r>
          </a:p>
          <a:p>
            <a:pPr/>
            <a:endParaRPr lang="zh-CN" dirty="0"/>
          </a:p>
          <a:p>
            <a:pPr/>
            <a:r>
              <a:rPr lang="zh-CN" dirty="0"/>
              <a:t>数量统计依赖每个可见个体得到独立检出。遗漏会造成低估，重复检出会造成高估。个体区域分析进一步要求掩码与真实可见范围一致，邻接目标粘连、自身区域缺失和边界误分都会影响分析结果。指定区域的占用分析则需要对前景掩码求并集，避免重叠部分被重复计入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因此，本课题的应用需求同时涉及实例区分和像素归属。前者决定输出了哪些个体，后者决定每个个体的可见区域，两者共同支撑后续的个体级场景分析。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目前，目标检测与实例分割已经具备统一预测能力。以 YOLO26m-seg 为例，模型能够同时输出类别、目标位置和实例掩码。官方发布的 COCO 指标中，输入尺寸为 640 时，Box AP 为 52.5，Mask AP 为 44.1，说明现有基础模型已经提供了较强的通用感知起点。</a:t>
            </a:r>
          </a:p>
          <a:p>
            <a:pPr/>
            <a:endParaRPr lang="zh-CN" dirty="0"/>
          </a:p>
          <a:p>
            <a:pPr/>
            <a:r>
              <a:rPr lang="zh-CN" dirty="0"/>
              <a:t>在预测方式上，一对一的端到端分支支持免 NMS 推理。在感知范围上，SAM 3 将文本概念和示例提示引入多实例检测、分割及视频跟踪。检测分割技术的发展，已经从固定类别的单一任务扩展到更统一的预测流程与交互方式。</a:t>
            </a:r>
          </a:p>
          <a:p>
            <a:pPr/>
            <a:endParaRPr lang="zh-CN" dirty="0"/>
          </a:p>
          <a:p>
            <a:pPr/>
            <a:r>
              <a:rPr lang="zh-CN" dirty="0"/>
              <a:t>在这些能力基础上，本课题进一步关注密集区域的实例区分与接触边界质量。整体评价指标能够反映模型的总体能力，而密集实例之间的对应关系和局部像素归属仍需要进行针对性分析，这也是后续两项研究内容的出发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针对密集目标的实例选择，已有研究形成了多种解决思路。Adaptive NMS 根据局部密度调整抑制阈值，缓解拥挤场景中相邻行人的误抑制。CrowdDet 允许一个候选区域预测多个实例，并通过集合损失和 Set NMS 处理高重叠目标。DDQ 则从密集查询中保留有区分度的查询，兼顾候选召回与查询冗余控制。</a:t>
            </a:r>
          </a:p>
          <a:p>
            <a:pPr/>
            <a:endParaRPr lang="zh-CN" dirty="0"/>
          </a:p>
          <a:p>
            <a:pPr/>
            <a:r>
              <a:rPr lang="zh-CN" dirty="0"/>
              <a:t>这些工作表明，密集检测已经从局部抑制规则扩展到集合预测与查询去冗余。相应地，本课题的研究问题需要落实到更具体的候选歧义：完整目标候选、同一目标的局部片段和相邻真实个体可能同时出现在预测集合中，它们之间的重叠关系并不能直接对应实例身份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因此，拟研究的重点是联合分析候选的可见完整性及相互关系，在限定候选范围内改进实例判别与集合选择。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关键难点是实例对应歧义与检出完整性。左侧示意的是两个相邻真实实例，虽然它们的预测区域重叠较高，但都应当保留。若仅采用较强的重叠抑制，就可能删除其中一个真实实例。右侧示意的是同一个目标的两个局部片段，它们的重叠程度较低，却可能造成同一实例重复检出。</a:t>
            </a:r>
          </a:p>
          <a:p>
            <a:pPr/>
            <a:endParaRPr lang="zh-CN" dirty="0"/>
          </a:p>
          <a:p>
            <a:pPr/>
            <a:r>
              <a:rPr lang="zh-CN" dirty="0"/>
              <a:t>这两种情况提出了相反的选择要求：既需要保留高重叠的邻接实例，也需要识别低重叠的局部重复。单个候选的分类分数和几何重叠度难以充分表达这种差别。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候选是否覆盖了较完整的可见区域，以及它与邻接候选之间是否存在包含、互补或竞争关系，都是拟研究的信息来源。研究目标是在固定候选预算下减少筛选造成的遗漏和重复，改善已有候选的选择质量。对于候选集合中没有形成有效预测的目标，则需要与选择阶段的错误分别分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第二项研究内容建立在掩码质量估计和边界精细化的已有进展上。Mask Scoring R-CNN 预测掩码 IoU，将质量信息纳入实例评分。Boundary Patch Refinement 利用预测边界附近的高分辨率图像块进行局部细化。Mask Transfiner 以四叉树组织边界区域，重点处理检测出的易错节点。</a:t>
            </a:r>
          </a:p>
          <a:p>
            <a:pPr/>
            <a:endParaRPr lang="zh-CN" dirty="0"/>
          </a:p>
          <a:p>
            <a:pPr/>
            <a:r>
              <a:rPr lang="zh-CN" dirty="0"/>
              <a:t>这些方法分别解决当前质量评估、局部精细化和选择性计算问题。本课题进一步关注具体修正操作的收益。当前掩码质量较低，并不意味着某一种修正一定能够改善它；同样，发现局部存在错误，也不直接等于能够确定修正后的质量变化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因此，拟将原掩码状态、操作引起的变化和邻接实例信息共同用于收益预测，以决定某个实例是否采用候选修正。后续通过特征消融，分析操作响应和邻接信息各自提供的作用。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项关键难点是接触边界的像素归属和修正风险。页面展示了同类边界收紧操作的两种结果。如果去除的区域属于误分配的邻接实例像素，修正能够减少错误。如果去除的区域属于当前目标自身的真实细节，则会使原本正确的区域发生退化。</a:t>
            </a:r>
          </a:p>
          <a:p>
            <a:pPr/>
            <a:endParaRPr lang="zh-CN" dirty="0"/>
          </a:p>
          <a:p>
            <a:pPr/>
            <a:r>
              <a:rPr lang="zh-CN" dirty="0"/>
              <a:t>这说明修正操作的效果取决于具体实例的状态，而不能仅凭统一的几何规则判断。实际推理阶段没有真实标注，邻接实例的预测也可能包含误差，因此利用邻接关系时，还需要分析该信息是否有助于判断修正收益。</a:t>
            </a:r>
          </a:p>
          <a:p>
            <a:pPr/>
            <a:endParaRPr lang="zh-CN" dirty="0"/>
          </a:p>
          <a:p>
            <a:pPr/>
            <a:r>
              <a:rPr lang="zh-CN" dirty="0"/>
              <a:t>本课题拟以实例为单位预测修正前后的质量变化，在提高总体分割精度的同时，控制正确区域的损失。评价中将同时关注修复数量和退化数量，以分析精度变化背后的收益与代价。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基于前述分析，论文形成实例选择与区域优化两个层次的研究框架。基础模型首先产生候选集合，研究内容一对候选进行实例判别和集合选择，研究内容二对保留实例进行选择性掩码修正，最终由系统完成结果展示和场景统计。</a:t>
            </a:r>
          </a:p>
          <a:p>
            <a:pPr/>
            <a:endParaRPr lang="zh-CN" dirty="0"/>
          </a:p>
          <a:p>
            <a:pPr/>
            <a:r>
              <a:rPr lang="zh-CN" dirty="0"/>
              <a:t>第一项内容主要改变实例集合，目标是减少筛选造成的实例遗漏与重复检出。第二项内容主要改变实例区域，目标是提高区域精度，并降低修正引起的正确区域退化。两项内容在输入输出上相互衔接，同时具有可以分别检验的研究目标。</a:t>
            </a:r>
          </a:p>
          <a:p>
            <a:pPr/>
            <a:endParaRPr lang="zh-CN" dirty="0"/>
          </a:p>
          <a:p>
            <a:pPr/>
            <a:r>
              <a:rPr lang="zh-CN" dirty="0"/>
              <a:t>失败类型诊断和密集分层评价为这两项研究提供共同基础。实验将先通过独立消融分析每项方法的作用，再比较单模块和组合方案，明确其相互影响。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内容一是关系辅助的候选判别与冗余控制。输入为预先限定的预测候选，拟从候选质量和候选关系两个方面提取信息。其中，质量表征关注可见区域的完整性，关系表征关注候选之间的重叠、包含、互补以及与相邻预测的关联。</a:t>
            </a:r>
          </a:p>
          <a:p>
            <a:pPr/>
            <a:endParaRPr lang="zh-CN" dirty="0"/>
          </a:p>
          <a:p>
            <a:pPr/>
            <a:r>
              <a:rPr lang="zh-CN" dirty="0"/>
              <a:t>基于这些信息，拟构建实例判别与集合选择机制，输出代表不同可见个体的预测集合。研究重点是区分相邻真实实例与同一目标的重复或局部片段，在限定候选预算内兼顾召回和冗余控制。</a:t>
            </a:r>
          </a:p>
          <a:p>
            <a:pPr/>
            <a:endParaRPr lang="zh-CN" dirty="0"/>
          </a:p>
          <a:p>
            <a:pPr/>
            <a:r>
              <a:rPr lang="zh-CN" dirty="0"/>
              <a:t>验证时，分别比较质量特征、关系特征及联合策略，保持输入候选和计算预算一致。除总体检测分割指标外，还将关注密集子集中的实例遗漏和重复检出，以判断方法是否改善了预期的实例选择问题。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研究内容二是邻接关系辅助的掩码修正收益预测。对于已经保留的实例，先从原掩码生成候选修正，再估计该操作带来的质量变化，据此决定采用修正结果或保留原结果。</a:t>
            </a:r>
          </a:p>
          <a:p>
            <a:pPr/>
            <a:endParaRPr lang="zh-CN" dirty="0"/>
          </a:p>
          <a:p>
            <a:pPr/>
            <a:r>
              <a:rPr lang="zh-CN" dirty="0"/>
              <a:t>收益预测拟使用三类信息。原掩码状态描述实例当前的区域特征，操作响应描述修正引起的面积和边界变化，邻接实例关系则提供周边预测与接触区域的信息。训练阶段可以依据标注计算修正前后的质量变化，形成监督信号；推理阶段使用图像与模型预测完成决策。</a:t>
            </a:r>
          </a:p>
          <a:p>
            <a:pPr/>
            <a:endParaRPr lang="zh-CN" dirty="0"/>
          </a:p>
          <a:p>
            <a:pPr/>
            <a:r>
              <a:rPr lang="zh-CN" dirty="0"/>
              <a:t>该方向可以继承现有选择性修正原型，重点研究邻接信息对收益预测的补充作用。评价时固定检测集合及框、类别、分数等条件，通过特征消融比较总体分割精度、修复数量和退化数量，从而区分区域修正本身与实例选择带来的影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方法输出将在系统中对应三类场景信息。保留的实例集合用于可见实例计数，评价时分别分析遗漏和重复检出造成的误差。每个实例的掩码用于表示个体可见范围，关注像素归属与边界质量。区域前景占用则对感兴趣区域内的掩码求并集，计算前景占该区域面积的比例。</a:t>
            </a:r>
          </a:p>
          <a:p>
            <a:pPr/>
            <a:endParaRPr lang="zh-CN" dirty="0"/>
          </a:p>
          <a:p>
            <a:pPr/>
            <a:r>
              <a:rPr lang="zh-CN" dirty="0"/>
              <a:t>这三项统计量具有不同的敏感性。例如，当像素只在两个相邻实例之间重新归属时，个体区域会发生变化，但整体前景并集可能保持不变。因此，不能用单一统计量概括全部方法作用，需要按照具体输出分别评价。</a:t>
            </a:r>
          </a:p>
          <a:p>
            <a:pPr/>
            <a:endParaRPr lang="zh-CN" dirty="0"/>
          </a:p>
          <a:p>
            <a:pPr/>
            <a:r>
              <a:rPr lang="zh-CN" dirty="0"/>
              <a:t>系统的统计对象为图像中的可见实例及其像素区域。视频任务按帧生成对应记录，使方法改进能够在数量和区域两个层面得到检查。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拟由数据输入、模型适配、方法处理和展示保存四个模块组成。数据输入支持单张图像、批量图片和视频文件。模型适配模块负责模型与类别配置，并将不同模型的输出转换为统一预测格式。方法处理模块接入候选判别与选择性掩码修正，支持独立使用和组合比较。</a:t>
            </a:r>
          </a:p>
          <a:p>
            <a:pPr/>
            <a:endParaRPr lang="zh-CN" dirty="0"/>
          </a:p>
          <a:p>
            <a:pPr/>
            <a:r>
              <a:rPr lang="zh-CN" dirty="0"/>
              <a:t>展示与保存模块提供检测框、实例掩码、数量和占用结果，并导出可视化文件、逐帧统计、处理配置和分析报表。系统还将记录各阶段结果，使用户能够追溯某项统计对应的输入、模型和处理方法。</a:t>
            </a:r>
          </a:p>
          <a:p>
            <a:pPr/>
            <a:endParaRPr lang="zh-CN" dirty="0"/>
          </a:p>
          <a:p>
            <a:pPr/>
            <a:r>
              <a:rPr lang="zh-CN" dirty="0"/>
              <a:t>通用性主要落实在统一模型接口、可配置类别及可配置统计区域上。通过模型和场景参数适配，系统能够承载不同应用的数据处理流程，方法在不同场景中的效果则通过独立实验评价。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应用验证拟选择猪只群体监测场景。该场景具有密集聚集、同类外观相似和频繁遮挡等特点，能够为实例判别与接触边界分析提供具体条件，同时可以利用已有动物图像数据开展后续研究。</a:t>
            </a:r>
          </a:p>
          <a:p>
            <a:pPr/>
            <a:endParaRPr lang="zh-CN" dirty="0"/>
          </a:p>
          <a:p>
            <a:pPr/>
            <a:r>
              <a:rPr lang="zh-CN" dirty="0"/>
              <a:t>验证流程包括三个方面。首先完成数据、猪只模型和栏舍统计区域的配置。其次比较基础模型、两个独立方法模块及组合方案，分析检测分割结果和统计误差。最后测试系统的端到端处理时延与连续任务运行稳定性，评价完整流程的使用效果。</a:t>
            </a:r>
          </a:p>
          <a:p>
            <a:pPr/>
            <a:endParaRPr lang="zh-CN" dirty="0"/>
          </a:p>
          <a:p>
            <a:pPr/>
            <a:r>
              <a:rPr lang="zh-CN" dirty="0"/>
              <a:t>论文预期形成两个相互衔接的方法模块，以及可配置的通用检测分割系统。猪只场景承担应用验证，跨类别与跨场景的适用性通过独立实验逐步评价。以上是本次研究方案汇报，请各位老师批评指正。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现有工作为毕业论文提供了四方面基础。实例诊断实验可以复用分层评价和候选追踪流程，后续补充新模型下的实例对应分析。RCMC 修正原型可以复用修正规则、收益模型和对照实现，后续重点开展密集子集与邻接特征消融。动物场景数据可以复用数据清单、推理和评价流程，并按照独立数据分组组织新方法验证。推理与导出组件则用于系统接入。</a:t>
            </a:r>
          </a:p>
          <a:p>
            <a:pPr/>
            <a:endParaRPr lang="zh-CN" dirty="0"/>
          </a:p>
          <a:p>
            <a:pPr/>
            <a:r>
              <a:rPr lang="zh-CN" dirty="0"/>
              <a:t>已有候选排序方案未达到预设评价要求，相关结果为后续设计提供问题分析基础。新增方法仍需独立验证。整体工作量将集中于关系信息设计、方法对照和系统集成。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这里列出选择性掩码修正原型的前期开发性结果。评价包含 COCO val2017 中的 4,500 幅图像和 32,831 个非 crowd 标注，在相同条件下比较基线、固定平滑和选择性响应门控。</a:t>
            </a:r>
          </a:p>
          <a:p>
            <a:pPr/>
            <a:endParaRPr lang="zh-CN" dirty="0"/>
          </a:p>
          <a:p>
            <a:pPr/>
            <a:r>
              <a:rPr lang="zh-CN" dirty="0"/>
              <a:t>YOLO26m-seg 的 Mask AP 分别为 43.38、43.83 和 43.94，YOLO26s-seg 分别为 39.42、39.80 和 39.90。从实例变化看，相比固定平滑，选择性门控减少了修复数量，同时也减少了退化数量，两个模型的净修复数量均有所增加。这说明选择性处理原型具备进一步研究的基础，也提示需要同时分析修复与退化。</a:t>
            </a:r>
          </a:p>
          <a:p>
            <a:pPr/>
            <a:endParaRPr lang="zh-CN" dirty="0"/>
          </a:p>
          <a:p>
            <a:pPr/>
            <a:r>
              <a:rPr lang="zh-CN" dirty="0"/>
              <a:t>这些结果来自一次门控拟合，评价数据曾参与早期开发，AP 尚未估计置信区间。因此，后续还需要在密集子集、邻接信息消融和独立应用数据上验证，确定新研究方案的有效范围。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实施拟按四个阶段推进。第一阶段确定模型、数据分组、候选预算和评价指标。第二阶段分别开展候选关系对照与修正收益预测的特征消融。第三阶段在相同评价条件下比较基线、独立模块和组合方案。第四阶段完成猪只场景应用验证，以及系统处理时延和稳定性测试。</a:t>
            </a:r>
          </a:p>
          <a:p>
            <a:pPr/>
            <a:endParaRPr lang="zh-CN" dirty="0"/>
          </a:p>
          <a:p>
            <a:pPr/>
            <a:r>
              <a:rPr lang="zh-CN" dirty="0"/>
              <a:t>近期工作是完善毕业论文评价方案，并完成基础推理流程的系统接入。后续方法研究和系统开发将围绕同一套输入、输出与评价定义推进，使算法效果能够对应到最终应用流程。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nse_instance_thesi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nse_instance_thesi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eyebrow"/>
          <p:cNvGrpSpPr/>
          <p:nvPr/>
        </p:nvGrpSpPr>
        <p:grpSpPr>
          <a:xfrm>
            <a:off x="601218" y="587375"/>
            <a:ext cx="10989563" cy="322707"/>
            <a:chOff x="601218" y="587375"/>
            <a:chExt cx="10989563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58737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毕业论文研究方案汇报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352341" y="587375"/>
              <a:ext cx="1238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2026.10.14</a:t>
              </a:r>
            </a:p>
          </p:txBody>
        </p:sp>
      </p:grpSp>
      <p:grpSp>
        <p:nvGrpSpPr>
          <p:cNvPr id="7" name="title"/>
          <p:cNvGrpSpPr/>
          <p:nvPr/>
        </p:nvGrpSpPr>
        <p:grpSpPr>
          <a:xfrm>
            <a:off x="590550" y="1546225"/>
            <a:ext cx="4838700" cy="2811018"/>
            <a:chOff x="590550" y="1546225"/>
            <a:chExt cx="4838700" cy="2811018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546225"/>
              <a:ext cx="483870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850"/>
                </a:lnSpc>
              </a:pP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面向密集场景的</a:t>
              </a:r>
              <a:b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目标检测与实例分割</a:t>
              </a:r>
              <a:b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方法及系统研究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7032" y="394652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研究背景、关键问题与技术路线</a:t>
              </a:r>
            </a:p>
          </p:txBody>
        </p:sp>
      </p:grpSp>
      <p:grpSp>
        <p:nvGrpSpPr>
          <p:cNvPr id="16" name="instance-conflict"/>
          <p:cNvGrpSpPr/>
          <p:nvPr/>
        </p:nvGrpSpPr>
        <p:grpSpPr>
          <a:xfrm>
            <a:off x="8610600" y="1609725"/>
            <a:ext cx="2686050" cy="3038475"/>
            <a:chOff x="8610600" y="1609725"/>
            <a:chExt cx="2686050" cy="3038475"/>
          </a:xfrm>
        </p:grpSpPr>
        <p:sp>
          <p:nvSpPr>
            <p:cNvPr id="8" name="Ellipse 8"/>
            <p:cNvSpPr/>
            <p:nvPr/>
          </p:nvSpPr>
          <p:spPr>
            <a:xfrm>
              <a:off x="8705850" y="1657350"/>
              <a:ext cx="1562100" cy="1866900"/>
            </a:xfrm>
            <a:prstGeom prst="ellipse">
              <a:avLst/>
            </a:prstGeom>
            <a:solidFill>
              <a:srgbClr val="315E9D">
                <a:alpha val="55000"/>
              </a:srgbClr>
            </a:solidFill>
            <a:ln w="19050">
              <a:solidFill>
                <a:srgbClr val="87ABD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620250" y="2152650"/>
              <a:ext cx="1562100" cy="18669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 w="19050">
              <a:solidFill>
                <a:srgbClr val="75C3C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610600" y="3086100"/>
              <a:ext cx="1562100" cy="1562100"/>
            </a:xfrm>
            <a:prstGeom prst="ellipse">
              <a:avLst/>
            </a:prstGeom>
            <a:solidFill>
              <a:schemeClr val="accent3">
                <a:alpha val="25000"/>
              </a:schemeClr>
            </a:solidFill>
            <a:ln w="19050">
              <a:solidFill>
                <a:srgbClr val="DDAE87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620125" y="1609725"/>
              <a:ext cx="1724025" cy="2047875"/>
            </a:xfrm>
            <a:prstGeom prst="rect">
              <a:avLst/>
            </a:prstGeom>
            <a:noFill/>
            <a:ln w="19050">
              <a:solidFill>
                <a:srgbClr val="87ABD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9563100" y="2076450"/>
              <a:ext cx="1733550" cy="2057400"/>
            </a:xfrm>
            <a:prstGeom prst="rect">
              <a:avLst/>
            </a:prstGeom>
            <a:noFill/>
            <a:ln w="19050">
              <a:solidFill>
                <a:srgbClr val="75C3C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74683" y="2165350"/>
              <a:ext cx="2121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70058" y="2755900"/>
              <a:ext cx="2121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74683" y="3917950"/>
              <a:ext cx="2121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20" name="cover-takeaway"/>
          <p:cNvGrpSpPr/>
          <p:nvPr/>
        </p:nvGrpSpPr>
        <p:grpSpPr>
          <a:xfrm>
            <a:off x="597408" y="5095875"/>
            <a:ext cx="10984992" cy="1052957"/>
            <a:chOff x="597408" y="5095875"/>
            <a:chExt cx="10984992" cy="1052957"/>
          </a:xfrm>
        </p:grpSpPr>
        <p:sp>
          <p:nvSpPr>
            <p:cNvPr id="17" name="Line 17"/>
            <p:cNvSpPr/>
            <p:nvPr/>
          </p:nvSpPr>
          <p:spPr>
            <a:xfrm>
              <a:off x="609600" y="5095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49607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7408" y="5318125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密集实例判别与区域优化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1218" y="582612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通用检测分割系统设计及动物群体场景验证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035132" y="6410325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B8C9DA"/>
                </a:solidFill>
                <a:latin typeface="+mn-lt"/>
                <a:ea typeface="+mn-ea"/>
                <a:cs typeface="+mn-cs"/>
              </a:rPr>
              <a:t>01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876800" cy="964565"/>
            <a:chOff x="594360" y="415925"/>
            <a:chExt cx="487680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研究背景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密集场景的个体级感知需求</a:t>
              </a:r>
            </a:p>
          </p:txBody>
        </p:sp>
      </p:grpSp>
      <p:grpSp>
        <p:nvGrpSpPr>
          <p:cNvPr id="22" name="dense-scene"/>
          <p:cNvGrpSpPr/>
          <p:nvPr/>
        </p:nvGrpSpPr>
        <p:grpSpPr>
          <a:xfrm>
            <a:off x="601218" y="1762125"/>
            <a:ext cx="4389882" cy="3443732"/>
            <a:chOff x="601218" y="1762125"/>
            <a:chExt cx="4389882" cy="3443732"/>
          </a:xfrm>
        </p:grpSpPr>
        <p:sp>
          <p:nvSpPr>
            <p:cNvPr id="5" name="Rectangle 5"/>
            <p:cNvSpPr/>
            <p:nvPr/>
          </p:nvSpPr>
          <p:spPr>
            <a:xfrm>
              <a:off x="609600" y="1762125"/>
              <a:ext cx="4381500" cy="2952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85850" y="2047875"/>
              <a:ext cx="3228975" cy="1971675"/>
              <a:chOff x="1085850" y="2047875"/>
              <a:chExt cx="3228975" cy="1971675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85850" y="2228850"/>
                <a:ext cx="1181100" cy="819150"/>
              </a:xfrm>
              <a:prstGeom prst="ellipse">
                <a:avLst/>
              </a:prstGeom>
              <a:solidFill>
                <a:srgbClr val="315E9D">
                  <a:alpha val="50000"/>
                </a:srgbClr>
              </a:solidFill>
              <a:ln w="19050">
                <a:solidFill>
                  <a:srgbClr val="315E9D"/>
                </a:solidFill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2028825" y="2295525"/>
                <a:ext cx="1162050" cy="81915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3038475" y="2047875"/>
                <a:ext cx="1219200" cy="838200"/>
              </a:xfrm>
              <a:prstGeom prst="ellipse">
                <a:avLst/>
              </a:prstGeom>
              <a:solidFill>
                <a:schemeClr val="accent3">
                  <a:alpha val="50000"/>
                </a:schemeClr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71575" y="3143250"/>
                <a:ext cx="1276350" cy="81915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2171700" y="3057525"/>
                <a:ext cx="1257300" cy="857250"/>
              </a:xfrm>
              <a:prstGeom prst="ellipse">
                <a:avLst/>
              </a:prstGeom>
              <a:solidFill>
                <a:srgbClr val="315E9D">
                  <a:alpha val="50000"/>
                </a:srgbClr>
              </a:solidFill>
              <a:ln w="19050">
                <a:solidFill>
                  <a:srgbClr val="315E9D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3228975" y="3048000"/>
                <a:ext cx="1085850" cy="971550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 w="19050">
                <a:solidFill>
                  <a:schemeClr val="accent2"/>
                </a:solidFill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1583588" y="2298700"/>
              <a:ext cx="2281123" cy="1496568"/>
              <a:chOff x="1583588" y="2298700"/>
              <a:chExt cx="2281123" cy="1496568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1583588" y="2470150"/>
                <a:ext cx="18562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517038" y="2536825"/>
                <a:ext cx="18562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55263" y="2298700"/>
                <a:ext cx="18562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16938" y="3384550"/>
                <a:ext cx="18562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707538" y="3317875"/>
                <a:ext cx="18562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79088" y="3365500"/>
                <a:ext cx="18562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F</a:t>
                </a:r>
              </a:p>
            </p:txBody>
          </p:sp>
        </p:grpSp>
        <p:sp>
          <p:nvSpPr>
            <p:cNvPr id="20" name="Rectangle 20"/>
            <p:cNvSpPr/>
            <p:nvPr/>
          </p:nvSpPr>
          <p:spPr>
            <a:xfrm>
              <a:off x="914400" y="2019300"/>
              <a:ext cx="3733800" cy="2295525"/>
            </a:xfrm>
            <a:prstGeom prst="rect">
              <a:avLst/>
            </a:prstGeom>
            <a:noFill/>
            <a:ln w="19050">
              <a:solidFill>
                <a:srgbClr val="596B80"/>
              </a:solidFill>
              <a:prstDash val="lgDash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1218" y="4883150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典型应用：动物群体、人员与车辆监测</a:t>
              </a:r>
            </a:p>
          </p:txBody>
        </p:sp>
      </p:grpSp>
      <p:grpSp>
        <p:nvGrpSpPr>
          <p:cNvPr id="25" name="count-demand"/>
          <p:cNvGrpSpPr/>
          <p:nvPr/>
        </p:nvGrpSpPr>
        <p:grpSpPr>
          <a:xfrm>
            <a:off x="5493258" y="1698625"/>
            <a:ext cx="5111496" cy="915543"/>
            <a:chOff x="5493258" y="1698625"/>
            <a:chExt cx="5111496" cy="915543"/>
          </a:xfrm>
        </p:grpSpPr>
        <p:sp>
          <p:nvSpPr>
            <p:cNvPr id="23" name="TextBox 23"/>
            <p:cNvSpPr txBox="1"/>
            <p:nvPr/>
          </p:nvSpPr>
          <p:spPr>
            <a:xfrm>
              <a:off x="5493258" y="169862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个体数量的准确统计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94782" y="2203450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实例遗漏与重复检出直接造成计数偏差。</a:t>
              </a:r>
            </a:p>
          </p:txBody>
        </p:sp>
      </p:grpSp>
      <p:grpSp>
        <p:nvGrpSpPr>
          <p:cNvPr id="28" name="region-demand"/>
          <p:cNvGrpSpPr/>
          <p:nvPr/>
        </p:nvGrpSpPr>
        <p:grpSpPr>
          <a:xfrm>
            <a:off x="5493258" y="2946400"/>
            <a:ext cx="5111496" cy="915543"/>
            <a:chOff x="5493258" y="2946400"/>
            <a:chExt cx="5111496" cy="915543"/>
          </a:xfrm>
        </p:grpSpPr>
        <p:sp>
          <p:nvSpPr>
            <p:cNvPr id="26" name="TextBox 26"/>
            <p:cNvSpPr txBox="1"/>
            <p:nvPr/>
          </p:nvSpPr>
          <p:spPr>
            <a:xfrm>
              <a:off x="5493258" y="294640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个体可见区域的精确表达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94782" y="3451225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边界粘连与区域缺失影响个体形态分析。</a:t>
              </a:r>
            </a:p>
          </p:txBody>
        </p:sp>
      </p:grpSp>
      <p:grpSp>
        <p:nvGrpSpPr>
          <p:cNvPr id="31" name="occupancy-demand"/>
          <p:cNvGrpSpPr/>
          <p:nvPr/>
        </p:nvGrpSpPr>
        <p:grpSpPr>
          <a:xfrm>
            <a:off x="5493258" y="4184650"/>
            <a:ext cx="4828794" cy="915543"/>
            <a:chOff x="5493258" y="4184650"/>
            <a:chExt cx="4828794" cy="915543"/>
          </a:xfrm>
        </p:grpSpPr>
        <p:sp>
          <p:nvSpPr>
            <p:cNvPr id="29" name="TextBox 29"/>
            <p:cNvSpPr txBox="1"/>
            <p:nvPr/>
          </p:nvSpPr>
          <p:spPr>
            <a:xfrm>
              <a:off x="5493258" y="418465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指定区域的前景占用分析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94782" y="468947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基于掩码并集计算区域内的前景占比。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609600" y="5476875"/>
            <a:ext cx="10972800" cy="619125"/>
            <a:chOff x="609600" y="5476875"/>
            <a:chExt cx="10972800" cy="619125"/>
          </a:xfrm>
        </p:grpSpPr>
        <p:sp>
          <p:nvSpPr>
            <p:cNvPr id="32" name="Rectangle 32"/>
            <p:cNvSpPr/>
            <p:nvPr/>
          </p:nvSpPr>
          <p:spPr>
            <a:xfrm>
              <a:off x="609600" y="5476875"/>
              <a:ext cx="10972800" cy="619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7532" y="5632450"/>
              <a:ext cx="87850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研究需求：提高实例区分与像素归属的准确性，支撑个体级场景分析。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603504" y="641032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密集场景目标检测与实例分割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684520" cy="964565"/>
            <a:chOff x="594360" y="415925"/>
            <a:chExt cx="56845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研究背景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目标检测与实例分割的技术进展</a:t>
              </a:r>
            </a:p>
          </p:txBody>
        </p:sp>
      </p:grpSp>
      <p:grpSp>
        <p:nvGrpSpPr>
          <p:cNvPr id="13" name="published-baseline"/>
          <p:cNvGrpSpPr/>
          <p:nvPr/>
        </p:nvGrpSpPr>
        <p:grpSpPr>
          <a:xfrm>
            <a:off x="609600" y="1743075"/>
            <a:ext cx="4695825" cy="3238500"/>
            <a:chOff x="609600" y="1743075"/>
            <a:chExt cx="4695825" cy="3238500"/>
          </a:xfrm>
        </p:grpSpPr>
        <p:sp>
          <p:nvSpPr>
            <p:cNvPr id="5" name="Rectangle 5"/>
            <p:cNvSpPr/>
            <p:nvPr/>
          </p:nvSpPr>
          <p:spPr>
            <a:xfrm>
              <a:off x="609600" y="1743075"/>
              <a:ext cx="4695825" cy="3238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936750"/>
              <a:ext cx="20511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YOLO26m-seg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7918" y="2339975"/>
              <a:ext cx="30510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COCO val2017，输入尺寸 640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7250" y="2851150"/>
              <a:ext cx="171735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52.5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33725" y="2851150"/>
              <a:ext cx="171735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44.1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4682" y="3717925"/>
              <a:ext cx="9128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Box AP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61157" y="3717925"/>
              <a:ext cx="11260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Mask AP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445000"/>
              <a:ext cx="32440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官方发布指标，AP 范围为 0—100</a:t>
              </a:r>
            </a:p>
          </p:txBody>
        </p:sp>
      </p:grpSp>
      <p:grpSp>
        <p:nvGrpSpPr>
          <p:cNvPr id="16" name="capability-one"/>
          <p:cNvGrpSpPr/>
          <p:nvPr/>
        </p:nvGrpSpPr>
        <p:grpSpPr>
          <a:xfrm>
            <a:off x="5798058" y="1784350"/>
            <a:ext cx="4828794" cy="877443"/>
            <a:chOff x="5798058" y="1784350"/>
            <a:chExt cx="4828794" cy="877443"/>
          </a:xfrm>
        </p:grpSpPr>
        <p:sp>
          <p:nvSpPr>
            <p:cNvPr id="14" name="TextBox 14"/>
            <p:cNvSpPr txBox="1"/>
            <p:nvPr/>
          </p:nvSpPr>
          <p:spPr>
            <a:xfrm>
              <a:off x="5798058" y="17843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检测与分割一体化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99582" y="225107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统一输出类别、目标位置和实例掩码。</a:t>
              </a:r>
            </a:p>
          </p:txBody>
        </p:sp>
      </p:grpSp>
      <p:grpSp>
        <p:nvGrpSpPr>
          <p:cNvPr id="19" name="capability-two"/>
          <p:cNvGrpSpPr/>
          <p:nvPr/>
        </p:nvGrpSpPr>
        <p:grpSpPr>
          <a:xfrm>
            <a:off x="5798058" y="2917825"/>
            <a:ext cx="4712513" cy="877443"/>
            <a:chOff x="5798058" y="2917825"/>
            <a:chExt cx="4712513" cy="877443"/>
          </a:xfrm>
        </p:grpSpPr>
        <p:sp>
          <p:nvSpPr>
            <p:cNvPr id="17" name="TextBox 17"/>
            <p:cNvSpPr txBox="1"/>
            <p:nvPr/>
          </p:nvSpPr>
          <p:spPr>
            <a:xfrm>
              <a:off x="5798058" y="291782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端到端实例预测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99582" y="3384550"/>
              <a:ext cx="47109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一对一预测支持免 NMS 的推理流程。</a:t>
              </a:r>
            </a:p>
          </p:txBody>
        </p:sp>
      </p:grpSp>
      <p:grpSp>
        <p:nvGrpSpPr>
          <p:cNvPr id="22" name="capability-three"/>
          <p:cNvGrpSpPr/>
          <p:nvPr/>
        </p:nvGrpSpPr>
        <p:grpSpPr>
          <a:xfrm>
            <a:off x="5798058" y="4051300"/>
            <a:ext cx="3383852" cy="1084707"/>
            <a:chOff x="5798058" y="4051300"/>
            <a:chExt cx="3383852" cy="1084707"/>
          </a:xfrm>
        </p:grpSpPr>
        <p:sp>
          <p:nvSpPr>
            <p:cNvPr id="20" name="TextBox 20"/>
            <p:cNvSpPr txBox="1"/>
            <p:nvPr/>
          </p:nvSpPr>
          <p:spPr>
            <a:xfrm>
              <a:off x="5798058" y="405130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概念驱动的多实例感知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01868" y="4527550"/>
              <a:ext cx="338004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 3（2025）：文本 / 示例提示，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检测、分割及视频跟踪。</a:t>
              </a:r>
            </a:p>
          </p:txBody>
        </p:sp>
      </p:grpSp>
      <p:grpSp>
        <p:nvGrpSpPr>
          <p:cNvPr id="25" name="research-gap"/>
          <p:cNvGrpSpPr/>
          <p:nvPr/>
        </p:nvGrpSpPr>
        <p:grpSpPr>
          <a:xfrm>
            <a:off x="597408" y="5314950"/>
            <a:ext cx="10984992" cy="672592"/>
            <a:chOff x="597408" y="5314950"/>
            <a:chExt cx="10984992" cy="672592"/>
          </a:xfrm>
        </p:grpSpPr>
        <p:sp>
          <p:nvSpPr>
            <p:cNvPr id="23" name="Line 23"/>
            <p:cNvSpPr/>
            <p:nvPr/>
          </p:nvSpPr>
          <p:spPr>
            <a:xfrm>
              <a:off x="609600" y="5314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7408" y="551815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密集场景的研究重点：</a:t>
              </a:r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实例区分</a:t>
              </a: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接触边界质量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410325"/>
              <a:ext cx="402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参考：Ultralytics YOLO26 官方文档；SAM 3（2025）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684520" cy="964565"/>
            <a:chOff x="594360" y="415925"/>
            <a:chExt cx="56845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02 研究现状与关键问题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密集目标检测中的候选选择研究</a:t>
              </a:r>
            </a:p>
          </p:txBody>
        </p:sp>
      </p:grpSp>
      <p:grpSp>
        <p:nvGrpSpPr>
          <p:cNvPr id="24" name="prior-work-path"/>
          <p:cNvGrpSpPr/>
          <p:nvPr/>
        </p:nvGrpSpPr>
        <p:grpSpPr>
          <a:xfrm>
            <a:off x="590550" y="1746250"/>
            <a:ext cx="10706100" cy="2928493"/>
            <a:chOff x="590550" y="1746250"/>
            <a:chExt cx="10706100" cy="2928493"/>
          </a:xfrm>
        </p:grpSpPr>
        <p:sp>
          <p:nvSpPr>
            <p:cNvPr id="5" name="Line 5"/>
            <p:cNvSpPr/>
            <p:nvPr/>
          </p:nvSpPr>
          <p:spPr>
            <a:xfrm>
              <a:off x="771525" y="2695575"/>
              <a:ext cx="10525125" cy="9525"/>
            </a:xfrm>
            <a:custGeom>
              <a:avLst/>
              <a:gdLst/>
              <a:ahLst/>
              <a:cxnLst/>
              <a:rect l="l" t="t" r="r" b="b"/>
              <a:pathLst>
                <a:path w="10525125" h="9525">
                  <a:moveTo>
                    <a:pt x="0" y="0"/>
                  </a:moveTo>
                  <a:lnTo>
                    <a:pt x="105251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11" name="adaptive-nms"/>
            <p:cNvGrpSpPr/>
            <p:nvPr/>
          </p:nvGrpSpPr>
          <p:grpSpPr>
            <a:xfrm>
              <a:off x="590550" y="1746250"/>
              <a:ext cx="2430018" cy="2928493"/>
              <a:chOff x="590550" y="1746250"/>
              <a:chExt cx="2430018" cy="2928493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90550" y="1746250"/>
                <a:ext cx="1344183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  <a:t>2019</a:t>
                </a:r>
              </a:p>
            </p:txBody>
          </p:sp>
          <p:sp>
            <p:nvSpPr>
              <p:cNvPr id="7" name="Ellipse 7"/>
              <p:cNvSpPr/>
              <p:nvPr/>
            </p:nvSpPr>
            <p:spPr>
              <a:xfrm>
                <a:off x="704850" y="2628900"/>
                <a:ext cx="133350" cy="133350"/>
              </a:xfrm>
              <a:prstGeom prst="ellipse">
                <a:avLst/>
              </a:prstGeom>
              <a:solidFill>
                <a:srgbClr val="315E9D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598932" y="2955925"/>
                <a:ext cx="192990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Adaptive NMS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01218" y="3406775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密度自适应抑制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98932" y="3844925"/>
                <a:ext cx="2421636" cy="8298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300"/>
                  </a:lnSpc>
                </a:pP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局部密度调整阈值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缓解相邻行人误抑制</a:t>
                </a:r>
              </a:p>
            </p:txBody>
          </p:sp>
        </p:grpSp>
        <p:grpSp>
          <p:nvGrpSpPr>
            <p:cNvPr id="17" name="crowddet"/>
            <p:cNvGrpSpPr/>
            <p:nvPr/>
          </p:nvGrpSpPr>
          <p:grpSpPr>
            <a:xfrm>
              <a:off x="4391025" y="1746250"/>
              <a:ext cx="2470785" cy="2928493"/>
              <a:chOff x="4391025" y="1746250"/>
              <a:chExt cx="2470785" cy="2928493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391025" y="1746250"/>
                <a:ext cx="1344183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  <a:t>2020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4505325" y="2628900"/>
                <a:ext cx="133350" cy="133350"/>
              </a:xfrm>
              <a:prstGeom prst="ellipse">
                <a:avLst/>
              </a:prstGeom>
              <a:solidFill>
                <a:srgbClr val="315E9D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399407" y="2955925"/>
                <a:ext cx="140610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CrowdDet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01693" y="3406775"/>
                <a:ext cx="24601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单候选区域的多实例预测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99407" y="3844925"/>
                <a:ext cx="2448306" cy="8298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300"/>
                  </a:lnSpc>
                </a:pP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缓解高重叠目标冲突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集合损失与 Set NMS</a:t>
                </a:r>
              </a:p>
            </p:txBody>
          </p:sp>
        </p:grpSp>
        <p:grpSp>
          <p:nvGrpSpPr>
            <p:cNvPr id="23" name="ddq"/>
            <p:cNvGrpSpPr/>
            <p:nvPr/>
          </p:nvGrpSpPr>
          <p:grpSpPr>
            <a:xfrm>
              <a:off x="8191500" y="1746250"/>
              <a:ext cx="2248662" cy="2928493"/>
              <a:chOff x="8191500" y="1746250"/>
              <a:chExt cx="2248662" cy="2928493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191500" y="1746250"/>
                <a:ext cx="1344183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  <a:t>2023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8305800" y="2628900"/>
                <a:ext cx="133350" cy="133350"/>
              </a:xfrm>
              <a:prstGeom prst="ellipse">
                <a:avLst/>
              </a:prstGeom>
              <a:solidFill>
                <a:srgbClr val="315E9D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199882" y="2955925"/>
                <a:ext cx="60156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DDQ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202168" y="3406775"/>
                <a:ext cx="22379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密集且有区分度的查询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99882" y="3844925"/>
                <a:ext cx="1888236" cy="8298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300"/>
                  </a:lnSpc>
                </a:pP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兼顾候选召回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与查询冗余控制</a:t>
                </a:r>
              </a:p>
            </p:txBody>
          </p:sp>
        </p:grpSp>
      </p:grpSp>
      <p:grpSp>
        <p:nvGrpSpPr>
          <p:cNvPr id="28" name="specific-gap"/>
          <p:cNvGrpSpPr/>
          <p:nvPr/>
        </p:nvGrpSpPr>
        <p:grpSpPr>
          <a:xfrm>
            <a:off x="609600" y="5162550"/>
            <a:ext cx="10972800" cy="866775"/>
            <a:chOff x="609600" y="5162550"/>
            <a:chExt cx="10972800" cy="866775"/>
          </a:xfrm>
        </p:grpSpPr>
        <p:sp>
          <p:nvSpPr>
            <p:cNvPr id="25" name="Rectangle 25"/>
            <p:cNvSpPr/>
            <p:nvPr/>
          </p:nvSpPr>
          <p:spPr>
            <a:xfrm>
              <a:off x="609600" y="5162550"/>
              <a:ext cx="10972800" cy="8667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7532" y="5289550"/>
              <a:ext cx="68061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研究进展：由局部抑制扩展到集合预测与查询去冗余。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818" y="5673725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本课题关注：完整候选、局部片段与邻接个体共存时的实例对应歧义。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603504" y="6410325"/>
              <a:ext cx="63039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参考：Adaptive NMS（CVPR 2019）；CrowdDet（CVPR 2020）；DDQ（CVPR 2023）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492240" cy="964565"/>
            <a:chOff x="594360" y="415925"/>
            <a:chExt cx="64922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02 研究现状与关键问题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难点一：实例对应歧义与检出完整性</a:t>
              </a:r>
            </a:p>
          </p:txBody>
        </p:sp>
      </p:grpSp>
      <p:grpSp>
        <p:nvGrpSpPr>
          <p:cNvPr id="13" name="different-overlapping"/>
          <p:cNvGrpSpPr/>
          <p:nvPr/>
        </p:nvGrpSpPr>
        <p:grpSpPr>
          <a:xfrm>
            <a:off x="597408" y="1755775"/>
            <a:ext cx="3980688" cy="3096768"/>
            <a:chOff x="597408" y="1755775"/>
            <a:chExt cx="3980688" cy="3096768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5577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相邻实例的高重叠预测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1504950" y="2505075"/>
              <a:ext cx="1847850" cy="1409700"/>
            </a:xfrm>
            <a:prstGeom prst="ellipse">
              <a:avLst/>
            </a:prstGeom>
            <a:solidFill>
              <a:srgbClr val="315E9D">
                <a:alpha val="18000"/>
              </a:srgbClr>
            </a:solidFill>
            <a:ln w="28575">
              <a:solidFill>
                <a:srgbClr val="315E9D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2457450" y="2628900"/>
              <a:ext cx="1847850" cy="1409700"/>
            </a:xfrm>
            <a:prstGeom prst="ellipse">
              <a:avLst/>
            </a:prstGeom>
            <a:solidFill>
              <a:schemeClr val="accent2">
                <a:alpha val="18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343025" y="2352675"/>
              <a:ext cx="2171700" cy="1657350"/>
            </a:xfrm>
            <a:prstGeom prst="rect">
              <a:avLst/>
            </a:prstGeom>
            <a:noFill/>
            <a:ln w="19050">
              <a:solidFill>
                <a:srgbClr val="315E9D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295525" y="2486025"/>
              <a:ext cx="2171700" cy="16573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41957" y="3060700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46932" y="320357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932" y="444182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过度抑制导致相邻真实实例遗漏</a:t>
              </a:r>
            </a:p>
          </p:txBody>
        </p:sp>
      </p:grpSp>
      <p:grpSp>
        <p:nvGrpSpPr>
          <p:cNvPr id="22" name="same-fragments"/>
          <p:cNvGrpSpPr/>
          <p:nvPr/>
        </p:nvGrpSpPr>
        <p:grpSpPr>
          <a:xfrm>
            <a:off x="6331458" y="1755775"/>
            <a:ext cx="4514850" cy="3096768"/>
            <a:chOff x="6331458" y="1755775"/>
            <a:chExt cx="4514850" cy="3096768"/>
          </a:xfrm>
        </p:grpSpPr>
        <p:sp>
          <p:nvSpPr>
            <p:cNvPr id="14" name="TextBox 14"/>
            <p:cNvSpPr txBox="1"/>
            <p:nvPr/>
          </p:nvSpPr>
          <p:spPr>
            <a:xfrm>
              <a:off x="6331458" y="1755775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同一实例的局部片段预测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10450" y="2514600"/>
              <a:ext cx="3162300" cy="1524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596B80"/>
              </a:solidFill>
              <a:prstDash val="lgDash"/>
            </a:ln>
          </p:spPr>
        </p:sp>
        <p:sp>
          <p:nvSpPr>
            <p:cNvPr id="16" name="Ellipse 16"/>
            <p:cNvSpPr/>
            <p:nvPr/>
          </p:nvSpPr>
          <p:spPr>
            <a:xfrm>
              <a:off x="7658100" y="2762250"/>
              <a:ext cx="1276350" cy="1028700"/>
            </a:xfrm>
            <a:prstGeom prst="ellipse">
              <a:avLst/>
            </a:prstGeom>
            <a:solidFill>
              <a:srgbClr val="315E9D">
                <a:alpha val="25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048750" y="2762250"/>
              <a:ext cx="1276350" cy="1028700"/>
            </a:xfrm>
            <a:prstGeom prst="ellipse">
              <a:avLst/>
            </a:prstGeom>
            <a:solidFill>
              <a:srgbClr val="315E9D">
                <a:alpha val="25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57007" y="31178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局部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7657" y="31178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局部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64068" y="408305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虚线：同一实例的可见范围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32982" y="444182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低重叠片段可能造成重复检出</a:t>
              </a:r>
            </a:p>
          </p:txBody>
        </p:sp>
      </p:grpSp>
      <p:grpSp>
        <p:nvGrpSpPr>
          <p:cNvPr id="26" name="research-question"/>
          <p:cNvGrpSpPr/>
          <p:nvPr/>
        </p:nvGrpSpPr>
        <p:grpSpPr>
          <a:xfrm>
            <a:off x="597408" y="5267325"/>
            <a:ext cx="10984992" cy="900557"/>
            <a:chOff x="597408" y="5267325"/>
            <a:chExt cx="10984992" cy="900557"/>
          </a:xfrm>
        </p:grpSpPr>
        <p:sp>
          <p:nvSpPr>
            <p:cNvPr id="23" name="Line 23"/>
            <p:cNvSpPr/>
            <p:nvPr/>
          </p:nvSpPr>
          <p:spPr>
            <a:xfrm>
              <a:off x="609600" y="5267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7408" y="5413375"/>
              <a:ext cx="64861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关键挑战：兼顾相邻实例保留与重复候选抑制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218" y="5845175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候选的可见完整性与相互关系共同影响判断，单一重叠阈值难以充分区分。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41032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实例对应歧义示意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684520" cy="964565"/>
            <a:chOff x="594360" y="415925"/>
            <a:chExt cx="56845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研究现状与关键问题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掩码质量评估与局部精细化研究</a:t>
              </a:r>
            </a:p>
          </p:txBody>
        </p:sp>
      </p:grpSp>
      <p:grpSp>
        <p:nvGrpSpPr>
          <p:cNvPr id="8" name="quality-scoring"/>
          <p:cNvGrpSpPr/>
          <p:nvPr/>
        </p:nvGrpSpPr>
        <p:grpSpPr>
          <a:xfrm>
            <a:off x="597408" y="1755775"/>
            <a:ext cx="4188524" cy="1116457"/>
            <a:chOff x="597408" y="1755775"/>
            <a:chExt cx="4188524" cy="1116457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5577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实例掩码质量估计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218" y="2244725"/>
              <a:ext cx="36879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Mask Scoring R-CNN（CVPR 2019）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2549525"/>
              <a:ext cx="41847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预测掩码 IoU，形成质量感知的实例评分。</a:t>
              </a:r>
            </a:p>
          </p:txBody>
        </p:sp>
      </p:grpSp>
      <p:grpSp>
        <p:nvGrpSpPr>
          <p:cNvPr id="12" name="boundary-refinement"/>
          <p:cNvGrpSpPr/>
          <p:nvPr/>
        </p:nvGrpSpPr>
        <p:grpSpPr>
          <a:xfrm>
            <a:off x="597408" y="3098800"/>
            <a:ext cx="4521562" cy="1116457"/>
            <a:chOff x="597408" y="3098800"/>
            <a:chExt cx="4521562" cy="1116457"/>
          </a:xfrm>
        </p:grpSpPr>
        <p:sp>
          <p:nvSpPr>
            <p:cNvPr id="9" name="TextBox 9"/>
            <p:cNvSpPr txBox="1"/>
            <p:nvPr/>
          </p:nvSpPr>
          <p:spPr>
            <a:xfrm>
              <a:off x="597408" y="309880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高分辨率局部边界细化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3587750"/>
              <a:ext cx="4517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Boundary Patch Refinement（CVPR 2021）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18" y="3892550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提取预测边界附近的图像块进行精细化。</a:t>
              </a:r>
            </a:p>
          </p:txBody>
        </p:sp>
      </p:grpSp>
      <p:grpSp>
        <p:nvGrpSpPr>
          <p:cNvPr id="16" name="selective-refinement"/>
          <p:cNvGrpSpPr/>
          <p:nvPr/>
        </p:nvGrpSpPr>
        <p:grpSpPr>
          <a:xfrm>
            <a:off x="597408" y="4441825"/>
            <a:ext cx="4463034" cy="1116457"/>
            <a:chOff x="597408" y="4441825"/>
            <a:chExt cx="4463034" cy="1116457"/>
          </a:xfrm>
        </p:grpSpPr>
        <p:sp>
          <p:nvSpPr>
            <p:cNvPr id="13" name="TextBox 13"/>
            <p:cNvSpPr txBox="1"/>
            <p:nvPr/>
          </p:nvSpPr>
          <p:spPr>
            <a:xfrm>
              <a:off x="597408" y="444182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易错区域的选择性处理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218" y="4930775"/>
              <a:ext cx="33442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Mask Transfiner（CVPR 2022）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218" y="523557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以四叉树组织边界区域，重点修正易错节点。</a:t>
              </a:r>
            </a:p>
          </p:txBody>
        </p:sp>
      </p:grpSp>
      <p:grpSp>
        <p:nvGrpSpPr>
          <p:cNvPr id="23" name="operation-benefit"/>
          <p:cNvGrpSpPr/>
          <p:nvPr/>
        </p:nvGrpSpPr>
        <p:grpSpPr>
          <a:xfrm>
            <a:off x="6591300" y="1752600"/>
            <a:ext cx="4991100" cy="3743325"/>
            <a:chOff x="6591300" y="1752600"/>
            <a:chExt cx="4991100" cy="3743325"/>
          </a:xfrm>
        </p:grpSpPr>
        <p:sp>
          <p:nvSpPr>
            <p:cNvPr id="17" name="Rectangle 17"/>
            <p:cNvSpPr/>
            <p:nvPr/>
          </p:nvSpPr>
          <p:spPr>
            <a:xfrm>
              <a:off x="6591300" y="1752600"/>
              <a:ext cx="4991100" cy="37433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87718" y="20066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本课题的研究切入点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80860" y="2495550"/>
              <a:ext cx="2697480" cy="1139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面向具体操作的</a:t>
              </a:r>
              <a:b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修正收益估计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96100" y="38290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85432" y="409892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质量评分不能替代收益估计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87718" y="4603750"/>
              <a:ext cx="316001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当前掩码质量与修正后的质量变化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具有不同的预测目标。</a:t>
              </a:r>
            </a:p>
          </p:txBody>
        </p:sp>
      </p:grpSp>
      <p:grpSp>
        <p:nvGrpSpPr>
          <p:cNvPr id="25" name="scope"/>
          <p:cNvGrpSpPr/>
          <p:nvPr/>
        </p:nvGrpSpPr>
        <p:grpSpPr>
          <a:xfrm>
            <a:off x="601218" y="5807075"/>
            <a:ext cx="7346823" cy="322707"/>
            <a:chOff x="601218" y="5807075"/>
            <a:chExt cx="7346823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01218" y="5807075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研究衔接：结合操作响应与邻接信息，进行实例级的修正收益预测与选择。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410325"/>
              <a:ext cx="5353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参考：Huang et al.（2019）；Tang et al.（2021）；Ke et al.（2022）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088380" cy="964565"/>
            <a:chOff x="594360" y="415925"/>
            <a:chExt cx="608838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研究现状与关键问题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难点二：接触边界归属与修正风险</a:t>
              </a:r>
            </a:p>
          </p:txBody>
        </p:sp>
      </p:grpSp>
      <p:grpSp>
        <p:nvGrpSpPr>
          <p:cNvPr id="13" name="repair-example"/>
          <p:cNvGrpSpPr/>
          <p:nvPr/>
        </p:nvGrpSpPr>
        <p:grpSpPr>
          <a:xfrm>
            <a:off x="597408" y="1774825"/>
            <a:ext cx="4669917" cy="2982468"/>
            <a:chOff x="597408" y="1774825"/>
            <a:chExt cx="4669917" cy="2982468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74825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错误区域去除：修正产生收益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111442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247900" y="2914650"/>
              <a:ext cx="552450" cy="762000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2981325" y="3305175"/>
              <a:ext cx="638175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9" name="Ellipse 9"/>
            <p:cNvSpPr/>
            <p:nvPr/>
          </p:nvSpPr>
          <p:spPr>
            <a:xfrm>
              <a:off x="389572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6095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2320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932" y="434657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去除误分配的邻接实例像素</a:t>
              </a:r>
            </a:p>
          </p:txBody>
        </p:sp>
      </p:grpSp>
      <p:grpSp>
        <p:nvGrpSpPr>
          <p:cNvPr id="23" name="damage-example"/>
          <p:cNvGrpSpPr/>
          <p:nvPr/>
        </p:nvGrpSpPr>
        <p:grpSpPr>
          <a:xfrm>
            <a:off x="6331458" y="1774825"/>
            <a:ext cx="4660392" cy="2982468"/>
            <a:chOff x="6331458" y="1774825"/>
            <a:chExt cx="4660392" cy="2982468"/>
          </a:xfrm>
        </p:grpSpPr>
        <p:sp>
          <p:nvSpPr>
            <p:cNvPr id="14" name="TextBox 14"/>
            <p:cNvSpPr txBox="1"/>
            <p:nvPr/>
          </p:nvSpPr>
          <p:spPr>
            <a:xfrm>
              <a:off x="6331458" y="1774825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正确区域损失：修正产生退化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848475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981950" y="3076575"/>
              <a:ext cx="561975" cy="409575"/>
            </a:xfrm>
            <a:prstGeom prst="rect">
              <a:avLst/>
            </a:prstGeom>
            <a:solidFill>
              <a:schemeClr val="accent2">
                <a:alpha val="25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086725" y="2990850"/>
              <a:ext cx="495300" cy="600075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  <a:prstDash val="dash"/>
            </a:ln>
          </p:spPr>
        </p:sp>
        <p:sp>
          <p:nvSpPr>
            <p:cNvPr id="18" name="Line 18"/>
            <p:cNvSpPr/>
            <p:nvPr/>
          </p:nvSpPr>
          <p:spPr>
            <a:xfrm>
              <a:off x="8705850" y="3305175"/>
              <a:ext cx="638175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9" name="Ellipse 19"/>
            <p:cNvSpPr/>
            <p:nvPr/>
          </p:nvSpPr>
          <p:spPr>
            <a:xfrm>
              <a:off x="9620250" y="2543175"/>
              <a:ext cx="1371600" cy="1524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95007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66782" y="312737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32982" y="434657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丢失当前实例的真实细节区域</a:t>
              </a:r>
            </a:p>
          </p:txBody>
        </p:sp>
      </p:grpSp>
      <p:grpSp>
        <p:nvGrpSpPr>
          <p:cNvPr id="27" name="same-operation"/>
          <p:cNvGrpSpPr/>
          <p:nvPr/>
        </p:nvGrpSpPr>
        <p:grpSpPr>
          <a:xfrm>
            <a:off x="609600" y="5133975"/>
            <a:ext cx="10972800" cy="971550"/>
            <a:chOff x="609600" y="5133975"/>
            <a:chExt cx="10972800" cy="971550"/>
          </a:xfrm>
        </p:grpSpPr>
        <p:sp>
          <p:nvSpPr>
            <p:cNvPr id="24" name="Rectangle 24"/>
            <p:cNvSpPr/>
            <p:nvPr/>
          </p:nvSpPr>
          <p:spPr>
            <a:xfrm>
              <a:off x="609600" y="5133975"/>
              <a:ext cx="10972800" cy="971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6008" y="5260975"/>
              <a:ext cx="7455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关键挑战：缺少真实标注时，预测具体修正的净收益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818" y="5711825"/>
              <a:ext cx="86795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接触位置的像素归属存在歧义，邻接预测也含误差，需要兼顾错误修复与正确区域保护。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41032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同类边界收紧操作的作用示意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492240" cy="964565"/>
            <a:chOff x="594360" y="415925"/>
            <a:chExt cx="64922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研究目标与技术路线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密集实例选择与区域优化的总体框架</a:t>
              </a:r>
            </a:p>
          </p:txBody>
        </p:sp>
      </p:grpSp>
      <p:grpSp>
        <p:nvGrpSpPr>
          <p:cNvPr id="22" name="main-pipeline"/>
          <p:cNvGrpSpPr/>
          <p:nvPr/>
        </p:nvGrpSpPr>
        <p:grpSpPr>
          <a:xfrm>
            <a:off x="601218" y="1997075"/>
            <a:ext cx="10981182" cy="1470025"/>
            <a:chOff x="601218" y="1997075"/>
            <a:chExt cx="10981182" cy="1470025"/>
          </a:xfrm>
        </p:grpSpPr>
        <p:sp>
          <p:nvSpPr>
            <p:cNvPr id="5" name="Rectangle 5"/>
            <p:cNvSpPr/>
            <p:nvPr/>
          </p:nvSpPr>
          <p:spPr>
            <a:xfrm>
              <a:off x="609600" y="2400300"/>
              <a:ext cx="207645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314700" y="2400300"/>
              <a:ext cx="2266950" cy="1066800"/>
            </a:xfrm>
            <a:prstGeom prst="rect">
              <a:avLst/>
            </a:prstGeom>
            <a:solidFill>
              <a:srgbClr val="315E9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210300" y="2400300"/>
              <a:ext cx="2266950" cy="1066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105900" y="2400300"/>
              <a:ext cx="24765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218" y="19970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基础模型输出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06318" y="19970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研究内容一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01918" y="19970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研究内容二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97518" y="19970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系统实现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89457" y="2746375"/>
              <a:ext cx="10174605" cy="469392"/>
              <a:chOff x="989457" y="2746375"/>
              <a:chExt cx="10174605" cy="469392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989457" y="27463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候选集合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789807" y="27463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实例选择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685407" y="27463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掩码修正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524238" y="2746375"/>
                <a:ext cx="163982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统计与展示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819400" y="2933700"/>
              <a:ext cx="6153150" cy="1"/>
              <a:chOff x="2819400" y="2933700"/>
              <a:chExt cx="6153150" cy="1"/>
            </a:xfrm>
          </p:grpSpPr>
          <p:sp>
            <p:nvSpPr>
              <p:cNvPr id="18" name="Line 18"/>
              <p:cNvSpPr/>
              <p:nvPr/>
            </p:nvSpPr>
            <p:spPr>
              <a:xfrm>
                <a:off x="2819400" y="293370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5715000" y="293370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8610600" y="293370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</p:grpSp>
      </p:grpSp>
      <p:grpSp>
        <p:nvGrpSpPr>
          <p:cNvPr id="25" name="question-instance"/>
          <p:cNvGrpSpPr/>
          <p:nvPr/>
        </p:nvGrpSpPr>
        <p:grpSpPr>
          <a:xfrm>
            <a:off x="597408" y="4070350"/>
            <a:ext cx="4828794" cy="915543"/>
            <a:chOff x="597408" y="4070350"/>
            <a:chExt cx="4828794" cy="915543"/>
          </a:xfrm>
        </p:grpSpPr>
        <p:sp>
          <p:nvSpPr>
            <p:cNvPr id="23" name="TextBox 23"/>
            <p:cNvSpPr txBox="1"/>
            <p:nvPr/>
          </p:nvSpPr>
          <p:spPr>
            <a:xfrm>
              <a:off x="597408" y="407035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目标一：提高实例集合可靠性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8932" y="4575175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减少筛选造成的实例遗漏与重复检出。</a:t>
              </a:r>
            </a:p>
          </p:txBody>
        </p:sp>
      </p:grpSp>
      <p:grpSp>
        <p:nvGrpSpPr>
          <p:cNvPr id="28" name="question-mask"/>
          <p:cNvGrpSpPr/>
          <p:nvPr/>
        </p:nvGrpSpPr>
        <p:grpSpPr>
          <a:xfrm>
            <a:off x="6369558" y="4070350"/>
            <a:ext cx="4546092" cy="915543"/>
            <a:chOff x="6369558" y="4070350"/>
            <a:chExt cx="4546092" cy="915543"/>
          </a:xfrm>
        </p:grpSpPr>
        <p:sp>
          <p:nvSpPr>
            <p:cNvPr id="26" name="TextBox 26"/>
            <p:cNvSpPr txBox="1"/>
            <p:nvPr/>
          </p:nvSpPr>
          <p:spPr>
            <a:xfrm>
              <a:off x="6369558" y="407035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目标二：提高掩码修正有效性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1082" y="457517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提高区域精度，降低正确区域退化。</a:t>
              </a:r>
            </a:p>
          </p:txBody>
        </p:sp>
      </p:grpSp>
      <p:grpSp>
        <p:nvGrpSpPr>
          <p:cNvPr id="31" name="foundation"/>
          <p:cNvGrpSpPr/>
          <p:nvPr/>
        </p:nvGrpSpPr>
        <p:grpSpPr>
          <a:xfrm>
            <a:off x="598932" y="5467350"/>
            <a:ext cx="10983468" cy="585343"/>
            <a:chOff x="598932" y="5467350"/>
            <a:chExt cx="10983468" cy="585343"/>
          </a:xfrm>
        </p:grpSpPr>
        <p:sp>
          <p:nvSpPr>
            <p:cNvPr id="29" name="Line 29"/>
            <p:cNvSpPr/>
            <p:nvPr/>
          </p:nvSpPr>
          <p:spPr>
            <a:xfrm>
              <a:off x="609600" y="5467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8932" y="5641975"/>
              <a:ext cx="96332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研究基础：失败类型诊断与密集分层评价；验证方式：独立消融与组合对照。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03504" y="641032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总体技术路线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684520" cy="964565"/>
            <a:chOff x="594360" y="415925"/>
            <a:chExt cx="56845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4383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03 研究内容一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关系辅助的候选判别与冗余控制</a:t>
              </a:r>
            </a:p>
          </p:txBody>
        </p:sp>
      </p:grpSp>
      <p:grpSp>
        <p:nvGrpSpPr>
          <p:cNvPr id="26" name="selection-method"/>
          <p:cNvGrpSpPr/>
          <p:nvPr/>
        </p:nvGrpSpPr>
        <p:grpSpPr>
          <a:xfrm>
            <a:off x="601218" y="1984375"/>
            <a:ext cx="10989564" cy="2888107"/>
            <a:chOff x="601218" y="1984375"/>
            <a:chExt cx="10989564" cy="2888107"/>
          </a:xfrm>
        </p:grpSpPr>
        <p:sp>
          <p:nvSpPr>
            <p:cNvPr id="5" name="Rectangle 5"/>
            <p:cNvSpPr/>
            <p:nvPr/>
          </p:nvSpPr>
          <p:spPr>
            <a:xfrm>
              <a:off x="609600" y="2019300"/>
              <a:ext cx="2190750" cy="23145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952500" y="2390775"/>
              <a:ext cx="1028700" cy="990600"/>
            </a:xfrm>
            <a:prstGeom prst="rect">
              <a:avLst/>
            </a:prstGeom>
            <a:noFill/>
            <a:ln w="19050">
              <a:solidFill>
                <a:srgbClr val="315E9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304925" y="2667000"/>
              <a:ext cx="1028700" cy="9906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09650" y="3048000"/>
              <a:ext cx="733425" cy="409575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6582" y="38227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限定候选集合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2952750" y="3162300"/>
              <a:ext cx="6915150" cy="1"/>
              <a:chOff x="2952750" y="3162300"/>
              <a:chExt cx="6915150" cy="1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2952750" y="3162300"/>
                <a:ext cx="447675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6667500" y="3162300"/>
                <a:ext cx="4381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9429750" y="3162300"/>
                <a:ext cx="438150" cy="1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</p:grpSp>
        <p:grpSp>
          <p:nvGrpSpPr>
            <p:cNvPr id="17" name="information"/>
            <p:cNvGrpSpPr/>
            <p:nvPr/>
          </p:nvGrpSpPr>
          <p:grpSpPr>
            <a:xfrm>
              <a:off x="3607308" y="1984375"/>
              <a:ext cx="2898267" cy="1956943"/>
              <a:chOff x="3607308" y="1984375"/>
              <a:chExt cx="2898267" cy="1956943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3607308" y="19843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315E9D"/>
                    </a:solidFill>
                    <a:latin typeface="+mn-lt"/>
                    <a:ea typeface="+mn-ea"/>
                    <a:cs typeface="+mn-cs"/>
                  </a:rPr>
                  <a:t>质量与关系表征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3619500" y="2514600"/>
                <a:ext cx="28860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86075" h="9525">
                    <a:moveTo>
                      <a:pt x="0" y="0"/>
                    </a:moveTo>
                    <a:lnTo>
                      <a:pt x="2886075" y="0"/>
                    </a:lnTo>
                  </a:path>
                </a:pathLst>
              </a:custGeom>
              <a:noFill/>
              <a:ln w="19050">
                <a:solidFill>
                  <a:schemeClr val="accent6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608832" y="2597150"/>
                <a:ext cx="2154936" cy="13441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675"/>
                  </a:lnSpc>
                </a:pP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可见区域完整性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重叠、包含与互补</a:t>
                </a:r>
                <a:b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相邻候选关联</a:t>
                </a:r>
              </a:p>
            </p:txBody>
          </p:sp>
        </p:grpSp>
        <p:sp>
          <p:nvSpPr>
            <p:cNvPr id="18" name="Rectangle 18"/>
            <p:cNvSpPr/>
            <p:nvPr/>
          </p:nvSpPr>
          <p:spPr>
            <a:xfrm>
              <a:off x="7315200" y="2495550"/>
              <a:ext cx="1914525" cy="1323975"/>
            </a:xfrm>
            <a:prstGeom prst="rect">
              <a:avLst/>
            </a:prstGeom>
            <a:solidFill>
              <a:srgbClr val="315E9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23632" y="2692400"/>
              <a:ext cx="108813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300"/>
                </a:lnSpc>
              </a:pPr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实例判别</a:t>
              </a:r>
              <a:b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集合选择</a:t>
              </a:r>
            </a:p>
          </p:txBody>
        </p:sp>
        <p:grpSp>
          <p:nvGrpSpPr>
            <p:cNvPr id="23" name="selected-set"/>
            <p:cNvGrpSpPr/>
            <p:nvPr/>
          </p:nvGrpSpPr>
          <p:grpSpPr>
            <a:xfrm>
              <a:off x="9981057" y="2552700"/>
              <a:ext cx="1420368" cy="1823593"/>
              <a:chOff x="9981057" y="2552700"/>
              <a:chExt cx="1420368" cy="1823593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0134600" y="2552700"/>
                <a:ext cx="1000125" cy="800100"/>
              </a:xfrm>
              <a:prstGeom prst="rect">
                <a:avLst/>
              </a:prstGeom>
              <a:solidFill>
                <a:srgbClr val="315E9D">
                  <a:alpha val="12000"/>
                </a:srgbClr>
              </a:solidFill>
              <a:ln w="19050">
                <a:solidFill>
                  <a:srgbClr val="315E9D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0401300" y="2914650"/>
                <a:ext cx="1000125" cy="800100"/>
              </a:xfrm>
              <a:prstGeom prst="rect">
                <a:avLst/>
              </a:prstGeom>
              <a:solidFill>
                <a:schemeClr val="accent2">
                  <a:alpha val="12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981057" y="396557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实例集合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601218" y="454977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输入：预先限定的预测候选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20050" y="454977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输出：代表不同可见个体的保留集合</a:t>
              </a:r>
            </a:p>
          </p:txBody>
        </p:sp>
      </p:grpSp>
      <p:grpSp>
        <p:nvGrpSpPr>
          <p:cNvPr id="30" name="selection-claim"/>
          <p:cNvGrpSpPr/>
          <p:nvPr/>
        </p:nvGrpSpPr>
        <p:grpSpPr>
          <a:xfrm>
            <a:off x="609600" y="5181600"/>
            <a:ext cx="10972800" cy="933450"/>
            <a:chOff x="609600" y="5181600"/>
            <a:chExt cx="10972800" cy="933450"/>
          </a:xfrm>
        </p:grpSpPr>
        <p:sp>
          <p:nvSpPr>
            <p:cNvPr id="27" name="Rectangle 27"/>
            <p:cNvSpPr/>
            <p:nvPr/>
          </p:nvSpPr>
          <p:spPr>
            <a:xfrm>
              <a:off x="609600" y="5181600"/>
              <a:ext cx="10972800" cy="933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6008" y="5280025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研究目标：在限定候选预算内兼顾实例召回与冗余控制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818" y="5730875"/>
              <a:ext cx="82353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验证设计：质量特征、关系特征及联合策略对照，评价密集子集的遗漏与重复检出。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03504" y="6410325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拟研究方法：候选判别与实例集合优化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6088380" cy="964565"/>
            <a:chOff x="594360" y="415925"/>
            <a:chExt cx="608838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4383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研究内容二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邻接关系辅助的掩码修正收益预测</a:t>
              </a:r>
            </a:p>
          </p:txBody>
        </p:sp>
      </p:grpSp>
      <p:grpSp>
        <p:nvGrpSpPr>
          <p:cNvPr id="22" name="trial-and-decision"/>
          <p:cNvGrpSpPr/>
          <p:nvPr/>
        </p:nvGrpSpPr>
        <p:grpSpPr>
          <a:xfrm>
            <a:off x="601218" y="1806575"/>
            <a:ext cx="10981182" cy="2493518"/>
            <a:chOff x="601218" y="1806575"/>
            <a:chExt cx="10981182" cy="2493518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8065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已选实例</a:t>
              </a:r>
            </a:p>
          </p:txBody>
        </p:sp>
        <p:sp>
          <p:nvSpPr>
            <p:cNvPr id="6" name="Ellipse 6"/>
            <p:cNvSpPr/>
            <p:nvPr/>
          </p:nvSpPr>
          <p:spPr>
            <a:xfrm>
              <a:off x="800100" y="2428875"/>
              <a:ext cx="1238250" cy="127635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790700" y="2809875"/>
              <a:ext cx="428625" cy="361950"/>
            </a:xfrm>
            <a:prstGeom prst="rect">
              <a:avLst/>
            </a:prstGeom>
            <a:solidFill>
              <a:schemeClr val="accent3">
                <a:alpha val="35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8957" y="388937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原掩码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419350" y="3067050"/>
              <a:ext cx="7239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0" name="Ellipse 10"/>
            <p:cNvSpPr/>
            <p:nvPr/>
          </p:nvSpPr>
          <p:spPr>
            <a:xfrm>
              <a:off x="3457575" y="2438400"/>
              <a:ext cx="1219200" cy="12573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323082" y="38893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候选修正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895850" y="3067050"/>
              <a:ext cx="72390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829300" y="2466975"/>
              <a:ext cx="2381250" cy="1181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9983" y="2625725"/>
              <a:ext cx="21198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收益预测</a:t>
              </a:r>
            </a:p>
            <a:p>
              <a:pPr algn="ctr">
                <a:lnSpc>
                  <a:spcPts val="3300"/>
                </a:lnSpc>
              </a:pP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估计修正后的质量变化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391525" y="2390775"/>
              <a:ext cx="952500" cy="1343025"/>
              <a:chOff x="8391525" y="2390775"/>
              <a:chExt cx="952500" cy="1343025"/>
            </a:xfrm>
          </p:grpSpPr>
          <p:sp>
            <p:nvSpPr>
              <p:cNvPr id="15" name="Line 15"/>
              <p:cNvSpPr/>
              <p:nvPr/>
            </p:nvSpPr>
            <p:spPr>
              <a:xfrm flipV="1">
                <a:off x="8391525" y="2390775"/>
                <a:ext cx="952500" cy="552450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8391525" y="3181350"/>
                <a:ext cx="952500" cy="552450"/>
              </a:xfrm>
              <a:prstGeom prst="line">
                <a:avLst/>
              </a:prstGeom>
              <a:noFill/>
              <a:ln w="19050">
                <a:solidFill>
                  <a:srgbClr val="596B80"/>
                </a:solidFill>
                <a:tailEnd type="arrow" w="lg" len="lg"/>
              </a:ln>
            </p:spPr>
          </p:sp>
        </p:grpSp>
        <p:sp>
          <p:nvSpPr>
            <p:cNvPr id="18" name="Rectangle 18"/>
            <p:cNvSpPr/>
            <p:nvPr/>
          </p:nvSpPr>
          <p:spPr>
            <a:xfrm>
              <a:off x="9544050" y="2019300"/>
              <a:ext cx="2038350" cy="7715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87153" y="22510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采用修正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544050" y="3352800"/>
              <a:ext cx="2038350" cy="7715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5802" y="35845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保留原结果</a:t>
              </a:r>
            </a:p>
          </p:txBody>
        </p:sp>
      </p:grpSp>
      <p:grpSp>
        <p:nvGrpSpPr>
          <p:cNvPr id="25" name="benefit-features"/>
          <p:cNvGrpSpPr/>
          <p:nvPr/>
        </p:nvGrpSpPr>
        <p:grpSpPr>
          <a:xfrm>
            <a:off x="609600" y="4667250"/>
            <a:ext cx="10972800" cy="704850"/>
            <a:chOff x="609600" y="4667250"/>
            <a:chExt cx="10972800" cy="704850"/>
          </a:xfrm>
        </p:grpSpPr>
        <p:sp>
          <p:nvSpPr>
            <p:cNvPr id="23" name="Rectangle 23"/>
            <p:cNvSpPr/>
            <p:nvPr/>
          </p:nvSpPr>
          <p:spPr>
            <a:xfrm>
              <a:off x="609600" y="4667250"/>
              <a:ext cx="109728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7532" y="4860925"/>
              <a:ext cx="71171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输入信息：</a:t>
              </a: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原掩码状态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+　</a:t>
              </a: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操作响应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+　</a:t>
              </a:r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邻接实例关系</a:t>
              </a:r>
            </a:p>
          </p:txBody>
        </p:sp>
      </p:grpSp>
      <p:grpSp>
        <p:nvGrpSpPr>
          <p:cNvPr id="28" name="scope"/>
          <p:cNvGrpSpPr/>
          <p:nvPr/>
        </p:nvGrpSpPr>
        <p:grpSpPr>
          <a:xfrm>
            <a:off x="601218" y="5588000"/>
            <a:ext cx="8235315" cy="617982"/>
            <a:chOff x="601218" y="5588000"/>
            <a:chExt cx="8235315" cy="617982"/>
          </a:xfrm>
        </p:grpSpPr>
        <p:sp>
          <p:nvSpPr>
            <p:cNvPr id="26" name="TextBox 26"/>
            <p:cNvSpPr txBox="1"/>
            <p:nvPr/>
          </p:nvSpPr>
          <p:spPr>
            <a:xfrm>
              <a:off x="601218" y="5588000"/>
              <a:ext cx="712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监督方式：以标注计算修正前后的质量变化；推理使用图像与预测结果。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1218" y="5883275"/>
              <a:ext cx="82353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验证设计：固定检测集合开展特征消融，同时评价分割精度、修复数量与退化数量。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603504" y="641032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拟研究方法：操作收益预测与选择性掩码修正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684520" cy="964565"/>
            <a:chOff x="594360" y="415925"/>
            <a:chExt cx="568452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通用系统设计与应用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实例感知结果与场景统计的关联</a:t>
              </a:r>
            </a:p>
          </p:txBody>
        </p:sp>
      </p:grpSp>
      <p:grpSp>
        <p:nvGrpSpPr>
          <p:cNvPr id="11" name="count"/>
          <p:cNvGrpSpPr/>
          <p:nvPr/>
        </p:nvGrpSpPr>
        <p:grpSpPr>
          <a:xfrm>
            <a:off x="597408" y="1784350"/>
            <a:ext cx="3223260" cy="2833243"/>
            <a:chOff x="597408" y="1784350"/>
            <a:chExt cx="3223260" cy="2833243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8435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可见实例计数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933450" y="2390775"/>
              <a:ext cx="2590800" cy="1219200"/>
              <a:chOff x="933450" y="2390775"/>
              <a:chExt cx="2590800" cy="12192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933450" y="2533650"/>
                <a:ext cx="704850" cy="885825"/>
              </a:xfrm>
              <a:prstGeom prst="rect">
                <a:avLst/>
              </a:prstGeom>
              <a:noFill/>
              <a:ln w="28575">
                <a:solidFill>
                  <a:srgbClr val="315E9D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876425" y="2724150"/>
                <a:ext cx="704850" cy="885825"/>
              </a:xfrm>
              <a:prstGeom prst="rect">
                <a:avLst/>
              </a:prstGeom>
              <a:noFill/>
              <a:ln w="28575">
                <a:solidFill>
                  <a:srgbClr val="315E9D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2819400" y="2390775"/>
                <a:ext cx="704850" cy="885825"/>
              </a:xfrm>
              <a:prstGeom prst="rect">
                <a:avLst/>
              </a:prstGeom>
              <a:noFill/>
              <a:ln w="28575">
                <a:solidFill>
                  <a:srgbClr val="315E9D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598932" y="3787775"/>
              <a:ext cx="322173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对保留实例逐一计数。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分析遗漏与重复检出误差。</a:t>
              </a:r>
            </a:p>
          </p:txBody>
        </p:sp>
      </p:grpSp>
      <p:grpSp>
        <p:nvGrpSpPr>
          <p:cNvPr id="18" name="individual-region"/>
          <p:cNvGrpSpPr/>
          <p:nvPr/>
        </p:nvGrpSpPr>
        <p:grpSpPr>
          <a:xfrm>
            <a:off x="4397883" y="1784350"/>
            <a:ext cx="2956560" cy="2833243"/>
            <a:chOff x="4397883" y="1784350"/>
            <a:chExt cx="2956560" cy="2833243"/>
          </a:xfrm>
        </p:grpSpPr>
        <p:sp>
          <p:nvSpPr>
            <p:cNvPr id="12" name="TextBox 12"/>
            <p:cNvSpPr txBox="1"/>
            <p:nvPr/>
          </p:nvSpPr>
          <p:spPr>
            <a:xfrm>
              <a:off x="4397883" y="178435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个体可见区域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4886325" y="2495550"/>
              <a:ext cx="1371600" cy="1085850"/>
            </a:xfrm>
            <a:prstGeom prst="ellipse">
              <a:avLst/>
            </a:prstGeom>
            <a:solidFill>
              <a:srgbClr val="315E9D">
                <a:alpha val="25000"/>
              </a:srgbClr>
            </a:solidFill>
            <a:ln w="19050">
              <a:solidFill>
                <a:srgbClr val="315E9D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5838825" y="2495550"/>
              <a:ext cx="1371600" cy="1085850"/>
            </a:xfrm>
            <a:prstGeom prst="ellipse">
              <a:avLst/>
            </a:prstGeom>
            <a:solidFill>
              <a:schemeClr val="accent2">
                <a:alpha val="25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399532" y="287972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2532" y="2879725"/>
              <a:ext cx="185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99407" y="3787775"/>
              <a:ext cx="295503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掩码表示个体可见范围。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评价像素归属和边界。</a:t>
              </a:r>
            </a:p>
          </p:txBody>
        </p:sp>
      </p:grpSp>
      <p:grpSp>
        <p:nvGrpSpPr>
          <p:cNvPr id="24" name="union-region"/>
          <p:cNvGrpSpPr/>
          <p:nvPr/>
        </p:nvGrpSpPr>
        <p:grpSpPr>
          <a:xfrm>
            <a:off x="8236458" y="1784350"/>
            <a:ext cx="3145917" cy="2833243"/>
            <a:chOff x="8236458" y="1784350"/>
            <a:chExt cx="3145917" cy="2833243"/>
          </a:xfrm>
        </p:grpSpPr>
        <p:sp>
          <p:nvSpPr>
            <p:cNvPr id="19" name="TextBox 19"/>
            <p:cNvSpPr txBox="1"/>
            <p:nvPr/>
          </p:nvSpPr>
          <p:spPr>
            <a:xfrm>
              <a:off x="8236458" y="178435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区域前景占用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448675" y="2409825"/>
              <a:ext cx="2933700" cy="132397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596B80"/>
              </a:solidFill>
              <a:prstDash val="lgDash"/>
            </a:ln>
          </p:spPr>
        </p:sp>
        <p:sp>
          <p:nvSpPr>
            <p:cNvPr id="21" name="Ellipse 21"/>
            <p:cNvSpPr/>
            <p:nvPr/>
          </p:nvSpPr>
          <p:spPr>
            <a:xfrm>
              <a:off x="8791575" y="2495550"/>
              <a:ext cx="1371600" cy="1085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696450" y="2495550"/>
              <a:ext cx="1371600" cy="1085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37982" y="3787775"/>
              <a:ext cx="300837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计算 ROI 内的掩码并集。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输出区域内前景占比。</a:t>
              </a:r>
            </a:p>
          </p:txBody>
        </p:sp>
      </p:grpSp>
      <p:grpSp>
        <p:nvGrpSpPr>
          <p:cNvPr id="27" name="statistical-scope"/>
          <p:cNvGrpSpPr/>
          <p:nvPr/>
        </p:nvGrpSpPr>
        <p:grpSpPr>
          <a:xfrm>
            <a:off x="609600" y="5172075"/>
            <a:ext cx="10972800" cy="542925"/>
            <a:chOff x="609600" y="5172075"/>
            <a:chExt cx="10972800" cy="542925"/>
          </a:xfrm>
        </p:grpSpPr>
        <p:sp>
          <p:nvSpPr>
            <p:cNvPr id="25" name="Rectangle 25"/>
            <p:cNvSpPr/>
            <p:nvPr/>
          </p:nvSpPr>
          <p:spPr>
            <a:xfrm>
              <a:off x="609600" y="5172075"/>
              <a:ext cx="10972800" cy="5429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9818" y="5330825"/>
              <a:ext cx="7791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像素只在相邻实例之间重新归属时，个体区域会改变，整体前景占比可能不变。</a:t>
              </a:r>
            </a:p>
          </p:txBody>
        </p:sp>
      </p:grpSp>
      <p:grpSp>
        <p:nvGrpSpPr>
          <p:cNvPr id="29" name="existing-foundation"/>
          <p:cNvGrpSpPr/>
          <p:nvPr/>
        </p:nvGrpSpPr>
        <p:grpSpPr>
          <a:xfrm>
            <a:off x="601218" y="5883275"/>
            <a:ext cx="7346823" cy="322707"/>
            <a:chOff x="601218" y="5883275"/>
            <a:chExt cx="7346823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601218" y="5883275"/>
              <a:ext cx="734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统计对象：图像中的可见实例及其像素区域；视频任务按帧生成统计结果。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603504" y="6410325"/>
              <a:ext cx="1254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ROI：感兴趣区域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280660" cy="964565"/>
            <a:chOff x="594360" y="415925"/>
            <a:chExt cx="52806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通用系统设计与应用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通用检测分割系统的总体架构</a:t>
              </a:r>
            </a:p>
          </p:txBody>
        </p:sp>
      </p:grpSp>
      <p:grpSp>
        <p:nvGrpSpPr>
          <p:cNvPr id="23" name="system-architecture"/>
          <p:cNvGrpSpPr/>
          <p:nvPr/>
        </p:nvGrpSpPr>
        <p:grpSpPr>
          <a:xfrm>
            <a:off x="601218" y="1943100"/>
            <a:ext cx="10981182" cy="3005582"/>
            <a:chOff x="601218" y="1943100"/>
            <a:chExt cx="10981182" cy="3005582"/>
          </a:xfrm>
        </p:grpSpPr>
        <p:sp>
          <p:nvSpPr>
            <p:cNvPr id="5" name="Rectangle 5"/>
            <p:cNvSpPr/>
            <p:nvPr/>
          </p:nvSpPr>
          <p:spPr>
            <a:xfrm>
              <a:off x="609600" y="1943100"/>
              <a:ext cx="2057400" cy="259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6008" y="2079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数据输入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7532" y="2606675"/>
              <a:ext cx="1088136" cy="1344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单张图像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批量图片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视频文件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809875" y="3219450"/>
              <a:ext cx="32385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9" name="Rectangle 9"/>
            <p:cNvSpPr/>
            <p:nvPr/>
          </p:nvSpPr>
          <p:spPr>
            <a:xfrm>
              <a:off x="3324225" y="1943100"/>
              <a:ext cx="2466975" cy="259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40633" y="2079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模型适配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42157" y="2606675"/>
              <a:ext cx="1888236" cy="1344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模型与类别配置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统一预测格式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处理参数管理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924550" y="3219450"/>
              <a:ext cx="32385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438900" y="1943100"/>
              <a:ext cx="2419350" cy="259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55308" y="2079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方法处理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56832" y="270827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关系辅助选择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6832" y="31750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选择性掩码修正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6832" y="364172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模块组合与对比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991600" y="3219450"/>
              <a:ext cx="323850" cy="1"/>
            </a:xfrm>
            <a:prstGeom prst="line">
              <a:avLst/>
            </a:prstGeom>
            <a:noFill/>
            <a:ln w="19050">
              <a:solidFill>
                <a:srgbClr val="596B80"/>
              </a:solidFill>
              <a:tailEnd type="arrow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05950" y="1943100"/>
              <a:ext cx="2076450" cy="2590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22358" y="207962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展示与保存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23882" y="2606675"/>
              <a:ext cx="1621536" cy="13441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框与掩码叠加</a:t>
              </a:r>
              <a:b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数量与占用</a:t>
              </a:r>
              <a:b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结果导出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1218" y="4625975"/>
              <a:ext cx="712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统一记录输入、模型配置及各阶段结果，支持处理流程追溯与方法对比。</a:t>
              </a:r>
            </a:p>
          </p:txBody>
        </p:sp>
      </p:grpSp>
      <p:grpSp>
        <p:nvGrpSpPr>
          <p:cNvPr id="27" name="generality"/>
          <p:cNvGrpSpPr/>
          <p:nvPr/>
        </p:nvGrpSpPr>
        <p:grpSpPr>
          <a:xfrm>
            <a:off x="597408" y="5181600"/>
            <a:ext cx="10984992" cy="948182"/>
            <a:chOff x="597408" y="5181600"/>
            <a:chExt cx="10984992" cy="948182"/>
          </a:xfrm>
        </p:grpSpPr>
        <p:sp>
          <p:nvSpPr>
            <p:cNvPr id="24" name="Line 24"/>
            <p:cNvSpPr/>
            <p:nvPr/>
          </p:nvSpPr>
          <p:spPr>
            <a:xfrm>
              <a:off x="609600" y="5181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7408" y="5356225"/>
              <a:ext cx="7455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设计目标：统一模型接口，支持类别与统计区域配置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218" y="5807075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预期输出包括检测分割可视化、逐帧统计记录、处理配置及分析报表。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41032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系统总体设计方案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472940" cy="964565"/>
            <a:chOff x="594360" y="415925"/>
            <a:chExt cx="447294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3268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通用系统设计与应用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472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通用系统的应用验证方案</a:t>
              </a:r>
            </a:p>
          </p:txBody>
        </p:sp>
      </p:grpSp>
      <p:grpSp>
        <p:nvGrpSpPr>
          <p:cNvPr id="7" name="application-context"/>
          <p:cNvGrpSpPr/>
          <p:nvPr/>
        </p:nvGrpSpPr>
        <p:grpSpPr>
          <a:xfrm>
            <a:off x="597408" y="1765300"/>
            <a:ext cx="10200132" cy="925068"/>
            <a:chOff x="597408" y="1765300"/>
            <a:chExt cx="10200132" cy="925068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76530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应用案例：猪只群体监测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2279650"/>
              <a:ext cx="101986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密集聚集、同类外观相似与频繁遮挡，为实例判别和接触边界分析提供验证场景。</a:t>
              </a:r>
            </a:p>
          </p:txBody>
        </p:sp>
      </p:grpSp>
      <p:grpSp>
        <p:nvGrpSpPr>
          <p:cNvPr id="11" name="case-configuration"/>
          <p:cNvGrpSpPr/>
          <p:nvPr/>
        </p:nvGrpSpPr>
        <p:grpSpPr>
          <a:xfrm>
            <a:off x="597408" y="3067050"/>
            <a:ext cx="3269742" cy="1922018"/>
            <a:chOff x="597408" y="3067050"/>
            <a:chExt cx="3269742" cy="1922018"/>
          </a:xfrm>
        </p:grpSpPr>
        <p:sp>
          <p:nvSpPr>
            <p:cNvPr id="8" name="Line 8"/>
            <p:cNvSpPr/>
            <p:nvPr/>
          </p:nvSpPr>
          <p:spPr>
            <a:xfrm>
              <a:off x="609600" y="3067050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7408" y="32416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案例配置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8932" y="3740150"/>
              <a:ext cx="2421636" cy="1248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已有动物图像数据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猪只模型与类别配置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栏舍统计区域设置</a:t>
              </a:r>
            </a:p>
          </p:txBody>
        </p:sp>
      </p:grpSp>
      <p:grpSp>
        <p:nvGrpSpPr>
          <p:cNvPr id="15" name="method-comparison"/>
          <p:cNvGrpSpPr/>
          <p:nvPr/>
        </p:nvGrpSpPr>
        <p:grpSpPr>
          <a:xfrm>
            <a:off x="4388358" y="3067050"/>
            <a:ext cx="3269742" cy="1922018"/>
            <a:chOff x="4388358" y="3067050"/>
            <a:chExt cx="3269742" cy="1922018"/>
          </a:xfrm>
        </p:grpSpPr>
        <p:sp>
          <p:nvSpPr>
            <p:cNvPr id="12" name="Line 12"/>
            <p:cNvSpPr/>
            <p:nvPr/>
          </p:nvSpPr>
          <p:spPr>
            <a:xfrm>
              <a:off x="4400550" y="3067050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19050">
              <a:solidFill>
                <a:srgbClr val="315E9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88358" y="32416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方法对照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89882" y="3740150"/>
              <a:ext cx="2688336" cy="1248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基础模型预测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候选判别与区域修正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单模块与组合效果比较</a:t>
              </a:r>
            </a:p>
          </p:txBody>
        </p:sp>
      </p:grpSp>
      <p:grpSp>
        <p:nvGrpSpPr>
          <p:cNvPr id="19" name="application-evaluation"/>
          <p:cNvGrpSpPr/>
          <p:nvPr/>
        </p:nvGrpSpPr>
        <p:grpSpPr>
          <a:xfrm>
            <a:off x="8179308" y="3067050"/>
            <a:ext cx="3403092" cy="1922018"/>
            <a:chOff x="8179308" y="3067050"/>
            <a:chExt cx="3403092" cy="1922018"/>
          </a:xfrm>
        </p:grpSpPr>
        <p:sp>
          <p:nvSpPr>
            <p:cNvPr id="16" name="Line 16"/>
            <p:cNvSpPr/>
            <p:nvPr/>
          </p:nvSpPr>
          <p:spPr>
            <a:xfrm>
              <a:off x="8191500" y="3067050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79308" y="324167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效果与系统评价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80832" y="3740150"/>
              <a:ext cx="2421636" cy="1248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检测分割与统计误差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端到端处理时延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连续任务运行稳定性</a:t>
              </a:r>
            </a:p>
          </p:txBody>
        </p:sp>
      </p:grpSp>
      <p:grpSp>
        <p:nvGrpSpPr>
          <p:cNvPr id="23" name="research-deliverables"/>
          <p:cNvGrpSpPr/>
          <p:nvPr/>
        </p:nvGrpSpPr>
        <p:grpSpPr>
          <a:xfrm>
            <a:off x="609600" y="5391150"/>
            <a:ext cx="10972800" cy="828675"/>
            <a:chOff x="609600" y="5391150"/>
            <a:chExt cx="10972800" cy="828675"/>
          </a:xfrm>
        </p:grpSpPr>
        <p:sp>
          <p:nvSpPr>
            <p:cNvPr id="20" name="Rectangle 20"/>
            <p:cNvSpPr/>
            <p:nvPr/>
          </p:nvSpPr>
          <p:spPr>
            <a:xfrm>
              <a:off x="609600" y="5391150"/>
              <a:ext cx="10972800" cy="828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6008" y="5451475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预期形成通用方法模块与可配置的检测分割系统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5873750"/>
              <a:ext cx="712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8C9DA"/>
                  </a:solidFill>
                  <a:latin typeface="+mn-lt"/>
                  <a:ea typeface="+mn-ea"/>
                  <a:cs typeface="+mn-cs"/>
                </a:rPr>
                <a:t>以猪只场景开展应用验证，并通过独立实验评估跨类别与跨场景适用性。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41032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应用验证与预期研究成果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35132" y="64103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5280660" cy="964565"/>
            <a:chOff x="594360" y="415925"/>
            <a:chExt cx="528066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6194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A 研究基础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现有实验基础与后续研究衔接</a:t>
              </a:r>
            </a:p>
          </p:txBody>
        </p:sp>
      </p:grpSp>
      <p:graphicFrame>
        <p:nvGraphicFramePr>
          <p:cNvPr id="5" name="reuse-matrix"/>
          <p:cNvGraphicFramePr>
            <a:graphicFrameLocks noGrp="1"/>
          </p:cNvGraphicFramePr>
          <p:nvPr/>
        </p:nvGraphicFramePr>
        <p:xfrm>
          <a:off x="609600" y="1800225"/>
          <a:ext cx="10972800" cy="33909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90800"/>
                <a:gridCol w="4019550"/>
                <a:gridCol w="4362450"/>
              </a:tblGrid>
              <a:tr h="647700">
                <a:tc>
                  <a:txBody>
                    <a:bodyPr/>
                    <a:lstStyle/>
                    <a:p>
                      <a:pPr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现有工作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可复用内容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后续研究任务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实例诊断实验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分层评价与候选追踪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新模型的实例对应分析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RCMC 修正原型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修正规则、收益模型与对照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密集子集与邻接特征消融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动物场景数据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数据清单、推理与评估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按独立数据分组开展评价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推理与导出组件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模型推理、掩码与结果保存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统一接口、界面与系统测试</a:t>
                      </a:r>
                    </a:p>
                  </a:txBody>
                  <a:tcPr anchor="ctr" marL="190500" marR="1524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8" name="reuse-boundary"/>
          <p:cNvGrpSpPr/>
          <p:nvPr/>
        </p:nvGrpSpPr>
        <p:grpSpPr>
          <a:xfrm>
            <a:off x="598932" y="5480050"/>
            <a:ext cx="9915906" cy="735457"/>
            <a:chOff x="598932" y="5480050"/>
            <a:chExt cx="9915906" cy="735457"/>
          </a:xfrm>
        </p:grpSpPr>
        <p:sp>
          <p:nvSpPr>
            <p:cNvPr id="6" name="TextBox 6"/>
            <p:cNvSpPr txBox="1"/>
            <p:nvPr/>
          </p:nvSpPr>
          <p:spPr>
            <a:xfrm>
              <a:off x="598932" y="5480050"/>
              <a:ext cx="99159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复用重点：数据、诊断流程与修正原型；新增工作集中于方法验证和系统集成。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5892800"/>
              <a:ext cx="7568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已有候选排序方案未达到预设评价要求，其诊断流程为新方案设计提供依据。</a:t>
              </a:r>
            </a:p>
          </p:txBody>
        </p:sp>
      </p:grpSp>
      <p:grpSp>
        <p:nvGrpSpPr>
          <p:cNvPr id="11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9" name="TextBox 9"/>
            <p:cNvSpPr txBox="1"/>
            <p:nvPr/>
          </p:nvSpPr>
          <p:spPr>
            <a:xfrm>
              <a:off x="603504" y="641032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研究基础与工作安排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08131" y="6410325"/>
              <a:ext cx="480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876800" cy="964565"/>
            <a:chOff x="594360" y="415925"/>
            <a:chExt cx="487680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20636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B 前期探索结果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选择性掩码修正的前期探索</a:t>
              </a:r>
            </a:p>
          </p:txBody>
        </p:sp>
      </p:grpSp>
      <p:grpSp>
        <p:nvGrpSpPr>
          <p:cNvPr id="6" name="protocol"/>
          <p:cNvGrpSpPr/>
          <p:nvPr/>
        </p:nvGrpSpPr>
        <p:grpSpPr>
          <a:xfrm>
            <a:off x="598932" y="1660525"/>
            <a:ext cx="9042425" cy="410718"/>
            <a:chOff x="598932" y="1660525"/>
            <a:chExt cx="9042425" cy="410718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1660525"/>
              <a:ext cx="90424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开发性评价：COCO val2017，4,500 幅图像，32,831 个非 crowd 标注</a:t>
              </a:r>
            </a:p>
          </p:txBody>
        </p:sp>
      </p:grpSp>
      <p:graphicFrame>
        <p:nvGraphicFramePr>
          <p:cNvPr id="7" name="rcmc-metrics"/>
          <p:cNvGraphicFramePr>
            <a:graphicFrameLocks noGrp="1"/>
          </p:cNvGraphicFramePr>
          <p:nvPr/>
        </p:nvGraphicFramePr>
        <p:xfrm>
          <a:off x="609600" y="2286000"/>
          <a:ext cx="10972800" cy="2095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00400"/>
                <a:gridCol w="2190750"/>
                <a:gridCol w="2438400"/>
                <a:gridCol w="3143250"/>
              </a:tblGrid>
              <a:tr h="647700">
                <a:tc>
                  <a:txBody>
                    <a:bodyPr/>
                    <a:lstStyle/>
                    <a:p>
                      <a:pPr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模型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基线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固定平滑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选择性响应门控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/>
                      <a:r>
                        <a:rPr lang="en-US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YOLO26m-seg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43.38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43.83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43.94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/>
                      <a:r>
                        <a:rPr lang="en-US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YOLO26s-seg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39.42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39.80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21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39.90</a:t>
                      </a:r>
                    </a:p>
                  </a:txBody>
                  <a:tcPr anchor="ctr" marL="190500" marR="1905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1" name="tradeoff"/>
          <p:cNvGrpSpPr/>
          <p:nvPr/>
        </p:nvGrpSpPr>
        <p:grpSpPr>
          <a:xfrm>
            <a:off x="601218" y="4578350"/>
            <a:ext cx="5791962" cy="913257"/>
            <a:chOff x="601218" y="4578350"/>
            <a:chExt cx="5791962" cy="913257"/>
          </a:xfrm>
        </p:grpSpPr>
        <p:sp>
          <p:nvSpPr>
            <p:cNvPr id="8" name="TextBox 8"/>
            <p:cNvSpPr txBox="1"/>
            <p:nvPr/>
          </p:nvSpPr>
          <p:spPr>
            <a:xfrm>
              <a:off x="601218" y="4578350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固定平滑与选择性门控的实例变化对照：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218" y="487362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m：修复 907 → 801，退化 576 → 445，净修复 331 → 356。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5168900"/>
              <a:ext cx="57475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s：修复 841 → 729，退化 556 → 389，净修复 285 → 340。</a:t>
              </a:r>
            </a:p>
          </p:txBody>
        </p:sp>
      </p:grpSp>
      <p:grpSp>
        <p:nvGrpSpPr>
          <p:cNvPr id="14" name="evidence-boundary"/>
          <p:cNvGrpSpPr/>
          <p:nvPr/>
        </p:nvGrpSpPr>
        <p:grpSpPr>
          <a:xfrm>
            <a:off x="601218" y="5597525"/>
            <a:ext cx="6786905" cy="617982"/>
            <a:chOff x="601218" y="5597525"/>
            <a:chExt cx="6786905" cy="617982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5597525"/>
              <a:ext cx="67869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评价范围：单次门控拟合，评价数据曾参与开发，AP 尚无置信区间。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218" y="5892800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后续验证：密集子集、邻接信息增益及独立应用数据。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15" name="TextBox 15"/>
            <p:cNvSpPr txBox="1"/>
            <p:nvPr/>
          </p:nvSpPr>
          <p:spPr>
            <a:xfrm>
              <a:off x="603504" y="6410325"/>
              <a:ext cx="4830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指标：Mask AP（0—100）；前期 RCMC 修正原型，同条件三组对照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08131" y="6410325"/>
              <a:ext cx="480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B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4360" y="415925"/>
            <a:ext cx="4876800" cy="964565"/>
            <a:chOff x="594360" y="415925"/>
            <a:chExt cx="4876800" cy="964565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415925"/>
              <a:ext cx="16194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C 研究计划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9375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研究实施与分阶段验证安排</a:t>
              </a:r>
            </a:p>
          </p:txBody>
        </p:sp>
      </p:grpSp>
      <p:grpSp>
        <p:nvGrpSpPr>
          <p:cNvPr id="8" name="protocol-first"/>
          <p:cNvGrpSpPr/>
          <p:nvPr/>
        </p:nvGrpSpPr>
        <p:grpSpPr>
          <a:xfrm>
            <a:off x="594360" y="1822450"/>
            <a:ext cx="9089898" cy="586740"/>
            <a:chOff x="594360" y="1822450"/>
            <a:chExt cx="9089898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182245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92758" y="18415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评价方案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008882" y="1879600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确定模型、数据分组、候选预算和评价指标。</a:t>
              </a:r>
            </a:p>
          </p:txBody>
        </p:sp>
      </p:grpSp>
      <p:grpSp>
        <p:nvGrpSpPr>
          <p:cNvPr id="12" name="independent-modules"/>
          <p:cNvGrpSpPr/>
          <p:nvPr/>
        </p:nvGrpSpPr>
        <p:grpSpPr>
          <a:xfrm>
            <a:off x="594360" y="2765425"/>
            <a:ext cx="8807196" cy="586740"/>
            <a:chOff x="594360" y="2765425"/>
            <a:chExt cx="8807196" cy="586740"/>
          </a:xfrm>
        </p:grpSpPr>
        <p:sp>
          <p:nvSpPr>
            <p:cNvPr id="9" name="TextBox 9"/>
            <p:cNvSpPr txBox="1"/>
            <p:nvPr/>
          </p:nvSpPr>
          <p:spPr>
            <a:xfrm>
              <a:off x="594360" y="2765425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92758" y="27844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15E9D"/>
                  </a:solidFill>
                  <a:latin typeface="+mn-lt"/>
                  <a:ea typeface="+mn-ea"/>
                  <a:cs typeface="+mn-cs"/>
                </a:rPr>
                <a:t>方法验证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08882" y="282257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候选关系对照与修正收益预测的特征消融。</a:t>
              </a:r>
            </a:p>
          </p:txBody>
        </p:sp>
      </p:grpSp>
      <p:grpSp>
        <p:nvGrpSpPr>
          <p:cNvPr id="16" name="combined-evaluation"/>
          <p:cNvGrpSpPr/>
          <p:nvPr/>
        </p:nvGrpSpPr>
        <p:grpSpPr>
          <a:xfrm>
            <a:off x="594360" y="3708400"/>
            <a:ext cx="8241792" cy="586740"/>
            <a:chOff x="594360" y="3708400"/>
            <a:chExt cx="8241792" cy="586740"/>
          </a:xfrm>
        </p:grpSpPr>
        <p:sp>
          <p:nvSpPr>
            <p:cNvPr id="13" name="TextBox 13"/>
            <p:cNvSpPr txBox="1"/>
            <p:nvPr/>
          </p:nvSpPr>
          <p:spPr>
            <a:xfrm>
              <a:off x="594360" y="37084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92758" y="37274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联合评价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08882" y="3765550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比较基线、两个独立模块及组合方案。</a:t>
              </a:r>
            </a:p>
          </p:txBody>
        </p:sp>
      </p:grpSp>
      <p:grpSp>
        <p:nvGrpSpPr>
          <p:cNvPr id="20" name="system-validation"/>
          <p:cNvGrpSpPr/>
          <p:nvPr/>
        </p:nvGrpSpPr>
        <p:grpSpPr>
          <a:xfrm>
            <a:off x="594360" y="4651375"/>
            <a:ext cx="9089898" cy="586740"/>
            <a:chOff x="594360" y="4651375"/>
            <a:chExt cx="9089898" cy="586740"/>
          </a:xfrm>
        </p:grpSpPr>
        <p:sp>
          <p:nvSpPr>
            <p:cNvPr id="17" name="TextBox 17"/>
            <p:cNvSpPr txBox="1"/>
            <p:nvPr/>
          </p:nvSpPr>
          <p:spPr>
            <a:xfrm>
              <a:off x="594360" y="4651375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92758" y="46704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08882" y="4708525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开展猪只场景验证及系统时延、稳定性测试。</a:t>
              </a:r>
            </a:p>
          </p:txBody>
        </p:sp>
      </p:grpSp>
      <p:grpSp>
        <p:nvGrpSpPr>
          <p:cNvPr id="23" name="next-step"/>
          <p:cNvGrpSpPr/>
          <p:nvPr/>
        </p:nvGrpSpPr>
        <p:grpSpPr>
          <a:xfrm>
            <a:off x="609600" y="5495925"/>
            <a:ext cx="10972800" cy="628650"/>
            <a:chOff x="609600" y="5495925"/>
            <a:chExt cx="10972800" cy="628650"/>
          </a:xfrm>
        </p:grpSpPr>
        <p:sp>
          <p:nvSpPr>
            <p:cNvPr id="21" name="Rectangle 21"/>
            <p:cNvSpPr/>
            <p:nvPr/>
          </p:nvSpPr>
          <p:spPr>
            <a:xfrm>
              <a:off x="609600" y="5495925"/>
              <a:ext cx="10972800" cy="628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7532" y="5651500"/>
              <a:ext cx="85023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近期工作：完善毕业论文评价方案，完成基础推理流程的系统接入。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603504" y="6410325"/>
            <a:ext cx="10984992" cy="234696"/>
            <a:chOff x="603504" y="6410325"/>
            <a:chExt cx="109849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41032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毕业论文研究计划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08131" y="6410325"/>
              <a:ext cx="480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附录 C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nse_instance_thesis">
  <a:themeElements>
    <a:clrScheme name="dense_instance_thesis">
      <a:dk1>
        <a:srgbClr val="25374C"/>
      </a:dk1>
      <a:lt1>
        <a:srgbClr val="FFFFFF"/>
      </a:lt1>
      <a:dk2>
        <a:srgbClr val="1F497D"/>
      </a:dk2>
      <a:lt2>
        <a:srgbClr val="F1F5F8"/>
      </a:lt2>
      <a:accent1>
        <a:srgbClr val="172B46"/>
      </a:accent1>
      <a:accent2>
        <a:srgbClr val="007F82"/>
      </a:accent2>
      <a:accent3>
        <a:srgbClr val="C36D37"/>
      </a:accent3>
      <a:accent4>
        <a:srgbClr val="172B46"/>
      </a:accent4>
      <a:accent5>
        <a:srgbClr val="596B80"/>
      </a:accent5>
      <a:accent6>
        <a:srgbClr val="D4DEE7"/>
      </a:accent6>
      <a:hlink>
        <a:srgbClr val="007F82"/>
      </a:hlink>
      <a:folHlink>
        <a:srgbClr val="C36D37"/>
      </a:folHlink>
    </a:clrScheme>
    <a:fontScheme name="dense_instance_thesi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nse_instance_the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ense_instance_thesis">
  <a:themeElements>
    <a:clrScheme name="dense_instance_thesis">
      <a:dk1>
        <a:srgbClr val="25374C"/>
      </a:dk1>
      <a:lt1>
        <a:srgbClr val="FFFFFF"/>
      </a:lt1>
      <a:dk2>
        <a:srgbClr val="1F497D"/>
      </a:dk2>
      <a:lt2>
        <a:srgbClr val="F1F5F8"/>
      </a:lt2>
      <a:accent1>
        <a:srgbClr val="172B46"/>
      </a:accent1>
      <a:accent2>
        <a:srgbClr val="007F82"/>
      </a:accent2>
      <a:accent3>
        <a:srgbClr val="C36D37"/>
      </a:accent3>
      <a:accent4>
        <a:srgbClr val="172B46"/>
      </a:accent4>
      <a:accent5>
        <a:srgbClr val="596B80"/>
      </a:accent5>
      <a:accent6>
        <a:srgbClr val="D4DEE7"/>
      </a:accent6>
      <a:hlink>
        <a:srgbClr val="007F82"/>
      </a:hlink>
      <a:folHlink>
        <a:srgbClr val="C36D37"/>
      </a:folHlink>
    </a:clrScheme>
    <a:fontScheme name="dense_instance_thesi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nse_instance_thes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2026-10-14T04:01:54Z</dcterms:created>
  <dcterms:modified xsi:type="dcterms:W3CDTF">2026-10-14T04:01:54Z</dcterms:modified>
  <cp:category/>
  <cp:contentStatus/>
</cp:coreProperties>
</file>