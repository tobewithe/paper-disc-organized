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各位老师好，本次汇报的题目是“面向密集场景的目标检测与实例分割方法及系统研究”。课题希望改善拥挤环境中的个体识别和连续记录，并形成可以实际使用的分析系统。</a:t>
            </a:r>
          </a:p>
          <a:p>
            <a:pPr/>
            <a:endParaRPr lang="zh-CN" dirty="0"/>
          </a:p>
          <a:p>
            <a:pPr/>
            <a:r>
              <a:rPr lang="zh-CN" dirty="0"/>
              <a:t>汇报分为四个部分：先说明应用需要和目前的困难，再介绍研究方法，随后说明系统能提供哪些功能，最后介绍已有基础和后续安排。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动物群体、人员和车辆监测，都需要持续记录具体个体。实际使用时，通常需要了解当前能看到多少个体、每个个体在哪里，以及它在某个位置停留了多久。</a:t>
            </a:r>
          </a:p>
          <a:p>
            <a:pPr/>
            <a:endParaRPr lang="zh-CN" dirty="0"/>
          </a:p>
          <a:p>
            <a:pPr/>
            <a:r>
              <a:rPr lang="zh-CN" dirty="0"/>
              <a:t>如果还需要分析个体的可见区域，就要进一步分开相邻个体的轮廓。否则，数量虽然基本正确，每个个体的区域记录仍可能不准确。</a:t>
            </a:r>
          </a:p>
          <a:p>
            <a:pPr/>
            <a:endParaRPr lang="zh-CN" dirty="0"/>
          </a:p>
          <a:p>
            <a:pPr/>
            <a:r>
              <a:rPr lang="zh-CN" dirty="0"/>
              <a:t>这些需求都依赖稳定、可回查的个体记录。本课题希望围绕这类共同需求开展研究，最终让识别结果能够支持后续统计和分析。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现有技术已经能够在图像中找到目标的位置，并描出每个个体的轮廓。在视频中，也可以连续跟随个体移动，记录它出现过的位置。因此，这项研究已经有比较明确的技术基础。</a:t>
            </a:r>
          </a:p>
          <a:p>
            <a:pPr/>
            <a:endParaRPr lang="zh-CN" dirty="0"/>
          </a:p>
          <a:p>
            <a:pPr/>
            <a:r>
              <a:rPr lang="zh-CN" dirty="0"/>
              <a:t>但是目前，在密集场景下保持稳定的识别和跟踪仍有困难。目标挤在一起、彼此接触，或者被遮挡较长时间时，记录可能中断，也可能前后不一致。能够处理一张图像，并不能直接说明一段视频中的每个个体都能持续记录正确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本课题进一步关注的，就是这些复杂条件下的使用效果。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密集场景中的困难可以归纳为三个具体问题。第一，个体挤在一起时，系统容易少认一个，或者把同一个体重复认成多个，造成数量偏差。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第二，相邻个体接触时，轮廓容易混在一起。这样虽然知道画面里有几个目标，却难以准确说明每个个体占据哪一片区域。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第三，个体被遮挡后重新出现，系统可能给它一个新编号，也可能认成另一个个体，导致之前的记录接不上。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因此，研究目标是提高个体识别、轮廓区分和连续记录的可靠性。下面结合具体示意，说明准备怎样开展研究。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方法研究主要分为两项。第一项关注个体有没有被正确保留下来：哪些预测代表不同个体，哪些只是同一个体的重复结果。第二项关注已经识别出的个体，其轮廓是否需要修改，以及修改后是否真的更准确。</a:t>
            </a:r>
          </a:p>
          <a:p>
            <a:pPr/>
            <a:endParaRPr lang="zh-CN" dirty="0"/>
          </a:p>
          <a:p>
            <a:pPr/>
            <a:r>
              <a:rPr lang="zh-CN" dirty="0"/>
              <a:t>视频部分将接入已有跟踪方法，检查前面的处理能否支持连续记录，特别是遮挡前后的身份能否正确续接。跟踪部分先开展集成和场景验证，两项方法研究分别针对个体选择与轮廓修正。</a:t>
            </a:r>
          </a:p>
          <a:p>
            <a:pPr/>
            <a:endParaRPr lang="zh-CN" dirty="0"/>
          </a:p>
          <a:p>
            <a:pPr/>
            <a:r>
              <a:rPr lang="zh-CN" dirty="0"/>
              <a:t>实施时先分别验证每项方法，再看它们在完整视频中的作用。这样可以明确效果来自哪里，也便于发现某个环节带来的新问题。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第一项方法是关系辅助的候选判别与冗余控制。这里的候选，可以理解为模型给出的多个可能识别结果。图中有两种容易混淆的情况。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两个真实个体挨得很近。它们的预测区域重叠较多，但两个结果都应该保留。如果简单地把重叠较多的结果删掉，就可能漏掉其中一个个体。右边则是同一个体出现了多个局部预测。即使这些预测没有完全重叠，也可能把一个个体重复计数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因此，拟研究的做法是同时考虑预测本身是否覆盖了较完整的可见区域，以及它和附近预测之间的关系，再决定保留哪些结果。具体将比较只考虑自身质量、只考虑邻近关系，以及两者结合的效果。</a:t>
            </a:r>
          </a:p>
          <a:p>
            <a:pPr/>
            <a:endParaRPr lang="zh-CN" dirty="0"/>
          </a:p>
          <a:p>
            <a:pPr/>
            <a:r>
              <a:rPr lang="zh-CN" dirty="0"/>
              <a:t>评价既要看遗漏是否减少，也要看重复识别是否减少。已有的诊断流程可以复用，新的判断方法仍需要独立验证。该方法主要改进已有预测的选择，对于完全没有形成有效预测的个体，需要另外分析。页面中的图表示方法问题，不是已经得到的实验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第二项方法是邻接关系辅助的掩码修正收益预测。掩码就是模型认为属于某个个体的像素区域，这里可以直接理解为识别出的个体轮廓及其内部区域。</a:t>
            </a:r>
          </a:p>
          <a:p>
            <a:pPr/>
            <a:endParaRPr lang="zh-CN" dirty="0"/>
          </a:p>
          <a:p>
            <a:pPr/>
            <a:r>
              <a:rPr lang="zh-CN" dirty="0"/>
              <a:t>图中展示了同一种局部修改可能产生的两种结果。左边删掉的是错分进来的邻居区域，删掉后更准确。右边删掉的却是当前个体自身的真实部分，结果反而变差。这说明局部修改不能对所有个体一律采用。</a:t>
            </a:r>
          </a:p>
          <a:p>
            <a:pPr/>
            <a:endParaRPr lang="zh-CN" dirty="0"/>
          </a:p>
          <a:p>
            <a:pPr/>
            <a:r>
              <a:rPr lang="zh-CN" dirty="0"/>
              <a:t>拟研究的过程是先提出一个候选修改，再结合原有轮廓、修改造成的变化和相邻个体的信息，预测这次修改是否有帮助。有帮助时采用，可能破坏正确部分时保留原结果。训练时可根据标注比较修改前后的质量，实际使用时根据图像和预测结果作出判断。</a:t>
            </a:r>
          </a:p>
          <a:p>
            <a:pPr/>
            <a:endParaRPr lang="zh-CN" dirty="0"/>
          </a:p>
          <a:p>
            <a:pPr/>
            <a:r>
              <a:rPr lang="zh-CN" dirty="0"/>
              <a:t>现有选择性修正原型中的处理规则、收益模型和对照流程可以复用，新增研究重点是邻接信息能否帮助作出更好的选择。评价同时统计修复的部分和变差的部分，确定改进的实际范围。图中的修改只是机制示意。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视频跟踪需要把不同时间看到的同一个体连接起来。图中，遮挡前已经有个体 A 和个体 B 的编号与位置。暂时看不见时，系统可以保留历史记录；重新出现后，还需要判断它对应遮挡前的哪一个个体。</a:t>
            </a:r>
          </a:p>
          <a:p>
            <a:pPr/>
            <a:endParaRPr lang="zh-CN" dirty="0"/>
          </a:p>
          <a:p>
            <a:pPr/>
            <a:r>
              <a:rPr lang="zh-CN" dirty="0"/>
              <a:t>重新找到目标，只完成了当前画面的识别。要恢复原记录，还需要接回正确编号。遮挡期间发生移动、姿态变化，或者多个外观相似个体相互穿插，都会增加判断困难。看不见时保留的是预测状态，不能将它直接计为当前已观测个体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本课题先接入现有跟踪方法开展验证。例如，ByteTrack 会利用低分检测继续关联，OC-SORT 对遮挡期间的运动预测进行纠偏。在固定跟踪配置下，检查不同前端处理对身份续接的影响。</a:t>
            </a:r>
          </a:p>
          <a:p>
            <a:pPr/>
            <a:endParaRPr lang="zh-CN" dirty="0"/>
          </a:p>
          <a:p>
            <a:pPr/>
            <a:r>
              <a:rPr lang="zh-CN" dirty="0"/>
              <a:t>评价除了记录正确接回的事件，还要记录接到了错误个体、重新分配编号，以及仍未找到目标的情况。这样才能说明遮挡恢复在什么条件下有效，以及还有哪些限制。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分别回答四个问题。第一，个体有没有认全，主要观察遗漏、重复识别和检测精度。第二，轮廓有没有更准确，观察分割精度和个体区域误差。第三，同一个体能否持续使用正确身份，使用跟踪指标并检查遮挡后的正确续接、身份切换和未恢复事件。第四，完整系统是否能持续使用，记录处理等待、掉帧和连续运行情况。</a:t>
            </a:r>
          </a:p>
          <a:p>
            <a:pPr/>
            <a:endParaRPr lang="zh-CN" dirty="0"/>
          </a:p>
          <a:p>
            <a:pPr/>
            <a:r>
              <a:rPr lang="zh-CN" dirty="0"/>
              <a:t>对照时固定基础模型、数据和跟踪配置，分别比较单项方法与组合效果。视频评价还需要连续序列、跨帧身份以及遮挡和重现标注，开发与评价按视频分组。遮挡恢复的观察窗口和成功判定需要事先规定。</a:t>
            </a:r>
          </a:p>
          <a:p>
            <a:pPr/>
            <a:endParaRPr lang="zh-CN" dirty="0"/>
          </a:p>
          <a:p>
            <a:pPr/>
            <a:r>
              <a:rPr lang="zh-CN" dirty="0"/>
              <a:t>这里还要区分两项方法的作用路径。个体选择可能改变送入跟踪器的检测结果；轮廓修正主要改变像素区域。标准 ByteTrack 使用框和分数，如果这些输入不变，仅修改轮廓就不会直接改变它的身份关联。因此，轮廓改进首先评价分割和区域收益，跟踪效果按照真实输入接口单独检验。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系统面向使用者提供三个主要步骤。首先选择需要处理的图片或视频，并设置识别对象。随后查看分析结果，包括个体的位置、轮廓，以及视频中的连续编号。</a:t>
            </a:r>
          </a:p>
          <a:p>
            <a:pPr/>
            <a:endParaRPr lang="zh-CN" dirty="0"/>
          </a:p>
          <a:p>
            <a:pPr/>
            <a:r>
              <a:rPr lang="zh-CN" dirty="0"/>
              <a:t>处理完成后，可以回看数量变化和个体记录，也可以保存结果并导出报表。这样，分析结果既能在画面上查看，也能用于后续整理和比较。</a:t>
            </a:r>
          </a:p>
          <a:p>
            <a:pPr/>
            <a:endParaRPr lang="zh-CN" dirty="0"/>
          </a:p>
          <a:p>
            <a:pPr/>
            <a:r>
              <a:rPr lang="zh-CN" dirty="0"/>
              <a:t>系统拟支持不同识别对象和不同场景的配置。这里重点是把研究成果组织成可使用、可回查的完整流程。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应用验证以猪只群体监测为例。猪只密集聚集、外观相似，能够提供一个具体的使用场景。</a:t>
            </a:r>
          </a:p>
          <a:p>
            <a:pPr/>
            <a:endParaRPr lang="zh-CN" dirty="0"/>
          </a:p>
          <a:p>
            <a:pPr/>
            <a:r>
              <a:rPr lang="zh-CN" dirty="0"/>
              <a:t>使用者关心的是当前能看到多少个体、它们在哪里停留，以及遮挡前后的记录能否接起来。系统预期形成数量变化、个体位置与区域，以及可回看的连续记录。</a:t>
            </a:r>
          </a:p>
          <a:p>
            <a:pPr/>
            <a:endParaRPr lang="zh-CN" dirty="0"/>
          </a:p>
          <a:p>
            <a:pPr/>
            <a:r>
              <a:rPr lang="zh-CN" dirty="0"/>
              <a:t>猪只承担的是应用验证角色。系统的识别对象可以配置，面向其它群体监测任务时，需要继续检验相应场景中的效果。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现有基础包括动物图像资料、已有处理与导出流程，以及前期实验和问题分析经验。这些工作可以继续复用，支持后续的方法研究和系统开发。</a:t>
            </a:r>
          </a:p>
          <a:p>
            <a:pPr/>
            <a:endParaRPr lang="zh-CN" dirty="0"/>
          </a:p>
          <a:p>
            <a:pPr/>
            <a:r>
              <a:rPr lang="zh-CN" dirty="0"/>
              <a:t>接下来先整理连续视频资料，再完成方法验证，最后开展系统联调和论文整理。图像研究基础可以直接利用，连续视频中的个体记录仍需要补充准备。</a:t>
            </a:r>
          </a:p>
          <a:p>
            <a:pPr/>
            <a:endParaRPr lang="zh-CN" dirty="0"/>
          </a:p>
          <a:p>
            <a:pPr/>
            <a:r>
              <a:rPr lang="zh-CN" dirty="0"/>
              <a:t>预期形成可复查的方法验证结果，以及一个能够演示完整处理流程的通用分析系统。以上是本次研究方案汇报，请各位老师批评指正。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nse_instance_the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nse_instance_the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pening"/>
          <p:cNvGrpSpPr/>
          <p:nvPr/>
        </p:nvGrpSpPr>
        <p:grpSpPr>
          <a:xfrm>
            <a:off x="597408" y="631825"/>
            <a:ext cx="3255264" cy="469392"/>
            <a:chOff x="597408" y="631825"/>
            <a:chExt cx="3255264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63182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毕业论文研究方案汇报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0550" y="2203450"/>
            <a:ext cx="6438900" cy="1657350"/>
            <a:chOff x="590550" y="2203450"/>
            <a:chExt cx="6438900" cy="1657350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203450"/>
              <a:ext cx="6438900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面向密集场景的目标检测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与实例分割方法及系统研究</a:t>
              </a:r>
            </a:p>
          </p:txBody>
        </p:sp>
      </p:grpSp>
      <p:grpSp>
        <p:nvGrpSpPr>
          <p:cNvPr id="11" name="section-guide"/>
          <p:cNvGrpSpPr/>
          <p:nvPr/>
        </p:nvGrpSpPr>
        <p:grpSpPr>
          <a:xfrm>
            <a:off x="598932" y="5295900"/>
            <a:ext cx="10983468" cy="652018"/>
            <a:chOff x="598932" y="5295900"/>
            <a:chExt cx="10983468" cy="652018"/>
          </a:xfrm>
        </p:grpSpPr>
        <p:sp>
          <p:nvSpPr>
            <p:cNvPr id="6" name="Line 6"/>
            <p:cNvSpPr/>
            <p:nvPr/>
          </p:nvSpPr>
          <p:spPr>
            <a:xfrm>
              <a:off x="609600" y="5295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96B8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9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研究背景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135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281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系统设计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27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研究安排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41032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2026.10.14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连续个体监测的应用需求</a:t>
              </a:r>
            </a:p>
          </p:txBody>
        </p:sp>
      </p:grpSp>
      <p:grpSp>
        <p:nvGrpSpPr>
          <p:cNvPr id="6" name="application-context"/>
          <p:cNvGrpSpPr/>
          <p:nvPr/>
        </p:nvGrpSpPr>
        <p:grpSpPr>
          <a:xfrm>
            <a:off x="597408" y="1831975"/>
            <a:ext cx="8101584" cy="469392"/>
            <a:chOff x="597408" y="1831975"/>
            <a:chExt cx="8101584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83197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动物群体、人员和车辆监测，都需要持续记录具体个体。</a:t>
              </a:r>
            </a:p>
          </p:txBody>
        </p:sp>
      </p:grpSp>
      <p:grpSp>
        <p:nvGrpSpPr>
          <p:cNvPr id="9" name="quantity"/>
          <p:cNvGrpSpPr/>
          <p:nvPr/>
        </p:nvGrpSpPr>
        <p:grpSpPr>
          <a:xfrm>
            <a:off x="597408" y="2774950"/>
            <a:ext cx="5103876" cy="469392"/>
            <a:chOff x="597408" y="2774950"/>
            <a:chExt cx="5103876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27749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9108" y="2774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当前能看到多少个体</a:t>
              </a:r>
            </a:p>
          </p:txBody>
        </p:sp>
      </p:grpSp>
      <p:grpSp>
        <p:nvGrpSpPr>
          <p:cNvPr id="13" name="location"/>
          <p:cNvGrpSpPr/>
          <p:nvPr/>
        </p:nvGrpSpPr>
        <p:grpSpPr>
          <a:xfrm>
            <a:off x="597408" y="3476625"/>
            <a:ext cx="10984992" cy="710692"/>
            <a:chOff x="597408" y="3476625"/>
            <a:chExt cx="10984992" cy="710692"/>
          </a:xfrm>
        </p:grpSpPr>
        <p:sp>
          <p:nvSpPr>
            <p:cNvPr id="10" name="Line 10"/>
            <p:cNvSpPr/>
            <p:nvPr/>
          </p:nvSpPr>
          <p:spPr>
            <a:xfrm>
              <a:off x="609600" y="3476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7408" y="37179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9108" y="3717925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每个个体出现在哪里、停留多久</a:t>
              </a:r>
            </a:p>
          </p:txBody>
        </p:sp>
      </p:grpSp>
      <p:grpSp>
        <p:nvGrpSpPr>
          <p:cNvPr id="17" name="region"/>
          <p:cNvGrpSpPr/>
          <p:nvPr/>
        </p:nvGrpSpPr>
        <p:grpSpPr>
          <a:xfrm>
            <a:off x="597408" y="4419600"/>
            <a:ext cx="10984992" cy="710692"/>
            <a:chOff x="597408" y="4419600"/>
            <a:chExt cx="10984992" cy="710692"/>
          </a:xfrm>
        </p:grpSpPr>
        <p:sp>
          <p:nvSpPr>
            <p:cNvPr id="14" name="Line 14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7408" y="46609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69108" y="466090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相邻个体的轮廓能否分开</a:t>
              </a:r>
            </a:p>
          </p:txBody>
        </p:sp>
      </p:grpSp>
      <p:grpSp>
        <p:nvGrpSpPr>
          <p:cNvPr id="19" name="purpose"/>
          <p:cNvGrpSpPr/>
          <p:nvPr/>
        </p:nvGrpSpPr>
        <p:grpSpPr>
          <a:xfrm>
            <a:off x="597408" y="5699125"/>
            <a:ext cx="6486144" cy="469392"/>
            <a:chOff x="597408" y="5699125"/>
            <a:chExt cx="6486144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597408" y="5699125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稳定的个体记录，是后续统计和分析的基础。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745480" cy="1459865"/>
            <a:chOff x="594360" y="415925"/>
            <a:chExt cx="5745480" cy="14598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745480" cy="1082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现有技术已能识别和跟踪目标</a:t>
              </a:r>
              <a:b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但目前在密集场景下仍难保持稳定</a:t>
              </a:r>
            </a:p>
          </p:txBody>
        </p:sp>
      </p:grpSp>
      <p:grpSp>
        <p:nvGrpSpPr>
          <p:cNvPr id="8" name="image-capability"/>
          <p:cNvGrpSpPr/>
          <p:nvPr/>
        </p:nvGrpSpPr>
        <p:grpSpPr>
          <a:xfrm>
            <a:off x="597408" y="2279650"/>
            <a:ext cx="5003292" cy="1736217"/>
            <a:chOff x="597408" y="2279650"/>
            <a:chExt cx="5003292" cy="173621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279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图像中的个体识别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847975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7408" y="2955925"/>
              <a:ext cx="2767584" cy="10599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找到目标的位置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描出每个个体的轮廓</a:t>
              </a:r>
            </a:p>
          </p:txBody>
        </p:sp>
      </p:grpSp>
      <p:grpSp>
        <p:nvGrpSpPr>
          <p:cNvPr id="12" name="video-capability"/>
          <p:cNvGrpSpPr/>
          <p:nvPr/>
        </p:nvGrpSpPr>
        <p:grpSpPr>
          <a:xfrm>
            <a:off x="6579108" y="2279650"/>
            <a:ext cx="5003292" cy="1736217"/>
            <a:chOff x="6579108" y="2279650"/>
            <a:chExt cx="5003292" cy="1736217"/>
          </a:xfrm>
        </p:grpSpPr>
        <p:sp>
          <p:nvSpPr>
            <p:cNvPr id="9" name="TextBox 9"/>
            <p:cNvSpPr txBox="1"/>
            <p:nvPr/>
          </p:nvSpPr>
          <p:spPr>
            <a:xfrm>
              <a:off x="6579108" y="2279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视频中的连续跟踪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591300" y="2847975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79108" y="2955925"/>
              <a:ext cx="2767584" cy="10599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连续跟随个体移动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记录它出现过的位置</a:t>
              </a:r>
            </a:p>
          </p:txBody>
        </p:sp>
      </p:grpSp>
      <p:grpSp>
        <p:nvGrpSpPr>
          <p:cNvPr id="15" name="remaining-situations"/>
          <p:cNvGrpSpPr/>
          <p:nvPr/>
        </p:nvGrpSpPr>
        <p:grpSpPr>
          <a:xfrm>
            <a:off x="597408" y="5137150"/>
            <a:ext cx="7655814" cy="925068"/>
            <a:chOff x="597408" y="5137150"/>
            <a:chExt cx="7655814" cy="925068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5137150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复杂条件下，连续记录仍可能中断或不稳定。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8932" y="5651500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困难主要集中在个体拥挤、相互接触和较长时间遮挡的场景。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密集场景仍然存在的主要困难</a:t>
              </a:r>
            </a:p>
          </p:txBody>
        </p:sp>
      </p:grpSp>
      <p:grpSp>
        <p:nvGrpSpPr>
          <p:cNvPr id="7" name="crowding"/>
          <p:cNvGrpSpPr/>
          <p:nvPr/>
        </p:nvGrpSpPr>
        <p:grpSpPr>
          <a:xfrm>
            <a:off x="597408" y="2184400"/>
            <a:ext cx="8826246" cy="469392"/>
            <a:chOff x="597408" y="2184400"/>
            <a:chExt cx="8826246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1844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个体挤在一起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13682" y="222250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容易少认或重复认，数量记录出现偏差。</a:t>
              </a:r>
            </a:p>
          </p:txBody>
        </p:sp>
      </p:grpSp>
      <p:grpSp>
        <p:nvGrpSpPr>
          <p:cNvPr id="11" name="contact"/>
          <p:cNvGrpSpPr/>
          <p:nvPr/>
        </p:nvGrpSpPr>
        <p:grpSpPr>
          <a:xfrm>
            <a:off x="597408" y="3105150"/>
            <a:ext cx="10984992" cy="720217"/>
            <a:chOff x="597408" y="3105150"/>
            <a:chExt cx="10984992" cy="720217"/>
          </a:xfrm>
        </p:grpSpPr>
        <p:sp>
          <p:nvSpPr>
            <p:cNvPr id="8" name="Line 8"/>
            <p:cNvSpPr/>
            <p:nvPr/>
          </p:nvSpPr>
          <p:spPr>
            <a:xfrm>
              <a:off x="609600" y="3105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335597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相邻个体接触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13682" y="33940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轮廓难以分开，个体区域记录不准确。</a:t>
              </a:r>
            </a:p>
          </p:txBody>
        </p:sp>
      </p:grpSp>
      <p:grpSp>
        <p:nvGrpSpPr>
          <p:cNvPr id="15" name="reappearance"/>
          <p:cNvGrpSpPr/>
          <p:nvPr/>
        </p:nvGrpSpPr>
        <p:grpSpPr>
          <a:xfrm>
            <a:off x="597408" y="4276725"/>
            <a:ext cx="10984992" cy="720217"/>
            <a:chOff x="597408" y="4276725"/>
            <a:chExt cx="10984992" cy="720217"/>
          </a:xfrm>
        </p:grpSpPr>
        <p:sp>
          <p:nvSpPr>
            <p:cNvPr id="12" name="Line 12"/>
            <p:cNvSpPr/>
            <p:nvPr/>
          </p:nvSpPr>
          <p:spPr>
            <a:xfrm>
              <a:off x="609600" y="4276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45275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遮挡后重新出现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3682" y="456565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可能换成新编号，原有记录难以接续。</a:t>
              </a:r>
            </a:p>
          </p:txBody>
        </p:sp>
      </p:grpSp>
      <p:grpSp>
        <p:nvGrpSpPr>
          <p:cNvPr id="17" name="research-need"/>
          <p:cNvGrpSpPr/>
          <p:nvPr/>
        </p:nvGrpSpPr>
        <p:grpSpPr>
          <a:xfrm>
            <a:off x="597408" y="5689600"/>
            <a:ext cx="8424672" cy="469392"/>
            <a:chOff x="597408" y="5689600"/>
            <a:chExt cx="8424672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97408" y="568960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研究目标：提高个体识别、轮廓区分和连续记录的可靠性。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3665220" cy="964565"/>
            <a:chOff x="594360" y="415925"/>
            <a:chExt cx="36652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研究方法的总体安排</a:t>
              </a:r>
            </a:p>
          </p:txBody>
        </p:sp>
      </p:grpSp>
      <p:grpSp>
        <p:nvGrpSpPr>
          <p:cNvPr id="8" name="method-one"/>
          <p:cNvGrpSpPr/>
          <p:nvPr/>
        </p:nvGrpSpPr>
        <p:grpSpPr>
          <a:xfrm>
            <a:off x="597408" y="1930400"/>
            <a:ext cx="3223260" cy="1798193"/>
            <a:chOff x="597408" y="1930400"/>
            <a:chExt cx="3223260" cy="1798193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9304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方法研究一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3463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减少漏检与重复识别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2879725"/>
              <a:ext cx="322173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判断哪些预测代表不同个体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保留更合理的一组识别结果</a:t>
              </a:r>
            </a:p>
          </p:txBody>
        </p:sp>
      </p:grpSp>
      <p:grpSp>
        <p:nvGrpSpPr>
          <p:cNvPr id="12" name="method-two"/>
          <p:cNvGrpSpPr/>
          <p:nvPr/>
        </p:nvGrpSpPr>
        <p:grpSpPr>
          <a:xfrm>
            <a:off x="6521958" y="1930400"/>
            <a:ext cx="3223260" cy="1798193"/>
            <a:chOff x="6521958" y="1930400"/>
            <a:chExt cx="3223260" cy="1798193"/>
          </a:xfrm>
        </p:grpSpPr>
        <p:sp>
          <p:nvSpPr>
            <p:cNvPr id="9" name="TextBox 9"/>
            <p:cNvSpPr txBox="1"/>
            <p:nvPr/>
          </p:nvSpPr>
          <p:spPr>
            <a:xfrm>
              <a:off x="6525768" y="19304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方法研究二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21958" y="23463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改善相邻个体的轮廓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23482" y="2879725"/>
              <a:ext cx="322173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判断局部修改是否有帮助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选择采用修正或保留原结果</a:t>
              </a:r>
            </a:p>
          </p:txBody>
        </p:sp>
      </p:grpSp>
      <p:grpSp>
        <p:nvGrpSpPr>
          <p:cNvPr id="16" name="video-integration"/>
          <p:cNvGrpSpPr/>
          <p:nvPr/>
        </p:nvGrpSpPr>
        <p:grpSpPr>
          <a:xfrm>
            <a:off x="597408" y="4257675"/>
            <a:ext cx="10984992" cy="624967"/>
            <a:chOff x="597408" y="4257675"/>
            <a:chExt cx="10984992" cy="624967"/>
          </a:xfrm>
        </p:grpSpPr>
        <p:sp>
          <p:nvSpPr>
            <p:cNvPr id="13" name="Line 13"/>
            <p:cNvSpPr/>
            <p:nvPr/>
          </p:nvSpPr>
          <p:spPr>
            <a:xfrm>
              <a:off x="609600" y="42576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7408" y="44132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视频集成与验证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80332" y="445135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接入已有跟踪方法，检查遮挡前后的身份续接。</a:t>
              </a:r>
            </a:p>
          </p:txBody>
        </p:sp>
      </p:grpSp>
      <p:grpSp>
        <p:nvGrpSpPr>
          <p:cNvPr id="18" name="validation-order"/>
          <p:cNvGrpSpPr/>
          <p:nvPr/>
        </p:nvGrpSpPr>
        <p:grpSpPr>
          <a:xfrm>
            <a:off x="598932" y="5718175"/>
            <a:ext cx="7088886" cy="410718"/>
            <a:chOff x="598932" y="5718175"/>
            <a:chExt cx="7088886" cy="410718"/>
          </a:xfrm>
        </p:grpSpPr>
        <p:sp>
          <p:nvSpPr>
            <p:cNvPr id="17" name="TextBox 17"/>
            <p:cNvSpPr txBox="1"/>
            <p:nvPr/>
          </p:nvSpPr>
          <p:spPr>
            <a:xfrm>
              <a:off x="598932" y="5718175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先分别验证每项方法，再观察它们在完整视频中的作用。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拟开展的研究内容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方法一：减少漏检和重复识别</a:t>
              </a:r>
            </a:p>
          </p:txBody>
        </p:sp>
      </p:grpSp>
      <p:grpSp>
        <p:nvGrpSpPr>
          <p:cNvPr id="13" name="two-individuals"/>
          <p:cNvGrpSpPr/>
          <p:nvPr/>
        </p:nvGrpSpPr>
        <p:grpSpPr>
          <a:xfrm>
            <a:off x="597408" y="1755775"/>
            <a:ext cx="4546092" cy="3096768"/>
            <a:chOff x="597408" y="1755775"/>
            <a:chExt cx="4546092" cy="30967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两个个体挨得很近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504950" y="2505075"/>
              <a:ext cx="1847850" cy="14097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28575">
              <a:solidFill>
                <a:srgbClr val="315E9D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57450" y="2628900"/>
              <a:ext cx="1847850" cy="1409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43025" y="2352675"/>
              <a:ext cx="2171700" cy="165735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295525" y="2486025"/>
              <a:ext cx="2171700" cy="16573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1957" y="3060700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6932" y="320357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预测重叠较多，但两个都需要保留。</a:t>
              </a:r>
            </a:p>
          </p:txBody>
        </p:sp>
      </p:grpSp>
      <p:grpSp>
        <p:nvGrpSpPr>
          <p:cNvPr id="22" name="one-individual"/>
          <p:cNvGrpSpPr/>
          <p:nvPr/>
        </p:nvGrpSpPr>
        <p:grpSpPr>
          <a:xfrm>
            <a:off x="6331458" y="1755775"/>
            <a:ext cx="4546092" cy="3096768"/>
            <a:chOff x="6331458" y="1755775"/>
            <a:chExt cx="4546092" cy="30967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5577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同一个体出现多个预测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10450" y="2514600"/>
              <a:ext cx="3162300" cy="1524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16" name="Ellipse 16"/>
            <p:cNvSpPr/>
            <p:nvPr/>
          </p:nvSpPr>
          <p:spPr>
            <a:xfrm>
              <a:off x="765810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04875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85557" y="3117850"/>
              <a:ext cx="827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预测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6207" y="3117850"/>
              <a:ext cx="827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预测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3993" y="41021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虚线表示同一个体的可见范围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2982" y="444182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预测不完全重叠，仍可能重复计数。</a:t>
              </a:r>
            </a:p>
          </p:txBody>
        </p:sp>
      </p:grpSp>
      <p:grpSp>
        <p:nvGrpSpPr>
          <p:cNvPr id="26" name="proposed-selection"/>
          <p:cNvGrpSpPr/>
          <p:nvPr/>
        </p:nvGrpSpPr>
        <p:grpSpPr>
          <a:xfrm>
            <a:off x="597408" y="5267325"/>
            <a:ext cx="10984992" cy="919607"/>
            <a:chOff x="597408" y="5267325"/>
            <a:chExt cx="10984992" cy="919607"/>
          </a:xfrm>
        </p:grpSpPr>
        <p:sp>
          <p:nvSpPr>
            <p:cNvPr id="23" name="Line 23"/>
            <p:cNvSpPr/>
            <p:nvPr/>
          </p:nvSpPr>
          <p:spPr>
            <a:xfrm>
              <a:off x="609600" y="5267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394325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结合预测完整性和邻近关系，决定保留哪些结果。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86422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验证重点：是否减少个体遗漏，同时减少重复识别。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1032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拟研究：关系辅助的候选判别与冗余控制；案例为方法示意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方法二：改善相邻个体的轮廓</a:t>
              </a:r>
            </a:p>
          </p:txBody>
        </p:sp>
      </p:grpSp>
      <p:grpSp>
        <p:nvGrpSpPr>
          <p:cNvPr id="13" name="helpful-change"/>
          <p:cNvGrpSpPr/>
          <p:nvPr/>
        </p:nvGrpSpPr>
        <p:grpSpPr>
          <a:xfrm>
            <a:off x="597408" y="1774825"/>
            <a:ext cx="4669917" cy="2982468"/>
            <a:chOff x="597408" y="1774825"/>
            <a:chExt cx="4669917" cy="29824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7482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删去错分区域，轮廓更准确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1144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247900" y="2914650"/>
              <a:ext cx="552450" cy="762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981325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38957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228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41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3465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去掉本来属于邻居的区域。</a:t>
              </a:r>
            </a:p>
          </p:txBody>
        </p:sp>
      </p:grpSp>
      <p:grpSp>
        <p:nvGrpSpPr>
          <p:cNvPr id="23" name="harmful-change"/>
          <p:cNvGrpSpPr/>
          <p:nvPr/>
        </p:nvGrpSpPr>
        <p:grpSpPr>
          <a:xfrm>
            <a:off x="6331458" y="1774825"/>
            <a:ext cx="4660392" cy="2982468"/>
            <a:chOff x="6331458" y="1774825"/>
            <a:chExt cx="4660392" cy="29824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748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删去正确细节，结果反而变差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4847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81950" y="3076575"/>
              <a:ext cx="561975" cy="409575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86725" y="2990850"/>
              <a:ext cx="495300" cy="6000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8705850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9620250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569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28682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2982" y="43465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误删当前个体自身的真实部分。</a:t>
              </a:r>
            </a:p>
          </p:txBody>
        </p:sp>
      </p:grpSp>
      <p:grpSp>
        <p:nvGrpSpPr>
          <p:cNvPr id="27" name="selective-correction"/>
          <p:cNvGrpSpPr/>
          <p:nvPr/>
        </p:nvGrpSpPr>
        <p:grpSpPr>
          <a:xfrm>
            <a:off x="597408" y="5219700"/>
            <a:ext cx="10984992" cy="948182"/>
            <a:chOff x="597408" y="5219700"/>
            <a:chExt cx="10984992" cy="948182"/>
          </a:xfrm>
        </p:grpSpPr>
        <p:sp>
          <p:nvSpPr>
            <p:cNvPr id="24" name="Line 24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7408" y="536575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先提出局部修改，再判断是否值得采用。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84517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综合原有轮廓、修改幅度与相邻个体信息，选择修正或保留原结果。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拟研究：邻接关系辅助的掩码修正收益预测；案例为方法示意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视频中的个体跟踪与遮挡恢复</a:t>
              </a:r>
            </a:p>
          </p:txBody>
        </p:sp>
      </p:grpSp>
      <p:grpSp>
        <p:nvGrpSpPr>
          <p:cNvPr id="12" name="before"/>
          <p:cNvGrpSpPr/>
          <p:nvPr/>
        </p:nvGrpSpPr>
        <p:grpSpPr>
          <a:xfrm>
            <a:off x="597408" y="1765300"/>
            <a:ext cx="3155442" cy="2850007"/>
            <a:chOff x="597408" y="1765300"/>
            <a:chExt cx="3155442" cy="285000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653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27146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95525" y="3219450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06043" y="2482850"/>
              <a:ext cx="660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58593" y="2949575"/>
              <a:ext cx="660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 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42926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已有编号与历史位置</a:t>
              </a:r>
            </a:p>
          </p:txBody>
        </p:sp>
      </p:grpSp>
      <p:grpSp>
        <p:nvGrpSpPr>
          <p:cNvPr id="18" name="during"/>
          <p:cNvGrpSpPr/>
          <p:nvPr/>
        </p:nvGrpSpPr>
        <p:grpSpPr>
          <a:xfrm>
            <a:off x="4512183" y="1765300"/>
            <a:ext cx="3155442" cy="2850007"/>
            <a:chOff x="4512183" y="1765300"/>
            <a:chExt cx="3155442" cy="2850007"/>
          </a:xfrm>
        </p:grpSpPr>
        <p:sp>
          <p:nvSpPr>
            <p:cNvPr id="13" name="TextBox 13"/>
            <p:cNvSpPr txBox="1"/>
            <p:nvPr/>
          </p:nvSpPr>
          <p:spPr>
            <a:xfrm>
              <a:off x="4512183" y="17653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暂时看不见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24375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05400" y="2571750"/>
              <a:ext cx="1981200" cy="1238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19928" y="30226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遮挡区域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5993" y="42926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保留历史记录，等待重新出现</a:t>
              </a:r>
            </a:p>
          </p:txBody>
        </p:sp>
      </p:grpSp>
      <p:grpSp>
        <p:nvGrpSpPr>
          <p:cNvPr id="26" name="after"/>
          <p:cNvGrpSpPr/>
          <p:nvPr/>
        </p:nvGrpSpPr>
        <p:grpSpPr>
          <a:xfrm>
            <a:off x="8426958" y="1765300"/>
            <a:ext cx="3155442" cy="2850007"/>
            <a:chOff x="8426958" y="1765300"/>
            <a:chExt cx="3155442" cy="2850007"/>
          </a:xfrm>
        </p:grpSpPr>
        <p:sp>
          <p:nvSpPr>
            <p:cNvPr id="19" name="TextBox 19"/>
            <p:cNvSpPr txBox="1"/>
            <p:nvPr/>
          </p:nvSpPr>
          <p:spPr>
            <a:xfrm>
              <a:off x="8426958" y="1765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重新出现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39150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858250" y="32099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144125" y="27146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40368" y="2940050"/>
              <a:ext cx="744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/ B ?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26243" y="2454275"/>
              <a:ext cx="744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/ B ?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30768" y="42926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判断是否为遮挡前的同一个体</a:t>
              </a:r>
            </a:p>
          </p:txBody>
        </p:sp>
      </p:grpSp>
      <p:grpSp>
        <p:nvGrpSpPr>
          <p:cNvPr id="28" name="flow-one"/>
          <p:cNvGrpSpPr/>
          <p:nvPr/>
        </p:nvGrpSpPr>
        <p:grpSpPr>
          <a:xfrm>
            <a:off x="3924300" y="3190875"/>
            <a:ext cx="419100" cy="1"/>
            <a:chOff x="3924300" y="3190875"/>
            <a:chExt cx="419100" cy="1"/>
          </a:xfrm>
        </p:grpSpPr>
        <p:sp>
          <p:nvSpPr>
            <p:cNvPr id="27" name="Line 27"/>
            <p:cNvSpPr/>
            <p:nvPr/>
          </p:nvSpPr>
          <p:spPr>
            <a:xfrm>
              <a:off x="3924300" y="31908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</p:grpSp>
      <p:grpSp>
        <p:nvGrpSpPr>
          <p:cNvPr id="30" name="flow-two"/>
          <p:cNvGrpSpPr/>
          <p:nvPr/>
        </p:nvGrpSpPr>
        <p:grpSpPr>
          <a:xfrm>
            <a:off x="7839075" y="3190875"/>
            <a:ext cx="419100" cy="1"/>
            <a:chOff x="7839075" y="3190875"/>
            <a:chExt cx="419100" cy="1"/>
          </a:xfrm>
        </p:grpSpPr>
        <p:sp>
          <p:nvSpPr>
            <p:cNvPr id="29" name="Line 29"/>
            <p:cNvSpPr/>
            <p:nvPr/>
          </p:nvSpPr>
          <p:spPr>
            <a:xfrm>
              <a:off x="7839075" y="31908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</p:grpSp>
      <p:grpSp>
        <p:nvGrpSpPr>
          <p:cNvPr id="34" name="integration-plan"/>
          <p:cNvGrpSpPr/>
          <p:nvPr/>
        </p:nvGrpSpPr>
        <p:grpSpPr>
          <a:xfrm>
            <a:off x="597408" y="5095875"/>
            <a:ext cx="10984992" cy="1023493"/>
            <a:chOff x="597408" y="5095875"/>
            <a:chExt cx="10984992" cy="1023493"/>
          </a:xfrm>
        </p:grpSpPr>
        <p:sp>
          <p:nvSpPr>
            <p:cNvPr id="31" name="Line 31"/>
            <p:cNvSpPr/>
            <p:nvPr/>
          </p:nvSpPr>
          <p:spPr>
            <a:xfrm>
              <a:off x="609600" y="5095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7408" y="5260975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接入已有跟踪方法，检验能否接回同一编号。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8932" y="57086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同时记录接错、重新编号和仍未找回的情况。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410325"/>
              <a:ext cx="4293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跟踪集成与评价；机制示意；参考：ByteTrack、OC-SORT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研究方法与应用效果的验证</a:t>
              </a:r>
            </a:p>
          </p:txBody>
        </p:sp>
      </p:grpSp>
      <p:grpSp>
        <p:nvGrpSpPr>
          <p:cNvPr id="7" name="detection-check"/>
          <p:cNvGrpSpPr/>
          <p:nvPr/>
        </p:nvGrpSpPr>
        <p:grpSpPr>
          <a:xfrm>
            <a:off x="597408" y="1936750"/>
            <a:ext cx="6654592" cy="469392"/>
            <a:chOff x="597408" y="1936750"/>
            <a:chExt cx="6654592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9367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个体是否认全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989832" y="1974850"/>
              <a:ext cx="3262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遗漏、重复识别与 Box AP</a:t>
              </a:r>
            </a:p>
          </p:txBody>
        </p:sp>
      </p:grpSp>
      <p:grpSp>
        <p:nvGrpSpPr>
          <p:cNvPr id="10" name="region-check"/>
          <p:cNvGrpSpPr/>
          <p:nvPr/>
        </p:nvGrpSpPr>
        <p:grpSpPr>
          <a:xfrm>
            <a:off x="597408" y="2794000"/>
            <a:ext cx="6584556" cy="469392"/>
            <a:chOff x="597408" y="2794000"/>
            <a:chExt cx="658455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597408" y="27940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轮廓是否准确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89832" y="2832100"/>
              <a:ext cx="31921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个体区域误差与 Mask AP</a:t>
              </a:r>
            </a:p>
          </p:txBody>
        </p:sp>
      </p:grpSp>
      <p:grpSp>
        <p:nvGrpSpPr>
          <p:cNvPr id="13" name="identity-check"/>
          <p:cNvGrpSpPr/>
          <p:nvPr/>
        </p:nvGrpSpPr>
        <p:grpSpPr>
          <a:xfrm>
            <a:off x="597408" y="3651250"/>
            <a:ext cx="7912456" cy="469392"/>
            <a:chOff x="597408" y="3651250"/>
            <a:chExt cx="7912456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597408" y="36512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身份能否接续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9832" y="3689350"/>
              <a:ext cx="45200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正确续接、身份切换及 HOTA、IDF1</a:t>
              </a:r>
            </a:p>
          </p:txBody>
        </p:sp>
      </p:grpSp>
      <p:grpSp>
        <p:nvGrpSpPr>
          <p:cNvPr id="16" name="deployment-check"/>
          <p:cNvGrpSpPr/>
          <p:nvPr/>
        </p:nvGrpSpPr>
        <p:grpSpPr>
          <a:xfrm>
            <a:off x="597408" y="4508500"/>
            <a:ext cx="7654290" cy="469392"/>
            <a:chOff x="597408" y="4508500"/>
            <a:chExt cx="7654290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597408" y="45085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系统能否持续使用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9832" y="45466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处理等待、掉帧与连续运行稳定性</a:t>
              </a:r>
            </a:p>
          </p:txBody>
        </p:sp>
      </p:grpSp>
      <p:grpSp>
        <p:nvGrpSpPr>
          <p:cNvPr id="20" name="comparison-principles"/>
          <p:cNvGrpSpPr/>
          <p:nvPr/>
        </p:nvGrpSpPr>
        <p:grpSpPr>
          <a:xfrm>
            <a:off x="601218" y="5381625"/>
            <a:ext cx="10981182" cy="833882"/>
            <a:chOff x="601218" y="5381625"/>
            <a:chExt cx="10981182" cy="833882"/>
          </a:xfrm>
        </p:grpSpPr>
        <p:sp>
          <p:nvSpPr>
            <p:cNvPr id="17" name="Line 17"/>
            <p:cNvSpPr/>
            <p:nvPr/>
          </p:nvSpPr>
          <p:spPr>
            <a:xfrm>
              <a:off x="609600" y="5381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1218" y="554037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固定基础模型、数据与跟踪配置，分别比较单项方法和组合效果。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589280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仅修改轮廓时，单独评价区域收益，不据此推断身份跟踪效果。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10325"/>
              <a:ext cx="436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评价方案；参考：COCO 评价、HOTA、ByteTrack 官方实现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3665220" cy="964565"/>
            <a:chOff x="594360" y="415925"/>
            <a:chExt cx="36652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系统设计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通用系统的使用流程</a:t>
              </a:r>
            </a:p>
          </p:txBody>
        </p:sp>
      </p:grpSp>
      <p:grpSp>
        <p:nvGrpSpPr>
          <p:cNvPr id="8" name="choose-task"/>
          <p:cNvGrpSpPr/>
          <p:nvPr/>
        </p:nvGrpSpPr>
        <p:grpSpPr>
          <a:xfrm>
            <a:off x="590550" y="1870075"/>
            <a:ext cx="1896618" cy="2483993"/>
            <a:chOff x="590550" y="1870075"/>
            <a:chExt cx="1896618" cy="2483993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870075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879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选择任务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3486150"/>
              <a:ext cx="18882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选择图片或视频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设置识别对象</a:t>
              </a:r>
            </a:p>
          </p:txBody>
        </p:sp>
      </p:grpSp>
      <p:grpSp>
        <p:nvGrpSpPr>
          <p:cNvPr id="12" name="view-analysis"/>
          <p:cNvGrpSpPr/>
          <p:nvPr/>
        </p:nvGrpSpPr>
        <p:grpSpPr>
          <a:xfrm>
            <a:off x="4400550" y="1870075"/>
            <a:ext cx="2430018" cy="2483993"/>
            <a:chOff x="4400550" y="1870075"/>
            <a:chExt cx="2430018" cy="2483993"/>
          </a:xfrm>
        </p:grpSpPr>
        <p:sp>
          <p:nvSpPr>
            <p:cNvPr id="9" name="TextBox 9"/>
            <p:cNvSpPr txBox="1"/>
            <p:nvPr/>
          </p:nvSpPr>
          <p:spPr>
            <a:xfrm>
              <a:off x="4400550" y="1870075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07408" y="2879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查看分析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08932" y="348615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查看个体位置、轮廓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与连续编号</a:t>
              </a:r>
            </a:p>
          </p:txBody>
        </p:sp>
      </p:grpSp>
      <p:grpSp>
        <p:nvGrpSpPr>
          <p:cNvPr id="16" name="save-records"/>
          <p:cNvGrpSpPr/>
          <p:nvPr/>
        </p:nvGrpSpPr>
        <p:grpSpPr>
          <a:xfrm>
            <a:off x="8210550" y="1870075"/>
            <a:ext cx="2430018" cy="2483993"/>
            <a:chOff x="8210550" y="1870075"/>
            <a:chExt cx="2430018" cy="2483993"/>
          </a:xfrm>
        </p:grpSpPr>
        <p:sp>
          <p:nvSpPr>
            <p:cNvPr id="13" name="TextBox 13"/>
            <p:cNvSpPr txBox="1"/>
            <p:nvPr/>
          </p:nvSpPr>
          <p:spPr>
            <a:xfrm>
              <a:off x="8210550" y="1870075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7408" y="2879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8932" y="348615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回看数量和个体记录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导出结果与报表</a:t>
              </a:r>
            </a:p>
          </p:txBody>
        </p:sp>
      </p:grpSp>
      <p:grpSp>
        <p:nvGrpSpPr>
          <p:cNvPr id="19" name="usable-output"/>
          <p:cNvGrpSpPr/>
          <p:nvPr/>
        </p:nvGrpSpPr>
        <p:grpSpPr>
          <a:xfrm>
            <a:off x="597408" y="5334000"/>
            <a:ext cx="10984992" cy="729742"/>
            <a:chOff x="597408" y="5334000"/>
            <a:chExt cx="10984992" cy="729742"/>
          </a:xfrm>
        </p:grpSpPr>
        <p:sp>
          <p:nvSpPr>
            <p:cNvPr id="17" name="Line 17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55943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让分析结果可以查看、回看和保存。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4103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拟建系统的主要功能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系统设计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猪只群体监测的应用案例</a:t>
              </a:r>
            </a:p>
          </p:txBody>
        </p:sp>
      </p:grpSp>
      <p:grpSp>
        <p:nvGrpSpPr>
          <p:cNvPr id="6" name="case-context"/>
          <p:cNvGrpSpPr/>
          <p:nvPr/>
        </p:nvGrpSpPr>
        <p:grpSpPr>
          <a:xfrm>
            <a:off x="598932" y="1889125"/>
            <a:ext cx="6806184" cy="410718"/>
            <a:chOff x="598932" y="1889125"/>
            <a:chExt cx="6806184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8912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以密集聚集、外观相似的猪只群体作为应用验证场景。</a:t>
              </a:r>
            </a:p>
          </p:txBody>
        </p:sp>
      </p:grpSp>
      <p:grpSp>
        <p:nvGrpSpPr>
          <p:cNvPr id="9" name="case-needs"/>
          <p:cNvGrpSpPr/>
          <p:nvPr/>
        </p:nvGrpSpPr>
        <p:grpSpPr>
          <a:xfrm>
            <a:off x="597408" y="2784475"/>
            <a:ext cx="2689860" cy="1934718"/>
            <a:chOff x="597408" y="2784475"/>
            <a:chExt cx="2689860" cy="1934718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27844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场景中需要关注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3317875"/>
              <a:ext cx="2688336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当前能看到多少个体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个体在哪里、停留多久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遮挡后能否接续原记录</a:t>
              </a:r>
            </a:p>
          </p:txBody>
        </p:sp>
      </p:grpSp>
      <p:grpSp>
        <p:nvGrpSpPr>
          <p:cNvPr id="12" name="case-records"/>
          <p:cNvGrpSpPr/>
          <p:nvPr/>
        </p:nvGrpSpPr>
        <p:grpSpPr>
          <a:xfrm>
            <a:off x="6655308" y="2784475"/>
            <a:ext cx="3223260" cy="1934718"/>
            <a:chOff x="6655308" y="2784475"/>
            <a:chExt cx="3223260" cy="1934718"/>
          </a:xfrm>
        </p:grpSpPr>
        <p:sp>
          <p:nvSpPr>
            <p:cNvPr id="10" name="TextBox 10"/>
            <p:cNvSpPr txBox="1"/>
            <p:nvPr/>
          </p:nvSpPr>
          <p:spPr>
            <a:xfrm>
              <a:off x="6655308" y="27844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预期形成的记录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6832" y="3317875"/>
              <a:ext cx="3221736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数量变化记录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个体位置与区域记录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遮挡前后可回看的连续记录</a:t>
              </a:r>
            </a:p>
          </p:txBody>
        </p:sp>
      </p:grpSp>
      <p:grpSp>
        <p:nvGrpSpPr>
          <p:cNvPr id="15" name="general-scope"/>
          <p:cNvGrpSpPr/>
          <p:nvPr/>
        </p:nvGrpSpPr>
        <p:grpSpPr>
          <a:xfrm>
            <a:off x="598932" y="5438775"/>
            <a:ext cx="10983468" cy="642493"/>
            <a:chOff x="598932" y="5438775"/>
            <a:chExt cx="10983468" cy="642493"/>
          </a:xfrm>
        </p:grpSpPr>
        <p:sp>
          <p:nvSpPr>
            <p:cNvPr id="13" name="Line 13"/>
            <p:cNvSpPr/>
            <p:nvPr/>
          </p:nvSpPr>
          <p:spPr>
            <a:xfrm>
              <a:off x="609600" y="5438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932" y="5670550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系统可配置不同识别对象，具体效果在各应用场景中分别验证。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4103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应用验证方案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研究安排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现有基础与后续研究安排</a:t>
              </a:r>
            </a:p>
          </p:txBody>
        </p:sp>
      </p:grpSp>
      <p:grpSp>
        <p:nvGrpSpPr>
          <p:cNvPr id="7" name="existing-foundation"/>
          <p:cNvGrpSpPr/>
          <p:nvPr/>
        </p:nvGrpSpPr>
        <p:grpSpPr>
          <a:xfrm>
            <a:off x="597408" y="1898650"/>
            <a:ext cx="5147310" cy="1267968"/>
            <a:chOff x="597408" y="1898650"/>
            <a:chExt cx="5147310" cy="12679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9367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可复用基础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23082" y="1898650"/>
              <a:ext cx="2421636" cy="126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已有动物图像资料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已有处理与导出流程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前期实验与分析经验</a:t>
              </a:r>
            </a:p>
          </p:txBody>
        </p:sp>
      </p:grpSp>
      <p:grpSp>
        <p:nvGrpSpPr>
          <p:cNvPr id="15" name="next-tasks"/>
          <p:cNvGrpSpPr/>
          <p:nvPr/>
        </p:nvGrpSpPr>
        <p:grpSpPr>
          <a:xfrm>
            <a:off x="598932" y="3705225"/>
            <a:ext cx="10983468" cy="1147318"/>
            <a:chOff x="598932" y="3705225"/>
            <a:chExt cx="10983468" cy="1147318"/>
          </a:xfrm>
        </p:grpSpPr>
        <p:sp>
          <p:nvSpPr>
            <p:cNvPr id="8" name="Line 8"/>
            <p:cNvSpPr/>
            <p:nvPr/>
          </p:nvSpPr>
          <p:spPr>
            <a:xfrm>
              <a:off x="609600" y="3705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3968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11218" y="3968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1218" y="3968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整理连续视频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08932" y="44418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完成方法验证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8932" y="44418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系统联调与论文整理</a:t>
              </a:r>
            </a:p>
          </p:txBody>
        </p:sp>
      </p:grpSp>
      <p:grpSp>
        <p:nvGrpSpPr>
          <p:cNvPr id="17" name="expected-delivery"/>
          <p:cNvGrpSpPr/>
          <p:nvPr/>
        </p:nvGrpSpPr>
        <p:grpSpPr>
          <a:xfrm>
            <a:off x="597408" y="5651500"/>
            <a:ext cx="7455408" cy="469392"/>
            <a:chOff x="597408" y="5651500"/>
            <a:chExt cx="7455408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97408" y="565150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预期成果：方法验证结果与可演示的通用分析系统。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2026-10-14T13:55:12Z</dcterms:created>
  <dcterms:modified xsi:type="dcterms:W3CDTF">2026-10-14T13:55:12Z</dcterms:modified>
  <cp:category/>
  <cp:contentStatus/>
</cp:coreProperties>
</file>