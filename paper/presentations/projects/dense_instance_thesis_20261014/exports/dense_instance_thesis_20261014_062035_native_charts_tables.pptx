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  <Relationship Id="rId25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各位老师好，本次汇报的题目是“面向密集场景的目标检测与实例分割方法及系统研究”。论文关注密集场景中的个体级感知：当前画面能否准确区分个体和像素区域，以及这些结果能否支撑连续的视频分析。</a:t>
            </a:r>
          </a:p>
          <a:p>
            <a:pPr/>
            <a:endParaRPr lang="zh-CN" dirty="0"/>
          </a:p>
          <a:p>
            <a:pPr/>
            <a:r>
              <a:rPr lang="zh-CN" dirty="0"/>
              <a:t>围绕这一需求，拟开展候选判别与选择性掩码修正两项方法研究，并在通用系统中接入视频跟踪和身份状态管理。猪只群体监测作为应用案例，方法和系统接口面向通用密集实例问题。下面按照应用背景、现有能力、关键难点、研究内容和系统验证展开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应用中的困难可以沿着“场景条件、输出错误、业务后果”三步说明。首先，个体被局部遮挡时，仍然可见的区域可能只产生低分预测，或者在相邻帧中间歇漏检。这会造成可见数量的统计偏差，也可能使原有轨迹断开。</a:t>
            </a:r>
          </a:p>
          <a:p>
            <a:pPr/>
            <a:endParaRPr lang="zh-CN" dirty="0"/>
          </a:p>
          <a:p>
            <a:pPr/>
            <a:r>
              <a:rPr lang="zh-CN" dirty="0"/>
              <a:t>其次，相邻个体接触时，检测框可能分别覆盖目标，但分割区域仍可能粘连，或者把邻居的像素分配给当前个体。这样即使计数基本正确，个体面积和区域分析仍可能失真。第三，当外观相似的个体交叉或遮挡后重现时，当前画面可以再次检出两个目标，却可能把它们接到错误的历史轨迹上，或者重新分配身份，导致停留时间和连续行为记录断裂。</a:t>
            </a:r>
          </a:p>
          <a:p>
            <a:pPr/>
            <a:endParaRPr lang="zh-CN" dirty="0"/>
          </a:p>
          <a:p>
            <a:pPr/>
            <a:r>
              <a:rPr lang="zh-CN" dirty="0"/>
              <a:t>因此，连续个体分析需要同时检验帧内观测、区域质量和跨帧身份。这里的图是失效机制示意，不是本项目已经获得的实验结果。对完全不可见的个体，可见计数减少本身并不构成漏检；系统中的预测存量需要采用另一种明确的统计口径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现有技术已经具备较强的检测、分割和视频跟踪能力。YOLO26m-seg 可以统一输出类别、框和实例掩码。官方在 COCO val2017、640 输入条件下发布的 Box AP 为 52.5，Mask AP 为 44.1。这些是通用帧内评价指标，并不包含连续身份的评价。</a:t>
            </a:r>
          </a:p>
          <a:p>
            <a:pPr/>
            <a:endParaRPr lang="zh-CN" dirty="0"/>
          </a:p>
          <a:p>
            <a:pPr/>
            <a:r>
              <a:rPr lang="zh-CN" dirty="0"/>
              <a:t>视频跟踪方面，ByteTrack 将低分检测框用于关联，以恢复其中的真实目标；OC-SORT 针对遮挡期间运动预测误差积累，利用观测信息进行纠偏。SAM 3 进一步支持概念驱动的多实例检测、分割和跟踪。已有方法已经解决了一部分低分漏检、短时遮挡和实例传播问题。</a:t>
            </a:r>
          </a:p>
          <a:p>
            <a:pPr/>
            <a:endParaRPr lang="zh-CN" dirty="0"/>
          </a:p>
          <a:p>
            <a:pPr/>
            <a:r>
              <a:rPr lang="zh-CN" dirty="0"/>
              <a:t>本课题需要进一步检验的是：这些能力在密集接触、相似外观和较长遮挡的具体场景中，能否持续输出正确个体及其身份。单帧 AP 不评价跨帧关联，所以框和掩码的总体精度，不能单独证明身份连续性。后续将用独立的跟踪指标及遮挡事件评价回答这一问题。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遮挡后的身份恢复可以分为三个阶段。遮挡前，系统已经积累了个体的位置、外观和历史轨迹。个体完全不可见时，没有新的可靠观测，系统只能暂时保留轨迹并预测可能位置。重新可见后，检测器提供的是当前目标，还需要将它与遮挡前的身份重新对应。</a:t>
            </a:r>
          </a:p>
          <a:p>
            <a:pPr/>
            <a:endParaRPr lang="zh-CN" dirty="0"/>
          </a:p>
          <a:p>
            <a:pPr/>
            <a:r>
              <a:rPr lang="zh-CN" dirty="0"/>
              <a:t>因此，再次检出与原身份续接是两个不同条件。时间越长，运动预测可能越不准确；姿态变化会改变外观；多个相似个体在遮挡区域内交叉后，又可能产生相近的关联候选。这些因素共同增加了错误续接和重新编号的风险。若图像信息本身不足以区分身份，评价标注也需要预先规定歧义事件的处理方式。</a:t>
            </a:r>
          </a:p>
          <a:p>
            <a:pPr/>
            <a:endParaRPr lang="zh-CN" dirty="0"/>
          </a:p>
          <a:p>
            <a:pPr/>
            <a:r>
              <a:rPr lang="zh-CN" dirty="0"/>
              <a:t>OC-SORT 和 DanceTrack 分别揭示了遮挡运动误差、相似外观与复杂运动的困难。SAM2Long 针对长视频中的错误记忆传播进行改进，也说明错误或缺失的分割结果可能影响后续帧。本课题将把遮挡后能否正确接回原身份作为系统验证问题，同时记录误连、新建身份和持续未检出，明确恢复能力的适用范围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工程部署还需要处理准确性、响应速度与资源之间的取舍。第一是输出确认。连续观察若干帧后再激活新轨迹，可以减少短暂虚假目标，但会增加首次确认的等待时间。因此，需要同时记录虚假轨迹数量和首次确认时延。</a:t>
            </a:r>
          </a:p>
          <a:p>
            <a:pPr/>
            <a:endParaRPr lang="zh-CN" dirty="0"/>
          </a:p>
          <a:p>
            <a:pPr/>
            <a:r>
              <a:rPr lang="zh-CN" dirty="0"/>
              <a:t>第二是轨迹保留。目标丢失后保留更久，可以提供更长的重关联窗口，但会增加计算与存储开销；长时间遮挡带来的外观变化，仍可能使重新匹配失败。NVIDIA 的部署文档明确讨论了这些约束。因此，保留时间需要通过正确续接、误连和资源消耗共同评价。</a:t>
            </a:r>
          </a:p>
          <a:p>
            <a:pPr/>
            <a:endParaRPr lang="zh-CN" dirty="0"/>
          </a:p>
          <a:p>
            <a:pPr/>
            <a:r>
              <a:rPr lang="zh-CN" dirty="0"/>
              <a:t>第三是完整处理链的容量。检测、分割、关联和结果输出共同消耗时间，多路视频及更多目标会增加资源需求。吞吐量与端到端时延需要分别测量，同时观察掉帧、并发容量和连续运行稳定性。</a:t>
            </a:r>
          </a:p>
          <a:p>
            <a:pPr/>
            <a:endParaRPr lang="zh-CN" dirty="0"/>
          </a:p>
          <a:p>
            <a:pPr/>
            <a:r>
              <a:rPr lang="zh-CN" dirty="0"/>
              <a:t>系统还要区分当前已观测个体与丢失期间的预测轨迹，避免把预测当作观测。前述背景说明，论文中的精度改进需要经过跟踪接口和完整系统评价，才能明确其实际应用收益。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可靠的连续分析首先需要可靠的帧内观测。针对密集目标的实例选择，已有研究形成了多种解决思路。Adaptive NMS 根据局部密度调整抑制阈值，缓解拥挤场景中相邻行人的误抑制。CrowdDet 允许一个候选区域预测多个实例，并通过集合损失和 Set NMS 处理高重叠目标。DDQ 则从密集查询中保留有区分度的查询，兼顾候选召回与查询冗余控制。</a:t>
            </a:r>
          </a:p>
          <a:p>
            <a:pPr/>
            <a:endParaRPr lang="zh-CN" dirty="0"/>
          </a:p>
          <a:p>
            <a:pPr/>
            <a:r>
              <a:rPr lang="zh-CN" dirty="0"/>
              <a:t>这些工作表明，密集检测已经从局部抑制规则扩展到集合预测与查询去冗余。相应地，本课题的研究问题需要落实到更具体的候选歧义：完整目标候选、同一目标的局部片段和相邻真实个体可能同时出现在预测集合中，它们之间的重叠关系并不能直接对应实例身份。</a:t>
            </a:r>
          </a:p>
          <a:p>
            <a:pPr/>
            <a:endParaRPr lang="zh-CN" dirty="0"/>
          </a:p>
          <a:p>
            <a:pPr/>
            <a:r>
              <a:rPr lang="zh-CN" dirty="0"/>
              <a:t>因此，拟研究的重点是联合分析候选的可见完整性及相互关系，在限定候选范围内改进实例判别与集合选择。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项关键难点是实例对应歧义与检出完整性。左侧示意的是两个相邻真实实例，虽然它们的预测区域重叠较高，但都应当保留。若仅采用较强的重叠抑制，就可能删除其中一个真实实例。右侧示意的是同一个目标的两个局部片段，它们的重叠程度较低，却可能造成同一实例重复检出。</a:t>
            </a:r>
          </a:p>
          <a:p>
            <a:pPr/>
            <a:endParaRPr lang="zh-CN" dirty="0"/>
          </a:p>
          <a:p>
            <a:pPr/>
            <a:r>
              <a:rPr lang="zh-CN" dirty="0"/>
              <a:t>这两种情况提出了相反的选择要求：既需要保留高重叠的邻接实例，也需要识别低重叠的局部重复。单个候选的分类分数和几何重叠度难以充分表达这种差别。</a:t>
            </a:r>
          </a:p>
          <a:p>
            <a:pPr/>
            <a:endParaRPr lang="zh-CN" dirty="0"/>
          </a:p>
          <a:p>
            <a:pPr/>
            <a:r>
              <a:rPr lang="zh-CN" dirty="0"/>
              <a:t>因此，候选是否覆盖了较完整的可见区域，以及它与邻接候选之间是否存在包含、互补或竞争关系，都是拟研究的信息来源。研究目标是在固定候选预算下减少筛选造成的遗漏和重复，改善已有候选的选择质量。对于候选集合中没有形成有效预测的目标，则需要与选择阶段的错误分别分析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第二项研究内容建立在掩码质量估计和边界精细化的已有进展上。Mask Scoring R-CNN 预测掩码 IoU，将质量信息纳入实例评分。Boundary Patch Refinement 利用预测边界附近的高分辨率图像块进行局部细化。Mask Transfiner 以四叉树组织边界区域，重点处理检测出的易错节点。</a:t>
            </a:r>
          </a:p>
          <a:p>
            <a:pPr/>
            <a:endParaRPr lang="zh-CN" dirty="0"/>
          </a:p>
          <a:p>
            <a:pPr/>
            <a:r>
              <a:rPr lang="zh-CN" dirty="0"/>
              <a:t>这些方法分别解决当前质量评估、局部精细化和选择性计算问题。本课题进一步关注具体修正操作的收益。当前掩码质量较低，并不意味着某一种修正一定能够改善它；同样，发现局部存在错误，也不直接等于能够确定修正后的质量变化。</a:t>
            </a:r>
          </a:p>
          <a:p>
            <a:pPr/>
            <a:endParaRPr lang="zh-CN" dirty="0"/>
          </a:p>
          <a:p>
            <a:pPr/>
            <a:r>
              <a:rPr lang="zh-CN" dirty="0"/>
              <a:t>因此，拟将原掩码状态、操作引起的变化和邻接实例信息共同用于收益预测，以决定某个实例是否采用候选修正。后续通过特征消融，分析操作响应和邻接信息各自提供的作用。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二项关键难点是接触边界的像素归属和修正风险。页面展示了同类边界收紧操作的两种结果。如果去除的区域属于误分配的邻接实例像素，修正能够减少错误。如果去除的区域属于当前目标自身的真实细节，则会使原本正确的区域发生退化。</a:t>
            </a:r>
          </a:p>
          <a:p>
            <a:pPr/>
            <a:endParaRPr lang="zh-CN" dirty="0"/>
          </a:p>
          <a:p>
            <a:pPr/>
            <a:r>
              <a:rPr lang="zh-CN" dirty="0"/>
              <a:t>这说明修正操作的效果取决于具体实例的状态，而不能仅凭统一的几何规则判断。实际推理阶段没有真实标注，邻接实例的预测也可能包含误差，因此利用邻接关系时，还需要分析该信息是否有助于判断修正收益。</a:t>
            </a:r>
          </a:p>
          <a:p>
            <a:pPr/>
            <a:endParaRPr lang="zh-CN" dirty="0"/>
          </a:p>
          <a:p>
            <a:pPr/>
            <a:r>
              <a:rPr lang="zh-CN" dirty="0"/>
              <a:t>本课题拟以实例为单位预测修正前后的质量变化，在提高总体分割精度的同时，控制正确区域的损失。评价中将同时关注修复数量和退化数量，以分析精度变化背后的收益与代价。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基于上述问题，论文拟以实例选择和区域优化作为两项方法研究，并通过系统集成检验其应用价值。基础模型首先产生候选集合，研究内容一进行实例判别与集合选择，研究内容二对保留实例进行选择性掩码修正。系统再按各模块的实际输入接口开展身份关联、区域统计和结果展示。</a:t>
            </a:r>
          </a:p>
          <a:p>
            <a:pPr/>
            <a:endParaRPr lang="zh-CN" dirty="0"/>
          </a:p>
          <a:p>
            <a:pPr/>
            <a:r>
              <a:rPr lang="zh-CN" dirty="0"/>
              <a:t>第一项内容主要改善实例集合，减少筛选造成的遗漏与重复。第二项内容主要改善像素区域，提高分割精度并控制正确区域的退化。两项方法分别开展特征消融，再比较单模块与组合结果。</a:t>
            </a:r>
          </a:p>
          <a:p>
            <a:pPr/>
            <a:endParaRPr lang="zh-CN" dirty="0"/>
          </a:p>
          <a:p>
            <a:pPr/>
            <a:r>
              <a:rPr lang="zh-CN" dirty="0"/>
              <a:t>视频跟踪与重关联由既有跟踪方法接入，重点检验当前帧的观测变化如何影响连续身份，以及系统在遮挡和持续运行中的实际表现。身份恢复能力还依赖跟踪器的关联机制和观测信息，不能仅由帧内方法的精度变化推断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研究内容一是关系辅助的候选判别与冗余控制。输入为预先限定的预测候选，拟从候选质量和候选关系两个方面提取信息。其中，质量表征关注可见区域的完整性，关系表征关注候选之间的重叠、包含、互补以及与相邻预测的关联。</a:t>
            </a:r>
          </a:p>
          <a:p>
            <a:pPr/>
            <a:endParaRPr lang="zh-CN" dirty="0"/>
          </a:p>
          <a:p>
            <a:pPr/>
            <a:r>
              <a:rPr lang="zh-CN" dirty="0"/>
              <a:t>基于这些信息，拟构建实例判别与集合选择机制，输出代表不同可见个体的预测集合。研究重点是区分相邻真实实例与同一目标的重复或局部片段，在限定候选预算内兼顾召回和冗余控制。</a:t>
            </a:r>
          </a:p>
          <a:p>
            <a:pPr/>
            <a:endParaRPr lang="zh-CN" dirty="0"/>
          </a:p>
          <a:p>
            <a:pPr/>
            <a:r>
              <a:rPr lang="zh-CN" dirty="0"/>
              <a:t>验证时，分别比较质量特征、关系特征及联合策略，保持输入候选和计算预算一致。除总体检测分割指标外，还将关注密集子集中的实例遗漏和重复检出，以判断方法是否改善了预期的实例选择问题。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研究内容二是邻接关系辅助的掩码修正收益预测。对于已经保留的实例，先从原掩码生成候选修正，再估计该操作带来的质量变化，据此决定采用修正结果或保留原结果。</a:t>
            </a:r>
          </a:p>
          <a:p>
            <a:pPr/>
            <a:endParaRPr lang="zh-CN" dirty="0"/>
          </a:p>
          <a:p>
            <a:pPr/>
            <a:r>
              <a:rPr lang="zh-CN" dirty="0"/>
              <a:t>收益预测拟使用三类信息。原掩码状态描述实例当前的区域特征，操作响应描述修正引起的面积和边界变化，邻接实例关系则提供周边预测与接触区域的信息。训练阶段可以依据标注计算修正前后的质量变化，形成监督信号；推理阶段使用图像与模型预测完成决策。</a:t>
            </a:r>
          </a:p>
          <a:p>
            <a:pPr/>
            <a:endParaRPr lang="zh-CN" dirty="0"/>
          </a:p>
          <a:p>
            <a:pPr/>
            <a:r>
              <a:rPr lang="zh-CN" dirty="0"/>
              <a:t>该方向可以继承现有选择性修正原型，重点研究邻接信息对收益预测的补充作用。评价时固定检测集合及框、类别、分数等条件，通过特征消融比较总体分割精度、修复数量和退化数量，从而区分区域修正本身与实例选择带来的影响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方法改进需要沿实际的数据接口验证。第一条路径中，候选判别可能改变保留的实例集合、框或分数。这些结果作为固定跟踪器的输入，再评价身份是否更加连续。标准 ByteTrack 使用检测框和分数进行关联，因此应保持跟踪器及其参数一致，以分离前端观测变化的影响。</a:t>
            </a:r>
          </a:p>
          <a:p>
            <a:pPr/>
            <a:endParaRPr lang="zh-CN" dirty="0"/>
          </a:p>
          <a:p>
            <a:pPr/>
            <a:r>
              <a:rPr lang="zh-CN" dirty="0"/>
              <a:t>第二条路径中，掩码修正改变的是像素区域，首先对应个体可见面积和前景占用等统计量。评价占用时，对感兴趣区域内的掩码求并集，避免重叠像素重复计入。像素在相邻实例之间重新归属时，个体区域可能变化，而前景并集可能保持不变，因此需要分别评价。</a:t>
            </a:r>
          </a:p>
          <a:p>
            <a:pPr/>
            <a:endParaRPr lang="zh-CN" dirty="0"/>
          </a:p>
          <a:p>
            <a:pPr/>
            <a:r>
              <a:rPr lang="zh-CN" dirty="0"/>
              <a:t>如果框、分数和检测集合均不变，仅改变掩码，就不能直接改变标准 ByteTrack 的关联。若后续选择消费掩码的关联方式，也需要单独说明接口并进行消融。</a:t>
            </a:r>
          </a:p>
          <a:p>
            <a:pPr/>
            <a:endParaRPr lang="zh-CN" dirty="0"/>
          </a:p>
          <a:p>
            <a:pPr/>
            <a:r>
              <a:rPr lang="zh-CN" dirty="0"/>
              <a:t>评价包含三个层次：帧内采用检测分割 AP 和区域误差；跨帧采用 HOTA 及其关联分量 AssA、IDF1 和身份切换；遮挡事件另外统计正确续接、误连和未恢复。事件的开始、重现判定、恢复窗口与分母需在实验前确定。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通用系统拟由五个模块组成。输入适配支持图像和视频，统一记录时间戳、类别和统计区域。检测分割模块通过模型接口输出框、分数和掩码，并保存逐帧结果。空间优化模块接入候选判别和选择性掩码修正，支持单独启用和组合对照。</a:t>
            </a:r>
          </a:p>
          <a:p>
            <a:pPr/>
            <a:endParaRPr lang="zh-CN" dirty="0"/>
          </a:p>
          <a:p>
            <a:pPr/>
            <a:r>
              <a:rPr lang="zh-CN" dirty="0"/>
              <a:t>身份关联模块接入既有跟踪器，管理轨迹丢失、重关联及身份新建。输出分析模块展示轨迹和区域结果，生成计数、面积统计以及可追溯的记录与报表。图像任务可以直接使用空间输出，视频任务增加身份关联。</a:t>
            </a:r>
          </a:p>
          <a:p>
            <a:pPr/>
            <a:endParaRPr lang="zh-CN" dirty="0"/>
          </a:p>
          <a:p>
            <a:pPr/>
            <a:r>
              <a:rPr lang="zh-CN" dirty="0"/>
              <a:t>系统会明确区分三种状态：当前已观测时更新轨迹和可见统计；短时丢失时保留预测状态；目标重现时记录成功续接或新建身份。由此将可见数量、预测状态和身份变化分开保存，同时记录处理时延。</a:t>
            </a:r>
          </a:p>
          <a:p>
            <a:pPr/>
            <a:endParaRPr lang="zh-CN" dirty="0"/>
          </a:p>
          <a:p>
            <a:pPr/>
            <a:r>
              <a:rPr lang="zh-CN" dirty="0"/>
              <a:t>通用性主要体现在模型接口、类别、统计区域与跟踪配置可调整。不同场景中的实际精度和身份恢复能力，则通过独立数据评价。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应用验证以猪只群体监测为例。密集聚集、外观相似和频繁遮挡，使这一场景能够具体检验实例区分、接触边界与遮挡后的身份连续性。</a:t>
            </a:r>
          </a:p>
          <a:p>
            <a:pPr/>
            <a:endParaRPr lang="zh-CN" dirty="0"/>
          </a:p>
          <a:p>
            <a:pPr/>
            <a:r>
              <a:rPr lang="zh-CN" dirty="0"/>
              <a:t>数据方面，已有动物静态图像可以用于帧内方法验证。视频研究还需要补充连续序列、跨帧身份以及遮挡、重现和可见性标注；现有图像实验不能直接替代这些标注。开发与评价按视频分组，避免相邻帧分散到不同集合；存在身份歧义的事件需要预先定义处理规则。</a:t>
            </a:r>
          </a:p>
          <a:p>
            <a:pPr/>
            <a:endParaRPr lang="zh-CN" dirty="0"/>
          </a:p>
          <a:p>
            <a:pPr/>
            <a:r>
              <a:rPr lang="zh-CN" dirty="0"/>
              <a:t>方法对照固定跟踪器及关联参数，比较基础模型、两个独立模块及组合方案，并按目标密度和遮挡时长分层。评价同时覆盖检测分割、区域统计、身份连续性和遮挡后续接，记录正确恢复的同时，也统计误连、新建身份或持续漏检。完整系统再测试端到端时延、掉帧与连续运行稳定性。</a:t>
            </a:r>
          </a:p>
          <a:p>
            <a:pPr/>
            <a:endParaRPr lang="zh-CN" dirty="0"/>
          </a:p>
          <a:p>
            <a:pPr/>
            <a:r>
              <a:rPr lang="zh-CN" dirty="0"/>
              <a:t>预期形成两项空间方法和可配置的通用感知分析系统。猪只承担应用验证，跨类别与跨场景的有效性仍需要独立数据支持。以上是本次研究方案汇报，请各位老师批评指正。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现有工作可以复用四类基础。实例诊断实验提供分层评价与候选追踪流程，用于新模型的实例对应分析。RCMC 修正原型提供修正规则、收益模型和对照实现，后续补充密集子集与邻接特征消融。动物静态数据提供数据清单及推理评估基础，视频身份与遮挡事件标注仍需新增。推理和导出组件可以接入统一系统，继续完成跟踪、界面和系统测试。</a:t>
            </a:r>
          </a:p>
          <a:p>
            <a:pPr/>
            <a:endParaRPr lang="zh-CN" dirty="0"/>
          </a:p>
          <a:p>
            <a:pPr/>
            <a:r>
              <a:rPr lang="zh-CN" dirty="0"/>
              <a:t>已有候选排序方案未达到预设评价要求，保留其结果和诊断流程，有助于明确后续设计应解决的问题。历史实验支持研究基础与实现可复用，不能作为新关系方法或视频恢复效果已经成立的证据。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这里列出选择性掩码修正原型的前期开发性结果。评价包含 COCO val2017 中的 4,500 幅图像和 32,831 个非 crowd 标注，在相同条件下比较基线、固定平滑和选择性响应门控。</a:t>
            </a:r>
          </a:p>
          <a:p>
            <a:pPr/>
            <a:endParaRPr lang="zh-CN" dirty="0"/>
          </a:p>
          <a:p>
            <a:pPr/>
            <a:r>
              <a:rPr lang="zh-CN" dirty="0"/>
              <a:t>YOLO26m-seg 的 Mask AP 分别为 43.38、43.83 和 43.94，YOLO26s-seg 分别为 39.42、39.80 和 39.90。从实例变化看，相比固定平滑，选择性门控减少了修复数量，同时也减少了退化数量，两个模型的净修复数量均有所增加。这说明选择性处理原型具备进一步研究的基础，也提示需要同时分析修复与退化。</a:t>
            </a:r>
          </a:p>
          <a:p>
            <a:pPr/>
            <a:endParaRPr lang="zh-CN" dirty="0"/>
          </a:p>
          <a:p>
            <a:pPr/>
            <a:r>
              <a:rPr lang="zh-CN" dirty="0"/>
              <a:t>这些结果来自一次门控拟合，评价数据曾参与早期开发，AP 尚未估计置信区间。因此，后续还需要在密集子集、邻接信息消融和独立应用数据上验证，确定新研究方案的有效范围。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研究拟按四个阶段推进。第一阶段明确视频序列、跨帧身份、遮挡事件和独立评价分组，同时固定模型、候选预算与评价定义。第二阶段分别完成候选关系对照和修正收益预测的特征消融。第三阶段接入固定跟踪器，在相同条件下比较基线、两个模块和组合，分析空间质量与身份关联的不同变化。</a:t>
            </a:r>
          </a:p>
          <a:p>
            <a:pPr/>
            <a:endParaRPr lang="zh-CN" dirty="0"/>
          </a:p>
          <a:p>
            <a:pPr/>
            <a:r>
              <a:rPr lang="zh-CN" dirty="0"/>
              <a:t>第四阶段开展应用验证，测试端到端时延、掉帧和连续运行稳定性。近期的单个优先事项是确定视频标注与评价口径，随后接入基础推理和跟踪流程。后续结果将沿同一套身份定义、数据分组与接口进行比较。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ense_instance_thesis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ense_instance_thesis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1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9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21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9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8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eyebrow"/>
          <p:cNvGrpSpPr/>
          <p:nvPr/>
        </p:nvGrpSpPr>
        <p:grpSpPr>
          <a:xfrm>
            <a:off x="601218" y="587375"/>
            <a:ext cx="10989563" cy="322707"/>
            <a:chOff x="601218" y="587375"/>
            <a:chExt cx="10989563" cy="322707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587375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8C9DA"/>
                  </a:solidFill>
                  <a:latin typeface="+mn-lt"/>
                  <a:ea typeface="+mn-ea"/>
                  <a:cs typeface="+mn-cs"/>
                </a:rPr>
                <a:t>毕业论文研究方案汇报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0352341" y="587375"/>
              <a:ext cx="12384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" dirty="0">
                  <a:solidFill>
                    <a:srgbClr val="B8C9DA"/>
                  </a:solidFill>
                  <a:latin typeface="+mn-lt"/>
                  <a:ea typeface="+mn-ea"/>
                  <a:cs typeface="+mn-cs"/>
                </a:rPr>
                <a:t>2026.10.14</a:t>
              </a:r>
            </a:p>
          </p:txBody>
        </p:sp>
      </p:grpSp>
      <p:grpSp>
        <p:nvGrpSpPr>
          <p:cNvPr id="7" name="title"/>
          <p:cNvGrpSpPr/>
          <p:nvPr/>
        </p:nvGrpSpPr>
        <p:grpSpPr>
          <a:xfrm>
            <a:off x="590550" y="1546225"/>
            <a:ext cx="4838700" cy="2811018"/>
            <a:chOff x="590550" y="1546225"/>
            <a:chExt cx="4838700" cy="2811018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1546225"/>
              <a:ext cx="4838700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5850"/>
                </a:lnSpc>
              </a:pPr>
              <a:r>
                <a:rPr lang="zh-CN" sz="4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面向密集场景的</a:t>
              </a:r>
              <a:br>
                <a:rPr lang="zh-CN" sz="4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</a:br>
              <a:r>
                <a:rPr lang="zh-CN" sz="4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目标检测与实例分割</a:t>
              </a:r>
              <a:br>
                <a:rPr lang="zh-CN" sz="4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</a:br>
              <a:r>
                <a:rPr lang="zh-CN" sz="4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方法及系统研究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37032" y="3946525"/>
              <a:ext cx="39791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B8C9DA"/>
                  </a:solidFill>
                  <a:latin typeface="+mn-lt"/>
                  <a:ea typeface="+mn-ea"/>
                  <a:cs typeface="+mn-cs"/>
                </a:rPr>
                <a:t>研究背景、关键问题与技术路线</a:t>
              </a:r>
            </a:p>
          </p:txBody>
        </p:sp>
      </p:grpSp>
      <p:grpSp>
        <p:nvGrpSpPr>
          <p:cNvPr id="16" name="instance-conflict"/>
          <p:cNvGrpSpPr/>
          <p:nvPr/>
        </p:nvGrpSpPr>
        <p:grpSpPr>
          <a:xfrm>
            <a:off x="8610600" y="1609725"/>
            <a:ext cx="2686050" cy="3038475"/>
            <a:chOff x="8610600" y="1609725"/>
            <a:chExt cx="2686050" cy="3038475"/>
          </a:xfrm>
        </p:grpSpPr>
        <p:sp>
          <p:nvSpPr>
            <p:cNvPr id="8" name="Ellipse 8"/>
            <p:cNvSpPr/>
            <p:nvPr/>
          </p:nvSpPr>
          <p:spPr>
            <a:xfrm>
              <a:off x="8705850" y="1657350"/>
              <a:ext cx="1562100" cy="1866900"/>
            </a:xfrm>
            <a:prstGeom prst="ellipse">
              <a:avLst/>
            </a:prstGeom>
            <a:solidFill>
              <a:srgbClr val="315E9D">
                <a:alpha val="55000"/>
              </a:srgbClr>
            </a:solidFill>
            <a:ln w="19050">
              <a:solidFill>
                <a:srgbClr val="87ABD8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9620250" y="2152650"/>
              <a:ext cx="1562100" cy="1866900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 w="19050">
              <a:solidFill>
                <a:srgbClr val="75C3C2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8610600" y="3086100"/>
              <a:ext cx="1562100" cy="1562100"/>
            </a:xfrm>
            <a:prstGeom prst="ellipse">
              <a:avLst/>
            </a:prstGeom>
            <a:solidFill>
              <a:schemeClr val="accent3">
                <a:alpha val="25000"/>
              </a:schemeClr>
            </a:solidFill>
            <a:ln w="19050">
              <a:solidFill>
                <a:srgbClr val="DDAE87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8620125" y="1609725"/>
              <a:ext cx="1724025" cy="2047875"/>
            </a:xfrm>
            <a:prstGeom prst="rect">
              <a:avLst/>
            </a:prstGeom>
            <a:noFill/>
            <a:ln w="19050">
              <a:solidFill>
                <a:srgbClr val="87ABD8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9563100" y="2076450"/>
              <a:ext cx="1733550" cy="2057400"/>
            </a:xfrm>
            <a:prstGeom prst="rect">
              <a:avLst/>
            </a:prstGeom>
            <a:noFill/>
            <a:ln w="19050">
              <a:solidFill>
                <a:srgbClr val="75C3C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274683" y="2165350"/>
              <a:ext cx="21214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370058" y="2755900"/>
              <a:ext cx="21214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274683" y="3917950"/>
              <a:ext cx="21214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</p:grpSp>
      <p:grpSp>
        <p:nvGrpSpPr>
          <p:cNvPr id="20" name="cover-takeaway"/>
          <p:cNvGrpSpPr/>
          <p:nvPr/>
        </p:nvGrpSpPr>
        <p:grpSpPr>
          <a:xfrm>
            <a:off x="597408" y="5095875"/>
            <a:ext cx="10984992" cy="1052957"/>
            <a:chOff x="597408" y="5095875"/>
            <a:chExt cx="10984992" cy="1052957"/>
          </a:xfrm>
        </p:grpSpPr>
        <p:sp>
          <p:nvSpPr>
            <p:cNvPr id="17" name="Line 17"/>
            <p:cNvSpPr/>
            <p:nvPr/>
          </p:nvSpPr>
          <p:spPr>
            <a:xfrm>
              <a:off x="609600" y="50958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49607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97408" y="5318125"/>
              <a:ext cx="357835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密集实例判别与区域优化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01218" y="5826125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8C9DA"/>
                  </a:solidFill>
                  <a:latin typeface="+mn-lt"/>
                  <a:ea typeface="+mn-ea"/>
                  <a:cs typeface="+mn-cs"/>
                </a:rPr>
                <a:t>通用检测分割系统设计及动物群体场景验证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1035132" y="6410325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B8C9DA"/>
                </a:solidFill>
                <a:latin typeface="+mn-lt"/>
                <a:ea typeface="+mn-ea"/>
                <a:cs typeface="+mn-cs"/>
              </a:rPr>
              <a:t>01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15925"/>
            <a:ext cx="5684520" cy="964565"/>
            <a:chOff x="594360" y="415925"/>
            <a:chExt cx="5684520" cy="964565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15925"/>
              <a:ext cx="12162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 研究背景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93750"/>
              <a:ext cx="56845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密集场景的输出失效与应用后果</a:t>
              </a:r>
            </a:p>
          </p:txBody>
        </p:sp>
      </p:grpSp>
      <p:grpSp>
        <p:nvGrpSpPr>
          <p:cNvPr id="8" name="column-labels"/>
          <p:cNvGrpSpPr/>
          <p:nvPr/>
        </p:nvGrpSpPr>
        <p:grpSpPr>
          <a:xfrm>
            <a:off x="601218" y="1720850"/>
            <a:ext cx="9030081" cy="322707"/>
            <a:chOff x="601218" y="1720850"/>
            <a:chExt cx="9030081" cy="322707"/>
          </a:xfrm>
        </p:grpSpPr>
        <p:sp>
          <p:nvSpPr>
            <p:cNvPr id="5" name="TextBox 5"/>
            <p:cNvSpPr txBox="1"/>
            <p:nvPr/>
          </p:nvSpPr>
          <p:spPr>
            <a:xfrm>
              <a:off x="601218" y="172085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场景条件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620768" y="172085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输出错误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726043" y="172085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应用后果</a:t>
              </a:r>
            </a:p>
          </p:txBody>
        </p:sp>
      </p:grpSp>
      <p:grpSp>
        <p:nvGrpSpPr>
          <p:cNvPr id="16" name="partial-occlusion"/>
          <p:cNvGrpSpPr/>
          <p:nvPr/>
        </p:nvGrpSpPr>
        <p:grpSpPr>
          <a:xfrm>
            <a:off x="638175" y="2241550"/>
            <a:ext cx="9707118" cy="791718"/>
            <a:chOff x="638175" y="2241550"/>
            <a:chExt cx="9707118" cy="791718"/>
          </a:xfrm>
        </p:grpSpPr>
        <p:sp>
          <p:nvSpPr>
            <p:cNvPr id="9" name="Ellipse 9"/>
            <p:cNvSpPr/>
            <p:nvPr/>
          </p:nvSpPr>
          <p:spPr>
            <a:xfrm>
              <a:off x="638175" y="2419350"/>
              <a:ext cx="819150" cy="495300"/>
            </a:xfrm>
            <a:prstGeom prst="ellipse">
              <a:avLst/>
            </a:prstGeom>
            <a:solidFill>
              <a:srgbClr val="315E9D">
                <a:alpha val="18000"/>
              </a:srgbClr>
            </a:solidFill>
            <a:ln w="19050">
              <a:solidFill>
                <a:srgbClr val="315E9D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1152525" y="2352675"/>
              <a:ext cx="542925" cy="6667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941957" y="247015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局部遮挡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3981450" y="2676525"/>
              <a:ext cx="352425" cy="1"/>
            </a:xfrm>
            <a:prstGeom prst="line">
              <a:avLst/>
            </a:prstGeom>
            <a:noFill/>
            <a:ln w="19050">
              <a:solidFill>
                <a:srgbClr val="596B80"/>
              </a:solidFill>
              <a:tailEnd type="arrow" w="lg" len="lg"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618482" y="2241550"/>
              <a:ext cx="2421636" cy="791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2100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分数下降、间歇漏检</a:t>
              </a:r>
            </a:p>
            <a:p>
              <a:pPr algn="l">
                <a:lnSpc>
                  <a:spcPts val="3000"/>
                </a:lnSpc>
              </a:pPr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可见个体未持续被检出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8020050" y="2676525"/>
              <a:ext cx="419100" cy="1"/>
            </a:xfrm>
            <a:prstGeom prst="line">
              <a:avLst/>
            </a:prstGeom>
            <a:noFill/>
            <a:ln w="19050">
              <a:solidFill>
                <a:srgbClr val="596B80"/>
              </a:solidFill>
              <a:tailEnd type="arrow" w="lg" len="lg"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723757" y="2241550"/>
              <a:ext cx="1621536" cy="791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可见计数偏差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轨迹中断</a:t>
              </a:r>
            </a:p>
          </p:txBody>
        </p:sp>
      </p:grpSp>
      <p:grpSp>
        <p:nvGrpSpPr>
          <p:cNvPr id="26" name="contact-boundaries"/>
          <p:cNvGrpSpPr/>
          <p:nvPr/>
        </p:nvGrpSpPr>
        <p:grpSpPr>
          <a:xfrm>
            <a:off x="609600" y="3333750"/>
            <a:ext cx="10972800" cy="861568"/>
            <a:chOff x="609600" y="3333750"/>
            <a:chExt cx="10972800" cy="861568"/>
          </a:xfrm>
        </p:grpSpPr>
        <p:sp>
          <p:nvSpPr>
            <p:cNvPr id="17" name="Line 17"/>
            <p:cNvSpPr/>
            <p:nvPr/>
          </p:nvSpPr>
          <p:spPr>
            <a:xfrm>
              <a:off x="609600" y="33337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619125" y="3552825"/>
              <a:ext cx="704850" cy="552450"/>
            </a:xfrm>
            <a:prstGeom prst="ellipse">
              <a:avLst/>
            </a:prstGeom>
            <a:solidFill>
              <a:schemeClr val="accent2">
                <a:alpha val="18000"/>
              </a:schemeClr>
            </a:solidFill>
            <a:ln w="19050">
              <a:solidFill>
                <a:schemeClr val="accent2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1019175" y="3552825"/>
              <a:ext cx="704850" cy="552450"/>
            </a:xfrm>
            <a:prstGeom prst="ellipse">
              <a:avLst/>
            </a:prstGeom>
            <a:solidFill>
              <a:schemeClr val="accent2">
                <a:alpha val="18000"/>
              </a:schemeClr>
            </a:solidFill>
            <a:ln w="19050">
              <a:solidFill>
                <a:schemeClr val="accent2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1171575" y="3600450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28575">
              <a:solidFill>
                <a:schemeClr val="accent3"/>
              </a:solidFill>
              <a:custDash>
                <a:ds d="200000" sp="166667"/>
              </a:custDash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941957" y="3632200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相邻个体接触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3981450" y="3838575"/>
              <a:ext cx="352425" cy="1"/>
            </a:xfrm>
            <a:prstGeom prst="line">
              <a:avLst/>
            </a:prstGeom>
            <a:noFill/>
            <a:ln w="19050">
              <a:solidFill>
                <a:srgbClr val="596B80"/>
              </a:solidFill>
              <a:tailEnd type="arrow" w="lg" len="lg"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18482" y="3403600"/>
              <a:ext cx="2421636" cy="791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掩码粘连、边界错归</a:t>
              </a:r>
            </a:p>
            <a:p>
              <a:pPr algn="l">
                <a:lnSpc>
                  <a:spcPts val="3000"/>
                </a:lnSpc>
              </a:pPr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区域难以准确分配到个体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8020050" y="3838575"/>
              <a:ext cx="419100" cy="1"/>
            </a:xfrm>
            <a:prstGeom prst="line">
              <a:avLst/>
            </a:prstGeom>
            <a:noFill/>
            <a:ln w="19050">
              <a:solidFill>
                <a:srgbClr val="596B80"/>
              </a:solidFill>
              <a:tailEnd type="arrow" w="lg" len="lg"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723757" y="3403600"/>
              <a:ext cx="1621536" cy="791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个体面积偏差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区域分析失真</a:t>
              </a:r>
            </a:p>
          </p:txBody>
        </p:sp>
      </p:grpSp>
      <p:grpSp>
        <p:nvGrpSpPr>
          <p:cNvPr id="36" name="identity-confusion"/>
          <p:cNvGrpSpPr/>
          <p:nvPr/>
        </p:nvGrpSpPr>
        <p:grpSpPr>
          <a:xfrm>
            <a:off x="609600" y="4495800"/>
            <a:ext cx="10972800" cy="914400"/>
            <a:chOff x="609600" y="4495800"/>
            <a:chExt cx="10972800" cy="914400"/>
          </a:xfrm>
        </p:grpSpPr>
        <p:sp>
          <p:nvSpPr>
            <p:cNvPr id="27" name="Line 27"/>
            <p:cNvSpPr/>
            <p:nvPr/>
          </p:nvSpPr>
          <p:spPr>
            <a:xfrm>
              <a:off x="609600" y="4495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647700" y="4705350"/>
              <a:ext cx="552450" cy="342900"/>
            </a:xfrm>
            <a:prstGeom prst="ellipse">
              <a:avLst/>
            </a:prstGeom>
            <a:solidFill>
              <a:srgbClr val="315E9D">
                <a:alpha val="18000"/>
              </a:srgbClr>
            </a:solidFill>
            <a:ln w="19050">
              <a:solidFill>
                <a:srgbClr val="315E9D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1162050" y="5067300"/>
              <a:ext cx="552450" cy="342900"/>
            </a:xfrm>
            <a:prstGeom prst="ellipse">
              <a:avLst/>
            </a:prstGeom>
            <a:solidFill>
              <a:srgbClr val="315E9D">
                <a:alpha val="18000"/>
              </a:srgbClr>
            </a:solidFill>
            <a:ln w="19050">
              <a:solidFill>
                <a:srgbClr val="315E9D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866775" y="4762500"/>
              <a:ext cx="628650" cy="466725"/>
            </a:xfrm>
            <a:custGeom>
              <a:avLst/>
              <a:gdLst/>
              <a:ahLst/>
              <a:cxnLst/>
              <a:rect l="l" t="t" r="r" b="b"/>
              <a:pathLst>
                <a:path w="628650" h="466725">
                  <a:moveTo>
                    <a:pt x="0" y="438150"/>
                  </a:moveTo>
                  <a:lnTo>
                    <a:pt x="628650" y="9525"/>
                  </a:lnTo>
                  <a:moveTo>
                    <a:pt x="38100" y="0"/>
                  </a:moveTo>
                  <a:lnTo>
                    <a:pt x="609600" y="466725"/>
                  </a:lnTo>
                </a:path>
              </a:pathLst>
            </a:custGeom>
            <a:noFill/>
            <a:ln w="19050">
              <a:solidFill>
                <a:schemeClr val="accent3"/>
              </a:solidFill>
              <a:custDash>
                <a:ds d="250000" sp="200000"/>
              </a:custDash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941957" y="4587875"/>
              <a:ext cx="1354836" cy="7726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相似个体</a:t>
              </a:r>
              <a:b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交叉或重现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3981450" y="5019675"/>
              <a:ext cx="352425" cy="1"/>
            </a:xfrm>
            <a:prstGeom prst="line">
              <a:avLst/>
            </a:prstGeom>
            <a:noFill/>
            <a:ln w="19050">
              <a:solidFill>
                <a:srgbClr val="596B80"/>
              </a:solidFill>
              <a:tailEnd type="arrow" w="lg" len="lg"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618482" y="4584700"/>
              <a:ext cx="2421636" cy="791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21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跨帧错配、重新编号</a:t>
              </a:r>
            </a:p>
            <a:p>
              <a:pPr algn="l">
                <a:lnSpc>
                  <a:spcPts val="3000"/>
                </a:lnSpc>
              </a:pPr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重现目标未接回原有身份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8020050" y="5019675"/>
              <a:ext cx="419100" cy="1"/>
            </a:xfrm>
            <a:prstGeom prst="line">
              <a:avLst/>
            </a:prstGeom>
            <a:noFill/>
            <a:ln w="19050">
              <a:solidFill>
                <a:srgbClr val="596B80"/>
              </a:solidFill>
              <a:tailEnd type="arrow" w="lg" len="lg"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723757" y="4584700"/>
              <a:ext cx="1621536" cy="791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身份切换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停留记录断裂</a:t>
              </a:r>
            </a:p>
          </p:txBody>
        </p:sp>
      </p:grpSp>
      <p:grpSp>
        <p:nvGrpSpPr>
          <p:cNvPr id="38" name="application-requirement"/>
          <p:cNvGrpSpPr/>
          <p:nvPr/>
        </p:nvGrpSpPr>
        <p:grpSpPr>
          <a:xfrm>
            <a:off x="598932" y="5775325"/>
            <a:ext cx="7936992" cy="410718"/>
            <a:chOff x="598932" y="5775325"/>
            <a:chExt cx="7936992" cy="410718"/>
          </a:xfrm>
        </p:grpSpPr>
        <p:sp>
          <p:nvSpPr>
            <p:cNvPr id="37" name="TextBox 37"/>
            <p:cNvSpPr txBox="1"/>
            <p:nvPr/>
          </p:nvSpPr>
          <p:spPr>
            <a:xfrm>
              <a:off x="598932" y="5775325"/>
              <a:ext cx="793699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连续个体分析需要同时检验：帧内观测、区域质量与跨帧身份。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603504" y="6410325"/>
            <a:ext cx="10984992" cy="234696"/>
            <a:chOff x="603504" y="6410325"/>
            <a:chExt cx="10984992" cy="234696"/>
          </a:xfrm>
        </p:grpSpPr>
        <p:sp>
          <p:nvSpPr>
            <p:cNvPr id="39" name="TextBox 39"/>
            <p:cNvSpPr txBox="1"/>
            <p:nvPr/>
          </p:nvSpPr>
          <p:spPr>
            <a:xfrm>
              <a:off x="603504" y="6410325"/>
              <a:ext cx="60967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机制示意；参考：ByteTrack（2022）、DanceTrack（2022）、OC-SORT（2023）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035132" y="64103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15925"/>
            <a:ext cx="6896100" cy="964565"/>
            <a:chOff x="594360" y="415925"/>
            <a:chExt cx="6896100" cy="964565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15925"/>
              <a:ext cx="12162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 研究背景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93750"/>
              <a:ext cx="68961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现有技术已支持检测、分割与视频跟踪</a:t>
              </a:r>
            </a:p>
          </p:txBody>
        </p:sp>
      </p:grpSp>
      <p:grpSp>
        <p:nvGrpSpPr>
          <p:cNvPr id="13" name="published-baseline"/>
          <p:cNvGrpSpPr/>
          <p:nvPr/>
        </p:nvGrpSpPr>
        <p:grpSpPr>
          <a:xfrm>
            <a:off x="609600" y="1743075"/>
            <a:ext cx="4695825" cy="3238500"/>
            <a:chOff x="609600" y="1743075"/>
            <a:chExt cx="4695825" cy="3238500"/>
          </a:xfrm>
        </p:grpSpPr>
        <p:sp>
          <p:nvSpPr>
            <p:cNvPr id="5" name="Rectangle 5"/>
            <p:cNvSpPr/>
            <p:nvPr/>
          </p:nvSpPr>
          <p:spPr>
            <a:xfrm>
              <a:off x="609600" y="1743075"/>
              <a:ext cx="4695825" cy="3238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5632" y="1936750"/>
              <a:ext cx="20511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YOLO26m-seg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67918" y="2339975"/>
              <a:ext cx="30510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COCO val2017，输入尺寸 640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57250" y="2851150"/>
              <a:ext cx="1717350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52.5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133725" y="2851150"/>
              <a:ext cx="1717350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44.1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84682" y="3717925"/>
              <a:ext cx="91286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Box AP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161157" y="3717925"/>
              <a:ext cx="112600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Mask AP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7918" y="4445000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官方帧内评价，不包含跨帧身份指标</a:t>
              </a:r>
            </a:p>
          </p:txBody>
        </p:sp>
      </p:grpSp>
      <p:grpSp>
        <p:nvGrpSpPr>
          <p:cNvPr id="16" name="frame-perception"/>
          <p:cNvGrpSpPr/>
          <p:nvPr/>
        </p:nvGrpSpPr>
        <p:grpSpPr>
          <a:xfrm>
            <a:off x="5798058" y="1784350"/>
            <a:ext cx="3352419" cy="830707"/>
            <a:chOff x="5798058" y="1784350"/>
            <a:chExt cx="3352419" cy="830707"/>
          </a:xfrm>
        </p:grpSpPr>
        <p:sp>
          <p:nvSpPr>
            <p:cNvPr id="14" name="TextBox 14"/>
            <p:cNvSpPr txBox="1"/>
            <p:nvPr/>
          </p:nvSpPr>
          <p:spPr>
            <a:xfrm>
              <a:off x="5798058" y="1784350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检测与分割一体化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801868" y="2292350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统一输出类别、位置和实例掩码。</a:t>
              </a:r>
            </a:p>
          </p:txBody>
        </p:sp>
      </p:grpSp>
      <p:grpSp>
        <p:nvGrpSpPr>
          <p:cNvPr id="19" name="tracking-progress"/>
          <p:cNvGrpSpPr/>
          <p:nvPr/>
        </p:nvGrpSpPr>
        <p:grpSpPr>
          <a:xfrm>
            <a:off x="5798058" y="2946400"/>
            <a:ext cx="3656267" cy="1084707"/>
            <a:chOff x="5798058" y="2946400"/>
            <a:chExt cx="3656267" cy="1084707"/>
          </a:xfrm>
        </p:grpSpPr>
        <p:sp>
          <p:nvSpPr>
            <p:cNvPr id="17" name="TextBox 17"/>
            <p:cNvSpPr txBox="1"/>
            <p:nvPr/>
          </p:nvSpPr>
          <p:spPr>
            <a:xfrm>
              <a:off x="5798058" y="2946400"/>
              <a:ext cx="3255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低分框关联与运动纠偏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801868" y="3422650"/>
              <a:ext cx="3652457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ByteTrack / OC-SORT：缓解低分漏检</a:t>
              </a:r>
              <a:b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和遮挡期间的运动预测偏差。</a:t>
              </a:r>
            </a:p>
          </p:txBody>
        </p:sp>
      </p:grpSp>
      <p:grpSp>
        <p:nvGrpSpPr>
          <p:cNvPr id="22" name="video-foundation-model"/>
          <p:cNvGrpSpPr/>
          <p:nvPr/>
        </p:nvGrpSpPr>
        <p:grpSpPr>
          <a:xfrm>
            <a:off x="5798058" y="4203700"/>
            <a:ext cx="3986098" cy="811657"/>
            <a:chOff x="5798058" y="4203700"/>
            <a:chExt cx="3986098" cy="811657"/>
          </a:xfrm>
        </p:grpSpPr>
        <p:sp>
          <p:nvSpPr>
            <p:cNvPr id="20" name="TextBox 20"/>
            <p:cNvSpPr txBox="1"/>
            <p:nvPr/>
          </p:nvSpPr>
          <p:spPr>
            <a:xfrm>
              <a:off x="5798058" y="4203700"/>
              <a:ext cx="357835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概念驱动的视频分割跟踪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801868" y="4692650"/>
              <a:ext cx="398228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SAM 3：基于概念提示输出实例及身份。</a:t>
              </a:r>
            </a:p>
          </p:txBody>
        </p:sp>
      </p:grpSp>
      <p:grpSp>
        <p:nvGrpSpPr>
          <p:cNvPr id="26" name="metric-boundary"/>
          <p:cNvGrpSpPr/>
          <p:nvPr/>
        </p:nvGrpSpPr>
        <p:grpSpPr>
          <a:xfrm>
            <a:off x="597408" y="5362575"/>
            <a:ext cx="10984992" cy="881507"/>
            <a:chOff x="597408" y="5362575"/>
            <a:chExt cx="10984992" cy="881507"/>
          </a:xfrm>
        </p:grpSpPr>
        <p:sp>
          <p:nvSpPr>
            <p:cNvPr id="23" name="Line 23"/>
            <p:cNvSpPr/>
            <p:nvPr/>
          </p:nvSpPr>
          <p:spPr>
            <a:xfrm>
              <a:off x="609600" y="53625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97408" y="5518150"/>
              <a:ext cx="838785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单帧 AP 评价定位与分割，连续身份需要独立的关联评价。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01218" y="5921375"/>
              <a:ext cx="60140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密集遮挡中的漏检、错配与身份中断，仍需按具体场景检验。</a:t>
              </a:r>
            </a:p>
          </p:txBody>
        </p:sp>
      </p:grpSp>
      <p:grpSp>
        <p:nvGrpSpPr>
          <p:cNvPr id="29" name="footer"/>
          <p:cNvGrpSpPr/>
          <p:nvPr/>
        </p:nvGrpSpPr>
        <p:grpSpPr>
          <a:xfrm>
            <a:off x="603504" y="6410325"/>
            <a:ext cx="10984992" cy="234696"/>
            <a:chOff x="603504" y="6410325"/>
            <a:chExt cx="10984992" cy="234696"/>
          </a:xfrm>
        </p:grpSpPr>
        <p:sp>
          <p:nvSpPr>
            <p:cNvPr id="27" name="TextBox 27"/>
            <p:cNvSpPr txBox="1"/>
            <p:nvPr/>
          </p:nvSpPr>
          <p:spPr>
            <a:xfrm>
              <a:off x="603504" y="6410325"/>
              <a:ext cx="61619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参考：Ultralytics YOLO26；ByteTrack；OC-SORT；SAM 3；HOTA（IJCV 2021）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035132" y="64103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15925"/>
            <a:ext cx="6492240" cy="964565"/>
            <a:chOff x="594360" y="415925"/>
            <a:chExt cx="6492240" cy="964565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15925"/>
              <a:ext cx="28044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 研究背景 · 视频连续身份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93750"/>
              <a:ext cx="64922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遮挡后重新检出，仍需恢复原有身份</a:t>
              </a:r>
            </a:p>
          </p:txBody>
        </p:sp>
      </p:grpSp>
      <p:grpSp>
        <p:nvGrpSpPr>
          <p:cNvPr id="12" name="observed-before"/>
          <p:cNvGrpSpPr/>
          <p:nvPr/>
        </p:nvGrpSpPr>
        <p:grpSpPr>
          <a:xfrm>
            <a:off x="597408" y="1765300"/>
            <a:ext cx="3155442" cy="2850007"/>
            <a:chOff x="597408" y="1765300"/>
            <a:chExt cx="3155442" cy="2850007"/>
          </a:xfrm>
        </p:grpSpPr>
        <p:sp>
          <p:nvSpPr>
            <p:cNvPr id="5" name="TextBox 5"/>
            <p:cNvSpPr txBox="1"/>
            <p:nvPr/>
          </p:nvSpPr>
          <p:spPr>
            <a:xfrm>
              <a:off x="597408" y="1765300"/>
              <a:ext cx="99364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遮挡前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609600" y="2314575"/>
              <a:ext cx="3143250" cy="1752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009650" y="2714625"/>
              <a:ext cx="971550" cy="533400"/>
            </a:xfrm>
            <a:prstGeom prst="ellipse">
              <a:avLst/>
            </a:prstGeom>
            <a:solidFill>
              <a:srgbClr val="315E9D">
                <a:alpha val="18000"/>
              </a:srgbClr>
            </a:solidFill>
            <a:ln w="19050">
              <a:solidFill>
                <a:srgbClr val="315E9D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2295525" y="3219450"/>
              <a:ext cx="971550" cy="533400"/>
            </a:xfrm>
            <a:prstGeom prst="ellipse">
              <a:avLst/>
            </a:prstGeom>
            <a:solidFill>
              <a:srgbClr val="315E9D">
                <a:alpha val="18000"/>
              </a:srgbClr>
            </a:solidFill>
            <a:ln w="19050">
              <a:solidFill>
                <a:srgbClr val="315E9D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06043" y="2482850"/>
              <a:ext cx="4157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ID A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572893" y="2949575"/>
              <a:ext cx="4157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ID B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1218" y="4292600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已有位置、外观与历史轨迹</a:t>
              </a:r>
            </a:p>
          </p:txBody>
        </p:sp>
      </p:grpSp>
      <p:grpSp>
        <p:nvGrpSpPr>
          <p:cNvPr id="19" name="unobserved-interval"/>
          <p:cNvGrpSpPr/>
          <p:nvPr/>
        </p:nvGrpSpPr>
        <p:grpSpPr>
          <a:xfrm>
            <a:off x="4512183" y="1765300"/>
            <a:ext cx="3155442" cy="2850007"/>
            <a:chOff x="4512183" y="1765300"/>
            <a:chExt cx="3155442" cy="2850007"/>
          </a:xfrm>
        </p:grpSpPr>
        <p:sp>
          <p:nvSpPr>
            <p:cNvPr id="13" name="TextBox 13"/>
            <p:cNvSpPr txBox="1"/>
            <p:nvPr/>
          </p:nvSpPr>
          <p:spPr>
            <a:xfrm>
              <a:off x="4512183" y="176530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不可见期间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524375" y="2314575"/>
              <a:ext cx="3143250" cy="1752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105400" y="2571750"/>
              <a:ext cx="1981200" cy="12382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519928" y="288925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遮挡区域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421249" y="3302000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缺少当前观测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15993" y="4292600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保留轨迹状态并预测可能位置</a:t>
              </a:r>
            </a:p>
          </p:txBody>
        </p:sp>
      </p:grpSp>
      <p:grpSp>
        <p:nvGrpSpPr>
          <p:cNvPr id="27" name="reappearance"/>
          <p:cNvGrpSpPr/>
          <p:nvPr/>
        </p:nvGrpSpPr>
        <p:grpSpPr>
          <a:xfrm>
            <a:off x="8426958" y="1765300"/>
            <a:ext cx="3155442" cy="2850007"/>
            <a:chOff x="8426958" y="1765300"/>
            <a:chExt cx="3155442" cy="2850007"/>
          </a:xfrm>
        </p:grpSpPr>
        <p:sp>
          <p:nvSpPr>
            <p:cNvPr id="20" name="TextBox 20"/>
            <p:cNvSpPr txBox="1"/>
            <p:nvPr/>
          </p:nvSpPr>
          <p:spPr>
            <a:xfrm>
              <a:off x="8426958" y="176530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重新可见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439150" y="2314575"/>
              <a:ext cx="3143250" cy="1752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8858250" y="3209925"/>
              <a:ext cx="971550" cy="533400"/>
            </a:xfrm>
            <a:prstGeom prst="ellipse">
              <a:avLst/>
            </a:prstGeom>
            <a:solidFill>
              <a:srgbClr val="315E9D">
                <a:alpha val="18000"/>
              </a:srgbClr>
            </a:solidFill>
            <a:ln w="19050">
              <a:solidFill>
                <a:srgbClr val="315E9D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10144125" y="2714625"/>
              <a:ext cx="971550" cy="533400"/>
            </a:xfrm>
            <a:prstGeom prst="ellipse">
              <a:avLst/>
            </a:prstGeom>
            <a:solidFill>
              <a:srgbClr val="315E9D">
                <a:alpha val="18000"/>
              </a:srgbClr>
            </a:solidFill>
            <a:ln w="19050">
              <a:solidFill>
                <a:srgbClr val="315E9D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040368" y="2940050"/>
              <a:ext cx="4356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ID ?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326243" y="2454275"/>
              <a:ext cx="4356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ID ?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430768" y="4292600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重新检出后，与历史身份重关联</a:t>
              </a:r>
            </a:p>
          </p:txBody>
        </p:sp>
      </p:grpSp>
      <p:grpSp>
        <p:nvGrpSpPr>
          <p:cNvPr id="29" name="flow-to-occlusion"/>
          <p:cNvGrpSpPr/>
          <p:nvPr/>
        </p:nvGrpSpPr>
        <p:grpSpPr>
          <a:xfrm>
            <a:off x="3924300" y="3190875"/>
            <a:ext cx="419100" cy="1"/>
            <a:chOff x="3924300" y="3190875"/>
            <a:chExt cx="419100" cy="1"/>
          </a:xfrm>
        </p:grpSpPr>
        <p:sp>
          <p:nvSpPr>
            <p:cNvPr id="28" name="Line 28"/>
            <p:cNvSpPr/>
            <p:nvPr/>
          </p:nvSpPr>
          <p:spPr>
            <a:xfrm>
              <a:off x="3924300" y="3190875"/>
              <a:ext cx="419100" cy="1"/>
            </a:xfrm>
            <a:prstGeom prst="line">
              <a:avLst/>
            </a:prstGeom>
            <a:noFill/>
            <a:ln w="19050">
              <a:solidFill>
                <a:srgbClr val="596B80"/>
              </a:solidFill>
              <a:tailEnd type="arrow" w="lg" len="lg"/>
            </a:ln>
          </p:spPr>
        </p:sp>
      </p:grpSp>
      <p:grpSp>
        <p:nvGrpSpPr>
          <p:cNvPr id="31" name="flow-to-reappearance"/>
          <p:cNvGrpSpPr/>
          <p:nvPr/>
        </p:nvGrpSpPr>
        <p:grpSpPr>
          <a:xfrm>
            <a:off x="7839075" y="3190875"/>
            <a:ext cx="419100" cy="1"/>
            <a:chOff x="7839075" y="3190875"/>
            <a:chExt cx="419100" cy="1"/>
          </a:xfrm>
        </p:grpSpPr>
        <p:sp>
          <p:nvSpPr>
            <p:cNvPr id="30" name="Line 30"/>
            <p:cNvSpPr/>
            <p:nvPr/>
          </p:nvSpPr>
          <p:spPr>
            <a:xfrm>
              <a:off x="7839075" y="3190875"/>
              <a:ext cx="419100" cy="1"/>
            </a:xfrm>
            <a:prstGeom prst="line">
              <a:avLst/>
            </a:prstGeom>
            <a:noFill/>
            <a:ln w="19050">
              <a:solidFill>
                <a:srgbClr val="596B80"/>
              </a:solidFill>
              <a:tailEnd type="arrow" w="lg" len="lg"/>
            </a:ln>
          </p:spPr>
        </p:sp>
      </p:grpSp>
      <p:grpSp>
        <p:nvGrpSpPr>
          <p:cNvPr id="35" name="recovery-condition"/>
          <p:cNvGrpSpPr/>
          <p:nvPr/>
        </p:nvGrpSpPr>
        <p:grpSpPr>
          <a:xfrm>
            <a:off x="597408" y="4962525"/>
            <a:ext cx="10984992" cy="1061593"/>
            <a:chOff x="597408" y="4962525"/>
            <a:chExt cx="10984992" cy="1061593"/>
          </a:xfrm>
        </p:grpSpPr>
        <p:sp>
          <p:nvSpPr>
            <p:cNvPr id="32" name="Line 32"/>
            <p:cNvSpPr/>
            <p:nvPr/>
          </p:nvSpPr>
          <p:spPr>
            <a:xfrm>
              <a:off x="609600" y="49625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97408" y="5137150"/>
              <a:ext cx="755556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正确恢复需要“再次检出”与“原身份续接”同时成立。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98932" y="5613400"/>
              <a:ext cx="68061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长时无观测、复杂运动与相似外观共同增加关联歧义。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603504" y="6410325"/>
            <a:ext cx="10984992" cy="234696"/>
            <a:chOff x="603504" y="6410325"/>
            <a:chExt cx="10984992" cy="234696"/>
          </a:xfrm>
        </p:grpSpPr>
        <p:sp>
          <p:nvSpPr>
            <p:cNvPr id="36" name="TextBox 36"/>
            <p:cNvSpPr txBox="1"/>
            <p:nvPr/>
          </p:nvSpPr>
          <p:spPr>
            <a:xfrm>
              <a:off x="603504" y="6410325"/>
              <a:ext cx="60541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机制示意；参考：OC-SORT（2023）、DanceTrack（2022）、SAM2Long（2025）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035132" y="64103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15925"/>
            <a:ext cx="7299960" cy="964565"/>
            <a:chOff x="594360" y="415925"/>
            <a:chExt cx="7299960" cy="964565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15925"/>
              <a:ext cx="23601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 研究背景 · 工程部署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93750"/>
              <a:ext cx="72999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连续视频部署需要兼顾稳定性与响应时延</a:t>
              </a:r>
            </a:p>
          </p:txBody>
        </p:sp>
      </p:grpSp>
      <p:grpSp>
        <p:nvGrpSpPr>
          <p:cNvPr id="8" name="decision-columns"/>
          <p:cNvGrpSpPr/>
          <p:nvPr/>
        </p:nvGrpSpPr>
        <p:grpSpPr>
          <a:xfrm>
            <a:off x="601218" y="1711325"/>
            <a:ext cx="9573006" cy="322707"/>
            <a:chOff x="601218" y="1711325"/>
            <a:chExt cx="9573006" cy="322707"/>
          </a:xfrm>
        </p:grpSpPr>
        <p:sp>
          <p:nvSpPr>
            <p:cNvPr id="5" name="TextBox 5"/>
            <p:cNvSpPr txBox="1"/>
            <p:nvPr/>
          </p:nvSpPr>
          <p:spPr>
            <a:xfrm>
              <a:off x="601218" y="171132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工程决策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753993" y="1711325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收益与代价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268968" y="171132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部署评价</a:t>
              </a:r>
            </a:p>
          </p:txBody>
        </p:sp>
      </p:grpSp>
      <p:grpSp>
        <p:nvGrpSpPr>
          <p:cNvPr id="13" name="confirmation-latency"/>
          <p:cNvGrpSpPr/>
          <p:nvPr/>
        </p:nvGrpSpPr>
        <p:grpSpPr>
          <a:xfrm>
            <a:off x="597408" y="2219325"/>
            <a:ext cx="9945624" cy="881507"/>
            <a:chOff x="597408" y="2219325"/>
            <a:chExt cx="9945624" cy="881507"/>
          </a:xfrm>
        </p:grpSpPr>
        <p:sp>
          <p:nvSpPr>
            <p:cNvPr id="9" name="TextBox 9"/>
            <p:cNvSpPr txBox="1"/>
            <p:nvPr/>
          </p:nvSpPr>
          <p:spPr>
            <a:xfrm>
              <a:off x="597408" y="226060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输出确认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1218" y="2778125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连续观测后再激活轨迹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751707" y="2219325"/>
              <a:ext cx="2688336" cy="8202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225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减少短暂虚假目标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确认等待增加响应时延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268968" y="2244725"/>
              <a:ext cx="1274064" cy="6941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25"/>
                </a:lnSpc>
              </a:pPr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虚假轨迹数量</a:t>
              </a:r>
              <a:b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首次确认时延</a:t>
              </a:r>
            </a:p>
          </p:txBody>
        </p:sp>
      </p:grpSp>
      <p:grpSp>
        <p:nvGrpSpPr>
          <p:cNvPr id="19" name="retention-cost"/>
          <p:cNvGrpSpPr/>
          <p:nvPr/>
        </p:nvGrpSpPr>
        <p:grpSpPr>
          <a:xfrm>
            <a:off x="597408" y="3352800"/>
            <a:ext cx="10984992" cy="967232"/>
            <a:chOff x="597408" y="3352800"/>
            <a:chExt cx="10984992" cy="967232"/>
          </a:xfrm>
        </p:grpSpPr>
        <p:sp>
          <p:nvSpPr>
            <p:cNvPr id="14" name="Line 14"/>
            <p:cNvSpPr/>
            <p:nvPr/>
          </p:nvSpPr>
          <p:spPr>
            <a:xfrm>
              <a:off x="609600" y="3352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97408" y="347980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轨迹保留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01218" y="3997325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等待遮挡目标重新出现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751707" y="3438525"/>
              <a:ext cx="4555236" cy="8202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225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延长可尝试重关联的时间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资源增加，外观变化仍可能使匹配失败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268968" y="3463925"/>
              <a:ext cx="1483614" cy="6941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25"/>
                </a:lnSpc>
              </a:pPr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正确续接与误连</a:t>
              </a:r>
              <a:b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内存及计算开销</a:t>
              </a:r>
            </a:p>
          </p:txBody>
        </p:sp>
      </p:grpSp>
      <p:grpSp>
        <p:nvGrpSpPr>
          <p:cNvPr id="25" name="pipeline-capacity"/>
          <p:cNvGrpSpPr/>
          <p:nvPr/>
        </p:nvGrpSpPr>
        <p:grpSpPr>
          <a:xfrm>
            <a:off x="597408" y="4572000"/>
            <a:ext cx="10984992" cy="967232"/>
            <a:chOff x="597408" y="4572000"/>
            <a:chExt cx="10984992" cy="967232"/>
          </a:xfrm>
        </p:grpSpPr>
        <p:sp>
          <p:nvSpPr>
            <p:cNvPr id="20" name="Line 20"/>
            <p:cNvSpPr/>
            <p:nvPr/>
          </p:nvSpPr>
          <p:spPr>
            <a:xfrm>
              <a:off x="609600" y="4572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97408" y="469900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处理规模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01218" y="5216525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多路视频与更多目标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751707" y="4657725"/>
              <a:ext cx="4021836" cy="8202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225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检测、分割、关联共同占用预算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高吞吐不能直接保证低端到端时延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268968" y="4683125"/>
              <a:ext cx="2112264" cy="6941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25"/>
                </a:lnSpc>
              </a:pPr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吞吐、时延与掉帧</a:t>
              </a:r>
              <a:b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并发容量与运行稳定性</a:t>
              </a:r>
            </a:p>
          </p:txBody>
        </p:sp>
      </p:grpSp>
      <p:grpSp>
        <p:nvGrpSpPr>
          <p:cNvPr id="27" name="state-semantics"/>
          <p:cNvGrpSpPr/>
          <p:nvPr/>
        </p:nvGrpSpPr>
        <p:grpSpPr>
          <a:xfrm>
            <a:off x="601218" y="5854700"/>
            <a:ext cx="8013192" cy="322707"/>
            <a:chOff x="601218" y="5854700"/>
            <a:chExt cx="8013192" cy="322707"/>
          </a:xfrm>
        </p:grpSpPr>
        <p:sp>
          <p:nvSpPr>
            <p:cNvPr id="26" name="TextBox 26"/>
            <p:cNvSpPr txBox="1"/>
            <p:nvPr/>
          </p:nvSpPr>
          <p:spPr>
            <a:xfrm>
              <a:off x="601218" y="5854700"/>
              <a:ext cx="80131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统计口径：当前可见个体与丢失期间的预测轨迹分别记录，避免把预测当作观测。</a:t>
              </a:r>
            </a:p>
          </p:txBody>
        </p:sp>
      </p:grpSp>
      <p:grpSp>
        <p:nvGrpSpPr>
          <p:cNvPr id="30" name="footer"/>
          <p:cNvGrpSpPr/>
          <p:nvPr/>
        </p:nvGrpSpPr>
        <p:grpSpPr>
          <a:xfrm>
            <a:off x="603504" y="6410325"/>
            <a:ext cx="10984992" cy="234696"/>
            <a:chOff x="603504" y="6410325"/>
            <a:chExt cx="10984992" cy="234696"/>
          </a:xfrm>
        </p:grpSpPr>
        <p:sp>
          <p:nvSpPr>
            <p:cNvPr id="28" name="TextBox 28"/>
            <p:cNvSpPr txBox="1"/>
            <p:nvPr/>
          </p:nvSpPr>
          <p:spPr>
            <a:xfrm>
              <a:off x="603504" y="6410325"/>
              <a:ext cx="55143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依据：NVIDIA DeepStream 跟踪器、Accuracy 与 OpenTelemetry 官方文档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035132" y="64103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15925"/>
            <a:ext cx="5684520" cy="964565"/>
            <a:chOff x="594360" y="415925"/>
            <a:chExt cx="5684520" cy="964565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15925"/>
              <a:ext cx="23268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02 研究现状与关键问题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93750"/>
              <a:ext cx="56845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密集目标检测中的候选选择研究</a:t>
              </a:r>
            </a:p>
          </p:txBody>
        </p:sp>
      </p:grpSp>
      <p:grpSp>
        <p:nvGrpSpPr>
          <p:cNvPr id="24" name="prior-work-path"/>
          <p:cNvGrpSpPr/>
          <p:nvPr/>
        </p:nvGrpSpPr>
        <p:grpSpPr>
          <a:xfrm>
            <a:off x="590550" y="1746250"/>
            <a:ext cx="10706100" cy="2928493"/>
            <a:chOff x="590550" y="1746250"/>
            <a:chExt cx="10706100" cy="2928493"/>
          </a:xfrm>
        </p:grpSpPr>
        <p:sp>
          <p:nvSpPr>
            <p:cNvPr id="5" name="Line 5"/>
            <p:cNvSpPr/>
            <p:nvPr/>
          </p:nvSpPr>
          <p:spPr>
            <a:xfrm>
              <a:off x="771525" y="2695575"/>
              <a:ext cx="10525125" cy="9525"/>
            </a:xfrm>
            <a:custGeom>
              <a:avLst/>
              <a:gdLst/>
              <a:ahLst/>
              <a:cxnLst/>
              <a:rect l="l" t="t" r="r" b="b"/>
              <a:pathLst>
                <a:path w="10525125" h="9525">
                  <a:moveTo>
                    <a:pt x="0" y="0"/>
                  </a:moveTo>
                  <a:lnTo>
                    <a:pt x="10525125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grpSp>
          <p:nvGrpSpPr>
            <p:cNvPr id="11" name="adaptive-nms"/>
            <p:cNvGrpSpPr/>
            <p:nvPr/>
          </p:nvGrpSpPr>
          <p:grpSpPr>
            <a:xfrm>
              <a:off x="590550" y="1746250"/>
              <a:ext cx="2430018" cy="2928493"/>
              <a:chOff x="590550" y="1746250"/>
              <a:chExt cx="2430018" cy="2928493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590550" y="1746250"/>
                <a:ext cx="1344183" cy="819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4200" b="1" dirty="0">
                    <a:solidFill>
                      <a:srgbClr val="315E9D"/>
                    </a:solidFill>
                    <a:latin typeface="+mn-lt"/>
                    <a:ea typeface="+mn-ea"/>
                    <a:cs typeface="+mn-cs"/>
                  </a:rPr>
                  <a:t>2019</a:t>
                </a:r>
              </a:p>
            </p:txBody>
          </p:sp>
          <p:sp>
            <p:nvSpPr>
              <p:cNvPr id="7" name="Ellipse 7"/>
              <p:cNvSpPr/>
              <p:nvPr/>
            </p:nvSpPr>
            <p:spPr>
              <a:xfrm>
                <a:off x="704850" y="2628900"/>
                <a:ext cx="133350" cy="133350"/>
              </a:xfrm>
              <a:prstGeom prst="ellipse">
                <a:avLst/>
              </a:prstGeom>
              <a:solidFill>
                <a:srgbClr val="315E9D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598932" y="2955925"/>
                <a:ext cx="192990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Adaptive NMS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601218" y="3406775"/>
                <a:ext cx="157162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密度自适应抑制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598932" y="3844925"/>
                <a:ext cx="2421636" cy="8298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3300"/>
                  </a:lnSpc>
                </a:pPr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局部密度调整阈值</a:t>
                </a:r>
                <a:b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缓解相邻行人误抑制</a:t>
                </a:r>
              </a:p>
            </p:txBody>
          </p:sp>
        </p:grpSp>
        <p:grpSp>
          <p:nvGrpSpPr>
            <p:cNvPr id="17" name="crowddet"/>
            <p:cNvGrpSpPr/>
            <p:nvPr/>
          </p:nvGrpSpPr>
          <p:grpSpPr>
            <a:xfrm>
              <a:off x="4391025" y="1746250"/>
              <a:ext cx="2470785" cy="2928493"/>
              <a:chOff x="4391025" y="1746250"/>
              <a:chExt cx="2470785" cy="2928493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4391025" y="1746250"/>
                <a:ext cx="1344183" cy="819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4200" b="1" dirty="0">
                    <a:solidFill>
                      <a:srgbClr val="315E9D"/>
                    </a:solidFill>
                    <a:latin typeface="+mn-lt"/>
                    <a:ea typeface="+mn-ea"/>
                    <a:cs typeface="+mn-cs"/>
                  </a:rPr>
                  <a:t>2020</a:t>
                </a:r>
              </a:p>
            </p:txBody>
          </p:sp>
          <p:sp>
            <p:nvSpPr>
              <p:cNvPr id="13" name="Ellipse 13"/>
              <p:cNvSpPr/>
              <p:nvPr/>
            </p:nvSpPr>
            <p:spPr>
              <a:xfrm>
                <a:off x="4505325" y="2628900"/>
                <a:ext cx="133350" cy="133350"/>
              </a:xfrm>
              <a:prstGeom prst="ellipse">
                <a:avLst/>
              </a:prstGeom>
              <a:solidFill>
                <a:srgbClr val="315E9D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4399407" y="2955925"/>
                <a:ext cx="1406109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CrowdDet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401693" y="3406775"/>
                <a:ext cx="246011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单候选区域的多实例预测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399407" y="3844925"/>
                <a:ext cx="2448306" cy="8298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3300"/>
                  </a:lnSpc>
                </a:pPr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缓解高重叠目标冲突</a:t>
                </a:r>
                <a:b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集合损失与 Set NMS</a:t>
                </a:r>
              </a:p>
            </p:txBody>
          </p:sp>
        </p:grpSp>
        <p:grpSp>
          <p:nvGrpSpPr>
            <p:cNvPr id="23" name="ddq"/>
            <p:cNvGrpSpPr/>
            <p:nvPr/>
          </p:nvGrpSpPr>
          <p:grpSpPr>
            <a:xfrm>
              <a:off x="8191500" y="1746250"/>
              <a:ext cx="2248662" cy="2928493"/>
              <a:chOff x="8191500" y="1746250"/>
              <a:chExt cx="2248662" cy="2928493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8191500" y="1746250"/>
                <a:ext cx="1344183" cy="819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4200" b="1" dirty="0">
                    <a:solidFill>
                      <a:srgbClr val="315E9D"/>
                    </a:solidFill>
                    <a:latin typeface="+mn-lt"/>
                    <a:ea typeface="+mn-ea"/>
                    <a:cs typeface="+mn-cs"/>
                  </a:rPr>
                  <a:t>2023</a:t>
                </a:r>
              </a:p>
            </p:txBody>
          </p:sp>
          <p:sp>
            <p:nvSpPr>
              <p:cNvPr id="19" name="Ellipse 19"/>
              <p:cNvSpPr/>
              <p:nvPr/>
            </p:nvSpPr>
            <p:spPr>
              <a:xfrm>
                <a:off x="8305800" y="2628900"/>
                <a:ext cx="133350" cy="133350"/>
              </a:xfrm>
              <a:prstGeom prst="ellipse">
                <a:avLst/>
              </a:prstGeom>
              <a:solidFill>
                <a:srgbClr val="315E9D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8199882" y="2955925"/>
                <a:ext cx="601569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DDQ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202168" y="3406775"/>
                <a:ext cx="223799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密集且有区分度的查询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199882" y="3844925"/>
                <a:ext cx="1888236" cy="8298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3300"/>
                  </a:lnSpc>
                </a:pPr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兼顾候选召回</a:t>
                </a:r>
                <a:b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与查询冗余控制</a:t>
                </a:r>
              </a:p>
            </p:txBody>
          </p:sp>
        </p:grpSp>
      </p:grpSp>
      <p:grpSp>
        <p:nvGrpSpPr>
          <p:cNvPr id="28" name="specific-gap"/>
          <p:cNvGrpSpPr/>
          <p:nvPr/>
        </p:nvGrpSpPr>
        <p:grpSpPr>
          <a:xfrm>
            <a:off x="609600" y="5162550"/>
            <a:ext cx="10972800" cy="866775"/>
            <a:chOff x="609600" y="5162550"/>
            <a:chExt cx="10972800" cy="866775"/>
          </a:xfrm>
        </p:grpSpPr>
        <p:sp>
          <p:nvSpPr>
            <p:cNvPr id="25" name="Rectangle 25"/>
            <p:cNvSpPr/>
            <p:nvPr/>
          </p:nvSpPr>
          <p:spPr>
            <a:xfrm>
              <a:off x="609600" y="5162550"/>
              <a:ext cx="10972800" cy="8667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27532" y="5289550"/>
              <a:ext cx="68061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研究进展：由局部抑制扩展到集合预测与查询去冗余。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9818" y="5673725"/>
              <a:ext cx="69025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本课题关注：完整候选、局部片段与邻接个体共存时的实例对应歧义。</a:t>
              </a:r>
            </a:p>
          </p:txBody>
        </p:sp>
      </p:grpSp>
      <p:grpSp>
        <p:nvGrpSpPr>
          <p:cNvPr id="31" name="footer"/>
          <p:cNvGrpSpPr/>
          <p:nvPr/>
        </p:nvGrpSpPr>
        <p:grpSpPr>
          <a:xfrm>
            <a:off x="603504" y="6410325"/>
            <a:ext cx="10984992" cy="234696"/>
            <a:chOff x="603504" y="6410325"/>
            <a:chExt cx="10984992" cy="234696"/>
          </a:xfrm>
        </p:grpSpPr>
        <p:sp>
          <p:nvSpPr>
            <p:cNvPr id="29" name="TextBox 29"/>
            <p:cNvSpPr txBox="1"/>
            <p:nvPr/>
          </p:nvSpPr>
          <p:spPr>
            <a:xfrm>
              <a:off x="603504" y="6410325"/>
              <a:ext cx="63039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参考：Adaptive NMS（CVPR 2019）；CrowdDet（CVPR 2020）；DDQ（CVPR 2023）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035132" y="64103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15925"/>
            <a:ext cx="6492240" cy="964565"/>
            <a:chOff x="594360" y="415925"/>
            <a:chExt cx="6492240" cy="964565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15925"/>
              <a:ext cx="23268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02 研究现状与关键问题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93750"/>
              <a:ext cx="64922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难点一：实例对应歧义与检出完整性</a:t>
              </a:r>
            </a:p>
          </p:txBody>
        </p:sp>
      </p:grpSp>
      <p:grpSp>
        <p:nvGrpSpPr>
          <p:cNvPr id="13" name="different-overlapping"/>
          <p:cNvGrpSpPr/>
          <p:nvPr/>
        </p:nvGrpSpPr>
        <p:grpSpPr>
          <a:xfrm>
            <a:off x="597408" y="1755775"/>
            <a:ext cx="3980688" cy="3096768"/>
            <a:chOff x="597408" y="1755775"/>
            <a:chExt cx="3980688" cy="3096768"/>
          </a:xfrm>
        </p:grpSpPr>
        <p:sp>
          <p:nvSpPr>
            <p:cNvPr id="5" name="TextBox 5"/>
            <p:cNvSpPr txBox="1"/>
            <p:nvPr/>
          </p:nvSpPr>
          <p:spPr>
            <a:xfrm>
              <a:off x="597408" y="1755775"/>
              <a:ext cx="3255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相邻实例的高重叠预测</a:t>
              </a:r>
            </a:p>
          </p:txBody>
        </p:sp>
        <p:sp>
          <p:nvSpPr>
            <p:cNvPr id="6" name="Ellipse 6"/>
            <p:cNvSpPr/>
            <p:nvPr/>
          </p:nvSpPr>
          <p:spPr>
            <a:xfrm>
              <a:off x="1504950" y="2505075"/>
              <a:ext cx="1847850" cy="1409700"/>
            </a:xfrm>
            <a:prstGeom prst="ellipse">
              <a:avLst/>
            </a:prstGeom>
            <a:solidFill>
              <a:srgbClr val="315E9D">
                <a:alpha val="18000"/>
              </a:srgbClr>
            </a:solidFill>
            <a:ln w="28575">
              <a:solidFill>
                <a:srgbClr val="315E9D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2457450" y="2628900"/>
              <a:ext cx="1847850" cy="1409700"/>
            </a:xfrm>
            <a:prstGeom prst="ellipse">
              <a:avLst/>
            </a:prstGeom>
            <a:solidFill>
              <a:schemeClr val="accent2">
                <a:alpha val="18000"/>
              </a:schemeClr>
            </a:solidFill>
            <a:ln w="28575">
              <a:solidFill>
                <a:schemeClr val="accent2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343025" y="2352675"/>
              <a:ext cx="2171700" cy="1657350"/>
            </a:xfrm>
            <a:prstGeom prst="rect">
              <a:avLst/>
            </a:prstGeom>
            <a:noFill/>
            <a:ln w="19050">
              <a:solidFill>
                <a:srgbClr val="315E9D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2295525" y="2486025"/>
              <a:ext cx="2171700" cy="165735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941957" y="3060700"/>
              <a:ext cx="18562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646932" y="3203575"/>
              <a:ext cx="18562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8932" y="4441825"/>
              <a:ext cx="39791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过度抑制导致相邻真实实例遗漏</a:t>
              </a:r>
            </a:p>
          </p:txBody>
        </p:sp>
      </p:grpSp>
      <p:grpSp>
        <p:nvGrpSpPr>
          <p:cNvPr id="22" name="same-fragments"/>
          <p:cNvGrpSpPr/>
          <p:nvPr/>
        </p:nvGrpSpPr>
        <p:grpSpPr>
          <a:xfrm>
            <a:off x="6331458" y="1755775"/>
            <a:ext cx="4514850" cy="3096768"/>
            <a:chOff x="6331458" y="1755775"/>
            <a:chExt cx="4514850" cy="3096768"/>
          </a:xfrm>
        </p:grpSpPr>
        <p:sp>
          <p:nvSpPr>
            <p:cNvPr id="14" name="TextBox 14"/>
            <p:cNvSpPr txBox="1"/>
            <p:nvPr/>
          </p:nvSpPr>
          <p:spPr>
            <a:xfrm>
              <a:off x="6331458" y="1755775"/>
              <a:ext cx="357835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同一实例的局部片段预测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410450" y="2514600"/>
              <a:ext cx="3162300" cy="15240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596B80"/>
              </a:solidFill>
              <a:prstDash val="lgDash"/>
            </a:ln>
          </p:spPr>
        </p:sp>
        <p:sp>
          <p:nvSpPr>
            <p:cNvPr id="16" name="Ellipse 16"/>
            <p:cNvSpPr/>
            <p:nvPr/>
          </p:nvSpPr>
          <p:spPr>
            <a:xfrm>
              <a:off x="7658100" y="2762250"/>
              <a:ext cx="1276350" cy="1028700"/>
            </a:xfrm>
            <a:prstGeom prst="ellipse">
              <a:avLst/>
            </a:prstGeom>
            <a:solidFill>
              <a:srgbClr val="315E9D">
                <a:alpha val="25000"/>
              </a:srgbClr>
            </a:solidFill>
            <a:ln w="19050">
              <a:solidFill>
                <a:srgbClr val="315E9D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9048750" y="2762250"/>
              <a:ext cx="1276350" cy="1028700"/>
            </a:xfrm>
            <a:prstGeom prst="ellipse">
              <a:avLst/>
            </a:prstGeom>
            <a:solidFill>
              <a:srgbClr val="315E9D">
                <a:alpha val="25000"/>
              </a:srgbClr>
            </a:solidFill>
            <a:ln w="19050">
              <a:solidFill>
                <a:srgbClr val="315E9D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57007" y="3117850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局部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47657" y="3117850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局部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164068" y="4083050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虚线：同一实例的可见范围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32982" y="4441825"/>
              <a:ext cx="369646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低重叠片段可能造成重复检出</a:t>
              </a:r>
            </a:p>
          </p:txBody>
        </p:sp>
      </p:grpSp>
      <p:grpSp>
        <p:nvGrpSpPr>
          <p:cNvPr id="26" name="research-question"/>
          <p:cNvGrpSpPr/>
          <p:nvPr/>
        </p:nvGrpSpPr>
        <p:grpSpPr>
          <a:xfrm>
            <a:off x="597408" y="5267325"/>
            <a:ext cx="10984992" cy="900557"/>
            <a:chOff x="597408" y="5267325"/>
            <a:chExt cx="10984992" cy="900557"/>
          </a:xfrm>
        </p:grpSpPr>
        <p:sp>
          <p:nvSpPr>
            <p:cNvPr id="23" name="Line 23"/>
            <p:cNvSpPr/>
            <p:nvPr/>
          </p:nvSpPr>
          <p:spPr>
            <a:xfrm>
              <a:off x="609600" y="52673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97408" y="5413375"/>
              <a:ext cx="648614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关键挑战：兼顾相邻实例保留与重复候选抑制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01218" y="5845175"/>
              <a:ext cx="734682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候选的可见完整性与相互关系共同影响判断，单一重叠阈值难以充分区分。</a:t>
              </a:r>
            </a:p>
          </p:txBody>
        </p:sp>
      </p:grpSp>
      <p:grpSp>
        <p:nvGrpSpPr>
          <p:cNvPr id="29" name="footer"/>
          <p:cNvGrpSpPr/>
          <p:nvPr/>
        </p:nvGrpSpPr>
        <p:grpSpPr>
          <a:xfrm>
            <a:off x="603504" y="6410325"/>
            <a:ext cx="10984992" cy="234696"/>
            <a:chOff x="603504" y="6410325"/>
            <a:chExt cx="10984992" cy="234696"/>
          </a:xfrm>
        </p:grpSpPr>
        <p:sp>
          <p:nvSpPr>
            <p:cNvPr id="27" name="TextBox 27"/>
            <p:cNvSpPr txBox="1"/>
            <p:nvPr/>
          </p:nvSpPr>
          <p:spPr>
            <a:xfrm>
              <a:off x="603504" y="641032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实例对应歧义示意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035132" y="64103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15925"/>
            <a:ext cx="5684520" cy="964565"/>
            <a:chOff x="594360" y="415925"/>
            <a:chExt cx="5684520" cy="964565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15925"/>
              <a:ext cx="23268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研究现状与关键问题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93750"/>
              <a:ext cx="56845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掩码质量评估与局部精细化研究</a:t>
              </a:r>
            </a:p>
          </p:txBody>
        </p:sp>
      </p:grpSp>
      <p:grpSp>
        <p:nvGrpSpPr>
          <p:cNvPr id="8" name="quality-scoring"/>
          <p:cNvGrpSpPr/>
          <p:nvPr/>
        </p:nvGrpSpPr>
        <p:grpSpPr>
          <a:xfrm>
            <a:off x="597408" y="1755775"/>
            <a:ext cx="4188524" cy="1116457"/>
            <a:chOff x="597408" y="1755775"/>
            <a:chExt cx="4188524" cy="1116457"/>
          </a:xfrm>
        </p:grpSpPr>
        <p:sp>
          <p:nvSpPr>
            <p:cNvPr id="5" name="TextBox 5"/>
            <p:cNvSpPr txBox="1"/>
            <p:nvPr/>
          </p:nvSpPr>
          <p:spPr>
            <a:xfrm>
              <a:off x="597408" y="1755775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实例掩码质量估计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1218" y="2244725"/>
              <a:ext cx="36879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Mask Scoring R-CNN（CVPR 2019）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1218" y="2549525"/>
              <a:ext cx="41847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预测掩码 IoU，形成质量感知的实例评分。</a:t>
              </a:r>
            </a:p>
          </p:txBody>
        </p:sp>
      </p:grpSp>
      <p:grpSp>
        <p:nvGrpSpPr>
          <p:cNvPr id="12" name="boundary-refinement"/>
          <p:cNvGrpSpPr/>
          <p:nvPr/>
        </p:nvGrpSpPr>
        <p:grpSpPr>
          <a:xfrm>
            <a:off x="597408" y="3098800"/>
            <a:ext cx="4521562" cy="1116457"/>
            <a:chOff x="597408" y="3098800"/>
            <a:chExt cx="4521562" cy="1116457"/>
          </a:xfrm>
        </p:grpSpPr>
        <p:sp>
          <p:nvSpPr>
            <p:cNvPr id="9" name="TextBox 9"/>
            <p:cNvSpPr txBox="1"/>
            <p:nvPr/>
          </p:nvSpPr>
          <p:spPr>
            <a:xfrm>
              <a:off x="597408" y="3098800"/>
              <a:ext cx="3255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高分辨率局部边界细化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1218" y="3587750"/>
              <a:ext cx="45177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Boundary Patch Refinement（CVPR 2021）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1218" y="3892550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提取预测边界附近的图像块进行精细化。</a:t>
              </a:r>
            </a:p>
          </p:txBody>
        </p:sp>
      </p:grpSp>
      <p:grpSp>
        <p:nvGrpSpPr>
          <p:cNvPr id="16" name="selective-refinement"/>
          <p:cNvGrpSpPr/>
          <p:nvPr/>
        </p:nvGrpSpPr>
        <p:grpSpPr>
          <a:xfrm>
            <a:off x="597408" y="4441825"/>
            <a:ext cx="4463034" cy="1116457"/>
            <a:chOff x="597408" y="4441825"/>
            <a:chExt cx="4463034" cy="1116457"/>
          </a:xfrm>
        </p:grpSpPr>
        <p:sp>
          <p:nvSpPr>
            <p:cNvPr id="13" name="TextBox 13"/>
            <p:cNvSpPr txBox="1"/>
            <p:nvPr/>
          </p:nvSpPr>
          <p:spPr>
            <a:xfrm>
              <a:off x="597408" y="4441825"/>
              <a:ext cx="3255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易错区域的选择性处理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1218" y="4930775"/>
              <a:ext cx="33442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Mask Transfiner（CVPR 2022）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1218" y="5235575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以四叉树组织边界区域，重点修正易错节点。</a:t>
              </a:r>
            </a:p>
          </p:txBody>
        </p:sp>
      </p:grpSp>
      <p:grpSp>
        <p:nvGrpSpPr>
          <p:cNvPr id="23" name="operation-benefit"/>
          <p:cNvGrpSpPr/>
          <p:nvPr/>
        </p:nvGrpSpPr>
        <p:grpSpPr>
          <a:xfrm>
            <a:off x="6591300" y="1752600"/>
            <a:ext cx="4991100" cy="3743325"/>
            <a:chOff x="6591300" y="1752600"/>
            <a:chExt cx="4991100" cy="3743325"/>
          </a:xfrm>
        </p:grpSpPr>
        <p:sp>
          <p:nvSpPr>
            <p:cNvPr id="17" name="Rectangle 17"/>
            <p:cNvSpPr/>
            <p:nvPr/>
          </p:nvSpPr>
          <p:spPr>
            <a:xfrm>
              <a:off x="6591300" y="1752600"/>
              <a:ext cx="4991100" cy="37433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887718" y="2006600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本课题的研究切入点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880860" y="2495550"/>
              <a:ext cx="2697480" cy="11391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350"/>
                </a:lnSpc>
              </a:pPr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面向具体操作的</a:t>
              </a:r>
              <a:b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修正收益估计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6896100" y="3829050"/>
              <a:ext cx="4381500" cy="9525"/>
            </a:xfrm>
            <a:custGeom>
              <a:avLst/>
              <a:gdLst/>
              <a:ahLst/>
              <a:cxnLst/>
              <a:rect l="l" t="t" r="r" b="b"/>
              <a:pathLst>
                <a:path w="4381500" h="9525">
                  <a:moveTo>
                    <a:pt x="0" y="0"/>
                  </a:moveTo>
                  <a:lnTo>
                    <a:pt x="43815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885432" y="4098925"/>
              <a:ext cx="341376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质量评分不能替代收益估计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887718" y="4603750"/>
              <a:ext cx="3160014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当前掩码质量与修正后的质量变化</a:t>
              </a:r>
              <a:b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具有不同的预测目标。</a:t>
              </a:r>
            </a:p>
          </p:txBody>
        </p:sp>
      </p:grpSp>
      <p:grpSp>
        <p:nvGrpSpPr>
          <p:cNvPr id="25" name="scope"/>
          <p:cNvGrpSpPr/>
          <p:nvPr/>
        </p:nvGrpSpPr>
        <p:grpSpPr>
          <a:xfrm>
            <a:off x="601218" y="5807075"/>
            <a:ext cx="7346823" cy="322707"/>
            <a:chOff x="601218" y="5807075"/>
            <a:chExt cx="7346823" cy="322707"/>
          </a:xfrm>
        </p:grpSpPr>
        <p:sp>
          <p:nvSpPr>
            <p:cNvPr id="24" name="TextBox 24"/>
            <p:cNvSpPr txBox="1"/>
            <p:nvPr/>
          </p:nvSpPr>
          <p:spPr>
            <a:xfrm>
              <a:off x="601218" y="5807075"/>
              <a:ext cx="734682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研究衔接：结合操作响应与邻接信息，进行实例级的修正收益预测与选择。</a:t>
              </a:r>
            </a:p>
          </p:txBody>
        </p:sp>
      </p:grpSp>
      <p:grpSp>
        <p:nvGrpSpPr>
          <p:cNvPr id="28" name="footer"/>
          <p:cNvGrpSpPr/>
          <p:nvPr/>
        </p:nvGrpSpPr>
        <p:grpSpPr>
          <a:xfrm>
            <a:off x="603504" y="6410325"/>
            <a:ext cx="10984992" cy="234696"/>
            <a:chOff x="603504" y="6410325"/>
            <a:chExt cx="10984992" cy="234696"/>
          </a:xfrm>
        </p:grpSpPr>
        <p:sp>
          <p:nvSpPr>
            <p:cNvPr id="26" name="TextBox 26"/>
            <p:cNvSpPr txBox="1"/>
            <p:nvPr/>
          </p:nvSpPr>
          <p:spPr>
            <a:xfrm>
              <a:off x="603504" y="6410325"/>
              <a:ext cx="53534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参考：Huang et al.（2019）；Tang et al.（2021）；Ke et al.（2022）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035132" y="64103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15925"/>
            <a:ext cx="6088380" cy="964565"/>
            <a:chOff x="594360" y="415925"/>
            <a:chExt cx="6088380" cy="964565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15925"/>
              <a:ext cx="23268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研究现状与关键问题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93750"/>
              <a:ext cx="608838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难点二：接触边界归属与修正风险</a:t>
              </a:r>
            </a:p>
          </p:txBody>
        </p:sp>
      </p:grpSp>
      <p:grpSp>
        <p:nvGrpSpPr>
          <p:cNvPr id="13" name="repair-example"/>
          <p:cNvGrpSpPr/>
          <p:nvPr/>
        </p:nvGrpSpPr>
        <p:grpSpPr>
          <a:xfrm>
            <a:off x="597408" y="1774825"/>
            <a:ext cx="4669917" cy="2982468"/>
            <a:chOff x="597408" y="1774825"/>
            <a:chExt cx="4669917" cy="2982468"/>
          </a:xfrm>
        </p:grpSpPr>
        <p:sp>
          <p:nvSpPr>
            <p:cNvPr id="5" name="TextBox 5"/>
            <p:cNvSpPr txBox="1"/>
            <p:nvPr/>
          </p:nvSpPr>
          <p:spPr>
            <a:xfrm>
              <a:off x="597408" y="1774825"/>
              <a:ext cx="422452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错误区域去除：修正产生收益</a:t>
              </a:r>
            </a:p>
          </p:txBody>
        </p:sp>
        <p:sp>
          <p:nvSpPr>
            <p:cNvPr id="6" name="Ellipse 6"/>
            <p:cNvSpPr/>
            <p:nvPr/>
          </p:nvSpPr>
          <p:spPr>
            <a:xfrm>
              <a:off x="1114425" y="2543175"/>
              <a:ext cx="1371600" cy="152400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 w="28575">
              <a:solidFill>
                <a:schemeClr val="accent2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2247900" y="2914650"/>
              <a:ext cx="552450" cy="762000"/>
            </a:xfrm>
            <a:prstGeom prst="rect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</p:sp>
        <p:sp>
          <p:nvSpPr>
            <p:cNvPr id="8" name="Line 8"/>
            <p:cNvSpPr/>
            <p:nvPr/>
          </p:nvSpPr>
          <p:spPr>
            <a:xfrm>
              <a:off x="2981325" y="3305175"/>
              <a:ext cx="638175" cy="1"/>
            </a:xfrm>
            <a:prstGeom prst="line">
              <a:avLst/>
            </a:prstGeom>
            <a:noFill/>
            <a:ln w="19050">
              <a:solidFill>
                <a:srgbClr val="596B80"/>
              </a:solidFill>
              <a:tailEnd type="arrow" w="lg" len="lg"/>
            </a:ln>
          </p:spPr>
        </p:sp>
        <p:sp>
          <p:nvSpPr>
            <p:cNvPr id="9" name="Ellipse 9"/>
            <p:cNvSpPr/>
            <p:nvPr/>
          </p:nvSpPr>
          <p:spPr>
            <a:xfrm>
              <a:off x="3895725" y="2543175"/>
              <a:ext cx="1371600" cy="152400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 w="28575">
              <a:solidFill>
                <a:schemeClr val="accent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560957" y="312737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目标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323207" y="312737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目标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8932" y="4346575"/>
              <a:ext cx="341376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去除误分配的邻接实例像素</a:t>
              </a:r>
            </a:p>
          </p:txBody>
        </p:sp>
      </p:grpSp>
      <p:grpSp>
        <p:nvGrpSpPr>
          <p:cNvPr id="23" name="damage-example"/>
          <p:cNvGrpSpPr/>
          <p:nvPr/>
        </p:nvGrpSpPr>
        <p:grpSpPr>
          <a:xfrm>
            <a:off x="6331458" y="1774825"/>
            <a:ext cx="4660392" cy="2982468"/>
            <a:chOff x="6331458" y="1774825"/>
            <a:chExt cx="4660392" cy="2982468"/>
          </a:xfrm>
        </p:grpSpPr>
        <p:sp>
          <p:nvSpPr>
            <p:cNvPr id="14" name="TextBox 14"/>
            <p:cNvSpPr txBox="1"/>
            <p:nvPr/>
          </p:nvSpPr>
          <p:spPr>
            <a:xfrm>
              <a:off x="6331458" y="1774825"/>
              <a:ext cx="422452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正确区域损失：修正产生退化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6848475" y="2543175"/>
              <a:ext cx="1371600" cy="152400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 w="28575">
              <a:solidFill>
                <a:schemeClr val="accent2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981950" y="3076575"/>
              <a:ext cx="561975" cy="409575"/>
            </a:xfrm>
            <a:prstGeom prst="rect">
              <a:avLst/>
            </a:prstGeom>
            <a:solidFill>
              <a:schemeClr val="accent2">
                <a:alpha val="25000"/>
              </a:schemeClr>
            </a:solidFill>
            <a:ln w="19050">
              <a:solidFill>
                <a:schemeClr val="accent2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8086725" y="2990850"/>
              <a:ext cx="495300" cy="600075"/>
            </a:xfrm>
            <a:prstGeom prst="rect">
              <a:avLst/>
            </a:prstGeom>
            <a:noFill/>
            <a:ln w="19050">
              <a:solidFill>
                <a:schemeClr val="accent3"/>
              </a:solidFill>
              <a:prstDash val="dash"/>
            </a:ln>
          </p:spPr>
        </p:sp>
        <p:sp>
          <p:nvSpPr>
            <p:cNvPr id="18" name="Line 18"/>
            <p:cNvSpPr/>
            <p:nvPr/>
          </p:nvSpPr>
          <p:spPr>
            <a:xfrm>
              <a:off x="8705850" y="3305175"/>
              <a:ext cx="638175" cy="1"/>
            </a:xfrm>
            <a:prstGeom prst="line">
              <a:avLst/>
            </a:prstGeom>
            <a:noFill/>
            <a:ln w="19050">
              <a:solidFill>
                <a:srgbClr val="596B80"/>
              </a:solidFill>
              <a:tailEnd type="arrow" w="lg" len="lg"/>
            </a:ln>
          </p:spPr>
        </p:sp>
        <p:sp>
          <p:nvSpPr>
            <p:cNvPr id="19" name="Ellipse 19"/>
            <p:cNvSpPr/>
            <p:nvPr/>
          </p:nvSpPr>
          <p:spPr>
            <a:xfrm>
              <a:off x="9620250" y="2543175"/>
              <a:ext cx="1371600" cy="152400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 w="28575">
              <a:solidFill>
                <a:schemeClr val="accent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295007" y="312737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目标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066782" y="312737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目标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32982" y="4346575"/>
              <a:ext cx="369646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丢失当前实例的真实细节区域</a:t>
              </a:r>
            </a:p>
          </p:txBody>
        </p:sp>
      </p:grpSp>
      <p:grpSp>
        <p:nvGrpSpPr>
          <p:cNvPr id="27" name="same-operation"/>
          <p:cNvGrpSpPr/>
          <p:nvPr/>
        </p:nvGrpSpPr>
        <p:grpSpPr>
          <a:xfrm>
            <a:off x="609600" y="5133975"/>
            <a:ext cx="10972800" cy="971550"/>
            <a:chOff x="609600" y="5133975"/>
            <a:chExt cx="10972800" cy="971550"/>
          </a:xfrm>
        </p:grpSpPr>
        <p:sp>
          <p:nvSpPr>
            <p:cNvPr id="24" name="Rectangle 24"/>
            <p:cNvSpPr/>
            <p:nvPr/>
          </p:nvSpPr>
          <p:spPr>
            <a:xfrm>
              <a:off x="609600" y="5133975"/>
              <a:ext cx="10972800" cy="9715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26008" y="5260975"/>
              <a:ext cx="74554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关键挑战：缺少真实标注时，预测具体修正的净收益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9818" y="5711825"/>
              <a:ext cx="867956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接触位置的像素归属存在歧义，邻接预测也含误差，需要兼顾错误修复与正确区域保护。</a:t>
              </a:r>
            </a:p>
          </p:txBody>
        </p:sp>
      </p:grpSp>
      <p:grpSp>
        <p:nvGrpSpPr>
          <p:cNvPr id="30" name="footer"/>
          <p:cNvGrpSpPr/>
          <p:nvPr/>
        </p:nvGrpSpPr>
        <p:grpSpPr>
          <a:xfrm>
            <a:off x="603504" y="6410325"/>
            <a:ext cx="10984992" cy="234696"/>
            <a:chOff x="603504" y="6410325"/>
            <a:chExt cx="10984992" cy="234696"/>
          </a:xfrm>
        </p:grpSpPr>
        <p:sp>
          <p:nvSpPr>
            <p:cNvPr id="28" name="TextBox 28"/>
            <p:cNvSpPr txBox="1"/>
            <p:nvPr/>
          </p:nvSpPr>
          <p:spPr>
            <a:xfrm>
              <a:off x="603504" y="6410325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同类边界收紧操作的作用示意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035132" y="64103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15925"/>
            <a:ext cx="6492240" cy="964565"/>
            <a:chOff x="594360" y="415925"/>
            <a:chExt cx="6492240" cy="964565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15925"/>
              <a:ext cx="23268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研究目标与技术路线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93750"/>
              <a:ext cx="64922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密集实例选择与区域优化的总体框架</a:t>
              </a:r>
            </a:p>
          </p:txBody>
        </p:sp>
      </p:grpSp>
      <p:grpSp>
        <p:nvGrpSpPr>
          <p:cNvPr id="22" name="main-pipeline"/>
          <p:cNvGrpSpPr/>
          <p:nvPr/>
        </p:nvGrpSpPr>
        <p:grpSpPr>
          <a:xfrm>
            <a:off x="601218" y="1997075"/>
            <a:ext cx="10981182" cy="1470025"/>
            <a:chOff x="601218" y="1997075"/>
            <a:chExt cx="10981182" cy="1470025"/>
          </a:xfrm>
        </p:grpSpPr>
        <p:sp>
          <p:nvSpPr>
            <p:cNvPr id="5" name="Rectangle 5"/>
            <p:cNvSpPr/>
            <p:nvPr/>
          </p:nvSpPr>
          <p:spPr>
            <a:xfrm>
              <a:off x="609600" y="2400300"/>
              <a:ext cx="2076450" cy="1066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3314700" y="2400300"/>
              <a:ext cx="2266950" cy="1066800"/>
            </a:xfrm>
            <a:prstGeom prst="rect">
              <a:avLst/>
            </a:prstGeom>
            <a:solidFill>
              <a:srgbClr val="315E9D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210300" y="2400300"/>
              <a:ext cx="2266950" cy="1066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9105900" y="2400300"/>
              <a:ext cx="2476500" cy="1066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01218" y="1997075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基础模型输出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306318" y="1997075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研究内容一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201918" y="1997075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研究内容二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97518" y="199707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系统实现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989457" y="2746375"/>
              <a:ext cx="10174605" cy="469392"/>
              <a:chOff x="989457" y="2746375"/>
              <a:chExt cx="10174605" cy="469392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989457" y="274637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候选集合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789807" y="274637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实例选择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6685407" y="274637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掩码修正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524238" y="2746375"/>
                <a:ext cx="1639824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关联与分析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2819400" y="2933700"/>
              <a:ext cx="6153150" cy="1"/>
              <a:chOff x="2819400" y="2933700"/>
              <a:chExt cx="6153150" cy="1"/>
            </a:xfrm>
          </p:grpSpPr>
          <p:sp>
            <p:nvSpPr>
              <p:cNvPr id="18" name="Line 18"/>
              <p:cNvSpPr/>
              <p:nvPr/>
            </p:nvSpPr>
            <p:spPr>
              <a:xfrm>
                <a:off x="2819400" y="2933700"/>
                <a:ext cx="361950" cy="1"/>
              </a:xfrm>
              <a:prstGeom prst="line">
                <a:avLst/>
              </a:prstGeom>
              <a:noFill/>
              <a:ln w="19050">
                <a:solidFill>
                  <a:srgbClr val="596B80"/>
                </a:solidFill>
                <a:tailEnd type="arrow" w="lg" len="lg"/>
              </a:ln>
            </p:spPr>
          </p:sp>
          <p:sp>
            <p:nvSpPr>
              <p:cNvPr id="19" name="Line 19"/>
              <p:cNvSpPr/>
              <p:nvPr/>
            </p:nvSpPr>
            <p:spPr>
              <a:xfrm>
                <a:off x="5715000" y="2933700"/>
                <a:ext cx="361950" cy="1"/>
              </a:xfrm>
              <a:prstGeom prst="line">
                <a:avLst/>
              </a:prstGeom>
              <a:noFill/>
              <a:ln w="19050">
                <a:solidFill>
                  <a:srgbClr val="596B80"/>
                </a:solidFill>
                <a:tailEnd type="arrow" w="lg" len="lg"/>
              </a:ln>
            </p:spPr>
          </p:sp>
          <p:sp>
            <p:nvSpPr>
              <p:cNvPr id="20" name="Line 20"/>
              <p:cNvSpPr/>
              <p:nvPr/>
            </p:nvSpPr>
            <p:spPr>
              <a:xfrm>
                <a:off x="8610600" y="2933700"/>
                <a:ext cx="361950" cy="1"/>
              </a:xfrm>
              <a:prstGeom prst="line">
                <a:avLst/>
              </a:prstGeom>
              <a:noFill/>
              <a:ln w="19050">
                <a:solidFill>
                  <a:srgbClr val="596B80"/>
                </a:solidFill>
                <a:tailEnd type="arrow" w="lg" len="lg"/>
              </a:ln>
            </p:spPr>
          </p:sp>
        </p:grpSp>
      </p:grpSp>
      <p:grpSp>
        <p:nvGrpSpPr>
          <p:cNvPr id="25" name="question-instance"/>
          <p:cNvGrpSpPr/>
          <p:nvPr/>
        </p:nvGrpSpPr>
        <p:grpSpPr>
          <a:xfrm>
            <a:off x="597408" y="4070350"/>
            <a:ext cx="4828794" cy="915543"/>
            <a:chOff x="597408" y="4070350"/>
            <a:chExt cx="4828794" cy="915543"/>
          </a:xfrm>
        </p:grpSpPr>
        <p:sp>
          <p:nvSpPr>
            <p:cNvPr id="23" name="TextBox 23"/>
            <p:cNvSpPr txBox="1"/>
            <p:nvPr/>
          </p:nvSpPr>
          <p:spPr>
            <a:xfrm>
              <a:off x="597408" y="4070350"/>
              <a:ext cx="422452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目标一：提高实例集合可靠性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98932" y="4575175"/>
              <a:ext cx="48272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减少筛选造成的实例遗漏与重复检出。</a:t>
              </a:r>
            </a:p>
          </p:txBody>
        </p:sp>
      </p:grpSp>
      <p:grpSp>
        <p:nvGrpSpPr>
          <p:cNvPr id="28" name="question-mask"/>
          <p:cNvGrpSpPr/>
          <p:nvPr/>
        </p:nvGrpSpPr>
        <p:grpSpPr>
          <a:xfrm>
            <a:off x="6369558" y="4070350"/>
            <a:ext cx="4546092" cy="915543"/>
            <a:chOff x="6369558" y="4070350"/>
            <a:chExt cx="4546092" cy="915543"/>
          </a:xfrm>
        </p:grpSpPr>
        <p:sp>
          <p:nvSpPr>
            <p:cNvPr id="26" name="TextBox 26"/>
            <p:cNvSpPr txBox="1"/>
            <p:nvPr/>
          </p:nvSpPr>
          <p:spPr>
            <a:xfrm>
              <a:off x="6369558" y="4070350"/>
              <a:ext cx="422452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目标二：提高掩码修正有效性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71082" y="4575175"/>
              <a:ext cx="454456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提高区域精度，降低正确区域退化。</a:t>
              </a:r>
            </a:p>
          </p:txBody>
        </p:sp>
      </p:grpSp>
      <p:grpSp>
        <p:nvGrpSpPr>
          <p:cNvPr id="32" name="foundation"/>
          <p:cNvGrpSpPr/>
          <p:nvPr/>
        </p:nvGrpSpPr>
        <p:grpSpPr>
          <a:xfrm>
            <a:off x="601218" y="5381625"/>
            <a:ext cx="10981182" cy="814832"/>
            <a:chOff x="601218" y="5381625"/>
            <a:chExt cx="10981182" cy="814832"/>
          </a:xfrm>
        </p:grpSpPr>
        <p:sp>
          <p:nvSpPr>
            <p:cNvPr id="29" name="Line 29"/>
            <p:cNvSpPr/>
            <p:nvPr/>
          </p:nvSpPr>
          <p:spPr>
            <a:xfrm>
              <a:off x="609600" y="53816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01218" y="5559425"/>
              <a:ext cx="734682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方法研究：两项空间方法分别消融；系统集成：接入既有跟踪器及重关联。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01218" y="5873750"/>
              <a:ext cx="66804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应用验证：沿实际输入接口，检验连续身份、区域统计与部署时延。</a:t>
              </a:r>
            </a:p>
          </p:txBody>
        </p:sp>
      </p:grpSp>
      <p:grpSp>
        <p:nvGrpSpPr>
          <p:cNvPr id="35" name="footer"/>
          <p:cNvGrpSpPr/>
          <p:nvPr/>
        </p:nvGrpSpPr>
        <p:grpSpPr>
          <a:xfrm>
            <a:off x="603504" y="6410325"/>
            <a:ext cx="10984992" cy="234696"/>
            <a:chOff x="603504" y="6410325"/>
            <a:chExt cx="10984992" cy="234696"/>
          </a:xfrm>
        </p:grpSpPr>
        <p:sp>
          <p:nvSpPr>
            <p:cNvPr id="33" name="TextBox 33"/>
            <p:cNvSpPr txBox="1"/>
            <p:nvPr/>
          </p:nvSpPr>
          <p:spPr>
            <a:xfrm>
              <a:off x="603504" y="641032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总体技术路线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035132" y="64103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15925"/>
            <a:ext cx="5684520" cy="964565"/>
            <a:chOff x="594360" y="415925"/>
            <a:chExt cx="5684520" cy="964565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15925"/>
              <a:ext cx="14383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03 研究内容一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93750"/>
              <a:ext cx="56845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关系辅助的候选判别与冗余控制</a:t>
              </a:r>
            </a:p>
          </p:txBody>
        </p:sp>
      </p:grpSp>
      <p:grpSp>
        <p:nvGrpSpPr>
          <p:cNvPr id="26" name="selection-method"/>
          <p:cNvGrpSpPr/>
          <p:nvPr/>
        </p:nvGrpSpPr>
        <p:grpSpPr>
          <a:xfrm>
            <a:off x="601218" y="1984375"/>
            <a:ext cx="10989564" cy="2888107"/>
            <a:chOff x="601218" y="1984375"/>
            <a:chExt cx="10989564" cy="2888107"/>
          </a:xfrm>
        </p:grpSpPr>
        <p:sp>
          <p:nvSpPr>
            <p:cNvPr id="5" name="Rectangle 5"/>
            <p:cNvSpPr/>
            <p:nvPr/>
          </p:nvSpPr>
          <p:spPr>
            <a:xfrm>
              <a:off x="609600" y="2019300"/>
              <a:ext cx="2190750" cy="23145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952500" y="2390775"/>
              <a:ext cx="1028700" cy="990600"/>
            </a:xfrm>
            <a:prstGeom prst="rect">
              <a:avLst/>
            </a:prstGeom>
            <a:noFill/>
            <a:ln w="19050">
              <a:solidFill>
                <a:srgbClr val="315E9D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1304925" y="2667000"/>
              <a:ext cx="1028700" cy="99060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009650" y="3048000"/>
              <a:ext cx="733425" cy="409575"/>
            </a:xfrm>
            <a:prstGeom prst="rect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46582" y="3822700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限定候选集合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2952750" y="3162300"/>
              <a:ext cx="6915150" cy="1"/>
              <a:chOff x="2952750" y="3162300"/>
              <a:chExt cx="6915150" cy="1"/>
            </a:xfrm>
          </p:grpSpPr>
          <p:sp>
            <p:nvSpPr>
              <p:cNvPr id="10" name="Line 10"/>
              <p:cNvSpPr/>
              <p:nvPr/>
            </p:nvSpPr>
            <p:spPr>
              <a:xfrm>
                <a:off x="2952750" y="3162300"/>
                <a:ext cx="447675" cy="1"/>
              </a:xfrm>
              <a:prstGeom prst="line">
                <a:avLst/>
              </a:prstGeom>
              <a:noFill/>
              <a:ln w="19050">
                <a:solidFill>
                  <a:srgbClr val="596B80"/>
                </a:solidFill>
                <a:tailEnd type="arrow" w="lg" len="lg"/>
              </a:ln>
            </p:spPr>
          </p:sp>
          <p:sp>
            <p:nvSpPr>
              <p:cNvPr id="11" name="Line 11"/>
              <p:cNvSpPr/>
              <p:nvPr/>
            </p:nvSpPr>
            <p:spPr>
              <a:xfrm>
                <a:off x="6667500" y="3162300"/>
                <a:ext cx="438150" cy="1"/>
              </a:xfrm>
              <a:prstGeom prst="line">
                <a:avLst/>
              </a:prstGeom>
              <a:noFill/>
              <a:ln w="19050">
                <a:solidFill>
                  <a:srgbClr val="596B80"/>
                </a:solidFill>
                <a:tailEnd type="arrow" w="lg" len="lg"/>
              </a:ln>
            </p:spPr>
          </p:sp>
          <p:sp>
            <p:nvSpPr>
              <p:cNvPr id="12" name="Line 12"/>
              <p:cNvSpPr/>
              <p:nvPr/>
            </p:nvSpPr>
            <p:spPr>
              <a:xfrm>
                <a:off x="9429750" y="3162300"/>
                <a:ext cx="438150" cy="1"/>
              </a:xfrm>
              <a:prstGeom prst="line">
                <a:avLst/>
              </a:prstGeom>
              <a:noFill/>
              <a:ln w="19050">
                <a:solidFill>
                  <a:srgbClr val="596B80"/>
                </a:solidFill>
                <a:tailEnd type="arrow" w="lg" len="lg"/>
              </a:ln>
            </p:spPr>
          </p:sp>
        </p:grpSp>
        <p:grpSp>
          <p:nvGrpSpPr>
            <p:cNvPr id="17" name="information"/>
            <p:cNvGrpSpPr/>
            <p:nvPr/>
          </p:nvGrpSpPr>
          <p:grpSpPr>
            <a:xfrm>
              <a:off x="3607308" y="1984375"/>
              <a:ext cx="2898267" cy="1956943"/>
              <a:chOff x="3607308" y="1984375"/>
              <a:chExt cx="2898267" cy="1956943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3607308" y="1984375"/>
                <a:ext cx="2286000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315E9D"/>
                    </a:solidFill>
                    <a:latin typeface="+mn-lt"/>
                    <a:ea typeface="+mn-ea"/>
                    <a:cs typeface="+mn-cs"/>
                  </a:rPr>
                  <a:t>质量与关系表征</a:t>
                </a:r>
              </a:p>
            </p:txBody>
          </p:sp>
          <p:sp>
            <p:nvSpPr>
              <p:cNvPr id="15" name="Line 15"/>
              <p:cNvSpPr/>
              <p:nvPr/>
            </p:nvSpPr>
            <p:spPr>
              <a:xfrm>
                <a:off x="3619500" y="2514600"/>
                <a:ext cx="28860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86075" h="9525">
                    <a:moveTo>
                      <a:pt x="0" y="0"/>
                    </a:moveTo>
                    <a:lnTo>
                      <a:pt x="2886075" y="0"/>
                    </a:lnTo>
                  </a:path>
                </a:pathLst>
              </a:custGeom>
              <a:noFill/>
              <a:ln w="19050">
                <a:solidFill>
                  <a:schemeClr val="accent6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3608832" y="2597150"/>
                <a:ext cx="2154936" cy="13441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3675"/>
                  </a:lnSpc>
                </a:pPr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可见区域完整性</a:t>
                </a:r>
                <a:b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重叠、包含与互补</a:t>
                </a:r>
                <a:b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相邻候选关联</a:t>
                </a:r>
              </a:p>
            </p:txBody>
          </p:sp>
        </p:grpSp>
        <p:sp>
          <p:nvSpPr>
            <p:cNvPr id="18" name="Rectangle 18"/>
            <p:cNvSpPr/>
            <p:nvPr/>
          </p:nvSpPr>
          <p:spPr>
            <a:xfrm>
              <a:off x="7315200" y="2495550"/>
              <a:ext cx="1914525" cy="1323975"/>
            </a:xfrm>
            <a:prstGeom prst="rect">
              <a:avLst/>
            </a:prstGeom>
            <a:solidFill>
              <a:srgbClr val="315E9D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723632" y="2692400"/>
              <a:ext cx="1088136" cy="8298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3300"/>
                </a:lnSpc>
              </a:pPr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实例判别</a:t>
              </a:r>
              <a:b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集合选择</a:t>
              </a:r>
            </a:p>
          </p:txBody>
        </p:sp>
        <p:grpSp>
          <p:nvGrpSpPr>
            <p:cNvPr id="23" name="selected-set"/>
            <p:cNvGrpSpPr/>
            <p:nvPr/>
          </p:nvGrpSpPr>
          <p:grpSpPr>
            <a:xfrm>
              <a:off x="9981057" y="2552700"/>
              <a:ext cx="1420368" cy="1823593"/>
              <a:chOff x="9981057" y="2552700"/>
              <a:chExt cx="1420368" cy="1823593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10134600" y="2552700"/>
                <a:ext cx="1000125" cy="800100"/>
              </a:xfrm>
              <a:prstGeom prst="rect">
                <a:avLst/>
              </a:prstGeom>
              <a:solidFill>
                <a:srgbClr val="315E9D">
                  <a:alpha val="12000"/>
                </a:srgbClr>
              </a:solidFill>
              <a:ln w="19050">
                <a:solidFill>
                  <a:srgbClr val="315E9D"/>
                </a:solidFill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10401300" y="2914650"/>
                <a:ext cx="1000125" cy="800100"/>
              </a:xfrm>
              <a:prstGeom prst="rect">
                <a:avLst/>
              </a:prstGeom>
              <a:solidFill>
                <a:schemeClr val="accent2">
                  <a:alpha val="12000"/>
                </a:schemeClr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9981057" y="3965575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实例集合</a:t>
                </a:r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601218" y="4549775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输入：预先限定的预测候选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020050" y="4549775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输出：代表不同可见个体的保留集合</a:t>
              </a:r>
            </a:p>
          </p:txBody>
        </p:sp>
      </p:grpSp>
      <p:grpSp>
        <p:nvGrpSpPr>
          <p:cNvPr id="30" name="selection-claim"/>
          <p:cNvGrpSpPr/>
          <p:nvPr/>
        </p:nvGrpSpPr>
        <p:grpSpPr>
          <a:xfrm>
            <a:off x="609600" y="5181600"/>
            <a:ext cx="10972800" cy="933450"/>
            <a:chOff x="609600" y="5181600"/>
            <a:chExt cx="10972800" cy="933450"/>
          </a:xfrm>
        </p:grpSpPr>
        <p:sp>
          <p:nvSpPr>
            <p:cNvPr id="27" name="Rectangle 27"/>
            <p:cNvSpPr/>
            <p:nvPr/>
          </p:nvSpPr>
          <p:spPr>
            <a:xfrm>
              <a:off x="609600" y="5181600"/>
              <a:ext cx="10972800" cy="9334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26008" y="5280025"/>
              <a:ext cx="77784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研究目标：在限定候选预算内兼顾实例召回与冗余控制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29818" y="5730875"/>
              <a:ext cx="82353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验证设计：质量特征、关系特征及联合策略对照，评价密集子集的遗漏与重复检出。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603504" y="6410325"/>
            <a:ext cx="10984992" cy="234696"/>
            <a:chOff x="603504" y="6410325"/>
            <a:chExt cx="10984992" cy="234696"/>
          </a:xfrm>
        </p:grpSpPr>
        <p:sp>
          <p:nvSpPr>
            <p:cNvPr id="31" name="TextBox 31"/>
            <p:cNvSpPr txBox="1"/>
            <p:nvPr/>
          </p:nvSpPr>
          <p:spPr>
            <a:xfrm>
              <a:off x="603504" y="6410325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拟研究方法：候选判别与实例集合优化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035132" y="64103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15925"/>
            <a:ext cx="6088380" cy="964565"/>
            <a:chOff x="594360" y="415925"/>
            <a:chExt cx="6088380" cy="964565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15925"/>
              <a:ext cx="14383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研究内容二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93750"/>
              <a:ext cx="608838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邻接关系辅助的掩码修正收益预测</a:t>
              </a:r>
            </a:p>
          </p:txBody>
        </p:sp>
      </p:grpSp>
      <p:grpSp>
        <p:nvGrpSpPr>
          <p:cNvPr id="22" name="trial-and-decision"/>
          <p:cNvGrpSpPr/>
          <p:nvPr/>
        </p:nvGrpSpPr>
        <p:grpSpPr>
          <a:xfrm>
            <a:off x="601218" y="1806575"/>
            <a:ext cx="10981182" cy="2493518"/>
            <a:chOff x="601218" y="1806575"/>
            <a:chExt cx="10981182" cy="2493518"/>
          </a:xfrm>
        </p:grpSpPr>
        <p:sp>
          <p:nvSpPr>
            <p:cNvPr id="5" name="TextBox 5"/>
            <p:cNvSpPr txBox="1"/>
            <p:nvPr/>
          </p:nvSpPr>
          <p:spPr>
            <a:xfrm>
              <a:off x="601218" y="180657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已选实例</a:t>
              </a:r>
            </a:p>
          </p:txBody>
        </p:sp>
        <p:sp>
          <p:nvSpPr>
            <p:cNvPr id="6" name="Ellipse 6"/>
            <p:cNvSpPr/>
            <p:nvPr/>
          </p:nvSpPr>
          <p:spPr>
            <a:xfrm>
              <a:off x="800100" y="2428875"/>
              <a:ext cx="1238250" cy="127635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 w="19050">
              <a:solidFill>
                <a:schemeClr val="accent2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1790700" y="2809875"/>
              <a:ext cx="428625" cy="361950"/>
            </a:xfrm>
            <a:prstGeom prst="rect">
              <a:avLst/>
            </a:prstGeom>
            <a:solidFill>
              <a:schemeClr val="accent3">
                <a:alpha val="35000"/>
              </a:scheme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98957" y="3889375"/>
              <a:ext cx="8694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原掩码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2419350" y="3067050"/>
              <a:ext cx="723900" cy="1"/>
            </a:xfrm>
            <a:prstGeom prst="line">
              <a:avLst/>
            </a:prstGeom>
            <a:noFill/>
            <a:ln w="19050">
              <a:solidFill>
                <a:srgbClr val="596B80"/>
              </a:solidFill>
              <a:tailEnd type="arrow" w="lg" len="lg"/>
            </a:ln>
          </p:spPr>
        </p:sp>
        <p:sp>
          <p:nvSpPr>
            <p:cNvPr id="10" name="Ellipse 10"/>
            <p:cNvSpPr/>
            <p:nvPr/>
          </p:nvSpPr>
          <p:spPr>
            <a:xfrm>
              <a:off x="3457575" y="2438400"/>
              <a:ext cx="1219200" cy="125730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 w="19050">
              <a:solidFill>
                <a:schemeClr val="accent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323082" y="388937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候选修正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4895850" y="3067050"/>
              <a:ext cx="723900" cy="1"/>
            </a:xfrm>
            <a:prstGeom prst="line">
              <a:avLst/>
            </a:prstGeom>
            <a:noFill/>
            <a:ln w="19050">
              <a:solidFill>
                <a:srgbClr val="596B80"/>
              </a:solidFill>
              <a:tailEnd type="arrow" w="lg" len="lg"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829300" y="2466975"/>
              <a:ext cx="2381250" cy="1181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59983" y="2625725"/>
              <a:ext cx="2119884" cy="888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3300"/>
                </a:lnSpc>
              </a:pPr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收益预测</a:t>
              </a:r>
            </a:p>
            <a:p>
              <a:pPr algn="ctr">
                <a:lnSpc>
                  <a:spcPts val="3300"/>
                </a:lnSpc>
              </a:pPr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估计修正后的质量变化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8391525" y="2390775"/>
              <a:ext cx="952500" cy="1343025"/>
              <a:chOff x="8391525" y="2390775"/>
              <a:chExt cx="952500" cy="1343025"/>
            </a:xfrm>
          </p:grpSpPr>
          <p:sp>
            <p:nvSpPr>
              <p:cNvPr id="15" name="Line 15"/>
              <p:cNvSpPr/>
              <p:nvPr/>
            </p:nvSpPr>
            <p:spPr>
              <a:xfrm flipV="1">
                <a:off x="8391525" y="2390775"/>
                <a:ext cx="952500" cy="552450"/>
              </a:xfrm>
              <a:prstGeom prst="line">
                <a:avLst/>
              </a:prstGeom>
              <a:noFill/>
              <a:ln w="19050">
                <a:solidFill>
                  <a:srgbClr val="596B80"/>
                </a:solidFill>
                <a:tailEnd type="arrow" w="lg" len="lg"/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8391525" y="3181350"/>
                <a:ext cx="952500" cy="552450"/>
              </a:xfrm>
              <a:prstGeom prst="line">
                <a:avLst/>
              </a:prstGeom>
              <a:noFill/>
              <a:ln w="19050">
                <a:solidFill>
                  <a:srgbClr val="596B80"/>
                </a:solidFill>
                <a:tailEnd type="arrow" w="lg" len="lg"/>
              </a:ln>
            </p:spPr>
          </p:sp>
        </p:grpSp>
        <p:sp>
          <p:nvSpPr>
            <p:cNvPr id="18" name="Rectangle 18"/>
            <p:cNvSpPr/>
            <p:nvPr/>
          </p:nvSpPr>
          <p:spPr>
            <a:xfrm>
              <a:off x="9544050" y="2019300"/>
              <a:ext cx="2038350" cy="771525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987153" y="225107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采用修正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9544050" y="3352800"/>
              <a:ext cx="2038350" cy="7715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845802" y="358457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保留原结果</a:t>
              </a:r>
            </a:p>
          </p:txBody>
        </p:sp>
      </p:grpSp>
      <p:grpSp>
        <p:nvGrpSpPr>
          <p:cNvPr id="25" name="benefit-features"/>
          <p:cNvGrpSpPr/>
          <p:nvPr/>
        </p:nvGrpSpPr>
        <p:grpSpPr>
          <a:xfrm>
            <a:off x="609600" y="4667250"/>
            <a:ext cx="10972800" cy="704850"/>
            <a:chOff x="609600" y="4667250"/>
            <a:chExt cx="10972800" cy="704850"/>
          </a:xfrm>
        </p:grpSpPr>
        <p:sp>
          <p:nvSpPr>
            <p:cNvPr id="23" name="Rectangle 23"/>
            <p:cNvSpPr/>
            <p:nvPr/>
          </p:nvSpPr>
          <p:spPr>
            <a:xfrm>
              <a:off x="609600" y="4667250"/>
              <a:ext cx="10972800" cy="704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27532" y="4860925"/>
              <a:ext cx="71171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输入信息：</a:t>
              </a:r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原掩码状态</a:t>
              </a: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　+　</a:t>
              </a:r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操作响应</a:t>
              </a: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　+　</a:t>
              </a:r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邻接实例关系</a:t>
              </a:r>
            </a:p>
          </p:txBody>
        </p:sp>
      </p:grpSp>
      <p:grpSp>
        <p:nvGrpSpPr>
          <p:cNvPr id="28" name="scope"/>
          <p:cNvGrpSpPr/>
          <p:nvPr/>
        </p:nvGrpSpPr>
        <p:grpSpPr>
          <a:xfrm>
            <a:off x="601218" y="5588000"/>
            <a:ext cx="8235315" cy="617982"/>
            <a:chOff x="601218" y="5588000"/>
            <a:chExt cx="8235315" cy="617982"/>
          </a:xfrm>
        </p:grpSpPr>
        <p:sp>
          <p:nvSpPr>
            <p:cNvPr id="26" name="TextBox 26"/>
            <p:cNvSpPr txBox="1"/>
            <p:nvPr/>
          </p:nvSpPr>
          <p:spPr>
            <a:xfrm>
              <a:off x="601218" y="5588000"/>
              <a:ext cx="71247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监督方式：以标注计算修正前后的质量变化；推理使用图像与预测结果。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01218" y="5883275"/>
              <a:ext cx="82353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验证设计：固定检测集合开展特征消融，同时评价分割精度、修复数量与退化数量。</a:t>
              </a:r>
            </a:p>
          </p:txBody>
        </p:sp>
      </p:grpSp>
      <p:grpSp>
        <p:nvGrpSpPr>
          <p:cNvPr id="31" name="footer"/>
          <p:cNvGrpSpPr/>
          <p:nvPr/>
        </p:nvGrpSpPr>
        <p:grpSpPr>
          <a:xfrm>
            <a:off x="603504" y="6410325"/>
            <a:ext cx="10984992" cy="234696"/>
            <a:chOff x="603504" y="6410325"/>
            <a:chExt cx="10984992" cy="234696"/>
          </a:xfrm>
        </p:grpSpPr>
        <p:sp>
          <p:nvSpPr>
            <p:cNvPr id="29" name="TextBox 29"/>
            <p:cNvSpPr txBox="1"/>
            <p:nvPr/>
          </p:nvSpPr>
          <p:spPr>
            <a:xfrm>
              <a:off x="603504" y="6410325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拟研究方法：操作收益预测与选择性掩码修正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035132" y="64103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15925"/>
            <a:ext cx="6896100" cy="964565"/>
            <a:chOff x="594360" y="415925"/>
            <a:chExt cx="6896100" cy="964565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15925"/>
              <a:ext cx="23268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 通用系统设计与应用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93750"/>
              <a:ext cx="68961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方法改进需要沿实际接口验证应用收益</a:t>
              </a:r>
            </a:p>
          </p:txBody>
        </p:sp>
      </p:grpSp>
      <p:grpSp>
        <p:nvGrpSpPr>
          <p:cNvPr id="18" name="instance-to-identity"/>
          <p:cNvGrpSpPr/>
          <p:nvPr/>
        </p:nvGrpSpPr>
        <p:grpSpPr>
          <a:xfrm>
            <a:off x="601218" y="1806575"/>
            <a:ext cx="10981182" cy="1355725"/>
            <a:chOff x="601218" y="1806575"/>
            <a:chExt cx="10981182" cy="1355725"/>
          </a:xfrm>
        </p:grpSpPr>
        <p:sp>
          <p:nvSpPr>
            <p:cNvPr id="5" name="TextBox 5"/>
            <p:cNvSpPr txBox="1"/>
            <p:nvPr/>
          </p:nvSpPr>
          <p:spPr>
            <a:xfrm>
              <a:off x="601218" y="1806575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实例集合的作用路径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609600" y="2266950"/>
              <a:ext cx="2200275" cy="895350"/>
            </a:xfrm>
            <a:prstGeom prst="rect">
              <a:avLst/>
            </a:prstGeom>
            <a:solidFill>
              <a:srgbClr val="315E9D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3533775" y="2266950"/>
              <a:ext cx="2200275" cy="8953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6457950" y="2266950"/>
              <a:ext cx="2200275" cy="8953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382125" y="2266950"/>
              <a:ext cx="2200275" cy="8953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28903" y="256540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候选判别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085082" y="2384425"/>
              <a:ext cx="1088136" cy="7536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7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框与分数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实例集合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875907" y="2384425"/>
              <a:ext cx="1354836" cy="7536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7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固定跟踪器</a:t>
              </a:r>
            </a:p>
            <a:p>
              <a:pPr algn="ctr">
                <a:lnSpc>
                  <a:spcPts val="2700"/>
                </a:lnSpc>
              </a:pPr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如 ByteTrack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760077" y="2565400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身份连续性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2971800" y="2714625"/>
              <a:ext cx="6219825" cy="1"/>
              <a:chOff x="2971800" y="2714625"/>
              <a:chExt cx="6219825" cy="1"/>
            </a:xfrm>
          </p:grpSpPr>
          <p:sp>
            <p:nvSpPr>
              <p:cNvPr id="14" name="Line 14"/>
              <p:cNvSpPr/>
              <p:nvPr/>
            </p:nvSpPr>
            <p:spPr>
              <a:xfrm>
                <a:off x="2971800" y="2714625"/>
                <a:ext cx="371475" cy="1"/>
              </a:xfrm>
              <a:prstGeom prst="line">
                <a:avLst/>
              </a:prstGeom>
              <a:noFill/>
              <a:ln w="19050">
                <a:solidFill>
                  <a:srgbClr val="596B80"/>
                </a:solidFill>
                <a:tailEnd type="arrow" w="lg" len="lg"/>
              </a:ln>
            </p:spPr>
          </p:sp>
          <p:sp>
            <p:nvSpPr>
              <p:cNvPr id="15" name="Line 15"/>
              <p:cNvSpPr/>
              <p:nvPr/>
            </p:nvSpPr>
            <p:spPr>
              <a:xfrm>
                <a:off x="5895975" y="2714625"/>
                <a:ext cx="371475" cy="1"/>
              </a:xfrm>
              <a:prstGeom prst="line">
                <a:avLst/>
              </a:prstGeom>
              <a:noFill/>
              <a:ln w="19050">
                <a:solidFill>
                  <a:srgbClr val="596B80"/>
                </a:solidFill>
                <a:tailEnd type="arrow" w="lg" len="lg"/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8820150" y="2714625"/>
                <a:ext cx="371475" cy="1"/>
              </a:xfrm>
              <a:prstGeom prst="line">
                <a:avLst/>
              </a:prstGeom>
              <a:noFill/>
              <a:ln w="19050">
                <a:solidFill>
                  <a:srgbClr val="596B80"/>
                </a:solidFill>
                <a:tailEnd type="arrow" w="lg" len="lg"/>
              </a:ln>
            </p:spPr>
          </p:sp>
        </p:grpSp>
      </p:grpSp>
      <p:grpSp>
        <p:nvGrpSpPr>
          <p:cNvPr id="32" name="mask-to-region"/>
          <p:cNvGrpSpPr/>
          <p:nvPr/>
        </p:nvGrpSpPr>
        <p:grpSpPr>
          <a:xfrm>
            <a:off x="601218" y="3502025"/>
            <a:ext cx="10981182" cy="1355725"/>
            <a:chOff x="601218" y="3502025"/>
            <a:chExt cx="10981182" cy="1355725"/>
          </a:xfrm>
        </p:grpSpPr>
        <p:sp>
          <p:nvSpPr>
            <p:cNvPr id="19" name="TextBox 19"/>
            <p:cNvSpPr txBox="1"/>
            <p:nvPr/>
          </p:nvSpPr>
          <p:spPr>
            <a:xfrm>
              <a:off x="601218" y="3502025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像素区域的作用路径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09600" y="3962400"/>
              <a:ext cx="2200275" cy="8953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3533775" y="3962400"/>
              <a:ext cx="2200275" cy="8953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57950" y="3962400"/>
              <a:ext cx="2200275" cy="8953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9382125" y="3962400"/>
              <a:ext cx="2200275" cy="8953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28903" y="426085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掩码修正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770376" y="4260850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实例像素区域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583966" y="4079875"/>
              <a:ext cx="1938719" cy="7536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7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区域统计</a:t>
              </a:r>
            </a:p>
            <a:p>
              <a:pPr algn="ctr">
                <a:lnSpc>
                  <a:spcPts val="2700"/>
                </a:lnSpc>
              </a:pPr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个体面积 / 前景并集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618726" y="4260850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区域统计误差</a:t>
              </a: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2971800" y="4410075"/>
              <a:ext cx="6219825" cy="1"/>
              <a:chOff x="2971800" y="4410075"/>
              <a:chExt cx="6219825" cy="1"/>
            </a:xfrm>
          </p:grpSpPr>
          <p:sp>
            <p:nvSpPr>
              <p:cNvPr id="28" name="Line 28"/>
              <p:cNvSpPr/>
              <p:nvPr/>
            </p:nvSpPr>
            <p:spPr>
              <a:xfrm>
                <a:off x="2971800" y="4410075"/>
                <a:ext cx="371475" cy="1"/>
              </a:xfrm>
              <a:prstGeom prst="line">
                <a:avLst/>
              </a:prstGeom>
              <a:noFill/>
              <a:ln w="19050">
                <a:solidFill>
                  <a:srgbClr val="596B80"/>
                </a:solidFill>
                <a:tailEnd type="arrow" w="lg" len="lg"/>
              </a:ln>
            </p:spPr>
          </p:sp>
          <p:sp>
            <p:nvSpPr>
              <p:cNvPr id="29" name="Line 29"/>
              <p:cNvSpPr/>
              <p:nvPr/>
            </p:nvSpPr>
            <p:spPr>
              <a:xfrm>
                <a:off x="5895975" y="4410075"/>
                <a:ext cx="371475" cy="1"/>
              </a:xfrm>
              <a:prstGeom prst="line">
                <a:avLst/>
              </a:prstGeom>
              <a:noFill/>
              <a:ln w="19050">
                <a:solidFill>
                  <a:srgbClr val="596B80"/>
                </a:solidFill>
                <a:tailEnd type="arrow" w="lg" len="lg"/>
              </a:ln>
            </p:spPr>
          </p:sp>
          <p:sp>
            <p:nvSpPr>
              <p:cNvPr id="30" name="Line 30"/>
              <p:cNvSpPr/>
              <p:nvPr/>
            </p:nvSpPr>
            <p:spPr>
              <a:xfrm>
                <a:off x="8820150" y="4410075"/>
                <a:ext cx="371475" cy="1"/>
              </a:xfrm>
              <a:prstGeom prst="line">
                <a:avLst/>
              </a:prstGeom>
              <a:noFill/>
              <a:ln w="19050">
                <a:solidFill>
                  <a:srgbClr val="596B80"/>
                </a:solidFill>
                <a:tailEnd type="arrow" w="lg" len="lg"/>
              </a:ln>
            </p:spPr>
          </p:sp>
        </p:grpSp>
      </p:grpSp>
      <p:grpSp>
        <p:nvGrpSpPr>
          <p:cNvPr id="40" name="evaluation-families"/>
          <p:cNvGrpSpPr/>
          <p:nvPr/>
        </p:nvGrpSpPr>
        <p:grpSpPr>
          <a:xfrm>
            <a:off x="598932" y="5238750"/>
            <a:ext cx="10983468" cy="871982"/>
            <a:chOff x="598932" y="5238750"/>
            <a:chExt cx="10983468" cy="871982"/>
          </a:xfrm>
        </p:grpSpPr>
        <p:sp>
          <p:nvSpPr>
            <p:cNvPr id="33" name="Line 33"/>
            <p:cNvSpPr/>
            <p:nvPr/>
          </p:nvSpPr>
          <p:spPr>
            <a:xfrm>
              <a:off x="609600" y="52387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98932" y="532765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帧内质量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01218" y="5788025"/>
              <a:ext cx="26302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Box / Mask AP、区域误差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066032" y="532765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跨帧身份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068318" y="5788025"/>
              <a:ext cx="29642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HOTA / AssA、IDF1、ID 切换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33207" y="532765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遮挡事件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135493" y="5788025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正确续接、误连与未恢复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603504" y="6410325"/>
            <a:ext cx="10984992" cy="234696"/>
            <a:chOff x="603504" y="6410325"/>
            <a:chExt cx="10984992" cy="234696"/>
          </a:xfrm>
        </p:grpSpPr>
        <p:sp>
          <p:nvSpPr>
            <p:cNvPr id="41" name="TextBox 41"/>
            <p:cNvSpPr txBox="1"/>
            <p:nvPr/>
          </p:nvSpPr>
          <p:spPr>
            <a:xfrm>
              <a:off x="603504" y="6410325"/>
              <a:ext cx="63375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标准 ByteTrack 使用框与分数；仅改掩码不能直接改变其关联。依据：官方实现、HOTA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035132" y="64103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13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15925"/>
            <a:ext cx="5280660" cy="964565"/>
            <a:chOff x="594360" y="415925"/>
            <a:chExt cx="5280660" cy="964565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15925"/>
              <a:ext cx="23268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 通用系统设计与应用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93750"/>
              <a:ext cx="52806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通用检测分割与跟踪分析系统</a:t>
              </a:r>
            </a:p>
          </p:txBody>
        </p:sp>
      </p:grpSp>
      <p:grpSp>
        <p:nvGrpSpPr>
          <p:cNvPr id="27" name="system-pipeline"/>
          <p:cNvGrpSpPr/>
          <p:nvPr/>
        </p:nvGrpSpPr>
        <p:grpSpPr>
          <a:xfrm>
            <a:off x="609600" y="2000250"/>
            <a:ext cx="10972800" cy="2133600"/>
            <a:chOff x="609600" y="2000250"/>
            <a:chExt cx="10972800" cy="2133600"/>
          </a:xfrm>
        </p:grpSpPr>
        <p:sp>
          <p:nvSpPr>
            <p:cNvPr id="5" name="Rectangle 5"/>
            <p:cNvSpPr/>
            <p:nvPr/>
          </p:nvSpPr>
          <p:spPr>
            <a:xfrm>
              <a:off x="609600" y="2000250"/>
              <a:ext cx="1905000" cy="2133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2876550" y="2000250"/>
              <a:ext cx="1905000" cy="2133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5143500" y="2000250"/>
              <a:ext cx="1905000" cy="2133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10450" y="2000250"/>
              <a:ext cx="1905000" cy="2133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677400" y="2000250"/>
              <a:ext cx="1905000" cy="2133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986028" y="2184400"/>
              <a:ext cx="10219944" cy="410718"/>
              <a:chOff x="986028" y="2184400"/>
              <a:chExt cx="10219944" cy="410718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986028" y="2184400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输入适配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3252978" y="2184400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检测分割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519928" y="2184400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空间优化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786878" y="2184400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身份关联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053828" y="2184400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输出分析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791718" y="2673350"/>
              <a:ext cx="10551414" cy="1065657"/>
              <a:chOff x="791718" y="2673350"/>
              <a:chExt cx="10551414" cy="1065657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791718" y="2673350"/>
                <a:ext cx="1483614" cy="10656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925"/>
                  </a:lnSpc>
                </a:pPr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图像与视频</a:t>
                </a:r>
                <a:b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时间戳与 ROI</a:t>
                </a:r>
                <a:b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类别、场景配置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058668" y="2673350"/>
                <a:ext cx="1483614" cy="10656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925"/>
                  </a:lnSpc>
                </a:pPr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统一模型接口</a:t>
                </a:r>
                <a:b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框、分数与掩码</a:t>
                </a:r>
                <a:b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逐帧结果记录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5325618" y="2673350"/>
                <a:ext cx="1483614" cy="10656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925"/>
                  </a:lnSpc>
                </a:pPr>
                <a:r>
                  <a:rPr lang="zh-CN" sz="1650" dirty="0">
                    <a:solidFill>
                      <a:srgbClr val="315E9D"/>
                    </a:solidFill>
                    <a:latin typeface="+mn-lt"/>
                    <a:ea typeface="+mn-ea"/>
                    <a:cs typeface="+mn-cs"/>
                  </a:rPr>
                  <a:t>候选判别</a:t>
                </a:r>
                <a:br>
                  <a:rPr lang="zh-CN" sz="1650" dirty="0">
                    <a:solidFill>
                      <a:srgbClr val="315E9D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650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选择性掩码修正</a:t>
                </a:r>
                <a:br>
                  <a:rPr lang="zh-CN" sz="1650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模块独立对照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592568" y="2673350"/>
                <a:ext cx="1483614" cy="10656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925"/>
                  </a:lnSpc>
                </a:pPr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既有跟踪器接入</a:t>
                </a:r>
                <a:b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丢失与重关联</a:t>
                </a:r>
                <a:b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身份状态管理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9859518" y="2673350"/>
                <a:ext cx="1483614" cy="10656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925"/>
                  </a:lnSpc>
                </a:pPr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轨迹、区域展示</a:t>
                </a:r>
                <a:b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计数、面积统计</a:t>
                </a:r>
                <a:b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记录与报表导出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2590800" y="3057525"/>
              <a:ext cx="7010400" cy="1"/>
              <a:chOff x="2590800" y="3057525"/>
              <a:chExt cx="7010400" cy="1"/>
            </a:xfrm>
          </p:grpSpPr>
          <p:sp>
            <p:nvSpPr>
              <p:cNvPr id="22" name="Line 22"/>
              <p:cNvSpPr/>
              <p:nvPr/>
            </p:nvSpPr>
            <p:spPr>
              <a:xfrm>
                <a:off x="2590800" y="3057525"/>
                <a:ext cx="209550" cy="1"/>
              </a:xfrm>
              <a:prstGeom prst="line">
                <a:avLst/>
              </a:prstGeom>
              <a:noFill/>
              <a:ln w="19050">
                <a:solidFill>
                  <a:srgbClr val="596B80"/>
                </a:solidFill>
                <a:tailEnd type="arrow" w="lg" len="lg"/>
              </a:ln>
            </p:spPr>
          </p:sp>
          <p:sp>
            <p:nvSpPr>
              <p:cNvPr id="23" name="Line 23"/>
              <p:cNvSpPr/>
              <p:nvPr/>
            </p:nvSpPr>
            <p:spPr>
              <a:xfrm>
                <a:off x="4857750" y="3057525"/>
                <a:ext cx="209550" cy="1"/>
              </a:xfrm>
              <a:prstGeom prst="line">
                <a:avLst/>
              </a:prstGeom>
              <a:noFill/>
              <a:ln w="19050">
                <a:solidFill>
                  <a:srgbClr val="596B80"/>
                </a:solidFill>
                <a:tailEnd type="arrow" w="lg" len="lg"/>
              </a:ln>
            </p:spPr>
          </p:sp>
          <p:sp>
            <p:nvSpPr>
              <p:cNvPr id="24" name="Line 24"/>
              <p:cNvSpPr/>
              <p:nvPr/>
            </p:nvSpPr>
            <p:spPr>
              <a:xfrm>
                <a:off x="7124700" y="3057525"/>
                <a:ext cx="209550" cy="1"/>
              </a:xfrm>
              <a:prstGeom prst="line">
                <a:avLst/>
              </a:prstGeom>
              <a:noFill/>
              <a:ln w="19050">
                <a:solidFill>
                  <a:srgbClr val="596B80"/>
                </a:solidFill>
                <a:tailEnd type="arrow" w="lg" len="lg"/>
              </a:ln>
            </p:spPr>
          </p:sp>
          <p:sp>
            <p:nvSpPr>
              <p:cNvPr id="25" name="Line 25"/>
              <p:cNvSpPr/>
              <p:nvPr/>
            </p:nvSpPr>
            <p:spPr>
              <a:xfrm>
                <a:off x="9391650" y="3057525"/>
                <a:ext cx="209550" cy="1"/>
              </a:xfrm>
              <a:prstGeom prst="line">
                <a:avLst/>
              </a:prstGeom>
              <a:noFill/>
              <a:ln w="19050">
                <a:solidFill>
                  <a:srgbClr val="596B80"/>
                </a:solidFill>
                <a:tailEnd type="arrow" w="lg" len="lg"/>
              </a:ln>
            </p:spPr>
          </p:sp>
        </p:grpSp>
      </p:grpSp>
      <p:grpSp>
        <p:nvGrpSpPr>
          <p:cNvPr id="35" name="track-state-contract"/>
          <p:cNvGrpSpPr/>
          <p:nvPr/>
        </p:nvGrpSpPr>
        <p:grpSpPr>
          <a:xfrm>
            <a:off x="598932" y="4556125"/>
            <a:ext cx="10364457" cy="783082"/>
            <a:chOff x="598932" y="4556125"/>
            <a:chExt cx="10364457" cy="783082"/>
          </a:xfrm>
        </p:grpSpPr>
        <p:sp>
          <p:nvSpPr>
            <p:cNvPr id="28" name="TextBox 28"/>
            <p:cNvSpPr txBox="1"/>
            <p:nvPr/>
          </p:nvSpPr>
          <p:spPr>
            <a:xfrm>
              <a:off x="598932" y="455612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身份状态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361057" y="455612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当前已观测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618607" y="455612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短时丢失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638032" y="4556125"/>
              <a:ext cx="23253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重关联 / 新建身份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363343" y="5016500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更新轨迹与可见统计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620893" y="5016500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保留预测，不冒充观测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640318" y="5016500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记录续接和身份变化</a:t>
              </a:r>
            </a:p>
          </p:txBody>
        </p:sp>
      </p:grpSp>
      <p:grpSp>
        <p:nvGrpSpPr>
          <p:cNvPr id="38" name="system-scope"/>
          <p:cNvGrpSpPr/>
          <p:nvPr/>
        </p:nvGrpSpPr>
        <p:grpSpPr>
          <a:xfrm>
            <a:off x="601218" y="5629275"/>
            <a:ext cx="10981182" cy="500507"/>
            <a:chOff x="601218" y="5629275"/>
            <a:chExt cx="10981182" cy="500507"/>
          </a:xfrm>
        </p:grpSpPr>
        <p:sp>
          <p:nvSpPr>
            <p:cNvPr id="36" name="Line 36"/>
            <p:cNvSpPr/>
            <p:nvPr/>
          </p:nvSpPr>
          <p:spPr>
            <a:xfrm>
              <a:off x="609600" y="56292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01218" y="5807075"/>
              <a:ext cx="912380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模型、类别与统计区域可配置；按任务接入跟踪，分别记录可见计数、预测状态与处理时延。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603504" y="6410325"/>
            <a:ext cx="10984992" cy="234696"/>
            <a:chOff x="603504" y="6410325"/>
            <a:chExt cx="10984992" cy="234696"/>
          </a:xfrm>
        </p:grpSpPr>
        <p:sp>
          <p:nvSpPr>
            <p:cNvPr id="39" name="TextBox 39"/>
            <p:cNvSpPr txBox="1"/>
            <p:nvPr/>
          </p:nvSpPr>
          <p:spPr>
            <a:xfrm>
              <a:off x="603504" y="6410325"/>
              <a:ext cx="4212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拟建系统架构：通用接口、方法模块、跟踪集成与应用分析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035132" y="64103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14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15925"/>
            <a:ext cx="5280660" cy="964565"/>
            <a:chOff x="594360" y="415925"/>
            <a:chExt cx="5280660" cy="964565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15925"/>
              <a:ext cx="23268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 通用系统设计与应用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93750"/>
              <a:ext cx="52806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以猪只群体监测开展应用验证</a:t>
              </a:r>
            </a:p>
          </p:txBody>
        </p:sp>
      </p:grpSp>
      <p:grpSp>
        <p:nvGrpSpPr>
          <p:cNvPr id="6" name="case-position"/>
          <p:cNvGrpSpPr/>
          <p:nvPr/>
        </p:nvGrpSpPr>
        <p:grpSpPr>
          <a:xfrm>
            <a:off x="597408" y="1717675"/>
            <a:ext cx="9393936" cy="469392"/>
            <a:chOff x="597408" y="1717675"/>
            <a:chExt cx="9393936" cy="469392"/>
          </a:xfrm>
        </p:grpSpPr>
        <p:sp>
          <p:nvSpPr>
            <p:cNvPr id="5" name="TextBox 5"/>
            <p:cNvSpPr txBox="1"/>
            <p:nvPr/>
          </p:nvSpPr>
          <p:spPr>
            <a:xfrm>
              <a:off x="597408" y="1717675"/>
              <a:ext cx="93939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密集聚集、外观相似与频繁遮挡，构成连续个体分析的具体场景。</a:t>
              </a:r>
            </a:p>
          </p:txBody>
        </p:sp>
      </p:grpSp>
      <p:grpSp>
        <p:nvGrpSpPr>
          <p:cNvPr id="10" name="data-and-labels"/>
          <p:cNvGrpSpPr/>
          <p:nvPr/>
        </p:nvGrpSpPr>
        <p:grpSpPr>
          <a:xfrm>
            <a:off x="609600" y="2552700"/>
            <a:ext cx="3352800" cy="2543175"/>
            <a:chOff x="609600" y="2552700"/>
            <a:chExt cx="3352800" cy="2543175"/>
          </a:xfrm>
        </p:grpSpPr>
        <p:sp>
          <p:nvSpPr>
            <p:cNvPr id="7" name="Rectangle 7"/>
            <p:cNvSpPr/>
            <p:nvPr/>
          </p:nvSpPr>
          <p:spPr>
            <a:xfrm>
              <a:off x="609600" y="2552700"/>
              <a:ext cx="3352800" cy="25431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26008" y="2708275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数据与标注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29818" y="3175000"/>
              <a:ext cx="2740914" cy="1465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复用已有动物静态图像</a:t>
              </a:r>
              <a:b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新增连续视频与跨帧身份</a:t>
              </a:r>
              <a:b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标注遮挡、重现与可见性</a:t>
              </a:r>
              <a:b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按视频分组，隔离开发与评价</a:t>
              </a:r>
            </a:p>
          </p:txBody>
        </p:sp>
      </p:grpSp>
      <p:grpSp>
        <p:nvGrpSpPr>
          <p:cNvPr id="14" name="controlled-comparison"/>
          <p:cNvGrpSpPr/>
          <p:nvPr/>
        </p:nvGrpSpPr>
        <p:grpSpPr>
          <a:xfrm>
            <a:off x="4419600" y="2552700"/>
            <a:ext cx="3352800" cy="2543175"/>
            <a:chOff x="4419600" y="2552700"/>
            <a:chExt cx="3352800" cy="2543175"/>
          </a:xfrm>
        </p:grpSpPr>
        <p:sp>
          <p:nvSpPr>
            <p:cNvPr id="11" name="Rectangle 11"/>
            <p:cNvSpPr/>
            <p:nvPr/>
          </p:nvSpPr>
          <p:spPr>
            <a:xfrm>
              <a:off x="4419600" y="2552700"/>
              <a:ext cx="3352800" cy="25431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636008" y="270827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方法对照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639818" y="3175000"/>
              <a:ext cx="2321814" cy="1465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固定跟踪器及关联参数</a:t>
              </a:r>
              <a:b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比较基线、单模块与组合</a:t>
              </a:r>
              <a:b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按密度、遮挡时长分层</a:t>
              </a:r>
              <a:b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分别分析空间与身份收益</a:t>
              </a:r>
            </a:p>
          </p:txBody>
        </p:sp>
      </p:grpSp>
      <p:grpSp>
        <p:nvGrpSpPr>
          <p:cNvPr id="18" name="application-evaluation"/>
          <p:cNvGrpSpPr/>
          <p:nvPr/>
        </p:nvGrpSpPr>
        <p:grpSpPr>
          <a:xfrm>
            <a:off x="8229600" y="2552700"/>
            <a:ext cx="3352800" cy="2543175"/>
            <a:chOff x="8229600" y="2552700"/>
            <a:chExt cx="3352800" cy="2543175"/>
          </a:xfrm>
        </p:grpSpPr>
        <p:sp>
          <p:nvSpPr>
            <p:cNvPr id="15" name="Rectangle 15"/>
            <p:cNvSpPr/>
            <p:nvPr/>
          </p:nvSpPr>
          <p:spPr>
            <a:xfrm>
              <a:off x="8229600" y="2552700"/>
              <a:ext cx="3352800" cy="25431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46008" y="270827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应用评价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449818" y="3175000"/>
              <a:ext cx="2531364" cy="1465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检测分割与区域统计误差</a:t>
              </a:r>
              <a:b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身份连续性与遮挡后续接</a:t>
              </a:r>
              <a:b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同时统计误连和未恢复</a:t>
              </a:r>
              <a:b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端到端时延、掉帧与稳定性</a:t>
              </a:r>
            </a:p>
          </p:txBody>
        </p:sp>
      </p:grpSp>
      <p:grpSp>
        <p:nvGrpSpPr>
          <p:cNvPr id="21" name="expected-outcome"/>
          <p:cNvGrpSpPr/>
          <p:nvPr/>
        </p:nvGrpSpPr>
        <p:grpSpPr>
          <a:xfrm>
            <a:off x="597408" y="5470525"/>
            <a:ext cx="8101584" cy="764032"/>
            <a:chOff x="597408" y="5470525"/>
            <a:chExt cx="8101584" cy="764032"/>
          </a:xfrm>
        </p:grpSpPr>
        <p:sp>
          <p:nvSpPr>
            <p:cNvPr id="19" name="TextBox 19"/>
            <p:cNvSpPr txBox="1"/>
            <p:nvPr/>
          </p:nvSpPr>
          <p:spPr>
            <a:xfrm>
              <a:off x="597408" y="5470525"/>
              <a:ext cx="810158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预期形成：两项空间方法与可配置的通用感知分析系统。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1218" y="5911850"/>
              <a:ext cx="66804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猪只承担应用验证；跨类别与跨场景的有效性，通过独立数据评价。</a:t>
              </a:r>
            </a:p>
          </p:txBody>
        </p:sp>
      </p:grpSp>
      <p:grpSp>
        <p:nvGrpSpPr>
          <p:cNvPr id="24" name="footer"/>
          <p:cNvGrpSpPr/>
          <p:nvPr/>
        </p:nvGrpSpPr>
        <p:grpSpPr>
          <a:xfrm>
            <a:off x="603504" y="6410325"/>
            <a:ext cx="10984992" cy="234696"/>
            <a:chOff x="603504" y="6410325"/>
            <a:chExt cx="10984992" cy="234696"/>
          </a:xfrm>
        </p:grpSpPr>
        <p:sp>
          <p:nvSpPr>
            <p:cNvPr id="22" name="TextBox 22"/>
            <p:cNvSpPr txBox="1"/>
            <p:nvPr/>
          </p:nvSpPr>
          <p:spPr>
            <a:xfrm>
              <a:off x="603504" y="6410325"/>
              <a:ext cx="35661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应用验证方案；视频身份与遮挡事件评价尚待实施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035132" y="64103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15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15925"/>
            <a:ext cx="5280660" cy="964565"/>
            <a:chOff x="594360" y="415925"/>
            <a:chExt cx="5280660" cy="964565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15925"/>
              <a:ext cx="16194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附录 A 研究基础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93750"/>
              <a:ext cx="52806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现有实验基础与后续研究衔接</a:t>
              </a:r>
            </a:p>
          </p:txBody>
        </p:sp>
      </p:grpSp>
      <p:graphicFrame>
        <p:nvGraphicFramePr>
          <p:cNvPr id="5" name="reuse-matrix"/>
          <p:cNvGraphicFramePr>
            <a:graphicFrameLocks noGrp="1"/>
          </p:cNvGraphicFramePr>
          <p:nvPr/>
        </p:nvGraphicFramePr>
        <p:xfrm>
          <a:off x="609600" y="1800225"/>
          <a:ext cx="10972800" cy="33909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590800"/>
                <a:gridCol w="4019550"/>
                <a:gridCol w="4362450"/>
              </a:tblGrid>
              <a:tr h="647700">
                <a:tc>
                  <a:txBody>
                    <a:bodyPr/>
                    <a:lstStyle/>
                    <a:p>
                      <a:pPr/>
                      <a:r>
                        <a:rPr lang="zh-CN" sz="21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现有工作</a:t>
                      </a:r>
                    </a:p>
                  </a:txBody>
                  <a:tcPr anchor="ctr" marL="1905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21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可复用内容</a:t>
                      </a:r>
                    </a:p>
                  </a:txBody>
                  <a:tcPr anchor="ctr" marL="1905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21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后续研究任务</a:t>
                      </a:r>
                    </a:p>
                  </a:txBody>
                  <a:tcPr anchor="ctr" marL="1905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实例诊断实验</a:t>
                      </a:r>
                    </a:p>
                  </a:txBody>
                  <a:tcPr anchor="ctr" marL="1905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分层评价与候选追踪</a:t>
                      </a:r>
                    </a:p>
                  </a:txBody>
                  <a:tcPr anchor="ctr" marL="1905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新模型的实例对应分析</a:t>
                      </a:r>
                    </a:p>
                  </a:txBody>
                  <a:tcPr anchor="ctr" marL="1905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RCMC 修正原型</a:t>
                      </a:r>
                    </a:p>
                  </a:txBody>
                  <a:tcPr anchor="ctr" marL="1905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修正规则、收益模型与对照</a:t>
                      </a:r>
                    </a:p>
                  </a:txBody>
                  <a:tcPr anchor="ctr" marL="1905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密集子集与邻接特征消融</a:t>
                      </a:r>
                    </a:p>
                  </a:txBody>
                  <a:tcPr anchor="ctr" marL="1905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动物静态数据</a:t>
                      </a:r>
                    </a:p>
                  </a:txBody>
                  <a:tcPr anchor="ctr" marL="1905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数据清单、推理与评估</a:t>
                      </a:r>
                    </a:p>
                  </a:txBody>
                  <a:tcPr anchor="ctr" marL="1905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视频 ID 与遮挡事件标注</a:t>
                      </a:r>
                    </a:p>
                  </a:txBody>
                  <a:tcPr anchor="ctr" marL="1905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推理与导出组件</a:t>
                      </a:r>
                    </a:p>
                  </a:txBody>
                  <a:tcPr anchor="ctr" marL="1905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模型推理、掩码与结果保存</a:t>
                      </a:r>
                    </a:p>
                  </a:txBody>
                  <a:tcPr anchor="ctr" marL="1905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跟踪接入、界面与系统测试</a:t>
                      </a:r>
                    </a:p>
                  </a:txBody>
                  <a:tcPr anchor="ctr" marL="1905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8" name="reuse-boundary"/>
          <p:cNvGrpSpPr/>
          <p:nvPr/>
        </p:nvGrpSpPr>
        <p:grpSpPr>
          <a:xfrm>
            <a:off x="598932" y="5480050"/>
            <a:ext cx="9915906" cy="735457"/>
            <a:chOff x="598932" y="5480050"/>
            <a:chExt cx="9915906" cy="735457"/>
          </a:xfrm>
        </p:grpSpPr>
        <p:sp>
          <p:nvSpPr>
            <p:cNvPr id="6" name="TextBox 6"/>
            <p:cNvSpPr txBox="1"/>
            <p:nvPr/>
          </p:nvSpPr>
          <p:spPr>
            <a:xfrm>
              <a:off x="598932" y="5480050"/>
              <a:ext cx="991590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复用重点：数据、诊断流程与修正原型；新增工作集中于方法验证和系统集成。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1218" y="5892800"/>
              <a:ext cx="75689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已有候选排序方案未达到预设评价要求，其诊断流程为新方案设计提供依据。</a:t>
              </a:r>
            </a:p>
          </p:txBody>
        </p:sp>
      </p:grpSp>
      <p:grpSp>
        <p:nvGrpSpPr>
          <p:cNvPr id="11" name="footer"/>
          <p:cNvGrpSpPr/>
          <p:nvPr/>
        </p:nvGrpSpPr>
        <p:grpSpPr>
          <a:xfrm>
            <a:off x="603504" y="6410325"/>
            <a:ext cx="10984992" cy="234696"/>
            <a:chOff x="603504" y="6410325"/>
            <a:chExt cx="10984992" cy="234696"/>
          </a:xfrm>
        </p:grpSpPr>
        <p:sp>
          <p:nvSpPr>
            <p:cNvPr id="9" name="TextBox 9"/>
            <p:cNvSpPr txBox="1"/>
            <p:nvPr/>
          </p:nvSpPr>
          <p:spPr>
            <a:xfrm>
              <a:off x="603504" y="641032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研究基础与工作安排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108131" y="6410325"/>
              <a:ext cx="4803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附录 A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15925"/>
            <a:ext cx="4876800" cy="964565"/>
            <a:chOff x="594360" y="415925"/>
            <a:chExt cx="4876800" cy="964565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15925"/>
              <a:ext cx="20636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附录 B 前期探索结果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93750"/>
              <a:ext cx="48768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选择性掩码修正的前期探索</a:t>
              </a:r>
            </a:p>
          </p:txBody>
        </p:sp>
      </p:grpSp>
      <p:grpSp>
        <p:nvGrpSpPr>
          <p:cNvPr id="6" name="protocol"/>
          <p:cNvGrpSpPr/>
          <p:nvPr/>
        </p:nvGrpSpPr>
        <p:grpSpPr>
          <a:xfrm>
            <a:off x="598932" y="1660525"/>
            <a:ext cx="9042425" cy="410718"/>
            <a:chOff x="598932" y="1660525"/>
            <a:chExt cx="9042425" cy="410718"/>
          </a:xfrm>
        </p:grpSpPr>
        <p:sp>
          <p:nvSpPr>
            <p:cNvPr id="5" name="TextBox 5"/>
            <p:cNvSpPr txBox="1"/>
            <p:nvPr/>
          </p:nvSpPr>
          <p:spPr>
            <a:xfrm>
              <a:off x="598932" y="1660525"/>
              <a:ext cx="904242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开发性评价：COCO val2017，4,500 幅图像，32,831 个非 crowd 标注</a:t>
              </a:r>
            </a:p>
          </p:txBody>
        </p:sp>
      </p:grpSp>
      <p:graphicFrame>
        <p:nvGraphicFramePr>
          <p:cNvPr id="7" name="rcmc-metrics"/>
          <p:cNvGraphicFramePr>
            <a:graphicFrameLocks noGrp="1"/>
          </p:cNvGraphicFramePr>
          <p:nvPr/>
        </p:nvGraphicFramePr>
        <p:xfrm>
          <a:off x="609600" y="2286000"/>
          <a:ext cx="10972800" cy="20955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200400"/>
                <a:gridCol w="2190750"/>
                <a:gridCol w="2438400"/>
                <a:gridCol w="3143250"/>
              </a:tblGrid>
              <a:tr h="647700">
                <a:tc>
                  <a:txBody>
                    <a:bodyPr/>
                    <a:lstStyle/>
                    <a:p>
                      <a:pPr/>
                      <a:r>
                        <a:rPr lang="zh-CN" sz="21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模型</a:t>
                      </a:r>
                    </a:p>
                  </a:txBody>
                  <a:tcPr anchor="ctr" marL="190500" marR="1905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21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基线</a:t>
                      </a:r>
                    </a:p>
                  </a:txBody>
                  <a:tcPr anchor="ctr" marL="190500" marR="1905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21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固定平滑</a:t>
                      </a:r>
                    </a:p>
                  </a:txBody>
                  <a:tcPr anchor="ctr" marL="190500" marR="1905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21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选择性响应门控</a:t>
                      </a:r>
                    </a:p>
                  </a:txBody>
                  <a:tcPr anchor="ctr" marL="190500" marR="1905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/>
                      <a:r>
                        <a:rPr lang="en-US" sz="21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YOLO26m-seg</a:t>
                      </a:r>
                    </a:p>
                  </a:txBody>
                  <a:tcPr anchor="ctr" marL="190500" marR="1905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21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43.38</a:t>
                      </a:r>
                    </a:p>
                  </a:txBody>
                  <a:tcPr anchor="ctr" marL="190500" marR="1905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21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43.83</a:t>
                      </a:r>
                    </a:p>
                  </a:txBody>
                  <a:tcPr anchor="ctr" marL="190500" marR="1905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21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43.94</a:t>
                      </a:r>
                    </a:p>
                  </a:txBody>
                  <a:tcPr anchor="ctr" marL="190500" marR="1905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/>
                      <a:r>
                        <a:rPr lang="en-US" sz="21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YOLO26s-seg</a:t>
                      </a:r>
                    </a:p>
                  </a:txBody>
                  <a:tcPr anchor="ctr" marL="190500" marR="1905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21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39.42</a:t>
                      </a:r>
                    </a:p>
                  </a:txBody>
                  <a:tcPr anchor="ctr" marL="190500" marR="1905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21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39.80</a:t>
                      </a:r>
                    </a:p>
                  </a:txBody>
                  <a:tcPr anchor="ctr" marL="190500" marR="1905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21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39.90</a:t>
                      </a:r>
                    </a:p>
                  </a:txBody>
                  <a:tcPr anchor="ctr" marL="190500" marR="1905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11" name="tradeoff"/>
          <p:cNvGrpSpPr/>
          <p:nvPr/>
        </p:nvGrpSpPr>
        <p:grpSpPr>
          <a:xfrm>
            <a:off x="601218" y="4578350"/>
            <a:ext cx="5791962" cy="913257"/>
            <a:chOff x="601218" y="4578350"/>
            <a:chExt cx="5791962" cy="913257"/>
          </a:xfrm>
        </p:grpSpPr>
        <p:sp>
          <p:nvSpPr>
            <p:cNvPr id="8" name="TextBox 8"/>
            <p:cNvSpPr txBox="1"/>
            <p:nvPr/>
          </p:nvSpPr>
          <p:spPr>
            <a:xfrm>
              <a:off x="601218" y="4578350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固定平滑与选择性门控的实例变化对照：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1218" y="4873625"/>
              <a:ext cx="57919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m：修复 907 → 801，退化 576 → 445，净修复 331 → 356。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1218" y="5168900"/>
              <a:ext cx="574753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s：修复 841 → 729，退化 556 → 389，净修复 285 → 340。</a:t>
              </a:r>
            </a:p>
          </p:txBody>
        </p:sp>
      </p:grpSp>
      <p:grpSp>
        <p:nvGrpSpPr>
          <p:cNvPr id="14" name="evidence-boundary"/>
          <p:cNvGrpSpPr/>
          <p:nvPr/>
        </p:nvGrpSpPr>
        <p:grpSpPr>
          <a:xfrm>
            <a:off x="601218" y="5597525"/>
            <a:ext cx="6786905" cy="617982"/>
            <a:chOff x="601218" y="5597525"/>
            <a:chExt cx="6786905" cy="617982"/>
          </a:xfrm>
        </p:grpSpPr>
        <p:sp>
          <p:nvSpPr>
            <p:cNvPr id="12" name="TextBox 12"/>
            <p:cNvSpPr txBox="1"/>
            <p:nvPr/>
          </p:nvSpPr>
          <p:spPr>
            <a:xfrm>
              <a:off x="601218" y="5597525"/>
              <a:ext cx="67869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评价范围：单次门控拟合，评价数据曾参与开发，AP 尚无置信区间。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1218" y="5892800"/>
              <a:ext cx="5347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后续验证：密集子集、邻接信息增益及独立应用数据。</a:t>
              </a:r>
            </a:p>
          </p:txBody>
        </p:sp>
      </p:grpSp>
      <p:grpSp>
        <p:nvGrpSpPr>
          <p:cNvPr id="17" name="footer"/>
          <p:cNvGrpSpPr/>
          <p:nvPr/>
        </p:nvGrpSpPr>
        <p:grpSpPr>
          <a:xfrm>
            <a:off x="603504" y="6410325"/>
            <a:ext cx="10984992" cy="234696"/>
            <a:chOff x="603504" y="6410325"/>
            <a:chExt cx="10984992" cy="234696"/>
          </a:xfrm>
        </p:grpSpPr>
        <p:sp>
          <p:nvSpPr>
            <p:cNvPr id="15" name="TextBox 15"/>
            <p:cNvSpPr txBox="1"/>
            <p:nvPr/>
          </p:nvSpPr>
          <p:spPr>
            <a:xfrm>
              <a:off x="603504" y="6410325"/>
              <a:ext cx="48306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指标：Mask AP（0—100）；前期 RCMC 修正原型，同条件三组对照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108131" y="6410325"/>
              <a:ext cx="4803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附录 B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15925"/>
            <a:ext cx="4876800" cy="964565"/>
            <a:chOff x="594360" y="415925"/>
            <a:chExt cx="4876800" cy="964565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15925"/>
              <a:ext cx="16194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附录 C 研究计划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93750"/>
              <a:ext cx="48768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研究实施与分阶段验证安排</a:t>
              </a:r>
            </a:p>
          </p:txBody>
        </p:sp>
      </p:grpSp>
      <p:grpSp>
        <p:nvGrpSpPr>
          <p:cNvPr id="8" name="protocol-first"/>
          <p:cNvGrpSpPr/>
          <p:nvPr/>
        </p:nvGrpSpPr>
        <p:grpSpPr>
          <a:xfrm>
            <a:off x="594360" y="1822450"/>
            <a:ext cx="8807196" cy="586740"/>
            <a:chOff x="594360" y="1822450"/>
            <a:chExt cx="8807196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594360" y="1822450"/>
              <a:ext cx="49693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492758" y="184150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评价方案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008882" y="1879600"/>
              <a:ext cx="539267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明确序列身份、遮挡事件与独立评价分组。</a:t>
              </a:r>
            </a:p>
          </p:txBody>
        </p:sp>
      </p:grpSp>
      <p:grpSp>
        <p:nvGrpSpPr>
          <p:cNvPr id="12" name="independent-modules"/>
          <p:cNvGrpSpPr/>
          <p:nvPr/>
        </p:nvGrpSpPr>
        <p:grpSpPr>
          <a:xfrm>
            <a:off x="594360" y="2765425"/>
            <a:ext cx="8807196" cy="586740"/>
            <a:chOff x="594360" y="2765425"/>
            <a:chExt cx="8807196" cy="586740"/>
          </a:xfrm>
        </p:grpSpPr>
        <p:sp>
          <p:nvSpPr>
            <p:cNvPr id="9" name="TextBox 9"/>
            <p:cNvSpPr txBox="1"/>
            <p:nvPr/>
          </p:nvSpPr>
          <p:spPr>
            <a:xfrm>
              <a:off x="594360" y="2765425"/>
              <a:ext cx="49693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92758" y="278447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方法验证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008882" y="2822575"/>
              <a:ext cx="539267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候选关系对照与修正收益预测的特征消融。</a:t>
              </a:r>
            </a:p>
          </p:txBody>
        </p:sp>
      </p:grpSp>
      <p:grpSp>
        <p:nvGrpSpPr>
          <p:cNvPr id="16" name="combined-evaluation"/>
          <p:cNvGrpSpPr/>
          <p:nvPr/>
        </p:nvGrpSpPr>
        <p:grpSpPr>
          <a:xfrm>
            <a:off x="594360" y="3708400"/>
            <a:ext cx="9089898" cy="586740"/>
            <a:chOff x="594360" y="3708400"/>
            <a:chExt cx="9089898" cy="586740"/>
          </a:xfrm>
        </p:grpSpPr>
        <p:sp>
          <p:nvSpPr>
            <p:cNvPr id="13" name="TextBox 13"/>
            <p:cNvSpPr txBox="1"/>
            <p:nvPr/>
          </p:nvSpPr>
          <p:spPr>
            <a:xfrm>
              <a:off x="594360" y="3708400"/>
              <a:ext cx="49693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92758" y="372745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联合评价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008882" y="3765550"/>
              <a:ext cx="567537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固定跟踪器，比较空间方法与身份关联效果。</a:t>
              </a:r>
            </a:p>
          </p:txBody>
        </p:sp>
      </p:grpSp>
      <p:grpSp>
        <p:nvGrpSpPr>
          <p:cNvPr id="20" name="system-validation"/>
          <p:cNvGrpSpPr/>
          <p:nvPr/>
        </p:nvGrpSpPr>
        <p:grpSpPr>
          <a:xfrm>
            <a:off x="594360" y="4651375"/>
            <a:ext cx="8807196" cy="586740"/>
            <a:chOff x="594360" y="4651375"/>
            <a:chExt cx="8807196" cy="586740"/>
          </a:xfrm>
        </p:grpSpPr>
        <p:sp>
          <p:nvSpPr>
            <p:cNvPr id="17" name="TextBox 17"/>
            <p:cNvSpPr txBox="1"/>
            <p:nvPr/>
          </p:nvSpPr>
          <p:spPr>
            <a:xfrm>
              <a:off x="594360" y="4651375"/>
              <a:ext cx="49693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92758" y="467042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系统验证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008882" y="4708525"/>
              <a:ext cx="539267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开展应用验证，测量时延、掉帧与稳定性。</a:t>
              </a:r>
            </a:p>
          </p:txBody>
        </p:sp>
      </p:grpSp>
      <p:grpSp>
        <p:nvGrpSpPr>
          <p:cNvPr id="23" name="next-step"/>
          <p:cNvGrpSpPr/>
          <p:nvPr/>
        </p:nvGrpSpPr>
        <p:grpSpPr>
          <a:xfrm>
            <a:off x="609600" y="5495925"/>
            <a:ext cx="10972800" cy="628650"/>
            <a:chOff x="609600" y="5495925"/>
            <a:chExt cx="10972800" cy="628650"/>
          </a:xfrm>
        </p:grpSpPr>
        <p:sp>
          <p:nvSpPr>
            <p:cNvPr id="21" name="Rectangle 21"/>
            <p:cNvSpPr/>
            <p:nvPr/>
          </p:nvSpPr>
          <p:spPr>
            <a:xfrm>
              <a:off x="609600" y="5495925"/>
              <a:ext cx="10972800" cy="6286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27532" y="5651500"/>
              <a:ext cx="821969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近期工作：确定视频标注与评价口径，接入基础推理和跟踪流程。</a:t>
              </a:r>
            </a:p>
          </p:txBody>
        </p:sp>
      </p:grpSp>
      <p:grpSp>
        <p:nvGrpSpPr>
          <p:cNvPr id="26" name="footer"/>
          <p:cNvGrpSpPr/>
          <p:nvPr/>
        </p:nvGrpSpPr>
        <p:grpSpPr>
          <a:xfrm>
            <a:off x="603504" y="6410325"/>
            <a:ext cx="10984992" cy="234696"/>
            <a:chOff x="603504" y="6410325"/>
            <a:chExt cx="10984992" cy="234696"/>
          </a:xfrm>
        </p:grpSpPr>
        <p:sp>
          <p:nvSpPr>
            <p:cNvPr id="24" name="TextBox 24"/>
            <p:cNvSpPr txBox="1"/>
            <p:nvPr/>
          </p:nvSpPr>
          <p:spPr>
            <a:xfrm>
              <a:off x="603504" y="641032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毕业论文研究计划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108131" y="6410325"/>
              <a:ext cx="4803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附录 C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dense_instance_thesis">
  <a:themeElements>
    <a:clrScheme name="dense_instance_thesis">
      <a:dk1>
        <a:srgbClr val="25374C"/>
      </a:dk1>
      <a:lt1>
        <a:srgbClr val="FFFFFF"/>
      </a:lt1>
      <a:dk2>
        <a:srgbClr val="1F497D"/>
      </a:dk2>
      <a:lt2>
        <a:srgbClr val="F1F5F8"/>
      </a:lt2>
      <a:accent1>
        <a:srgbClr val="172B46"/>
      </a:accent1>
      <a:accent2>
        <a:srgbClr val="007F82"/>
      </a:accent2>
      <a:accent3>
        <a:srgbClr val="C36D37"/>
      </a:accent3>
      <a:accent4>
        <a:srgbClr val="172B46"/>
      </a:accent4>
      <a:accent5>
        <a:srgbClr val="596B80"/>
      </a:accent5>
      <a:accent6>
        <a:srgbClr val="D4DEE7"/>
      </a:accent6>
      <a:hlink>
        <a:srgbClr val="007F82"/>
      </a:hlink>
      <a:folHlink>
        <a:srgbClr val="C36D37"/>
      </a:folHlink>
    </a:clrScheme>
    <a:fontScheme name="dense_instance_thesis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nse_instance_thes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dense_instance_thesis">
  <a:themeElements>
    <a:clrScheme name="dense_instance_thesis">
      <a:dk1>
        <a:srgbClr val="25374C"/>
      </a:dk1>
      <a:lt1>
        <a:srgbClr val="FFFFFF"/>
      </a:lt1>
      <a:dk2>
        <a:srgbClr val="1F497D"/>
      </a:dk2>
      <a:lt2>
        <a:srgbClr val="F1F5F8"/>
      </a:lt2>
      <a:accent1>
        <a:srgbClr val="172B46"/>
      </a:accent1>
      <a:accent2>
        <a:srgbClr val="007F82"/>
      </a:accent2>
      <a:accent3>
        <a:srgbClr val="C36D37"/>
      </a:accent3>
      <a:accent4>
        <a:srgbClr val="172B46"/>
      </a:accent4>
      <a:accent5>
        <a:srgbClr val="596B80"/>
      </a:accent5>
      <a:accent6>
        <a:srgbClr val="D4DEE7"/>
      </a:accent6>
      <a:hlink>
        <a:srgbClr val="007F82"/>
      </a:hlink>
      <a:folHlink>
        <a:srgbClr val="C36D37"/>
      </a:folHlink>
    </a:clrScheme>
    <a:fontScheme name="dense_instance_thesis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nse_instance_thes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2026-10-14T05:20:35Z</dcterms:created>
  <dcterms:modified xsi:type="dcterms:W3CDTF">2026-10-14T05:20:35Z</dcterms:modified>
  <cp:category/>
  <cp:contentStatus/>
</cp:coreProperties>
</file>