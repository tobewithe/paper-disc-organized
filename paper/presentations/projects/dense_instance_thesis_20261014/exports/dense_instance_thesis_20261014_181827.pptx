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9"/>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2000" cy="6858000" type="screen16x9"/>
  <p:notesSz cx="6858000" cy="9144000"/>
  <p:defaultTextStyle>
    <a:defPPr>
      <a:defRPr lang="zh-CN"/>
    </a:defPPr>
    <a:lvl1pPr marL="0" algn="l" defTabSz="457200" rtl="0" eaLnBrk="1" latinLnBrk="0" hangingPunct="1">
      <a:defRPr sz="1800" kern="1200" lang="zh-CN">
        <a:solidFill>
          <a:schemeClr val="tx1"/>
        </a:solidFill>
        <a:latin typeface="+mn-lt"/>
        <a:ea typeface="+mn-ea"/>
        <a:cs typeface="+mn-cs"/>
      </a:defRPr>
    </a:lvl1pPr>
    <a:lvl2pPr marL="457200" algn="l" defTabSz="457200" rtl="0" eaLnBrk="1" latinLnBrk="0" hangingPunct="1">
      <a:defRPr sz="1800" kern="1200" lang="zh-CN">
        <a:solidFill>
          <a:schemeClr val="tx1"/>
        </a:solidFill>
        <a:latin typeface="+mn-lt"/>
        <a:ea typeface="+mn-ea"/>
        <a:cs typeface="+mn-cs"/>
      </a:defRPr>
    </a:lvl2pPr>
    <a:lvl3pPr marL="914400" algn="l" defTabSz="457200" rtl="0" eaLnBrk="1" latinLnBrk="0" hangingPunct="1">
      <a:defRPr sz="1800" kern="1200" lang="zh-CN">
        <a:solidFill>
          <a:schemeClr val="tx1"/>
        </a:solidFill>
        <a:latin typeface="+mn-lt"/>
        <a:ea typeface="+mn-ea"/>
        <a:cs typeface="+mn-cs"/>
      </a:defRPr>
    </a:lvl3pPr>
    <a:lvl4pPr marL="1371600" algn="l" defTabSz="457200" rtl="0" eaLnBrk="1" latinLnBrk="0" hangingPunct="1">
      <a:defRPr sz="1800" kern="1200" lang="zh-CN">
        <a:solidFill>
          <a:schemeClr val="tx1"/>
        </a:solidFill>
        <a:latin typeface="+mn-lt"/>
        <a:ea typeface="+mn-ea"/>
        <a:cs typeface="+mn-cs"/>
      </a:defRPr>
    </a:lvl4pPr>
    <a:lvl5pPr marL="1828800" algn="l" defTabSz="457200" rtl="0" eaLnBrk="1" latinLnBrk="0" hangingPunct="1">
      <a:defRPr sz="1800" kern="1200" lang="zh-CN">
        <a:solidFill>
          <a:schemeClr val="tx1"/>
        </a:solidFill>
        <a:latin typeface="+mn-lt"/>
        <a:ea typeface="+mn-ea"/>
        <a:cs typeface="+mn-cs"/>
      </a:defRPr>
    </a:lvl5pPr>
    <a:lvl6pPr marL="2286000" algn="l" defTabSz="457200" rtl="0" eaLnBrk="1" latinLnBrk="0" hangingPunct="1">
      <a:defRPr sz="1800" kern="1200" lang="zh-CN">
        <a:solidFill>
          <a:schemeClr val="tx1"/>
        </a:solidFill>
        <a:latin typeface="+mn-lt"/>
        <a:ea typeface="+mn-ea"/>
        <a:cs typeface="+mn-cs"/>
      </a:defRPr>
    </a:lvl6pPr>
    <a:lvl7pPr marL="2743200" algn="l" defTabSz="457200" rtl="0" eaLnBrk="1" latinLnBrk="0" hangingPunct="1">
      <a:defRPr sz="1800" kern="1200" lang="zh-CN">
        <a:solidFill>
          <a:schemeClr val="tx1"/>
        </a:solidFill>
        <a:latin typeface="+mn-lt"/>
        <a:ea typeface="+mn-ea"/>
        <a:cs typeface="+mn-cs"/>
      </a:defRPr>
    </a:lvl7pPr>
    <a:lvl8pPr marL="3200400" algn="l" defTabSz="457200" rtl="0" eaLnBrk="1" latinLnBrk="0" hangingPunct="1">
      <a:defRPr sz="1800" kern="1200" lang="zh-CN">
        <a:solidFill>
          <a:schemeClr val="tx1"/>
        </a:solidFill>
        <a:latin typeface="+mn-lt"/>
        <a:ea typeface="+mn-ea"/>
        <a:cs typeface="+mn-cs"/>
      </a:defRPr>
    </a:lvl8pPr>
    <a:lvl9pPr marL="3657600" algn="l" defTabSz="457200" rtl="0" eaLnBrk="1" latinLnBrk="0" hangingPunct="1">
      <a:defRPr sz="1800" kern="1200" lang="zh-CN">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  <Relationship Id="rId29"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zh-C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zh-C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zh-C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zh-CN"/>
          </a:p>
        </p:txBody>
      </p:sp>
    </p:spTree>
  </p:cSld>
  <p:clrMap bg1="lt1" tx1="dk1" bg2="lt2" tx2="dk2" accent1="accent1" accent2="accent2" accent3="accent3" accent4="accent4" accent5="accent5" accent6="accent6" hlink="hlink" folHlink="folHlink"/>
  <p:hf/>
  <p:notesStyle>
    <a:lvl1pPr marL="0" algn="l">
      <a:defRPr sz="1200" lang="zh-C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各位老师好，本次汇报的题目是“面向密集场景的检测分割与持续跟踪方法及系统研究”。课题面向拥挤环境中的连续个体监测，希望把单张图像中的识别结果，进一步组织成可持续、可回查的个体记录。</a:t>
            </a:r>
          </a:p>
          <a:p>
            <a:pPr/>
            <a:endParaRPr lang="zh-CN" dirty="0"/>
          </a:p>
          <a:p>
            <a:pPr/>
            <a:r>
              <a:rPr lang="zh-CN" dirty="0"/>
              <a:t>汇报分为研究背景、研究方法、系统设计和研究安排四个部分。研究方法包括图像中的个体检测分割、视频中的身份保持，以及遮挡后的身份恢复。其中，图像部分已经有模型和实验基础，后两个模块目前是拟开展方案。</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动物群体、人员和车辆监测，都需要持续记录具体个体。实际使用时，需要了解当前能看到多少个体，每个个体出现在哪里，以及在某个区域停留了多久。</a:t>
            </a:r>
          </a:p>
          <a:p>
            <a:pPr/>
            <a:endParaRPr lang="zh-CN" dirty="0"/>
          </a:p>
          <a:p>
            <a:pPr/>
            <a:r>
              <a:rPr lang="zh-CN" dirty="0"/>
              <a:t>如果还需要分析个体的可见区域，就要进一步分开相邻个体的轮廓。数量基本正确，并不代表每个个体的区域记录也正确。只有这些记录持续稳定，后续的数量统计、位置分析和行为研究才有可靠基础。</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现有技术已经能够在图像中找到目标的位置，并描出个体轮廓。在视频中，也可以给目标分配编号，连续跟随其移动。因此，检测、分割和跟踪已经提供了比较明确的技术基础。</a:t>
            </a:r>
          </a:p>
          <a:p>
            <a:pPr/>
            <a:endParaRPr lang="zh-CN" dirty="0"/>
          </a:p>
          <a:p>
            <a:pPr/>
            <a:r>
              <a:rPr lang="zh-CN" dirty="0"/>
              <a:t>但是目前，在密集场景下保持稳定的个体记录仍有困难。个体挤在一起、彼此接触，或者被遮挡较长时间时，输出可能前后不一致，连续记录也可能中断。图像识别准确，并不能直接说明视频中的每个身份都能一直保持正确。本课题关注的就是这些具体条件下的可靠性。</a:t>
            </a:r>
          </a:p>
          <a:p>
            <a:pPr/>
            <a:endParaRPr lang="zh-CN" dirty="0"/>
          </a:p>
          <a:p>
            <a:pPr/>
            <a:r>
              <a:rPr lang="zh-CN" dirty="0"/>
              <a:t>视频关联能力及低置信度观测造成轨迹断裂的问题，可参见 [ByteTrack 原论文](https://arxiv.org/abs/2110.06864)；运动与外观联合关联可参见 [BoT-SORT 原论文](https://arxiv.org/abs/2206.14651)。这里概括研究背景，不将文献成绩视为本项目结果。</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这里把实际困难归纳为三种情况。第一是个体密集接触，同一个体可能被重复识别，也可能漏掉某个个体；即使检测框存在，相邻个体的轮廓仍可能混在一起。</a:t>
            </a:r>
          </a:p>
          <a:p>
            <a:pPr/>
            <a:endParaRPr lang="zh-CN" dirty="0"/>
          </a:p>
          <a:p>
            <a:pPr/>
            <a:r>
              <a:rPr lang="zh-CN" dirty="0"/>
              <a:t>第二是外观相似的个体交叉移动。每一帧都能找到它们，但前后编号可能互换，或者一段轨迹被分成几段。第三是个体被遮挡后重新出现，系统可能把它当成新个体，导致遮挡前后的记录接不上。</a:t>
            </a:r>
          </a:p>
          <a:p>
            <a:pPr/>
            <a:endParaRPr lang="zh-CN" dirty="0"/>
          </a:p>
          <a:p>
            <a:pPr/>
            <a:r>
              <a:rPr lang="zh-CN" dirty="0"/>
              <a:t>这三类问题分别对应后面的检测分割、身份保持和遮挡恢复。目标是提高个体识别、轮廓区分和连续记录的可靠性。</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研究方法按三个任务模块组织。模块一解决单张图像中能否找到个体、能否分清轮廓的问题，目前已经完成部分图像模型和探索实验。模块二研究连续视频中的身份关联，让持续可见的个体尽量保持原来的编号。模块三处理轨迹已经丢失的情况，判断目标重新出现后能否接回原编号。</a:t>
            </a:r>
          </a:p>
          <a:p>
            <a:pPr/>
            <a:endParaRPr lang="zh-CN" dirty="0"/>
          </a:p>
          <a:p>
            <a:pPr/>
            <a:r>
              <a:rPr lang="zh-CN" dirty="0"/>
              <a:t>模块二关注身份尽量不中断，模块三关注中断之后能否正确接回。两个视频模块目前都未开展，计划先限定在单摄像头、固定视角，并沿用同一套跟踪框架，控制实现和实验规模。最终将三个模块组织为通用系统，猪只只作为其中一个应用案例。</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模块一首先建立实例级评价口径。IoU 是预测区域和真实标注区域的交并比，越接近一表示越一致。这里将零点七五作为诊断阈值，基于已有的 IoU 和官方任务匹配定义几个研究口径，而不是重新发明 IoU 或 AP。</a:t>
            </a:r>
          </a:p>
          <a:p>
            <a:pPr/>
            <a:endParaRPr lang="zh-CN" dirty="0"/>
          </a:p>
          <a:p>
            <a:pPr/>
            <a:r>
              <a:rPr lang="zh-CN" dirty="0"/>
              <a:t>目标集合 T 包括原分割任务失败、但存在合格检测框，而且该同一条检测自身轮廓仍不合格的实例。固定同一条预测很重要，因为检测框匹配和分割匹配是独立的，不能从不同预测中各取一个好结果拼成成功。</a:t>
            </a:r>
          </a:p>
          <a:p>
            <a:pPr/>
            <a:endParaRPr lang="zh-CN" dirty="0"/>
          </a:p>
          <a:p>
            <a:pPr/>
            <a:r>
              <a:rPr lang="zh-CN" dirty="0"/>
              <a:t>轮廓增益是修正后减去原来的 IoU。先在每张图中求平均，再对图片等权平均，分别观察目标组和全部合格框配对。任务修复率统计目标组中重新获得分割任务匹配的比例；它与原固定检测自身达到阈值的比例分别报告。</a:t>
            </a:r>
          </a:p>
          <a:p>
            <a:pPr/>
            <a:endParaRPr lang="zh-CN" dirty="0"/>
          </a:p>
          <a:p>
            <a:pPr/>
            <a:r>
              <a:rPr lang="zh-CN" dirty="0"/>
              <a:t>成功损伤率则统计原来分割成功、修正后变成任务失败的比例。这样，评价既考察是否修好错误，也检查是否破坏原本正确的结果。最终完整方法效果还需要通过同配置的全量 AP 验证。</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目前使用的基础模型是固定预训练权重的 YOLO26m-seg，版本为 Ultralytics 八点四点一百，研究对象为正常推理保留的一对一分支最终输出。这里展示的是与本研究相关的推理结构。</a:t>
            </a:r>
          </a:p>
          <a:p>
            <a:pPr/>
            <a:endParaRPr lang="zh-CN" dirty="0"/>
          </a:p>
          <a:p>
            <a:pPr/>
            <a:r>
              <a:rPr lang="zh-CN" dirty="0"/>
              <a:t>输入图像经过主干网络和多尺度特征融合，提供检测所需的特征。模型一方面给出检测框、类别和分数，另一方面输出三十二通道的共享分割原型，以及每个实例对应的三十二维组合系数。可以把原型理解为共享的基础图案，把系数理解为每个实例组合这些图案的方式。二者组合后，再通过原生解码和预测框裁切，还原到图像中的实例轮廓。</a:t>
            </a:r>
          </a:p>
          <a:p>
            <a:pPr/>
            <a:endParaRPr lang="zh-CN" dirty="0"/>
          </a:p>
          <a:p>
            <a:pPr/>
            <a:r>
              <a:rPr lang="zh-CN" dirty="0"/>
              <a:t>当前方法固定基础网络、分割原型和检测结果，仅研究组合系数的修正。这样可以明确观察轮廓改变带来的影响。本地原生任务账本已经核验有效，但官方发布 AP 的复现要求尚未通过，因此所有实验都以本地同协议输出为基线。</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新增模块是一个轻量系数修正器，输入全部来自模型自身的预测。上方的空间支路在预测框内，对三十二通道原型和原始轮廓响应共同进行八乘八采样，得到三十三通道输入。经过两层三乘三卷积、GELU 激活和全局平均后，得到六十四维空间描述。</a:t>
            </a:r>
          </a:p>
          <a:p>
            <a:pPr/>
            <a:endParaRPr lang="zh-CN" dirty="0"/>
          </a:p>
          <a:p>
            <a:pPr/>
            <a:r>
              <a:rPr lang="zh-CN" dirty="0"/>
              <a:t>下方是实例条件支路。原检测位置所属特征层的实际通道为二百五十六、五百一十二或五百一十二，分别投影成六十四维；原系数映射成三十二维，再加入框几何、分数和类别嵌入。两条支路拼接后一共是一百八十一维，经一百二十八维中间层，最终输出三十二维系数残差。</a:t>
            </a:r>
          </a:p>
          <a:p>
            <a:pPr/>
            <a:endParaRPr lang="zh-CN" dirty="0"/>
          </a:p>
          <a:p>
            <a:pPr/>
            <a:r>
              <a:rPr lang="zh-CN" dirty="0"/>
              <a:t>把残差加到原系数上，再与原型组合，得到修正轮廓。新增可训练参数共有十六万七千八百七十二个，输出层采用零初始化，基础网络和原预测保持冻结。训练可以使用标注作监督，但正常修正推理不读取真实标注或失败标签。模型维度和参数量来自实际代码与正式训练合同。</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首先检查正常推理中有哪些失败值得进入轮廓修正研究。对 COCO 验证集五千张图、三万六千三百三十五个普通标注实例逐一核对后，分割任务失败共有一万三千三百七十八个。</a:t>
            </a:r>
          </a:p>
          <a:p>
            <a:pPr/>
            <a:endParaRPr lang="zh-CN" dirty="0"/>
          </a:p>
          <a:p>
            <a:pPr/>
            <a:r>
              <a:rPr lang="zh-CN" dirty="0"/>
              <a:t>其中七千一百四十八个没有达到诊断要求的检测框配对；六千二百二十九个已经有合格框，但该同一条检测的轮廓仍不合格，构成目标集合 T；另有一个案例属于匹配竞争。目标集合占分割失败的百分之四十六点五六。</a:t>
            </a:r>
          </a:p>
          <a:p>
            <a:pPr/>
            <a:endParaRPr lang="zh-CN" dirty="0"/>
          </a:p>
          <a:p>
            <a:pPr/>
            <a:r>
              <a:rPr lang="zh-CN" dirty="0"/>
              <a:t>这个结果说明，部分失败可以在固定检测框后继续研究轮廓修正。它不是 AP，也不证明剩余失败都无法改善，只是明确了当前方法的研究对象。</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确定对象之后，先检验固定模型表示是否还有可利用的修正机会。实验固定原型、检测框、类别、分数和预测身份，只在真实标注指导下有限优化组合系数。这是用于探查机会的实验，并不是可部署的自动方法。</a:t>
            </a:r>
          </a:p>
          <a:p>
            <a:pPr/>
            <a:endParaRPr lang="zh-CN" dirty="0"/>
          </a:p>
          <a:p>
            <a:pPr/>
            <a:r>
              <a:rPr lang="zh-CN" dirty="0"/>
              <a:t>按冻结规则选取二百五十六个目标，全部完成数值收敛，其中一百二十二个在同一条检测上达到了轮廓 IoU 零点七五，比例为百分之四十七点六六。按真实标注面积分组，小目标为三十八除以一百四十八，中目标为四十四除以六十四，大目标为四十除以四十四。</a:t>
            </a:r>
          </a:p>
          <a:p>
            <a:pPr/>
            <a:endParaRPr lang="zh-CN" dirty="0"/>
          </a:p>
          <a:p>
            <a:pPr/>
            <a:r>
              <a:rPr lang="zh-CN" dirty="0"/>
              <a:t>这说明原有表示中仍能找到更准确的轮廓，但只是在固定样本和有限优化预算下找到的机会，不能作为全体失败的恢复比例或自动方法收益。下一步要检验修正器能否在不读取标注的情况下学到这些改善。</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探索实验按条件逐项展开。第一项将原型和原始轮廓响应的空间位置联合打乱，保留数值和通道，用来观察空间组织是否有帮助。第二项保留正常空间排列，使用原来的像素分类损失。第三项保持相同结构、初始状态和图像次序，只把真实标注监督项替换为 soft-IoU，观察损失目标的影响。</a:t>
            </a:r>
          </a:p>
          <a:p>
            <a:pPr/>
            <a:endParaRPr lang="zh-CN" dirty="0"/>
          </a:p>
          <a:p>
            <a:pPr/>
            <a:r>
              <a:rPr lang="zh-CN" dirty="0"/>
              <a:t>这三个训练配置都使用相同的两千张图、三轮训练、一千五百步，优化器为 AdamW，学习率零点零零一，有效图像批量为四，统一取最后一轮模型，没有按开发成绩挑选轮次。用于保持基线输出的损失项仍为 BCE，权重保持零点一。</a:t>
            </a:r>
          </a:p>
          <a:p>
            <a:pPr/>
            <a:endParaRPr lang="zh-CN" dirty="0"/>
          </a:p>
          <a:p>
            <a:pPr/>
            <a:r>
              <a:rPr lang="zh-CN" dirty="0"/>
              <a:t>在后续风险分析基础上，另做固定面积选择：使用同一个已训练模型，只在原生原图掩码面积至少为九十六的平方时应用已有修正。这项实验没有新增训练，并保留完整预测集合和全部原评价分母。开发目标为六百五十五个，全部合格框固定配对为二千九百二十五个。</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这张图比较三种训练配置相对原生输出的目标组轮廓变化，横线表示原协议的百分之九十五区间。空间打乱为负一点九三个百分点，正常空间加 BCE 为负零点九九六，正常空间加 soft-IoU 为正零点六八。</a:t>
            </a:r>
          </a:p>
          <a:p>
            <a:pPr/>
            <a:endParaRPr lang="zh-CN" dirty="0"/>
          </a:p>
          <a:p>
            <a:pPr/>
            <a:r>
              <a:rPr lang="zh-CN" dirty="0"/>
              <a:t>保留空间排列比打乱对照少损失约零点九三四个百分点，替换损失也比旧 BCE 配置有所改善。但优于一个失败配置，不等于方法已经有效。soft-IoU 的目标区间仍跨零，整体固定配对的 IoU 下降约零点二六二个百分点；一千零二十四个原成功实例中有五十三个受损，损伤上界为百分之六点四三，高于百分之一要求。</a:t>
            </a:r>
          </a:p>
          <a:p>
            <a:pPr/>
            <a:endParaRPr lang="zh-CN" dirty="0"/>
          </a:p>
          <a:p>
            <a:pPr/>
            <a:r>
              <a:rPr lang="zh-CN" dirty="0"/>
              <a:t>因此，当前三个无条件配置均未通过完整开发验收。这是在既定样本和预算下对这些具体配置的结论，不代表所有系数修正方法都无效。下一步需要解释损伤集中在哪些实例上。</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为了定位损伤，复用同一个 soft-IoU 模型的已有输出，按原生预测掩码面积分组。这里采用推理时直接可见的原图预测面积，区别于前面标注辅助实验使用的真实标注面积。</a:t>
            </a:r>
          </a:p>
          <a:p>
            <a:pPr/>
            <a:endParaRPr lang="zh-CN" dirty="0"/>
          </a:p>
          <a:p>
            <a:pPr/>
            <a:r>
              <a:rPr lang="zh-CN" dirty="0"/>
              <a:t>小掩码组是三十七除以二百七十，损伤率约百分之十三点七；中掩码组是十四除以四百二十四；大掩码组是二除以三百三十。小掩码仅占成功面板的百分之二十六点四，却占损伤案例的百分之六十九点八。</a:t>
            </a:r>
          </a:p>
          <a:p>
            <a:pPr/>
            <a:endParaRPr lang="zh-CN" dirty="0"/>
          </a:p>
          <a:p>
            <a:pPr/>
            <a:r>
              <a:rPr lang="zh-CN" dirty="0"/>
              <a:t>这一结果提示，当前修正器的风险并非平均分布，选择应用范围值得进一步检验。但大掩码组的低点估计不能直接替代完整策略验收，必须实际构造混合输出，重新计算任务匹配并保留原分母。面积与邻框重叠的进一步分层结果保存在实验依据中，当前证据支持面积相关的探索结论，尚不能等同于密集场景因果结论。</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最新完成的实验采用固定面积条件：原生掩码面积达到九十六的平方才应用现有修正，其余保持原结果。使用相同 checkpoint，没有新增训练，对一千三百一十四张图的完整输出重新执行任务匹配。</a:t>
            </a:r>
          </a:p>
          <a:p>
            <a:pPr/>
            <a:endParaRPr lang="zh-CN" dirty="0"/>
          </a:p>
          <a:p>
            <a:pPr/>
            <a:r>
              <a:rPr lang="zh-CN" dirty="0"/>
              <a:t>左图仍以原生输出为参照。目标组平均增益从零点六八提高到一点零零二个百分点，对应区间约为正零点二八二到正一点八四五。整体固定配对由负零点二六二变为正零点零八九，但整体区间仍跨零，只能说通过整体保护要求，不能宣称整体显著提高。</a:t>
            </a:r>
          </a:p>
          <a:p>
            <a:pPr/>
            <a:endParaRPr lang="zh-CN" dirty="0"/>
          </a:p>
          <a:p>
            <a:pPr/>
            <a:r>
              <a:rPr lang="zh-CN" dirty="0"/>
              <a:t>右图使用完全相同的一千零二十四个原成功实例面板。无条件修正损伤五十三个，固定面积策略损伤两个，比例从约百分之五点一八降到零点二零。按原公式计算的名义上界约为百分之零点六。</a:t>
            </a:r>
          </a:p>
          <a:p>
            <a:pPr/>
            <a:endParaRPr lang="zh-CN" dirty="0"/>
          </a:p>
          <a:p>
            <a:pPr/>
            <a:r>
              <a:rPr lang="zh-CN" dirty="0"/>
              <a:t>原开发要求是目标增益至少零点五个百分点且区间下界大于零，整体平均下降不超过零点一百分点，损伤上界不超过百分之一。这次三项数值均通过。但面积策略由已经看过的开发结果选出，面板也被复用，区间和上界不具有新的独立覆盖保证。未应用修正的实例仍留在分母中；全五千图的 AP 改善和独立确认尚未完成。</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模块一目前形成三点认识。第一，固定原有表示后仍有可利用的轮廓修正机会，标注辅助实验的一百二十二个达标案例为系数修正提供依据。第二，无条件修正会损伤原成功实例，而且小掩码风险更集中，不能只关注失败实例上的收益。第三，固定面积选择已经在复用的开发数据上兼顾目标改善和原成功保护，通过数值筛查。</a:t>
            </a:r>
          </a:p>
          <a:p>
            <a:pPr/>
            <a:endParaRPr lang="zh-CN" dirty="0"/>
          </a:p>
          <a:p>
            <a:pPr/>
            <a:r>
              <a:rPr lang="zh-CN" dirty="0"/>
              <a:t>这些结果保留了先前无条件配置的失败结论，也没有把开发筛查改写成全量 AP 或跨场景有效。当前唯一下一项图像验证是：固定同一模型和面积条件，在全部五千张图上比较 AP，并对全部原成功实例统计精确损伤。</a:t>
            </a:r>
          </a:p>
          <a:p>
            <a:pPr/>
            <a:endParaRPr lang="zh-CN" dirty="0"/>
          </a:p>
          <a:p>
            <a:pPr/>
            <a:r>
              <a:rPr lang="zh-CN" dirty="0"/>
              <a:t>现有证据来自 COCO 图像开发实验，可以复用其模型、评价和探索经验。密集专项、动物场景和视频身份效果仍属于后续验证内容。</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模块二尚未开展，关注持续可见或短暂漏检时的身份保持。拟以 ByteTrack 为跟踪基线，利用当前检测和已有轨迹完成关联，再参照 BoT-SORT 的思路，引入外观与运动的联合判断。</a:t>
            </a:r>
          </a:p>
          <a:p>
            <a:pPr/>
            <a:endParaRPr lang="zh-CN" dirty="0"/>
          </a:p>
          <a:p>
            <a:pPr/>
            <a:r>
              <a:rPr lang="zh-CN" dirty="0"/>
              <a:t>当前帧提供位置、分数和个体轮廓，历史轨迹提供编号、移动位置和可靠外观。先预测个体可能的位置，再比较其外观，把当前观测关联到既有轨迹，输出连续编号。ByteTrack 本身已有运动关联，拟研究的增加项主要是外观信息如何参与，以及什么情况下应减少不可靠外观的影响。</a:t>
            </a:r>
          </a:p>
          <a:p>
            <a:pPr/>
            <a:endParaRPr lang="zh-CN" dirty="0"/>
          </a:p>
          <a:p>
            <a:pPr/>
            <a:r>
              <a:rPr lang="zh-CN" dirty="0"/>
              <a:t>模块一与模块二的连接点必须具体。只有将轮廓用于外观区域提取或显式关联，分割改变才可能影响身份结果。如果检测框和分数完全相同，纯框跟踪不会因为换了掩码就自动提升。外观编码器先考虑冻结的通用图像特征，仍需验证它在目标场景中能否区分相似个体，不能直接假定行人重识别模型适用于动物。</a:t>
            </a:r>
          </a:p>
          <a:p>
            <a:pPr/>
            <a:endParaRPr lang="zh-CN" dirty="0"/>
          </a:p>
          <a:p>
            <a:pPr/>
            <a:r>
              <a:rPr lang="zh-CN" dirty="0"/>
              <a:t>基线资料为 [ByteTrack 原论文](https://arxiv.org/abs/2110.06864)，联合关联参考 [BoT-SORT 原论文](https://arxiv.org/abs/2206.14651)。图中是本课题的拟研究框架，尚无实验结果。</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身份保持实验先固定完整视频和相同检测结果。第一组是原有检测框配合 ByteTrack，建立本场景的参考水平。第二组在基线上加入外观联合关联，观察交叉运动时是否减少换号。</a:t>
            </a:r>
          </a:p>
          <a:p>
            <a:pPr/>
            <a:endParaRPr lang="zh-CN" dirty="0"/>
          </a:p>
          <a:p>
            <a:pPr/>
            <a:r>
              <a:rPr lang="zh-CN" dirty="0"/>
              <a:t>第三组使用原生轮廓提取个体外观，检验减少邻近个体混入是否有帮助。第四组只把第三组中的轮廓换成模块一修正结果，其余关联设置保持一致，从而检验图像轮廓改善能否转化为身份收益。</a:t>
            </a:r>
          </a:p>
          <a:p>
            <a:pPr/>
            <a:endParaRPr lang="zh-CN" dirty="0"/>
          </a:p>
          <a:p>
            <a:pPr/>
            <a:r>
              <a:rPr lang="zh-CN" dirty="0"/>
              <a:t>需要补充跨帧真实编号标注，按完整场景或序列划分开发和测试，避免把相邻帧分到两侧。重点覆盖交叉运动、相似外观和短暂漏检。主要评价身份对应的准确与完整程度，也就是 IDF1，同时报告编号切换、轨迹断裂和端到端速度。以上都是设想，配置、预算和评价规则需在实际运行前固定。</a:t>
            </a:r>
          </a:p>
          <a:p>
            <a:pPr/>
            <a:endParaRPr lang="zh-CN" dirty="0"/>
          </a:p>
          <a:p>
            <a:pPr/>
            <a:r>
              <a:rPr lang="zh-CN" dirty="0"/>
              <a:t>统一评价工具参考 [TrackEval 官方仓库](https://github.com/JonathonLuiten/TrackEval)，目前尚未在本项目运行视频评价。</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模块三同样尚未开展，处理轨迹已经进入丢失状态的情形。它沿用模块二的跟踪框架，增加丢失轨迹记忆与恢复判定。遮挡前保存可靠外观、最后位置和运动历史，重新出现候选后，先筛选可能对应的旧轨迹，再通过连续观测确认。</a:t>
            </a:r>
          </a:p>
          <a:p>
            <a:pPr/>
            <a:endParaRPr lang="zh-CN" dirty="0"/>
          </a:p>
          <a:p>
            <a:pPr/>
            <a:r>
              <a:rPr lang="zh-CN" dirty="0"/>
              <a:t>证据足够时恢复原编号，把记录接回遮挡之前。如果证据不足，保留未确认状态继续观察；达到固定时限后终止旧轨迹，避免为了保持编号而强行接错。这里同时需要控制错误续接和长时间无法作出判断。</a:t>
            </a:r>
          </a:p>
          <a:p>
            <a:pPr/>
            <a:endParaRPr lang="zh-CN" dirty="0"/>
          </a:p>
          <a:p>
            <a:pPr/>
            <a:r>
              <a:rPr lang="zh-CN" dirty="0"/>
              <a:t>遮挡期间的运动预测只能表示推测位置，不能作为实际观测到的轨迹。研究重点是重新出现之后身份是否正确恢复，以同一摄像头内的临时遮挡为主要范围。</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遮挡恢复实验需要以事件为单位建立标注，记录遮挡开始、重新可见时间以及真实身份，按事前确定的遮挡时长分层分析。</a:t>
            </a:r>
          </a:p>
          <a:p>
            <a:pPr/>
            <a:endParaRPr lang="zh-CN" dirty="0"/>
          </a:p>
          <a:p>
            <a:pPr/>
            <a:r>
              <a:rPr lang="zh-CN" dirty="0"/>
              <a:t>拟比较四种配置：默认丢失保留、仅延长保留时间、在同样保留时限和候选预算下增加可靠外观记忆，以及进一步加入连续多帧确认。这样能够区分效果来自等待更久、记忆信息还是确认策略，也能观察降低误接是否增加恢复延迟。</a:t>
            </a:r>
          </a:p>
          <a:p>
            <a:pPr/>
            <a:endParaRPr lang="zh-CN" dirty="0"/>
          </a:p>
          <a:p>
            <a:pPr/>
            <a:r>
              <a:rPr lang="zh-CN" dirty="0"/>
              <a:t>对全部符合定义的重现事件共用同一个分母，报告正确恢复、错误续接和未恢复的比例。成功恢复延迟另行报告，同时给出超时率，避免只分析成功样本就声称整体更快。新目标进入和出画后重新进入作为单独干扰对照；只有身份可明确标定的重现才作为可恢复机会。阈值、时限和评价窗口均在运行前确定，目前没有任何视频实验结果。</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最终拟形成通用系统，将三个模块的输出组织成完整使用流程。用户首先选择图片或视频，并配置识别对象；随后查看个体的位置、轮廓和连续编号。</a:t>
            </a:r>
          </a:p>
          <a:p>
            <a:pPr/>
            <a:endParaRPr lang="zh-CN" dirty="0"/>
          </a:p>
          <a:p>
            <a:pPr/>
            <a:r>
              <a:rPr lang="zh-CN" dirty="0"/>
              <a:t>处理完成后，可以回看遮挡与恢复记录，并导出轨迹、数量变化和报表。对于身份尚不能确认的情况，系统应明确显示其状态，使用户能够区分已确认记录与待确认结果。</a:t>
            </a:r>
          </a:p>
          <a:p>
            <a:pPr/>
            <a:endParaRPr lang="zh-CN" dirty="0"/>
          </a:p>
          <a:p>
            <a:pPr/>
            <a:r>
              <a:rPr lang="zh-CN" dirty="0"/>
              <a:t>系统的重点是让分析结果可以查看、回看和保存，形成实际可用的个体记录。目前这里展示的是拟建功能。</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应用验证以猪只群体监测为例。密集聚集和外观相似使这个场景能够具体检验数量、个体区域以及连续身份记录。</a:t>
            </a:r>
          </a:p>
          <a:p>
            <a:pPr/>
            <a:endParaRPr lang="zh-CN" dirty="0"/>
          </a:p>
          <a:p>
            <a:pPr/>
            <a:r>
              <a:rPr lang="zh-CN" dirty="0"/>
              <a:t>使用者关心当前可见数量、每个个体的位置与停留，以及遮挡前后的记录能否接续。系统预期输出数量变化、位置与区域，以及可回查的连续记录。</a:t>
            </a:r>
          </a:p>
          <a:p>
            <a:pPr/>
            <a:endParaRPr lang="zh-CN" dirty="0"/>
          </a:p>
          <a:p>
            <a:pPr/>
            <a:r>
              <a:rPr lang="zh-CN" dirty="0"/>
              <a:t>猪只承担应用验证角色，方法和系统的组织不限定于猪只。面向其它识别对象时，可以配置相应模型与数据，但具体效果仍需在各场景分别验证，不能把一个案例的成绩直接外推。</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已有基础包括图像模型、实验数据、评价与导出流程，以及动物图像资料和处理经验。视频身份保持与遮挡恢复目前尚未开展，需要补充视频和跨帧身份标注。</a:t>
            </a:r>
          </a:p>
          <a:p>
            <a:pPr/>
            <a:endParaRPr lang="zh-CN" dirty="0"/>
          </a:p>
          <a:p>
            <a:pPr/>
            <a:r>
              <a:rPr lang="zh-CN" dirty="0"/>
              <a:t>后续先完善图像方法的验证，再围绕视频两个模块开展受控实验，随后进行系统联调与论文整理。预期形成可复查的方法验证结果和能够演示完整流程的通用分析系统。以上是本次汇报，请各位老师批评指正。</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dense_instance_thesis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zh-CN" smtClean="0"/>
              <a:t>1/27/13</a:t>
            </a:fld>
            <a:endParaRPr lang="zh-CN"/>
          </a:p>
        </p:txBody>
      </p:sp>
      <p:sp>
        <p:nvSpPr>
          <p:cNvPr id="3" name="Footer Placeholder 2"/>
          <p:cNvSpPr>
            <a:spLocks noGrp="1"/>
          </p:cNvSpPr>
          <p:nvPr>
            <p:ph type="ftr" sz="quarter" idx="11"/>
          </p:nvPr>
        </p:nvSpPr>
        <p:spPr/>
        <p:txBody>
          <a:bodyPr/>
          <a:lstStyle/>
          <a:p>
            <a:endParaRPr lang="zh-CN"/>
          </a:p>
        </p:txBody>
      </p:sp>
      <p:sp>
        <p:nvSpPr>
          <p:cNvPr id="4" name="Slide Number Placeholder 3"/>
          <p:cNvSpPr>
            <a:spLocks noGrp="1"/>
          </p:cNvSpPr>
          <p:nvPr>
            <p:ph type="sldNum" sz="quarter" idx="12"/>
          </p:nvPr>
        </p:nvSpPr>
        <p:spPr/>
        <p:txBody>
          <a:bodyPr/>
          <a:lstStyle/>
          <a:p>
            <a:fld id="{C1FF6DA9-008F-8B48-92A6-B652298478BF}" type="slidenum">
              <a:rPr lang="zh-CN" smtClean="0"/>
              <a:t>‹#›</a:t>
            </a:fld>
            <a:endParaRPr lang="zh-CN"/>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dense_instance_thesis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zh-CN">
                <a:solidFill>
                  <a:schemeClr val="tx1">
                    <a:tint val="75000"/>
                  </a:schemeClr>
                </a:solidFill>
              </a:defRPr>
            </a:lvl1pPr>
          </a:lstStyle>
          <a:p>
            <a:fld id="{5BCAD085-E8A6-8845-BD4E-CB4CCA059FC4}" type="datetimeFigureOut">
              <a:rPr lang="zh-CN" smtClean="0"/>
              <a:t>1/27/13</a:t>
            </a:fld>
            <a:endParaRPr lang="zh-C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zh-CN">
                <a:solidFill>
                  <a:schemeClr val="tx1">
                    <a:tint val="75000"/>
                  </a:schemeClr>
                </a:solidFill>
              </a:defRPr>
            </a:lvl1pPr>
          </a:lstStyle>
          <a:p>
            <a:endParaRPr lang="zh-C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zh-CN">
                <a:solidFill>
                  <a:schemeClr val="tx1">
                    <a:tint val="75000"/>
                  </a:schemeClr>
                </a:solidFill>
              </a:defRPr>
            </a:lvl1pPr>
          </a:lstStyle>
          <a:p>
            <a:fld id="{C1FF6DA9-008F-8B48-92A6-B652298478BF}" type="slidenum">
              <a:rPr lang="zh-CN" smtClean="0"/>
              <a:t>‹#›</a:t>
            </a:fld>
            <a:endParaRPr lang="zh-CN"/>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000" kern="1200" lang="zh-CN">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2100" kern="1200" lang="zh-CN">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950" kern="1200" lang="zh-CN">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850" kern="1200" lang="zh-CN">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700" kern="1200" lang="zh-CN">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600" kern="1200" lang="zh-CN">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450" kern="1200" lang="zh-CN">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300" kern="1200" lang="zh-CN">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200" kern="1200" lang="zh-CN">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050" kern="1200" lang="zh-CN">
          <a:solidFill>
            <a:schemeClr val="tx1"/>
          </a:solidFill>
          <a:latin typeface="+mn-lt"/>
          <a:ea typeface="+mn-ea"/>
          <a:cs typeface="+mn-cs"/>
        </a:defRPr>
      </a:lvl9pPr>
    </p:bodyStyle>
    <p:otherStyle>
      <a:defPPr>
        <a:defRPr lang="zh-CN"/>
      </a:defPPr>
      <a:lvl1pPr marL="0" algn="l" defTabSz="457200" rtl="0" eaLnBrk="1" latinLnBrk="0" hangingPunct="1">
        <a:defRPr sz="2100" kern="1200" lang="zh-CN">
          <a:solidFill>
            <a:schemeClr val="tx1"/>
          </a:solidFill>
          <a:latin typeface="+mn-lt"/>
          <a:ea typeface="+mn-ea"/>
          <a:cs typeface="+mn-cs"/>
        </a:defRPr>
      </a:lvl1pPr>
      <a:lvl2pPr marL="457200" algn="l" defTabSz="457200" rtl="0" eaLnBrk="1" latinLnBrk="0" hangingPunct="1">
        <a:defRPr sz="1950" kern="1200" lang="zh-CN">
          <a:solidFill>
            <a:schemeClr val="tx1"/>
          </a:solidFill>
          <a:latin typeface="+mn-lt"/>
          <a:ea typeface="+mn-ea"/>
          <a:cs typeface="+mn-cs"/>
        </a:defRPr>
      </a:lvl2pPr>
      <a:lvl3pPr marL="914400" algn="l" defTabSz="457200" rtl="0" eaLnBrk="1" latinLnBrk="0" hangingPunct="1">
        <a:defRPr sz="1850" kern="1200" lang="zh-CN">
          <a:solidFill>
            <a:schemeClr val="tx1"/>
          </a:solidFill>
          <a:latin typeface="+mn-lt"/>
          <a:ea typeface="+mn-ea"/>
          <a:cs typeface="+mn-cs"/>
        </a:defRPr>
      </a:lvl3pPr>
      <a:lvl4pPr marL="1371600" algn="l" defTabSz="457200" rtl="0" eaLnBrk="1" latinLnBrk="0" hangingPunct="1">
        <a:defRPr sz="1700" kern="1200" lang="zh-CN">
          <a:solidFill>
            <a:schemeClr val="tx1"/>
          </a:solidFill>
          <a:latin typeface="+mn-lt"/>
          <a:ea typeface="+mn-ea"/>
          <a:cs typeface="+mn-cs"/>
        </a:defRPr>
      </a:lvl4pPr>
      <a:lvl5pPr marL="1828800" algn="l" defTabSz="457200" rtl="0" eaLnBrk="1" latinLnBrk="0" hangingPunct="1">
        <a:defRPr sz="1600" kern="1200" lang="zh-CN">
          <a:solidFill>
            <a:schemeClr val="tx1"/>
          </a:solidFill>
          <a:latin typeface="+mn-lt"/>
          <a:ea typeface="+mn-ea"/>
          <a:cs typeface="+mn-cs"/>
        </a:defRPr>
      </a:lvl5pPr>
      <a:lvl6pPr marL="2286000" algn="l" defTabSz="457200" rtl="0" eaLnBrk="1" latinLnBrk="0" hangingPunct="1">
        <a:defRPr sz="1450" kern="1200" lang="zh-CN">
          <a:solidFill>
            <a:schemeClr val="tx1"/>
          </a:solidFill>
          <a:latin typeface="+mn-lt"/>
          <a:ea typeface="+mn-ea"/>
          <a:cs typeface="+mn-cs"/>
        </a:defRPr>
      </a:lvl6pPr>
      <a:lvl7pPr marL="2743200" algn="l" defTabSz="457200" rtl="0" eaLnBrk="1" latinLnBrk="0" hangingPunct="1">
        <a:defRPr sz="1300" kern="1200" lang="zh-CN">
          <a:solidFill>
            <a:schemeClr val="tx1"/>
          </a:solidFill>
          <a:latin typeface="+mn-lt"/>
          <a:ea typeface="+mn-ea"/>
          <a:cs typeface="+mn-cs"/>
        </a:defRPr>
      </a:lvl7pPr>
      <a:lvl8pPr marL="3200400" algn="l" defTabSz="457200" rtl="0" eaLnBrk="1" latinLnBrk="0" hangingPunct="1">
        <a:defRPr sz="1200" kern="1200" lang="zh-CN">
          <a:solidFill>
            <a:schemeClr val="tx1"/>
          </a:solidFill>
          <a:latin typeface="+mn-lt"/>
          <a:ea typeface="+mn-ea"/>
          <a:cs typeface="+mn-cs"/>
        </a:defRPr>
      </a:lvl8pPr>
      <a:lvl9pPr marL="3657600" algn="l" defTabSz="457200" rtl="0" eaLnBrk="1" latinLnBrk="0" hangingPunct="1">
        <a:defRPr sz="1050" kern="1200" lang="zh-CN">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3" name="opening"/>
          <p:cNvGrpSpPr/>
          <p:nvPr/>
        </p:nvGrpSpPr>
        <p:grpSpPr>
          <a:xfrm>
            <a:off x="597408" y="631825"/>
            <a:ext cx="3255264" cy="469392"/>
            <a:chOff x="597408" y="631825"/>
            <a:chExt cx="3255264" cy="469392"/>
          </a:xfrm>
        </p:grpSpPr>
        <p:sp>
          <p:nvSpPr>
            <p:cNvPr id="2" name="TextBox 2"/>
            <p:cNvSpPr txBox="1"/>
            <p:nvPr/>
          </p:nvSpPr>
          <p:spPr>
            <a:xfrm>
              <a:off x="597408" y="631825"/>
              <a:ext cx="3255264" cy="469392"/>
            </a:xfrm>
            <a:prstGeom prst="rect">
              <a:avLst/>
            </a:prstGeom>
            <a:noFill/>
            <a:ln>
              <a:noFill/>
            </a:ln>
          </p:spPr>
          <p:txBody>
            <a:bodyPr wrap="none" lIns="0" tIns="0" rIns="0" bIns="0" anchor="t" anchorCtr="0">
              <a:spAutoFit/>
            </a:bodyPr>
            <a:lstStyle/>
            <a:p>
              <a:pPr algn="l"/>
              <a:r>
                <a:rPr lang="zh-CN" sz="2400" dirty="0">
                  <a:solidFill>
                    <a:srgbClr val="FFFFFF"/>
                  </a:solidFill>
                  <a:latin typeface="+mn-lt"/>
                  <a:ea typeface="+mn-ea"/>
                  <a:cs typeface="+mn-cs"/>
                </a:rPr>
                <a:t>毕业论文研究方案汇报</a:t>
              </a:r>
            </a:p>
          </p:txBody>
        </p:sp>
      </p:grpSp>
      <p:grpSp>
        <p:nvGrpSpPr>
          <p:cNvPr id="5" name="title"/>
          <p:cNvGrpSpPr/>
          <p:nvPr/>
        </p:nvGrpSpPr>
        <p:grpSpPr>
          <a:xfrm>
            <a:off x="590550" y="2203450"/>
            <a:ext cx="6438900" cy="1657350"/>
            <a:chOff x="590550" y="2203450"/>
            <a:chExt cx="6438900" cy="1657350"/>
          </a:xfrm>
        </p:grpSpPr>
        <p:sp>
          <p:nvSpPr>
            <p:cNvPr id="4" name="TextBox 4"/>
            <p:cNvSpPr txBox="1"/>
            <p:nvPr/>
          </p:nvSpPr>
          <p:spPr>
            <a:xfrm>
              <a:off x="590550" y="2203450"/>
              <a:ext cx="6438900" cy="1657350"/>
            </a:xfrm>
            <a:prstGeom prst="rect">
              <a:avLst/>
            </a:prstGeom>
            <a:noFill/>
            <a:ln>
              <a:noFill/>
            </a:ln>
          </p:spPr>
          <p:txBody>
            <a:bodyPr wrap="none" lIns="0" tIns="0" rIns="0" bIns="0" anchor="t" anchorCtr="0">
              <a:spAutoFit/>
            </a:bodyPr>
            <a:lstStyle/>
            <a:p>
              <a:pPr algn="l">
                <a:lnSpc>
                  <a:spcPts val="6600"/>
                </a:lnSpc>
              </a:pPr>
              <a:r>
                <a:rPr lang="zh-CN" sz="4200" b="1" dirty="0">
                  <a:solidFill>
                    <a:srgbClr val="FFFFFF"/>
                  </a:solidFill>
                  <a:latin typeface="+mn-lt"/>
                  <a:ea typeface="+mn-ea"/>
                  <a:cs typeface="+mn-cs"/>
                </a:rPr>
                <a:t>面向密集场景的检测分割</a:t>
              </a:r>
              <a:br>
                <a:rPr lang="zh-CN" sz="4200" b="1" dirty="0">
                  <a:solidFill>
                    <a:srgbClr val="FFFFFF"/>
                  </a:solidFill>
                  <a:latin typeface="+mn-lt"/>
                  <a:ea typeface="+mn-ea"/>
                  <a:cs typeface="+mn-cs"/>
                </a:rPr>
              </a:br>
              <a:r>
                <a:rPr lang="zh-CN" sz="4200" b="1" dirty="0">
                  <a:solidFill>
                    <a:srgbClr val="FFFFFF"/>
                  </a:solidFill>
                  <a:latin typeface="+mn-lt"/>
                  <a:ea typeface="+mn-ea"/>
                  <a:cs typeface="+mn-cs"/>
                </a:rPr>
                <a:t>与持续跟踪方法及系统研究</a:t>
              </a:r>
            </a:p>
          </p:txBody>
        </p:sp>
      </p:grpSp>
      <p:grpSp>
        <p:nvGrpSpPr>
          <p:cNvPr id="11" name="section-guide"/>
          <p:cNvGrpSpPr/>
          <p:nvPr/>
        </p:nvGrpSpPr>
        <p:grpSpPr>
          <a:xfrm>
            <a:off x="598932" y="5295900"/>
            <a:ext cx="10983468" cy="652018"/>
            <a:chOff x="598932" y="5295900"/>
            <a:chExt cx="10983468" cy="652018"/>
          </a:xfrm>
        </p:grpSpPr>
        <p:sp>
          <p:nvSpPr>
            <p:cNvPr id="6" name="Line 6"/>
            <p:cNvSpPr/>
            <p:nvPr/>
          </p:nvSpPr>
          <p:spPr>
            <a:xfrm>
              <a:off x="609600" y="5295900"/>
              <a:ext cx="10972800" cy="9525"/>
            </a:xfrm>
            <a:custGeom>
              <a:avLst/>
              <a:gdLst/>
              <a:ahLst/>
              <a:cxnLst/>
              <a:rect l="l" t="t" r="r" b="b"/>
              <a:pathLst>
                <a:path w="10972800" h="9525">
                  <a:moveTo>
                    <a:pt x="0" y="0"/>
                  </a:moveTo>
                  <a:lnTo>
                    <a:pt x="10972800" y="0"/>
                  </a:lnTo>
                </a:path>
              </a:pathLst>
            </a:custGeom>
            <a:noFill/>
            <a:ln w="9525">
              <a:solidFill>
                <a:srgbClr val="596B80"/>
              </a:solidFill>
            </a:ln>
          </p:spPr>
        </p:sp>
        <p:sp>
          <p:nvSpPr>
            <p:cNvPr id="7" name="TextBox 7"/>
            <p:cNvSpPr txBox="1"/>
            <p:nvPr/>
          </p:nvSpPr>
          <p:spPr>
            <a:xfrm>
              <a:off x="598932" y="5537200"/>
              <a:ext cx="1152144"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研究背景</a:t>
              </a:r>
            </a:p>
          </p:txBody>
        </p:sp>
        <p:sp>
          <p:nvSpPr>
            <p:cNvPr id="8" name="TextBox 8"/>
            <p:cNvSpPr txBox="1"/>
            <p:nvPr/>
          </p:nvSpPr>
          <p:spPr>
            <a:xfrm>
              <a:off x="3113532" y="5537200"/>
              <a:ext cx="1152144"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研究方法</a:t>
              </a:r>
            </a:p>
          </p:txBody>
        </p:sp>
        <p:sp>
          <p:nvSpPr>
            <p:cNvPr id="9" name="TextBox 9"/>
            <p:cNvSpPr txBox="1"/>
            <p:nvPr/>
          </p:nvSpPr>
          <p:spPr>
            <a:xfrm>
              <a:off x="5628132" y="5537200"/>
              <a:ext cx="1152144"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系统设计</a:t>
              </a:r>
            </a:p>
          </p:txBody>
        </p:sp>
        <p:sp>
          <p:nvSpPr>
            <p:cNvPr id="10" name="TextBox 10"/>
            <p:cNvSpPr txBox="1"/>
            <p:nvPr/>
          </p:nvSpPr>
          <p:spPr>
            <a:xfrm>
              <a:off x="8142732" y="5537200"/>
              <a:ext cx="1152144"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研究安排</a:t>
              </a:r>
            </a:p>
          </p:txBody>
        </p:sp>
      </p:grpSp>
      <p:grpSp>
        <p:nvGrpSpPr>
          <p:cNvPr id="14" name="footer"/>
          <p:cNvGrpSpPr/>
          <p:nvPr/>
        </p:nvGrpSpPr>
        <p:grpSpPr>
          <a:xfrm>
            <a:off x="603504" y="6410325"/>
            <a:ext cx="10984992" cy="234696"/>
            <a:chOff x="603504" y="6410325"/>
            <a:chExt cx="10984992" cy="234696"/>
          </a:xfrm>
        </p:grpSpPr>
        <p:sp>
          <p:nvSpPr>
            <p:cNvPr id="12" name="TextBox 12"/>
            <p:cNvSpPr txBox="1"/>
            <p:nvPr/>
          </p:nvSpPr>
          <p:spPr>
            <a:xfrm>
              <a:off x="603504" y="6410325"/>
              <a:ext cx="900684"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2026.10.15</a:t>
              </a:r>
            </a:p>
          </p:txBody>
        </p:sp>
        <p:sp>
          <p:nvSpPr>
            <p:cNvPr id="13" name="TextBox 13"/>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6"/>
                  </a:solidFill>
                  <a:latin typeface="+mn-lt"/>
                  <a:ea typeface="+mn-ea"/>
                  <a:cs typeface="+mn-cs"/>
                </a:rPr>
                <a:t>01 / 22</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4472940" cy="964565"/>
            <a:chOff x="594360" y="415925"/>
            <a:chExt cx="4472940" cy="964565"/>
          </a:xfrm>
        </p:grpSpPr>
        <p:sp>
          <p:nvSpPr>
            <p:cNvPr id="2" name="TextBox 2"/>
            <p:cNvSpPr txBox="1"/>
            <p:nvPr/>
          </p:nvSpPr>
          <p:spPr>
            <a:xfrm>
              <a:off x="601218" y="415925"/>
              <a:ext cx="1216228"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01 研究背景</a:t>
              </a:r>
            </a:p>
          </p:txBody>
        </p:sp>
        <p:sp>
          <p:nvSpPr>
            <p:cNvPr id="3" name="TextBox 3"/>
            <p:cNvSpPr txBox="1"/>
            <p:nvPr/>
          </p:nvSpPr>
          <p:spPr>
            <a:xfrm>
              <a:off x="594360" y="793750"/>
              <a:ext cx="447294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连续个体监测的应用需求</a:t>
              </a:r>
            </a:p>
          </p:txBody>
        </p:sp>
      </p:grpSp>
      <p:grpSp>
        <p:nvGrpSpPr>
          <p:cNvPr id="6" name="application-context"/>
          <p:cNvGrpSpPr/>
          <p:nvPr/>
        </p:nvGrpSpPr>
        <p:grpSpPr>
          <a:xfrm>
            <a:off x="597408" y="1831975"/>
            <a:ext cx="8101584" cy="469392"/>
            <a:chOff x="597408" y="1831975"/>
            <a:chExt cx="8101584" cy="469392"/>
          </a:xfrm>
        </p:grpSpPr>
        <p:sp>
          <p:nvSpPr>
            <p:cNvPr id="5" name="TextBox 5"/>
            <p:cNvSpPr txBox="1"/>
            <p:nvPr/>
          </p:nvSpPr>
          <p:spPr>
            <a:xfrm>
              <a:off x="597408" y="1831975"/>
              <a:ext cx="8101584"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n-lt"/>
                  <a:ea typeface="+mn-ea"/>
                  <a:cs typeface="+mn-cs"/>
                </a:rPr>
                <a:t>动物群体、人员和车辆监测，都需要持续记录具体个体。</a:t>
              </a:r>
            </a:p>
          </p:txBody>
        </p:sp>
      </p:grpSp>
      <p:grpSp>
        <p:nvGrpSpPr>
          <p:cNvPr id="9" name="quantity"/>
          <p:cNvGrpSpPr/>
          <p:nvPr/>
        </p:nvGrpSpPr>
        <p:grpSpPr>
          <a:xfrm>
            <a:off x="597408" y="2774950"/>
            <a:ext cx="5103876" cy="469392"/>
            <a:chOff x="597408" y="2774950"/>
            <a:chExt cx="5103876" cy="469392"/>
          </a:xfrm>
        </p:grpSpPr>
        <p:sp>
          <p:nvSpPr>
            <p:cNvPr id="7" name="TextBox 7"/>
            <p:cNvSpPr txBox="1"/>
            <p:nvPr/>
          </p:nvSpPr>
          <p:spPr>
            <a:xfrm>
              <a:off x="597408" y="2774950"/>
              <a:ext cx="670560" cy="469392"/>
            </a:xfrm>
            <a:prstGeom prst="rect">
              <a:avLst/>
            </a:prstGeom>
            <a:noFill/>
            <a:ln>
              <a:noFill/>
            </a:ln>
          </p:spPr>
          <p:txBody>
            <a:bodyPr wrap="none" lIns="0" tIns="0" rIns="0" bIns="0" anchor="t" anchorCtr="0">
              <a:spAutoFit/>
            </a:bodyPr>
            <a:lstStyle/>
            <a:p>
              <a:pPr algn="l"/>
              <a:r>
                <a:rPr lang="zh-CN" sz="2400" b="1" dirty="0">
                  <a:solidFill>
                    <a:srgbClr val="315E9D"/>
                  </a:solidFill>
                  <a:latin typeface="+mn-lt"/>
                  <a:ea typeface="+mn-ea"/>
                  <a:cs typeface="+mn-cs"/>
                </a:rPr>
                <a:t>数量</a:t>
              </a:r>
            </a:p>
          </p:txBody>
        </p:sp>
        <p:sp>
          <p:nvSpPr>
            <p:cNvPr id="8" name="TextBox 8"/>
            <p:cNvSpPr txBox="1"/>
            <p:nvPr/>
          </p:nvSpPr>
          <p:spPr>
            <a:xfrm>
              <a:off x="2769108" y="2774950"/>
              <a:ext cx="2932176"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n-lt"/>
                  <a:ea typeface="+mn-ea"/>
                  <a:cs typeface="+mn-cs"/>
                </a:rPr>
                <a:t>当前能看到多少个体</a:t>
              </a:r>
            </a:p>
          </p:txBody>
        </p:sp>
      </p:grpSp>
      <p:grpSp>
        <p:nvGrpSpPr>
          <p:cNvPr id="13" name="location"/>
          <p:cNvGrpSpPr/>
          <p:nvPr/>
        </p:nvGrpSpPr>
        <p:grpSpPr>
          <a:xfrm>
            <a:off x="597408" y="3476625"/>
            <a:ext cx="10984992" cy="710692"/>
            <a:chOff x="597408" y="3476625"/>
            <a:chExt cx="10984992" cy="710692"/>
          </a:xfrm>
        </p:grpSpPr>
        <p:sp>
          <p:nvSpPr>
            <p:cNvPr id="10" name="Line 10"/>
            <p:cNvSpPr/>
            <p:nvPr/>
          </p:nvSpPr>
          <p:spPr>
            <a:xfrm>
              <a:off x="609600" y="3476625"/>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1" name="TextBox 11"/>
            <p:cNvSpPr txBox="1"/>
            <p:nvPr/>
          </p:nvSpPr>
          <p:spPr>
            <a:xfrm>
              <a:off x="597408" y="3717925"/>
              <a:ext cx="670560" cy="469392"/>
            </a:xfrm>
            <a:prstGeom prst="rect">
              <a:avLst/>
            </a:prstGeom>
            <a:noFill/>
            <a:ln>
              <a:noFill/>
            </a:ln>
          </p:spPr>
          <p:txBody>
            <a:bodyPr wrap="none" lIns="0" tIns="0" rIns="0" bIns="0" anchor="t" anchorCtr="0">
              <a:spAutoFit/>
            </a:bodyPr>
            <a:lstStyle/>
            <a:p>
              <a:pPr algn="l"/>
              <a:r>
                <a:rPr lang="zh-CN" sz="2400" b="1" dirty="0">
                  <a:solidFill>
                    <a:srgbClr val="315E9D"/>
                  </a:solidFill>
                  <a:latin typeface="+mn-lt"/>
                  <a:ea typeface="+mn-ea"/>
                  <a:cs typeface="+mn-cs"/>
                </a:rPr>
                <a:t>位置</a:t>
              </a:r>
            </a:p>
          </p:txBody>
        </p:sp>
        <p:sp>
          <p:nvSpPr>
            <p:cNvPr id="12" name="TextBox 12"/>
            <p:cNvSpPr txBox="1"/>
            <p:nvPr/>
          </p:nvSpPr>
          <p:spPr>
            <a:xfrm>
              <a:off x="2769108" y="3717925"/>
              <a:ext cx="4547616"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n-lt"/>
                  <a:ea typeface="+mn-ea"/>
                  <a:cs typeface="+mn-cs"/>
                </a:rPr>
                <a:t>每个个体出现在哪里、停留多久</a:t>
              </a:r>
            </a:p>
          </p:txBody>
        </p:sp>
      </p:grpSp>
      <p:grpSp>
        <p:nvGrpSpPr>
          <p:cNvPr id="17" name="region"/>
          <p:cNvGrpSpPr/>
          <p:nvPr/>
        </p:nvGrpSpPr>
        <p:grpSpPr>
          <a:xfrm>
            <a:off x="597408" y="4419600"/>
            <a:ext cx="10984992" cy="710692"/>
            <a:chOff x="597408" y="4419600"/>
            <a:chExt cx="10984992" cy="710692"/>
          </a:xfrm>
        </p:grpSpPr>
        <p:sp>
          <p:nvSpPr>
            <p:cNvPr id="14" name="Line 14"/>
            <p:cNvSpPr/>
            <p:nvPr/>
          </p:nvSpPr>
          <p:spPr>
            <a:xfrm>
              <a:off x="609600" y="44196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5" name="TextBox 15"/>
            <p:cNvSpPr txBox="1"/>
            <p:nvPr/>
          </p:nvSpPr>
          <p:spPr>
            <a:xfrm>
              <a:off x="597408" y="4660900"/>
              <a:ext cx="670560" cy="469392"/>
            </a:xfrm>
            <a:prstGeom prst="rect">
              <a:avLst/>
            </a:prstGeom>
            <a:noFill/>
            <a:ln>
              <a:noFill/>
            </a:ln>
          </p:spPr>
          <p:txBody>
            <a:bodyPr wrap="none" lIns="0" tIns="0" rIns="0" bIns="0" anchor="t" anchorCtr="0">
              <a:spAutoFit/>
            </a:bodyPr>
            <a:lstStyle/>
            <a:p>
              <a:pPr algn="l"/>
              <a:r>
                <a:rPr lang="zh-CN" sz="2400" b="1" dirty="0">
                  <a:solidFill>
                    <a:schemeClr val="accent2"/>
                  </a:solidFill>
                  <a:latin typeface="+mn-lt"/>
                  <a:ea typeface="+mn-ea"/>
                  <a:cs typeface="+mn-cs"/>
                </a:rPr>
                <a:t>区域</a:t>
              </a:r>
            </a:p>
          </p:txBody>
        </p:sp>
        <p:sp>
          <p:nvSpPr>
            <p:cNvPr id="16" name="TextBox 16"/>
            <p:cNvSpPr txBox="1"/>
            <p:nvPr/>
          </p:nvSpPr>
          <p:spPr>
            <a:xfrm>
              <a:off x="2769108" y="4660900"/>
              <a:ext cx="3578352"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n-lt"/>
                  <a:ea typeface="+mn-ea"/>
                  <a:cs typeface="+mn-cs"/>
                </a:rPr>
                <a:t>相邻个体的轮廓能否分开</a:t>
              </a:r>
            </a:p>
          </p:txBody>
        </p:sp>
      </p:grpSp>
      <p:grpSp>
        <p:nvGrpSpPr>
          <p:cNvPr id="19" name="purpose"/>
          <p:cNvGrpSpPr/>
          <p:nvPr/>
        </p:nvGrpSpPr>
        <p:grpSpPr>
          <a:xfrm>
            <a:off x="597408" y="5699125"/>
            <a:ext cx="6486144" cy="469392"/>
            <a:chOff x="597408" y="5699125"/>
            <a:chExt cx="6486144" cy="469392"/>
          </a:xfrm>
        </p:grpSpPr>
        <p:sp>
          <p:nvSpPr>
            <p:cNvPr id="18" name="TextBox 18"/>
            <p:cNvSpPr txBox="1"/>
            <p:nvPr/>
          </p:nvSpPr>
          <p:spPr>
            <a:xfrm>
              <a:off x="597408" y="5699125"/>
              <a:ext cx="6486144"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稳定的个体记录，是后续统计和分析的基础。</a:t>
              </a:r>
            </a:p>
          </p:txBody>
        </p:sp>
      </p:grpSp>
      <p:sp>
        <p:nvSpPr>
          <p:cNvPr id="20" name="TextBox 20"/>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02 / 22</a:t>
            </a: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5745480" cy="1459865"/>
            <a:chOff x="594360" y="415925"/>
            <a:chExt cx="5745480" cy="1459865"/>
          </a:xfrm>
        </p:grpSpPr>
        <p:sp>
          <p:nvSpPr>
            <p:cNvPr id="2" name="TextBox 2"/>
            <p:cNvSpPr txBox="1"/>
            <p:nvPr/>
          </p:nvSpPr>
          <p:spPr>
            <a:xfrm>
              <a:off x="601218" y="415925"/>
              <a:ext cx="1216228"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01 研究背景</a:t>
              </a:r>
            </a:p>
          </p:txBody>
        </p:sp>
        <p:sp>
          <p:nvSpPr>
            <p:cNvPr id="3" name="TextBox 3"/>
            <p:cNvSpPr txBox="1"/>
            <p:nvPr/>
          </p:nvSpPr>
          <p:spPr>
            <a:xfrm>
              <a:off x="594360" y="793750"/>
              <a:ext cx="5745480" cy="1082040"/>
            </a:xfrm>
            <a:prstGeom prst="rect">
              <a:avLst/>
            </a:prstGeom>
            <a:noFill/>
            <a:ln>
              <a:noFill/>
            </a:ln>
          </p:spPr>
          <p:txBody>
            <a:bodyPr wrap="none" lIns="0" tIns="0" rIns="0" bIns="0" anchor="t" anchorCtr="0">
              <a:spAutoFit/>
            </a:bodyPr>
            <a:lstStyle/>
            <a:p>
              <a:pPr algn="l">
                <a:lnSpc>
                  <a:spcPts val="3900"/>
                </a:lnSpc>
              </a:pPr>
              <a:r>
                <a:rPr lang="zh-CN" sz="3000" b="1" dirty="0">
                  <a:solidFill>
                    <a:schemeClr val="accent1"/>
                  </a:solidFill>
                  <a:latin typeface="+mn-lt"/>
                  <a:ea typeface="+mn-ea"/>
                  <a:cs typeface="+mn-cs"/>
                </a:rPr>
                <a:t>现有技术已能识别和跟踪目标</a:t>
              </a:r>
              <a:br>
                <a:rPr lang="zh-CN" sz="3000" b="1" dirty="0">
                  <a:solidFill>
                    <a:schemeClr val="accent1"/>
                  </a:solidFill>
                  <a:latin typeface="+mn-lt"/>
                  <a:ea typeface="+mn-ea"/>
                  <a:cs typeface="+mn-cs"/>
                </a:rPr>
              </a:br>
              <a:r>
                <a:rPr lang="zh-CN" sz="3000" b="1" dirty="0">
                  <a:solidFill>
                    <a:schemeClr val="accent1"/>
                  </a:solidFill>
                  <a:latin typeface="+mn-lt"/>
                  <a:ea typeface="+mn-ea"/>
                  <a:cs typeface="+mn-cs"/>
                </a:rPr>
                <a:t>但目前在密集场景下仍难保持稳定</a:t>
              </a:r>
            </a:p>
          </p:txBody>
        </p:sp>
      </p:grpSp>
      <p:grpSp>
        <p:nvGrpSpPr>
          <p:cNvPr id="8" name="image-capability"/>
          <p:cNvGrpSpPr/>
          <p:nvPr/>
        </p:nvGrpSpPr>
        <p:grpSpPr>
          <a:xfrm>
            <a:off x="597408" y="2279650"/>
            <a:ext cx="5003292" cy="1736217"/>
            <a:chOff x="597408" y="2279650"/>
            <a:chExt cx="5003292" cy="1736217"/>
          </a:xfrm>
        </p:grpSpPr>
        <p:sp>
          <p:nvSpPr>
            <p:cNvPr id="5" name="TextBox 5"/>
            <p:cNvSpPr txBox="1"/>
            <p:nvPr/>
          </p:nvSpPr>
          <p:spPr>
            <a:xfrm>
              <a:off x="597408" y="2279650"/>
              <a:ext cx="2609088" cy="469392"/>
            </a:xfrm>
            <a:prstGeom prst="rect">
              <a:avLst/>
            </a:prstGeom>
            <a:noFill/>
            <a:ln>
              <a:noFill/>
            </a:ln>
          </p:spPr>
          <p:txBody>
            <a:bodyPr wrap="none" lIns="0" tIns="0" rIns="0" bIns="0" anchor="t" anchorCtr="0">
              <a:spAutoFit/>
            </a:bodyPr>
            <a:lstStyle/>
            <a:p>
              <a:pPr algn="l"/>
              <a:r>
                <a:rPr lang="zh-CN" sz="2400" b="1" dirty="0">
                  <a:solidFill>
                    <a:srgbClr val="315E9D"/>
                  </a:solidFill>
                  <a:latin typeface="+mn-lt"/>
                  <a:ea typeface="+mn-ea"/>
                  <a:cs typeface="+mn-cs"/>
                </a:rPr>
                <a:t>图像中的个体识别</a:t>
              </a:r>
            </a:p>
          </p:txBody>
        </p:sp>
        <p:sp>
          <p:nvSpPr>
            <p:cNvPr id="6" name="Line 6"/>
            <p:cNvSpPr/>
            <p:nvPr/>
          </p:nvSpPr>
          <p:spPr>
            <a:xfrm>
              <a:off x="609600" y="2847975"/>
              <a:ext cx="4991100" cy="9525"/>
            </a:xfrm>
            <a:custGeom>
              <a:avLst/>
              <a:gdLst/>
              <a:ahLst/>
              <a:cxnLst/>
              <a:rect l="l" t="t" r="r" b="b"/>
              <a:pathLst>
                <a:path w="4991100" h="9525">
                  <a:moveTo>
                    <a:pt x="0" y="0"/>
                  </a:moveTo>
                  <a:lnTo>
                    <a:pt x="4991100" y="0"/>
                  </a:lnTo>
                </a:path>
              </a:pathLst>
            </a:custGeom>
            <a:noFill/>
            <a:ln w="19050">
              <a:solidFill>
                <a:schemeClr val="accent6"/>
              </a:solidFill>
            </a:ln>
          </p:spPr>
        </p:sp>
        <p:sp>
          <p:nvSpPr>
            <p:cNvPr id="7" name="TextBox 7"/>
            <p:cNvSpPr txBox="1"/>
            <p:nvPr/>
          </p:nvSpPr>
          <p:spPr>
            <a:xfrm>
              <a:off x="597408" y="2955925"/>
              <a:ext cx="2767584" cy="1059942"/>
            </a:xfrm>
            <a:prstGeom prst="rect">
              <a:avLst/>
            </a:prstGeom>
            <a:noFill/>
            <a:ln>
              <a:noFill/>
            </a:ln>
          </p:spPr>
          <p:txBody>
            <a:bodyPr wrap="none" lIns="0" tIns="0" rIns="0" bIns="0" anchor="t" anchorCtr="0">
              <a:spAutoFit/>
            </a:bodyPr>
            <a:lstStyle/>
            <a:p>
              <a:pPr algn="l">
                <a:lnSpc>
                  <a:spcPts val="4650"/>
                </a:lnSpc>
              </a:pPr>
              <a:r>
                <a:rPr lang="zh-CN" sz="2400" dirty="0">
                  <a:solidFill>
                    <a:schemeClr val="dk1"/>
                  </a:solidFill>
                  <a:latin typeface="+mn-lt"/>
                  <a:ea typeface="+mn-ea"/>
                  <a:cs typeface="+mn-cs"/>
                </a:rPr>
                <a:t>找到目标的位置</a:t>
              </a:r>
              <a:br>
                <a:rPr lang="zh-CN" sz="2400" dirty="0">
                  <a:solidFill>
                    <a:schemeClr val="dk1"/>
                  </a:solidFill>
                  <a:latin typeface="+mn-lt"/>
                  <a:ea typeface="+mn-ea"/>
                  <a:cs typeface="+mn-cs"/>
                </a:rPr>
              </a:br>
              <a:r>
                <a:rPr lang="zh-CN" sz="2400" dirty="0">
                  <a:solidFill>
                    <a:schemeClr val="dk1"/>
                  </a:solidFill>
                  <a:latin typeface="+mn-lt"/>
                  <a:ea typeface="+mn-ea"/>
                  <a:cs typeface="+mn-cs"/>
                </a:rPr>
                <a:t>描出每个个体的轮廓</a:t>
              </a:r>
            </a:p>
          </p:txBody>
        </p:sp>
      </p:grpSp>
      <p:grpSp>
        <p:nvGrpSpPr>
          <p:cNvPr id="12" name="video-capability"/>
          <p:cNvGrpSpPr/>
          <p:nvPr/>
        </p:nvGrpSpPr>
        <p:grpSpPr>
          <a:xfrm>
            <a:off x="6579108" y="2279650"/>
            <a:ext cx="5003292" cy="1736217"/>
            <a:chOff x="6579108" y="2279650"/>
            <a:chExt cx="5003292" cy="1736217"/>
          </a:xfrm>
        </p:grpSpPr>
        <p:sp>
          <p:nvSpPr>
            <p:cNvPr id="9" name="TextBox 9"/>
            <p:cNvSpPr txBox="1"/>
            <p:nvPr/>
          </p:nvSpPr>
          <p:spPr>
            <a:xfrm>
              <a:off x="6579108" y="2279650"/>
              <a:ext cx="2609088" cy="469392"/>
            </a:xfrm>
            <a:prstGeom prst="rect">
              <a:avLst/>
            </a:prstGeom>
            <a:noFill/>
            <a:ln>
              <a:noFill/>
            </a:ln>
          </p:spPr>
          <p:txBody>
            <a:bodyPr wrap="none" lIns="0" tIns="0" rIns="0" bIns="0" anchor="t" anchorCtr="0">
              <a:spAutoFit/>
            </a:bodyPr>
            <a:lstStyle/>
            <a:p>
              <a:pPr algn="l"/>
              <a:r>
                <a:rPr lang="zh-CN" sz="2400" b="1" dirty="0">
                  <a:solidFill>
                    <a:schemeClr val="accent2"/>
                  </a:solidFill>
                  <a:latin typeface="+mn-lt"/>
                  <a:ea typeface="+mn-ea"/>
                  <a:cs typeface="+mn-cs"/>
                </a:rPr>
                <a:t>视频中的连续跟踪</a:t>
              </a:r>
            </a:p>
          </p:txBody>
        </p:sp>
        <p:sp>
          <p:nvSpPr>
            <p:cNvPr id="10" name="Line 10"/>
            <p:cNvSpPr/>
            <p:nvPr/>
          </p:nvSpPr>
          <p:spPr>
            <a:xfrm>
              <a:off x="6591300" y="2847975"/>
              <a:ext cx="4991100" cy="9525"/>
            </a:xfrm>
            <a:custGeom>
              <a:avLst/>
              <a:gdLst/>
              <a:ahLst/>
              <a:cxnLst/>
              <a:rect l="l" t="t" r="r" b="b"/>
              <a:pathLst>
                <a:path w="4991100" h="9525">
                  <a:moveTo>
                    <a:pt x="0" y="0"/>
                  </a:moveTo>
                  <a:lnTo>
                    <a:pt x="4991100" y="0"/>
                  </a:lnTo>
                </a:path>
              </a:pathLst>
            </a:custGeom>
            <a:noFill/>
            <a:ln w="19050">
              <a:solidFill>
                <a:schemeClr val="accent6"/>
              </a:solidFill>
            </a:ln>
          </p:spPr>
        </p:sp>
        <p:sp>
          <p:nvSpPr>
            <p:cNvPr id="11" name="TextBox 11"/>
            <p:cNvSpPr txBox="1"/>
            <p:nvPr/>
          </p:nvSpPr>
          <p:spPr>
            <a:xfrm>
              <a:off x="6579108" y="2955925"/>
              <a:ext cx="2767584" cy="1059942"/>
            </a:xfrm>
            <a:prstGeom prst="rect">
              <a:avLst/>
            </a:prstGeom>
            <a:noFill/>
            <a:ln>
              <a:noFill/>
            </a:ln>
          </p:spPr>
          <p:txBody>
            <a:bodyPr wrap="none" lIns="0" tIns="0" rIns="0" bIns="0" anchor="t" anchorCtr="0">
              <a:spAutoFit/>
            </a:bodyPr>
            <a:lstStyle/>
            <a:p>
              <a:pPr algn="l">
                <a:lnSpc>
                  <a:spcPts val="4650"/>
                </a:lnSpc>
              </a:pPr>
              <a:r>
                <a:rPr lang="zh-CN" sz="2400" dirty="0">
                  <a:solidFill>
                    <a:schemeClr val="dk1"/>
                  </a:solidFill>
                  <a:latin typeface="+mn-lt"/>
                  <a:ea typeface="+mn-ea"/>
                  <a:cs typeface="+mn-cs"/>
                </a:rPr>
                <a:t>连续跟随个体移动</a:t>
              </a:r>
              <a:br>
                <a:rPr lang="zh-CN" sz="2400" dirty="0">
                  <a:solidFill>
                    <a:schemeClr val="dk1"/>
                  </a:solidFill>
                  <a:latin typeface="+mn-lt"/>
                  <a:ea typeface="+mn-ea"/>
                  <a:cs typeface="+mn-cs"/>
                </a:rPr>
              </a:br>
              <a:r>
                <a:rPr lang="zh-CN" sz="2400" dirty="0">
                  <a:solidFill>
                    <a:schemeClr val="dk1"/>
                  </a:solidFill>
                  <a:latin typeface="+mn-lt"/>
                  <a:ea typeface="+mn-ea"/>
                  <a:cs typeface="+mn-cs"/>
                </a:rPr>
                <a:t>记录它出现过的位置</a:t>
              </a:r>
            </a:p>
          </p:txBody>
        </p:sp>
      </p:grpSp>
      <p:grpSp>
        <p:nvGrpSpPr>
          <p:cNvPr id="15" name="remaining-situations"/>
          <p:cNvGrpSpPr/>
          <p:nvPr/>
        </p:nvGrpSpPr>
        <p:grpSpPr>
          <a:xfrm>
            <a:off x="597408" y="5137150"/>
            <a:ext cx="7655814" cy="925068"/>
            <a:chOff x="597408" y="5137150"/>
            <a:chExt cx="7655814" cy="925068"/>
          </a:xfrm>
        </p:grpSpPr>
        <p:sp>
          <p:nvSpPr>
            <p:cNvPr id="13" name="TextBox 13"/>
            <p:cNvSpPr txBox="1"/>
            <p:nvPr/>
          </p:nvSpPr>
          <p:spPr>
            <a:xfrm>
              <a:off x="597408" y="5137150"/>
              <a:ext cx="6486144"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复杂条件下，连续记录仍可能中断或不稳定。</a:t>
              </a:r>
            </a:p>
          </p:txBody>
        </p:sp>
        <p:sp>
          <p:nvSpPr>
            <p:cNvPr id="14" name="TextBox 14"/>
            <p:cNvSpPr txBox="1"/>
            <p:nvPr/>
          </p:nvSpPr>
          <p:spPr>
            <a:xfrm>
              <a:off x="598932" y="5651500"/>
              <a:ext cx="7654290"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困难主要集中在个体拥挤、相互接触和较长时间遮挡的场景。</a:t>
              </a:r>
            </a:p>
          </p:txBody>
        </p:sp>
      </p:grpSp>
      <p:sp>
        <p:nvSpPr>
          <p:cNvPr id="16" name="TextBox 16"/>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03 / 22</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5280660" cy="964565"/>
            <a:chOff x="594360" y="415925"/>
            <a:chExt cx="5280660" cy="964565"/>
          </a:xfrm>
        </p:grpSpPr>
        <p:sp>
          <p:nvSpPr>
            <p:cNvPr id="2" name="TextBox 2"/>
            <p:cNvSpPr txBox="1"/>
            <p:nvPr/>
          </p:nvSpPr>
          <p:spPr>
            <a:xfrm>
              <a:off x="601218" y="415925"/>
              <a:ext cx="1216228"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01 研究背景</a:t>
              </a:r>
            </a:p>
          </p:txBody>
        </p:sp>
        <p:sp>
          <p:nvSpPr>
            <p:cNvPr id="3" name="TextBox 3"/>
            <p:cNvSpPr txBox="1"/>
            <p:nvPr/>
          </p:nvSpPr>
          <p:spPr>
            <a:xfrm>
              <a:off x="594360" y="793750"/>
              <a:ext cx="528066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密集场景仍然存在的主要困难</a:t>
              </a:r>
            </a:p>
          </p:txBody>
        </p:sp>
      </p:grpSp>
      <p:grpSp>
        <p:nvGrpSpPr>
          <p:cNvPr id="7" name="crowding"/>
          <p:cNvGrpSpPr/>
          <p:nvPr/>
        </p:nvGrpSpPr>
        <p:grpSpPr>
          <a:xfrm>
            <a:off x="597408" y="2184400"/>
            <a:ext cx="9108948" cy="469392"/>
            <a:chOff x="597408" y="2184400"/>
            <a:chExt cx="9108948" cy="469392"/>
          </a:xfrm>
        </p:grpSpPr>
        <p:sp>
          <p:nvSpPr>
            <p:cNvPr id="5" name="TextBox 5"/>
            <p:cNvSpPr txBox="1"/>
            <p:nvPr/>
          </p:nvSpPr>
          <p:spPr>
            <a:xfrm>
              <a:off x="597408" y="2184400"/>
              <a:ext cx="1962912"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个体密集接触</a:t>
              </a:r>
            </a:p>
          </p:txBody>
        </p:sp>
        <p:sp>
          <p:nvSpPr>
            <p:cNvPr id="6" name="TextBox 6"/>
            <p:cNvSpPr txBox="1"/>
            <p:nvPr/>
          </p:nvSpPr>
          <p:spPr>
            <a:xfrm>
              <a:off x="4313682" y="2222500"/>
              <a:ext cx="539267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容易漏认、重复认，轮廓也可能混在一起。</a:t>
              </a:r>
            </a:p>
          </p:txBody>
        </p:sp>
      </p:grpSp>
      <p:grpSp>
        <p:nvGrpSpPr>
          <p:cNvPr id="11" name="contact"/>
          <p:cNvGrpSpPr/>
          <p:nvPr/>
        </p:nvGrpSpPr>
        <p:grpSpPr>
          <a:xfrm>
            <a:off x="597408" y="3105150"/>
            <a:ext cx="10984992" cy="720217"/>
            <a:chOff x="597408" y="3105150"/>
            <a:chExt cx="10984992" cy="720217"/>
          </a:xfrm>
        </p:grpSpPr>
        <p:sp>
          <p:nvSpPr>
            <p:cNvPr id="8" name="Line 8"/>
            <p:cNvSpPr/>
            <p:nvPr/>
          </p:nvSpPr>
          <p:spPr>
            <a:xfrm>
              <a:off x="609600" y="31051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9" name="TextBox 9"/>
            <p:cNvSpPr txBox="1"/>
            <p:nvPr/>
          </p:nvSpPr>
          <p:spPr>
            <a:xfrm>
              <a:off x="597408" y="3355975"/>
              <a:ext cx="2609088"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相似个体交叉移动</a:t>
              </a:r>
            </a:p>
          </p:txBody>
        </p:sp>
        <p:sp>
          <p:nvSpPr>
            <p:cNvPr id="10" name="TextBox 10"/>
            <p:cNvSpPr txBox="1"/>
            <p:nvPr/>
          </p:nvSpPr>
          <p:spPr>
            <a:xfrm>
              <a:off x="4313682" y="3394075"/>
              <a:ext cx="4544568"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编号容易互换，个体轨迹可能断裂。</a:t>
              </a:r>
            </a:p>
          </p:txBody>
        </p:sp>
      </p:grpSp>
      <p:grpSp>
        <p:nvGrpSpPr>
          <p:cNvPr id="15" name="reappearance"/>
          <p:cNvGrpSpPr/>
          <p:nvPr/>
        </p:nvGrpSpPr>
        <p:grpSpPr>
          <a:xfrm>
            <a:off x="597408" y="4276725"/>
            <a:ext cx="10984992" cy="720217"/>
            <a:chOff x="597408" y="4276725"/>
            <a:chExt cx="10984992" cy="720217"/>
          </a:xfrm>
        </p:grpSpPr>
        <p:sp>
          <p:nvSpPr>
            <p:cNvPr id="12" name="Line 12"/>
            <p:cNvSpPr/>
            <p:nvPr/>
          </p:nvSpPr>
          <p:spPr>
            <a:xfrm>
              <a:off x="609600" y="4276725"/>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3" name="TextBox 13"/>
            <p:cNvSpPr txBox="1"/>
            <p:nvPr/>
          </p:nvSpPr>
          <p:spPr>
            <a:xfrm>
              <a:off x="597408" y="4527550"/>
              <a:ext cx="2286000"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遮挡后重新出现</a:t>
              </a:r>
            </a:p>
          </p:txBody>
        </p:sp>
        <p:sp>
          <p:nvSpPr>
            <p:cNvPr id="14" name="TextBox 14"/>
            <p:cNvSpPr txBox="1"/>
            <p:nvPr/>
          </p:nvSpPr>
          <p:spPr>
            <a:xfrm>
              <a:off x="4313682" y="4565650"/>
              <a:ext cx="4827270"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可能换成新编号，原有记录难以接续。</a:t>
              </a:r>
            </a:p>
          </p:txBody>
        </p:sp>
      </p:grpSp>
      <p:grpSp>
        <p:nvGrpSpPr>
          <p:cNvPr id="17" name="research-need"/>
          <p:cNvGrpSpPr/>
          <p:nvPr/>
        </p:nvGrpSpPr>
        <p:grpSpPr>
          <a:xfrm>
            <a:off x="597408" y="5689600"/>
            <a:ext cx="8424672" cy="469392"/>
            <a:chOff x="597408" y="5689600"/>
            <a:chExt cx="8424672" cy="469392"/>
          </a:xfrm>
        </p:grpSpPr>
        <p:sp>
          <p:nvSpPr>
            <p:cNvPr id="16" name="TextBox 16"/>
            <p:cNvSpPr txBox="1"/>
            <p:nvPr/>
          </p:nvSpPr>
          <p:spPr>
            <a:xfrm>
              <a:off x="597408" y="5689600"/>
              <a:ext cx="8424672" cy="469392"/>
            </a:xfrm>
            <a:prstGeom prst="rect">
              <a:avLst/>
            </a:prstGeom>
            <a:noFill/>
            <a:ln>
              <a:noFill/>
            </a:ln>
          </p:spPr>
          <p:txBody>
            <a:bodyPr wrap="none" lIns="0" tIns="0" rIns="0" bIns="0" anchor="t" anchorCtr="0">
              <a:spAutoFit/>
            </a:bodyPr>
            <a:lstStyle/>
            <a:p>
              <a:pPr algn="l"/>
              <a:r>
                <a:rPr lang="zh-CN" sz="2400" b="1" dirty="0">
                  <a:solidFill>
                    <a:schemeClr val="accent2"/>
                  </a:solidFill>
                  <a:latin typeface="+mn-lt"/>
                  <a:ea typeface="+mn-ea"/>
                  <a:cs typeface="+mn-cs"/>
                </a:rPr>
                <a:t>研究目标：提高个体识别、轮廓区分和连续记录的可靠性。</a:t>
              </a:r>
            </a:p>
          </p:txBody>
        </p:sp>
      </p:grpSp>
      <p:sp>
        <p:nvSpPr>
          <p:cNvPr id="18" name="TextBox 18"/>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04 / 22</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6896100" cy="964565"/>
            <a:chOff x="594360" y="415925"/>
            <a:chExt cx="6896100" cy="964565"/>
          </a:xfrm>
        </p:grpSpPr>
        <p:sp>
          <p:nvSpPr>
            <p:cNvPr id="2" name="TextBox 2"/>
            <p:cNvSpPr txBox="1"/>
            <p:nvPr/>
          </p:nvSpPr>
          <p:spPr>
            <a:xfrm>
              <a:off x="601218" y="415925"/>
              <a:ext cx="1216228" cy="322707"/>
            </a:xfrm>
            <a:prstGeom prst="rect">
              <a:avLst/>
            </a:prstGeom>
            <a:noFill/>
            <a:ln>
              <a:noFill/>
            </a:ln>
          </p:spPr>
          <p:txBody>
            <a:bodyPr wrap="none" lIns="0" tIns="0" rIns="0" bIns="0" anchor="t" anchorCtr="0">
              <a:spAutoFit/>
            </a:bodyPr>
            <a:lstStyle/>
            <a:p>
              <a:pPr algn="l"/>
              <a:r>
                <a:rPr lang="zh-CN" sz="1650" dirty="0">
                  <a:solidFill>
                    <a:srgbClr val="315E9D"/>
                  </a:solidFill>
                  <a:latin typeface="+mn-lt"/>
                  <a:ea typeface="+mn-ea"/>
                  <a:cs typeface="+mn-cs"/>
                </a:rPr>
                <a:t>02 研究方法</a:t>
              </a:r>
            </a:p>
          </p:txBody>
        </p:sp>
        <p:sp>
          <p:nvSpPr>
            <p:cNvPr id="3" name="TextBox 3"/>
            <p:cNvSpPr txBox="1"/>
            <p:nvPr/>
          </p:nvSpPr>
          <p:spPr>
            <a:xfrm>
              <a:off x="594360" y="793750"/>
              <a:ext cx="689610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三个模块衔接单帧识别与连续身份记录</a:t>
              </a:r>
            </a:p>
          </p:txBody>
        </p:sp>
      </p:grpSp>
      <p:grpSp>
        <p:nvGrpSpPr>
          <p:cNvPr id="9" name="module-one"/>
          <p:cNvGrpSpPr/>
          <p:nvPr/>
        </p:nvGrpSpPr>
        <p:grpSpPr>
          <a:xfrm>
            <a:off x="594360" y="1841500"/>
            <a:ext cx="10996422" cy="953643"/>
            <a:chOff x="594360" y="1841500"/>
            <a:chExt cx="10996422" cy="953643"/>
          </a:xfrm>
        </p:grpSpPr>
        <p:sp>
          <p:nvSpPr>
            <p:cNvPr id="5" name="TextBox 5"/>
            <p:cNvSpPr txBox="1"/>
            <p:nvPr/>
          </p:nvSpPr>
          <p:spPr>
            <a:xfrm>
              <a:off x="594360" y="1851025"/>
              <a:ext cx="496938" cy="586740"/>
            </a:xfrm>
            <a:prstGeom prst="rect">
              <a:avLst/>
            </a:prstGeom>
            <a:noFill/>
            <a:ln>
              <a:noFill/>
            </a:ln>
          </p:spPr>
          <p:txBody>
            <a:bodyPr wrap="none" lIns="0" tIns="0" rIns="0" bIns="0" anchor="t" anchorCtr="0">
              <a:spAutoFit/>
            </a:bodyPr>
            <a:lstStyle/>
            <a:p>
              <a:pPr algn="l"/>
              <a:r>
                <a:rPr lang="zh-CN" sz="3000" b="1" dirty="0">
                  <a:solidFill>
                    <a:srgbClr val="315E9D"/>
                  </a:solidFill>
                  <a:latin typeface="+mn-lt"/>
                  <a:ea typeface="+mn-ea"/>
                  <a:cs typeface="+mn-cs"/>
                </a:rPr>
                <a:t>01</a:t>
              </a:r>
            </a:p>
          </p:txBody>
        </p:sp>
        <p:sp>
          <p:nvSpPr>
            <p:cNvPr id="6" name="TextBox 6"/>
            <p:cNvSpPr txBox="1"/>
            <p:nvPr/>
          </p:nvSpPr>
          <p:spPr>
            <a:xfrm>
              <a:off x="1568958" y="1841500"/>
              <a:ext cx="4870704"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密集场景下的个体检测与实例分割</a:t>
              </a:r>
            </a:p>
          </p:txBody>
        </p:sp>
        <p:sp>
          <p:nvSpPr>
            <p:cNvPr id="7" name="TextBox 7"/>
            <p:cNvSpPr txBox="1"/>
            <p:nvPr/>
          </p:nvSpPr>
          <p:spPr>
            <a:xfrm>
              <a:off x="1570482" y="2384425"/>
              <a:ext cx="510997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在一张图中找到个体，并分清各自轮廓。</a:t>
              </a:r>
            </a:p>
          </p:txBody>
        </p:sp>
        <p:sp>
          <p:nvSpPr>
            <p:cNvPr id="8" name="TextBox 8"/>
            <p:cNvSpPr txBox="1"/>
            <p:nvPr/>
          </p:nvSpPr>
          <p:spPr>
            <a:xfrm>
              <a:off x="10241280" y="2435225"/>
              <a:ext cx="1349502" cy="322707"/>
            </a:xfrm>
            <a:prstGeom prst="rect">
              <a:avLst/>
            </a:prstGeom>
            <a:noFill/>
            <a:ln>
              <a:noFill/>
            </a:ln>
          </p:spPr>
          <p:txBody>
            <a:bodyPr wrap="none" lIns="0" tIns="0" rIns="0" bIns="0" anchor="t" anchorCtr="0">
              <a:spAutoFit/>
            </a:bodyPr>
            <a:lstStyle/>
            <a:p>
              <a:pPr algn="r"/>
              <a:r>
                <a:rPr lang="zh-CN" sz="1650" dirty="0">
                  <a:solidFill>
                    <a:srgbClr val="315E9D"/>
                  </a:solidFill>
                  <a:latin typeface="+mn-lt"/>
                  <a:ea typeface="+mn-ea"/>
                  <a:cs typeface="+mn-cs"/>
                </a:rPr>
                <a:t>已有图像实验</a:t>
              </a:r>
            </a:p>
          </p:txBody>
        </p:sp>
      </p:grpSp>
      <p:grpSp>
        <p:nvGrpSpPr>
          <p:cNvPr id="15" name="module-two"/>
          <p:cNvGrpSpPr/>
          <p:nvPr/>
        </p:nvGrpSpPr>
        <p:grpSpPr>
          <a:xfrm>
            <a:off x="594360" y="3095625"/>
            <a:ext cx="10996422" cy="1080643"/>
            <a:chOff x="594360" y="3095625"/>
            <a:chExt cx="10996422" cy="1080643"/>
          </a:xfrm>
        </p:grpSpPr>
        <p:sp>
          <p:nvSpPr>
            <p:cNvPr id="10" name="Line 10"/>
            <p:cNvSpPr/>
            <p:nvPr/>
          </p:nvSpPr>
          <p:spPr>
            <a:xfrm>
              <a:off x="1581150" y="3095625"/>
              <a:ext cx="10001250" cy="9525"/>
            </a:xfrm>
            <a:custGeom>
              <a:avLst/>
              <a:gdLst/>
              <a:ahLst/>
              <a:cxnLst/>
              <a:rect l="l" t="t" r="r" b="b"/>
              <a:pathLst>
                <a:path w="10001250" h="9525">
                  <a:moveTo>
                    <a:pt x="0" y="0"/>
                  </a:moveTo>
                  <a:lnTo>
                    <a:pt x="10001250" y="0"/>
                  </a:lnTo>
                </a:path>
              </a:pathLst>
            </a:custGeom>
            <a:noFill/>
            <a:ln w="9525">
              <a:solidFill>
                <a:schemeClr val="accent6"/>
              </a:solidFill>
            </a:ln>
          </p:spPr>
        </p:sp>
        <p:sp>
          <p:nvSpPr>
            <p:cNvPr id="11" name="TextBox 11"/>
            <p:cNvSpPr txBox="1"/>
            <p:nvPr/>
          </p:nvSpPr>
          <p:spPr>
            <a:xfrm>
              <a:off x="594360" y="3232150"/>
              <a:ext cx="496938" cy="586740"/>
            </a:xfrm>
            <a:prstGeom prst="rect">
              <a:avLst/>
            </a:prstGeom>
            <a:noFill/>
            <a:ln>
              <a:noFill/>
            </a:ln>
          </p:spPr>
          <p:txBody>
            <a:bodyPr wrap="none" lIns="0" tIns="0" rIns="0" bIns="0" anchor="t" anchorCtr="0">
              <a:spAutoFit/>
            </a:bodyPr>
            <a:lstStyle/>
            <a:p>
              <a:pPr algn="l"/>
              <a:r>
                <a:rPr lang="zh-CN" sz="3000" b="1" dirty="0">
                  <a:solidFill>
                    <a:schemeClr val="accent2"/>
                  </a:solidFill>
                  <a:latin typeface="+mn-lt"/>
                  <a:ea typeface="+mn-ea"/>
                  <a:cs typeface="+mn-cs"/>
                </a:rPr>
                <a:t>02</a:t>
              </a:r>
            </a:p>
          </p:txBody>
        </p:sp>
        <p:sp>
          <p:nvSpPr>
            <p:cNvPr id="12" name="TextBox 12"/>
            <p:cNvSpPr txBox="1"/>
            <p:nvPr/>
          </p:nvSpPr>
          <p:spPr>
            <a:xfrm>
              <a:off x="1568958" y="3222625"/>
              <a:ext cx="4870704"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连续视频中的身份关联与稳定保持</a:t>
              </a:r>
            </a:p>
          </p:txBody>
        </p:sp>
        <p:sp>
          <p:nvSpPr>
            <p:cNvPr id="13" name="TextBox 13"/>
            <p:cNvSpPr txBox="1"/>
            <p:nvPr/>
          </p:nvSpPr>
          <p:spPr>
            <a:xfrm>
              <a:off x="1570482" y="3765550"/>
              <a:ext cx="510997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个体持续可见时，尽量保持同一个编号。</a:t>
              </a:r>
            </a:p>
          </p:txBody>
        </p:sp>
        <p:sp>
          <p:nvSpPr>
            <p:cNvPr id="14" name="TextBox 14"/>
            <p:cNvSpPr txBox="1"/>
            <p:nvPr/>
          </p:nvSpPr>
          <p:spPr>
            <a:xfrm>
              <a:off x="10907649" y="3816350"/>
              <a:ext cx="683133" cy="322707"/>
            </a:xfrm>
            <a:prstGeom prst="rect">
              <a:avLst/>
            </a:prstGeom>
            <a:noFill/>
            <a:ln>
              <a:noFill/>
            </a:ln>
          </p:spPr>
          <p:txBody>
            <a:bodyPr wrap="none" lIns="0" tIns="0" rIns="0" bIns="0" anchor="t" anchorCtr="0">
              <a:spAutoFit/>
            </a:bodyPr>
            <a:lstStyle/>
            <a:p>
              <a:pPr algn="r"/>
              <a:r>
                <a:rPr lang="zh-CN" sz="1650" dirty="0">
                  <a:solidFill>
                    <a:schemeClr val="accent2"/>
                  </a:solidFill>
                  <a:latin typeface="+mn-lt"/>
                  <a:ea typeface="+mn-ea"/>
                  <a:cs typeface="+mn-cs"/>
                </a:rPr>
                <a:t>拟开展</a:t>
              </a:r>
            </a:p>
          </p:txBody>
        </p:sp>
      </p:grpSp>
      <p:grpSp>
        <p:nvGrpSpPr>
          <p:cNvPr id="21" name="module-three"/>
          <p:cNvGrpSpPr/>
          <p:nvPr/>
        </p:nvGrpSpPr>
        <p:grpSpPr>
          <a:xfrm>
            <a:off x="594360" y="4476750"/>
            <a:ext cx="10996422" cy="1080643"/>
            <a:chOff x="594360" y="4476750"/>
            <a:chExt cx="10996422" cy="1080643"/>
          </a:xfrm>
        </p:grpSpPr>
        <p:sp>
          <p:nvSpPr>
            <p:cNvPr id="16" name="Line 16"/>
            <p:cNvSpPr/>
            <p:nvPr/>
          </p:nvSpPr>
          <p:spPr>
            <a:xfrm>
              <a:off x="1581150" y="4476750"/>
              <a:ext cx="10001250" cy="9525"/>
            </a:xfrm>
            <a:custGeom>
              <a:avLst/>
              <a:gdLst/>
              <a:ahLst/>
              <a:cxnLst/>
              <a:rect l="l" t="t" r="r" b="b"/>
              <a:pathLst>
                <a:path w="10001250" h="9525">
                  <a:moveTo>
                    <a:pt x="0" y="0"/>
                  </a:moveTo>
                  <a:lnTo>
                    <a:pt x="10001250" y="0"/>
                  </a:lnTo>
                </a:path>
              </a:pathLst>
            </a:custGeom>
            <a:noFill/>
            <a:ln w="9525">
              <a:solidFill>
                <a:schemeClr val="accent6"/>
              </a:solidFill>
            </a:ln>
          </p:spPr>
        </p:sp>
        <p:sp>
          <p:nvSpPr>
            <p:cNvPr id="17" name="TextBox 17"/>
            <p:cNvSpPr txBox="1"/>
            <p:nvPr/>
          </p:nvSpPr>
          <p:spPr>
            <a:xfrm>
              <a:off x="594360" y="4613275"/>
              <a:ext cx="496938" cy="586740"/>
            </a:xfrm>
            <a:prstGeom prst="rect">
              <a:avLst/>
            </a:prstGeom>
            <a:noFill/>
            <a:ln>
              <a:noFill/>
            </a:ln>
          </p:spPr>
          <p:txBody>
            <a:bodyPr wrap="none" lIns="0" tIns="0" rIns="0" bIns="0" anchor="t" anchorCtr="0">
              <a:spAutoFit/>
            </a:bodyPr>
            <a:lstStyle/>
            <a:p>
              <a:pPr algn="l"/>
              <a:r>
                <a:rPr lang="zh-CN" sz="3000" b="1" dirty="0">
                  <a:solidFill>
                    <a:schemeClr val="accent3"/>
                  </a:solidFill>
                  <a:latin typeface="+mn-lt"/>
                  <a:ea typeface="+mn-ea"/>
                  <a:cs typeface="+mn-cs"/>
                </a:rPr>
                <a:t>03</a:t>
              </a:r>
            </a:p>
          </p:txBody>
        </p:sp>
        <p:sp>
          <p:nvSpPr>
            <p:cNvPr id="18" name="TextBox 18"/>
            <p:cNvSpPr txBox="1"/>
            <p:nvPr/>
          </p:nvSpPr>
          <p:spPr>
            <a:xfrm>
              <a:off x="1568958" y="4603750"/>
              <a:ext cx="4224528"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遮挡后的身份恢复与轨迹续接</a:t>
              </a:r>
            </a:p>
          </p:txBody>
        </p:sp>
        <p:sp>
          <p:nvSpPr>
            <p:cNvPr id="19" name="TextBox 19"/>
            <p:cNvSpPr txBox="1"/>
            <p:nvPr/>
          </p:nvSpPr>
          <p:spPr>
            <a:xfrm>
              <a:off x="1570482" y="5146675"/>
              <a:ext cx="5675376"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个体丢失后重新出现，判断能否接回原编号。</a:t>
              </a:r>
            </a:p>
          </p:txBody>
        </p:sp>
        <p:sp>
          <p:nvSpPr>
            <p:cNvPr id="20" name="TextBox 20"/>
            <p:cNvSpPr txBox="1"/>
            <p:nvPr/>
          </p:nvSpPr>
          <p:spPr>
            <a:xfrm>
              <a:off x="10907649" y="5197475"/>
              <a:ext cx="683133" cy="322707"/>
            </a:xfrm>
            <a:prstGeom prst="rect">
              <a:avLst/>
            </a:prstGeom>
            <a:noFill/>
            <a:ln>
              <a:noFill/>
            </a:ln>
          </p:spPr>
          <p:txBody>
            <a:bodyPr wrap="none" lIns="0" tIns="0" rIns="0" bIns="0" anchor="t" anchorCtr="0">
              <a:spAutoFit/>
            </a:bodyPr>
            <a:lstStyle/>
            <a:p>
              <a:pPr algn="r"/>
              <a:r>
                <a:rPr lang="zh-CN" sz="1650" dirty="0">
                  <a:solidFill>
                    <a:schemeClr val="accent3"/>
                  </a:solidFill>
                  <a:latin typeface="+mn-lt"/>
                  <a:ea typeface="+mn-ea"/>
                  <a:cs typeface="+mn-cs"/>
                </a:rPr>
                <a:t>拟开展</a:t>
              </a:r>
            </a:p>
          </p:txBody>
        </p:sp>
      </p:grpSp>
      <p:grpSp>
        <p:nvGrpSpPr>
          <p:cNvPr id="23" name="scope"/>
          <p:cNvGrpSpPr/>
          <p:nvPr/>
        </p:nvGrpSpPr>
        <p:grpSpPr>
          <a:xfrm>
            <a:off x="1572768" y="5854700"/>
            <a:ext cx="7346823" cy="322707"/>
            <a:chOff x="1572768" y="5854700"/>
            <a:chExt cx="7346823" cy="322707"/>
          </a:xfrm>
        </p:grpSpPr>
        <p:sp>
          <p:nvSpPr>
            <p:cNvPr id="22" name="TextBox 22"/>
            <p:cNvSpPr txBox="1"/>
            <p:nvPr/>
          </p:nvSpPr>
          <p:spPr>
            <a:xfrm>
              <a:off x="1572768" y="5854700"/>
              <a:ext cx="7346823"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视频研究先限定为单摄像头、固定视角，两个视频模块沿用同一跟踪框架。</a:t>
              </a:r>
            </a:p>
          </p:txBody>
        </p:sp>
      </p:grpSp>
      <p:grpSp>
        <p:nvGrpSpPr>
          <p:cNvPr id="26" name="footer"/>
          <p:cNvGrpSpPr/>
          <p:nvPr/>
        </p:nvGrpSpPr>
        <p:grpSpPr>
          <a:xfrm>
            <a:off x="603504" y="6410325"/>
            <a:ext cx="10984992" cy="234696"/>
            <a:chOff x="603504" y="6410325"/>
            <a:chExt cx="10984992" cy="234696"/>
          </a:xfrm>
        </p:grpSpPr>
        <p:sp>
          <p:nvSpPr>
            <p:cNvPr id="24" name="TextBox 24"/>
            <p:cNvSpPr txBox="1"/>
            <p:nvPr/>
          </p:nvSpPr>
          <p:spPr>
            <a:xfrm>
              <a:off x="603504" y="6410325"/>
              <a:ext cx="3889248"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方法面向通用个体监测；猪只作为后续应用验证案例。</a:t>
              </a:r>
            </a:p>
          </p:txBody>
        </p:sp>
        <p:sp>
          <p:nvSpPr>
            <p:cNvPr id="25" name="TextBox 25"/>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05 / 22</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8107680" cy="964565"/>
            <a:chOff x="594360" y="415925"/>
            <a:chExt cx="8107680" cy="964565"/>
          </a:xfrm>
        </p:grpSpPr>
        <p:sp>
          <p:nvSpPr>
            <p:cNvPr id="2" name="TextBox 2"/>
            <p:cNvSpPr txBox="1"/>
            <p:nvPr/>
          </p:nvSpPr>
          <p:spPr>
            <a:xfrm>
              <a:off x="601218" y="415925"/>
              <a:ext cx="2138039" cy="322707"/>
            </a:xfrm>
            <a:prstGeom prst="rect">
              <a:avLst/>
            </a:prstGeom>
            <a:noFill/>
            <a:ln>
              <a:noFill/>
            </a:ln>
          </p:spPr>
          <p:txBody>
            <a:bodyPr wrap="none" lIns="0" tIns="0" rIns="0" bIns="0" anchor="t" anchorCtr="0">
              <a:spAutoFit/>
            </a:bodyPr>
            <a:lstStyle/>
            <a:p>
              <a:pPr algn="l"/>
              <a:r>
                <a:rPr lang="zh-CN" sz="1650" dirty="0">
                  <a:solidFill>
                    <a:srgbClr val="315E9D"/>
                  </a:solidFill>
                  <a:latin typeface="+mn-lt"/>
                  <a:ea typeface="+mn-ea"/>
                  <a:cs typeface="+mn-cs"/>
                </a:rPr>
                <a:t>02 研究方法 · 模块一</a:t>
              </a:r>
            </a:p>
          </p:txBody>
        </p:sp>
        <p:sp>
          <p:nvSpPr>
            <p:cNvPr id="3" name="TextBox 3"/>
            <p:cNvSpPr txBox="1"/>
            <p:nvPr/>
          </p:nvSpPr>
          <p:spPr>
            <a:xfrm>
              <a:off x="594360" y="793750"/>
              <a:ext cx="810768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评价既看轮廓改善，也看原成功实例是否受损</a:t>
              </a:r>
            </a:p>
          </p:txBody>
        </p:sp>
      </p:grpSp>
      <p:grpSp>
        <p:nvGrpSpPr>
          <p:cNvPr id="8" name="target"/>
          <p:cNvGrpSpPr/>
          <p:nvPr/>
        </p:nvGrpSpPr>
        <p:grpSpPr>
          <a:xfrm>
            <a:off x="597408" y="1831975"/>
            <a:ext cx="9249156" cy="764032"/>
            <a:chOff x="597408" y="1831975"/>
            <a:chExt cx="9249156" cy="764032"/>
          </a:xfrm>
        </p:grpSpPr>
        <p:sp>
          <p:nvSpPr>
            <p:cNvPr id="5" name="TextBox 5"/>
            <p:cNvSpPr txBox="1"/>
            <p:nvPr/>
          </p:nvSpPr>
          <p:spPr>
            <a:xfrm>
              <a:off x="597408" y="1831975"/>
              <a:ext cx="1621414" cy="469392"/>
            </a:xfrm>
            <a:prstGeom prst="rect">
              <a:avLst/>
            </a:prstGeom>
            <a:noFill/>
            <a:ln>
              <a:noFill/>
            </a:ln>
          </p:spPr>
          <p:txBody>
            <a:bodyPr wrap="none" lIns="0" tIns="0" rIns="0" bIns="0" anchor="t" anchorCtr="0">
              <a:spAutoFit/>
            </a:bodyPr>
            <a:lstStyle/>
            <a:p>
              <a:pPr algn="l"/>
              <a:r>
                <a:rPr lang="zh-CN" sz="2400" b="1" dirty="0">
                  <a:solidFill>
                    <a:srgbClr val="315E9D"/>
                  </a:solidFill>
                  <a:latin typeface="+mn-lt"/>
                  <a:ea typeface="+mn-ea"/>
                  <a:cs typeface="+mn-cs"/>
                </a:rPr>
                <a:t>目标集合 T</a:t>
              </a:r>
            </a:p>
          </p:txBody>
        </p:sp>
        <p:sp>
          <p:nvSpPr>
            <p:cNvPr id="6" name="TextBox 6"/>
            <p:cNvSpPr txBox="1"/>
            <p:nvPr/>
          </p:nvSpPr>
          <p:spPr>
            <a:xfrm>
              <a:off x="3323082" y="1860550"/>
              <a:ext cx="652348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原分割任务失败，框达标、同一检测的轮廓未达标。</a:t>
              </a:r>
            </a:p>
          </p:txBody>
        </p:sp>
        <p:sp>
          <p:nvSpPr>
            <p:cNvPr id="7" name="TextBox 7"/>
            <p:cNvSpPr txBox="1"/>
            <p:nvPr/>
          </p:nvSpPr>
          <p:spPr>
            <a:xfrm>
              <a:off x="3325368" y="2273300"/>
              <a:ext cx="5347716"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锁定同一条预测，避免把不同检测的好结果拼在一起。</a:t>
              </a:r>
            </a:p>
          </p:txBody>
        </p:sp>
      </p:grpSp>
      <p:grpSp>
        <p:nvGrpSpPr>
          <p:cNvPr id="13" name="gain"/>
          <p:cNvGrpSpPr/>
          <p:nvPr/>
        </p:nvGrpSpPr>
        <p:grpSpPr>
          <a:xfrm>
            <a:off x="597408" y="2724150"/>
            <a:ext cx="10984992" cy="862457"/>
            <a:chOff x="597408" y="2724150"/>
            <a:chExt cx="10984992" cy="862457"/>
          </a:xfrm>
        </p:grpSpPr>
        <p:sp>
          <p:nvSpPr>
            <p:cNvPr id="9" name="Line 9"/>
            <p:cNvSpPr/>
            <p:nvPr/>
          </p:nvSpPr>
          <p:spPr>
            <a:xfrm>
              <a:off x="609600" y="27241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0" name="TextBox 10"/>
            <p:cNvSpPr txBox="1"/>
            <p:nvPr/>
          </p:nvSpPr>
          <p:spPr>
            <a:xfrm>
              <a:off x="597408" y="2813050"/>
              <a:ext cx="2112435" cy="469392"/>
            </a:xfrm>
            <a:prstGeom prst="rect">
              <a:avLst/>
            </a:prstGeom>
            <a:noFill/>
            <a:ln>
              <a:noFill/>
            </a:ln>
          </p:spPr>
          <p:txBody>
            <a:bodyPr wrap="none" lIns="0" tIns="0" rIns="0" bIns="0" anchor="t" anchorCtr="0">
              <a:spAutoFit/>
            </a:bodyPr>
            <a:lstStyle/>
            <a:p>
              <a:pPr algn="l"/>
              <a:r>
                <a:rPr lang="zh-CN" sz="2400" b="1" dirty="0">
                  <a:solidFill>
                    <a:srgbClr val="315E9D"/>
                  </a:solidFill>
                  <a:latin typeface="+mn-lt"/>
                  <a:ea typeface="+mn-ea"/>
                  <a:cs typeface="+mn-cs"/>
                </a:rPr>
                <a:t>轮廓增益 ΔIoU</a:t>
              </a:r>
            </a:p>
          </p:txBody>
        </p:sp>
        <p:sp>
          <p:nvSpPr>
            <p:cNvPr id="11" name="TextBox 11"/>
            <p:cNvSpPr txBox="1"/>
            <p:nvPr/>
          </p:nvSpPr>
          <p:spPr>
            <a:xfrm>
              <a:off x="3323082" y="2851150"/>
              <a:ext cx="6195441"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修正后的 IoU 减去原 IoU，先按图、再跨图平均。</a:t>
              </a:r>
            </a:p>
          </p:txBody>
        </p:sp>
        <p:sp>
          <p:nvSpPr>
            <p:cNvPr id="12" name="TextBox 12"/>
            <p:cNvSpPr txBox="1"/>
            <p:nvPr/>
          </p:nvSpPr>
          <p:spPr>
            <a:xfrm>
              <a:off x="3325368" y="3263900"/>
              <a:ext cx="5617616"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分别看目标 T 和全部合格框配对，检查收益是否局部化。</a:t>
              </a:r>
            </a:p>
          </p:txBody>
        </p:sp>
      </p:grpSp>
      <p:grpSp>
        <p:nvGrpSpPr>
          <p:cNvPr id="18" name="repair"/>
          <p:cNvGrpSpPr/>
          <p:nvPr/>
        </p:nvGrpSpPr>
        <p:grpSpPr>
          <a:xfrm>
            <a:off x="597408" y="3705225"/>
            <a:ext cx="10984992" cy="862457"/>
            <a:chOff x="597408" y="3705225"/>
            <a:chExt cx="10984992" cy="862457"/>
          </a:xfrm>
        </p:grpSpPr>
        <p:sp>
          <p:nvSpPr>
            <p:cNvPr id="14" name="Line 14"/>
            <p:cNvSpPr/>
            <p:nvPr/>
          </p:nvSpPr>
          <p:spPr>
            <a:xfrm>
              <a:off x="609600" y="3705225"/>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5" name="TextBox 15"/>
            <p:cNvSpPr txBox="1"/>
            <p:nvPr/>
          </p:nvSpPr>
          <p:spPr>
            <a:xfrm>
              <a:off x="597408" y="3794125"/>
              <a:ext cx="1639824" cy="469392"/>
            </a:xfrm>
            <a:prstGeom prst="rect">
              <a:avLst/>
            </a:prstGeom>
            <a:noFill/>
            <a:ln>
              <a:noFill/>
            </a:ln>
          </p:spPr>
          <p:txBody>
            <a:bodyPr wrap="none" lIns="0" tIns="0" rIns="0" bIns="0" anchor="t" anchorCtr="0">
              <a:spAutoFit/>
            </a:bodyPr>
            <a:lstStyle/>
            <a:p>
              <a:pPr algn="l"/>
              <a:r>
                <a:rPr lang="zh-CN" sz="2400" b="1" dirty="0">
                  <a:solidFill>
                    <a:srgbClr val="315E9D"/>
                  </a:solidFill>
                  <a:latin typeface="+mn-lt"/>
                  <a:ea typeface="+mn-ea"/>
                  <a:cs typeface="+mn-cs"/>
                </a:rPr>
                <a:t>任务修复率</a:t>
              </a:r>
            </a:p>
          </p:txBody>
        </p:sp>
        <p:sp>
          <p:nvSpPr>
            <p:cNvPr id="16" name="TextBox 16"/>
            <p:cNvSpPr txBox="1"/>
            <p:nvPr/>
          </p:nvSpPr>
          <p:spPr>
            <a:xfrm>
              <a:off x="3323082" y="3832225"/>
              <a:ext cx="6301588"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目标 T 中，修正后重新获得分割任务匹配的比例。</a:t>
              </a:r>
            </a:p>
          </p:txBody>
        </p:sp>
        <p:sp>
          <p:nvSpPr>
            <p:cNvPr id="17" name="TextBox 17"/>
            <p:cNvSpPr txBox="1"/>
            <p:nvPr/>
          </p:nvSpPr>
          <p:spPr>
            <a:xfrm>
              <a:off x="3325368" y="4244975"/>
              <a:ext cx="4498200"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与“原固定检测自身达到 IoU 阈值”分别统计。</a:t>
              </a:r>
            </a:p>
          </p:txBody>
        </p:sp>
      </p:grpSp>
      <p:grpSp>
        <p:nvGrpSpPr>
          <p:cNvPr id="23" name="damage"/>
          <p:cNvGrpSpPr/>
          <p:nvPr/>
        </p:nvGrpSpPr>
        <p:grpSpPr>
          <a:xfrm>
            <a:off x="597408" y="4686300"/>
            <a:ext cx="10984992" cy="862457"/>
            <a:chOff x="597408" y="4686300"/>
            <a:chExt cx="10984992" cy="862457"/>
          </a:xfrm>
        </p:grpSpPr>
        <p:sp>
          <p:nvSpPr>
            <p:cNvPr id="19" name="Line 19"/>
            <p:cNvSpPr/>
            <p:nvPr/>
          </p:nvSpPr>
          <p:spPr>
            <a:xfrm>
              <a:off x="609600" y="46863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20" name="TextBox 20"/>
            <p:cNvSpPr txBox="1"/>
            <p:nvPr/>
          </p:nvSpPr>
          <p:spPr>
            <a:xfrm>
              <a:off x="597408" y="4775200"/>
              <a:ext cx="1639824" cy="469392"/>
            </a:xfrm>
            <a:prstGeom prst="rect">
              <a:avLst/>
            </a:prstGeom>
            <a:noFill/>
            <a:ln>
              <a:noFill/>
            </a:ln>
          </p:spPr>
          <p:txBody>
            <a:bodyPr wrap="none" lIns="0" tIns="0" rIns="0" bIns="0" anchor="t" anchorCtr="0">
              <a:spAutoFit/>
            </a:bodyPr>
            <a:lstStyle/>
            <a:p>
              <a:pPr algn="l"/>
              <a:r>
                <a:rPr lang="zh-CN" sz="2400" b="1" dirty="0">
                  <a:solidFill>
                    <a:schemeClr val="accent3"/>
                  </a:solidFill>
                  <a:latin typeface="+mn-lt"/>
                  <a:ea typeface="+mn-ea"/>
                  <a:cs typeface="+mn-cs"/>
                </a:rPr>
                <a:t>成功损伤率</a:t>
              </a:r>
            </a:p>
          </p:txBody>
        </p:sp>
        <p:sp>
          <p:nvSpPr>
            <p:cNvPr id="21" name="TextBox 21"/>
            <p:cNvSpPr txBox="1"/>
            <p:nvPr/>
          </p:nvSpPr>
          <p:spPr>
            <a:xfrm>
              <a:off x="3323082" y="4813300"/>
              <a:ext cx="5675376"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原成功实例中，修正后分割任务失败的比例。</a:t>
              </a:r>
            </a:p>
          </p:txBody>
        </p:sp>
        <p:sp>
          <p:nvSpPr>
            <p:cNvPr id="22" name="TextBox 22"/>
            <p:cNvSpPr txBox="1"/>
            <p:nvPr/>
          </p:nvSpPr>
          <p:spPr>
            <a:xfrm>
              <a:off x="3325368" y="5226050"/>
              <a:ext cx="5125593"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改善错误的同时，检查原本正确的结果是否被破坏。</a:t>
              </a:r>
            </a:p>
          </p:txBody>
        </p:sp>
      </p:grpSp>
      <p:grpSp>
        <p:nvGrpSpPr>
          <p:cNvPr id="25" name="metric-scope"/>
          <p:cNvGrpSpPr/>
          <p:nvPr/>
        </p:nvGrpSpPr>
        <p:grpSpPr>
          <a:xfrm>
            <a:off x="601218" y="5797550"/>
            <a:ext cx="8470849" cy="322707"/>
            <a:chOff x="601218" y="5797550"/>
            <a:chExt cx="8470849" cy="322707"/>
          </a:xfrm>
        </p:grpSpPr>
        <p:sp>
          <p:nvSpPr>
            <p:cNvPr id="24" name="TextBox 24"/>
            <p:cNvSpPr txBox="1"/>
            <p:nvPr/>
          </p:nvSpPr>
          <p:spPr>
            <a:xfrm>
              <a:off x="601218" y="5797550"/>
              <a:ext cx="8470849"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IoU 是预测与标注的交并比；本组诊断阈值为 0.75，完整方法效果仍需全量 AP 验证。</a:t>
              </a:r>
            </a:p>
          </p:txBody>
        </p:sp>
      </p:grpSp>
      <p:grpSp>
        <p:nvGrpSpPr>
          <p:cNvPr id="28" name="footer"/>
          <p:cNvGrpSpPr/>
          <p:nvPr/>
        </p:nvGrpSpPr>
        <p:grpSpPr>
          <a:xfrm>
            <a:off x="603504" y="6410325"/>
            <a:ext cx="10984992" cy="234696"/>
            <a:chOff x="603504" y="6410325"/>
            <a:chExt cx="10984992" cy="234696"/>
          </a:xfrm>
        </p:grpSpPr>
        <p:sp>
          <p:nvSpPr>
            <p:cNvPr id="26" name="TextBox 26"/>
            <p:cNvSpPr txBox="1"/>
            <p:nvPr/>
          </p:nvSpPr>
          <p:spPr>
            <a:xfrm>
              <a:off x="603504" y="6410325"/>
              <a:ext cx="5889346"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自定义的是诊断集合与统计口径；IoU、COCO 匹配和 AP 沿用已有定义。[E0—E5]</a:t>
              </a:r>
            </a:p>
          </p:txBody>
        </p:sp>
        <p:sp>
          <p:nvSpPr>
            <p:cNvPr id="27" name="TextBox 27"/>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06 / 22</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4472940" cy="964565"/>
            <a:chOff x="594360" y="415925"/>
            <a:chExt cx="4472940" cy="964565"/>
          </a:xfrm>
        </p:grpSpPr>
        <p:sp>
          <p:nvSpPr>
            <p:cNvPr id="2" name="TextBox 2"/>
            <p:cNvSpPr txBox="1"/>
            <p:nvPr/>
          </p:nvSpPr>
          <p:spPr>
            <a:xfrm>
              <a:off x="601218" y="415925"/>
              <a:ext cx="3504095" cy="322707"/>
            </a:xfrm>
            <a:prstGeom prst="rect">
              <a:avLst/>
            </a:prstGeom>
            <a:noFill/>
            <a:ln>
              <a:noFill/>
            </a:ln>
          </p:spPr>
          <p:txBody>
            <a:bodyPr wrap="none" lIns="0" tIns="0" rIns="0" bIns="0" anchor="t" anchorCtr="0">
              <a:spAutoFit/>
            </a:bodyPr>
            <a:lstStyle/>
            <a:p>
              <a:pPr algn="l"/>
              <a:r>
                <a:rPr lang="zh-CN" sz="1650" dirty="0">
                  <a:solidFill>
                    <a:srgbClr val="315E9D"/>
                  </a:solidFill>
                  <a:latin typeface="+mn-lt"/>
                  <a:ea typeface="+mn-ea"/>
                  <a:cs typeface="+mn-cs"/>
                </a:rPr>
                <a:t>02 研究方法 · 模块一 · 已使用模型</a:t>
              </a:r>
            </a:p>
          </p:txBody>
        </p:sp>
        <p:sp>
          <p:nvSpPr>
            <p:cNvPr id="3" name="TextBox 3"/>
            <p:cNvSpPr txBox="1"/>
            <p:nvPr/>
          </p:nvSpPr>
          <p:spPr>
            <a:xfrm>
              <a:off x="594360" y="793750"/>
              <a:ext cx="447294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基础模型与轮廓生成过程</a:t>
              </a:r>
            </a:p>
          </p:txBody>
        </p:sp>
      </p:grpSp>
      <p:grpSp>
        <p:nvGrpSpPr>
          <p:cNvPr id="40" name="model-architecture"/>
          <p:cNvGrpSpPr/>
          <p:nvPr/>
        </p:nvGrpSpPr>
        <p:grpSpPr>
          <a:xfrm>
            <a:off x="609600" y="1666875"/>
            <a:ext cx="10972800" cy="3295650"/>
            <a:chOff x="609600" y="1666875"/>
            <a:chExt cx="10972800" cy="3295650"/>
          </a:xfrm>
        </p:grpSpPr>
        <p:grpSp>
          <p:nvGrpSpPr>
            <p:cNvPr id="22" name="frozen-model"/>
            <p:cNvGrpSpPr/>
            <p:nvPr/>
          </p:nvGrpSpPr>
          <p:grpSpPr>
            <a:xfrm>
              <a:off x="2019300" y="1666875"/>
              <a:ext cx="6629400" cy="3295650"/>
              <a:chOff x="2019300" y="1666875"/>
              <a:chExt cx="6629400" cy="3295650"/>
            </a:xfrm>
          </p:grpSpPr>
          <p:sp>
            <p:nvSpPr>
              <p:cNvPr id="5" name="Rectangle 5"/>
              <p:cNvSpPr/>
              <p:nvPr/>
            </p:nvSpPr>
            <p:spPr>
              <a:xfrm>
                <a:off x="2019300" y="1666875"/>
                <a:ext cx="6629400" cy="3295650"/>
              </a:xfrm>
              <a:prstGeom prst="roundRect">
                <a:avLst>
                  <a:gd name="adj" fmla="val 2312"/>
                </a:avLst>
              </a:prstGeom>
              <a:solidFill>
                <a:schemeClr val="lt2"/>
              </a:solidFill>
              <a:ln>
                <a:noFill/>
              </a:ln>
            </p:spPr>
          </p:sp>
          <p:sp>
            <p:nvSpPr>
              <p:cNvPr id="6" name="TextBox 6"/>
              <p:cNvSpPr txBox="1"/>
              <p:nvPr/>
            </p:nvSpPr>
            <p:spPr>
              <a:xfrm>
                <a:off x="2239518" y="1797050"/>
                <a:ext cx="3442299" cy="322707"/>
              </a:xfrm>
              <a:prstGeom prst="rect">
                <a:avLst/>
              </a:prstGeom>
              <a:noFill/>
              <a:ln>
                <a:noFill/>
              </a:ln>
            </p:spPr>
            <p:txBody>
              <a:bodyPr wrap="none" lIns="0" tIns="0" rIns="0" bIns="0" anchor="t" anchorCtr="0">
                <a:spAutoFit/>
              </a:bodyPr>
              <a:lstStyle/>
              <a:p>
                <a:pPr algn="l"/>
                <a:r>
                  <a:rPr lang="zh-CN" sz="1650" b="1" dirty="0">
                    <a:solidFill>
                      <a:srgbClr val="315E9D"/>
                    </a:solidFill>
                    <a:latin typeface="+mn-lt"/>
                    <a:ea typeface="+mn-ea"/>
                    <a:cs typeface="+mn-cs"/>
                  </a:rPr>
                  <a:t>YOLO26m-seg · 预训练网络冻结</a:t>
                </a:r>
              </a:p>
            </p:txBody>
          </p:sp>
          <p:sp>
            <p:nvSpPr>
              <p:cNvPr id="7" name="Rectangle 7"/>
              <p:cNvSpPr/>
              <p:nvPr/>
            </p:nvSpPr>
            <p:spPr>
              <a:xfrm>
                <a:off x="2305050" y="2638425"/>
                <a:ext cx="2209800" cy="1343025"/>
              </a:xfrm>
              <a:prstGeom prst="rect">
                <a:avLst/>
              </a:prstGeom>
              <a:solidFill>
                <a:schemeClr val="lt1"/>
              </a:solidFill>
              <a:ln w="9525">
                <a:solidFill>
                  <a:schemeClr val="accent6"/>
                </a:solidFill>
              </a:ln>
            </p:spPr>
          </p:sp>
          <p:sp>
            <p:nvSpPr>
              <p:cNvPr id="8" name="TextBox 8"/>
              <p:cNvSpPr txBox="1"/>
              <p:nvPr/>
            </p:nvSpPr>
            <p:spPr>
              <a:xfrm>
                <a:off x="2551176" y="2755900"/>
                <a:ext cx="1717548" cy="410718"/>
              </a:xfrm>
              <a:prstGeom prst="rect">
                <a:avLst/>
              </a:prstGeom>
              <a:noFill/>
              <a:ln>
                <a:noFill/>
              </a:ln>
            </p:spPr>
            <p:txBody>
              <a:bodyPr wrap="none" lIns="0" tIns="0" rIns="0" bIns="0" anchor="t" anchorCtr="0">
                <a:spAutoFit/>
              </a:bodyPr>
              <a:lstStyle/>
              <a:p>
                <a:pPr algn="ctr"/>
                <a:r>
                  <a:rPr lang="zh-CN" sz="2100" dirty="0">
                    <a:solidFill>
                      <a:schemeClr val="accent1"/>
                    </a:solidFill>
                    <a:latin typeface="+mn-lt"/>
                    <a:ea typeface="+mn-ea"/>
                    <a:cs typeface="+mn-cs"/>
                  </a:rPr>
                  <a:t>主干特征提取</a:t>
                </a:r>
              </a:p>
            </p:txBody>
          </p:sp>
          <p:sp>
            <p:nvSpPr>
              <p:cNvPr id="9" name="TextBox 9"/>
              <p:cNvSpPr txBox="1"/>
              <p:nvPr/>
            </p:nvSpPr>
            <p:spPr>
              <a:xfrm>
                <a:off x="2409825" y="3165475"/>
                <a:ext cx="2000250" cy="410718"/>
              </a:xfrm>
              <a:prstGeom prst="rect">
                <a:avLst/>
              </a:prstGeom>
              <a:noFill/>
              <a:ln>
                <a:noFill/>
              </a:ln>
            </p:spPr>
            <p:txBody>
              <a:bodyPr wrap="none" lIns="0" tIns="0" rIns="0" bIns="0" anchor="t" anchorCtr="0">
                <a:spAutoFit/>
              </a:bodyPr>
              <a:lstStyle/>
              <a:p>
                <a:pPr algn="ctr"/>
                <a:r>
                  <a:rPr lang="zh-CN" sz="2100" dirty="0">
                    <a:solidFill>
                      <a:schemeClr val="accent1"/>
                    </a:solidFill>
                    <a:latin typeface="+mn-lt"/>
                    <a:ea typeface="+mn-ea"/>
                    <a:cs typeface="+mn-cs"/>
                  </a:rPr>
                  <a:t>多尺度特征融合</a:t>
                </a:r>
              </a:p>
            </p:txBody>
          </p:sp>
          <p:sp>
            <p:nvSpPr>
              <p:cNvPr id="10" name="TextBox 10"/>
              <p:cNvSpPr txBox="1"/>
              <p:nvPr/>
            </p:nvSpPr>
            <p:spPr>
              <a:xfrm>
                <a:off x="2635453" y="3587750"/>
                <a:ext cx="1548994" cy="322707"/>
              </a:xfrm>
              <a:prstGeom prst="rect">
                <a:avLst/>
              </a:prstGeom>
              <a:noFill/>
              <a:ln>
                <a:noFill/>
              </a:ln>
            </p:spPr>
            <p:txBody>
              <a:bodyPr wrap="none" lIns="0" tIns="0" rIns="0" bIns="0" anchor="t" anchorCtr="0">
                <a:spAutoFit/>
              </a:bodyPr>
              <a:lstStyle/>
              <a:p>
                <a:pPr algn="ctr"/>
                <a:r>
                  <a:rPr lang="zh-CN" sz="1650" dirty="0">
                    <a:solidFill>
                      <a:schemeClr val="accent5"/>
                    </a:solidFill>
                    <a:latin typeface="+mn-lt"/>
                    <a:ea typeface="+mn-ea"/>
                    <a:cs typeface="+mn-cs"/>
                  </a:rPr>
                  <a:t>输出各层特征 F</a:t>
                </a:r>
              </a:p>
            </p:txBody>
          </p:sp>
          <p:sp>
            <p:nvSpPr>
              <p:cNvPr id="11" name="Rectangle 11"/>
              <p:cNvSpPr/>
              <p:nvPr/>
            </p:nvSpPr>
            <p:spPr>
              <a:xfrm>
                <a:off x="5219700" y="2200275"/>
                <a:ext cx="3162300" cy="666750"/>
              </a:xfrm>
              <a:prstGeom prst="rect">
                <a:avLst/>
              </a:prstGeom>
              <a:solidFill>
                <a:schemeClr val="lt1"/>
              </a:solidFill>
              <a:ln w="9525">
                <a:solidFill>
                  <a:schemeClr val="accent6"/>
                </a:solidFill>
              </a:ln>
            </p:spPr>
          </p:sp>
          <p:sp>
            <p:nvSpPr>
              <p:cNvPr id="12" name="TextBox 12"/>
              <p:cNvSpPr txBox="1"/>
              <p:nvPr/>
            </p:nvSpPr>
            <p:spPr>
              <a:xfrm>
                <a:off x="5800725" y="2355850"/>
                <a:ext cx="2000250" cy="410718"/>
              </a:xfrm>
              <a:prstGeom prst="rect">
                <a:avLst/>
              </a:prstGeom>
              <a:noFill/>
              <a:ln>
                <a:noFill/>
              </a:ln>
            </p:spPr>
            <p:txBody>
              <a:bodyPr wrap="none" lIns="0" tIns="0" rIns="0" bIns="0" anchor="t" anchorCtr="0">
                <a:spAutoFit/>
              </a:bodyPr>
              <a:lstStyle/>
              <a:p>
                <a:pPr algn="ctr"/>
                <a:r>
                  <a:rPr lang="zh-CN" sz="2100" dirty="0">
                    <a:solidFill>
                      <a:schemeClr val="dk1"/>
                    </a:solidFill>
                    <a:latin typeface="+mn-lt"/>
                    <a:ea typeface="+mn-ea"/>
                    <a:cs typeface="+mn-cs"/>
                  </a:rPr>
                  <a:t>框、类别与分数</a:t>
                </a:r>
              </a:p>
            </p:txBody>
          </p:sp>
          <p:sp>
            <p:nvSpPr>
              <p:cNvPr id="13" name="Rectangle 13"/>
              <p:cNvSpPr/>
              <p:nvPr/>
            </p:nvSpPr>
            <p:spPr>
              <a:xfrm>
                <a:off x="5219700" y="3143250"/>
                <a:ext cx="3162300" cy="666750"/>
              </a:xfrm>
              <a:prstGeom prst="rect">
                <a:avLst/>
              </a:prstGeom>
              <a:solidFill>
                <a:schemeClr val="lt1"/>
              </a:solidFill>
              <a:ln w="9525">
                <a:solidFill>
                  <a:schemeClr val="accent6"/>
                </a:solidFill>
              </a:ln>
            </p:spPr>
          </p:sp>
          <p:sp>
            <p:nvSpPr>
              <p:cNvPr id="14" name="TextBox 14"/>
              <p:cNvSpPr txBox="1"/>
              <p:nvPr/>
            </p:nvSpPr>
            <p:spPr>
              <a:xfrm>
                <a:off x="5101038" y="3298825"/>
                <a:ext cx="3399625" cy="410718"/>
              </a:xfrm>
              <a:prstGeom prst="rect">
                <a:avLst/>
              </a:prstGeom>
              <a:noFill/>
              <a:ln>
                <a:noFill/>
              </a:ln>
            </p:spPr>
            <p:txBody>
              <a:bodyPr wrap="none" lIns="0" tIns="0" rIns="0" bIns="0" anchor="t" anchorCtr="0">
                <a:spAutoFit/>
              </a:bodyPr>
              <a:lstStyle/>
              <a:p>
                <a:pPr algn="ctr"/>
                <a:r>
                  <a:rPr lang="zh-CN" sz="2100" dirty="0">
                    <a:solidFill>
                      <a:schemeClr val="dk1"/>
                    </a:solidFill>
                    <a:latin typeface="+mn-lt"/>
                    <a:ea typeface="+mn-ea"/>
                    <a:cs typeface="+mn-cs"/>
                  </a:rPr>
                  <a:t>每个实例的系数 c₀ · 32 维</a:t>
                </a:r>
              </a:p>
            </p:txBody>
          </p:sp>
          <p:sp>
            <p:nvSpPr>
              <p:cNvPr id="15" name="Rectangle 15"/>
              <p:cNvSpPr/>
              <p:nvPr/>
            </p:nvSpPr>
            <p:spPr>
              <a:xfrm>
                <a:off x="5219700" y="4086225"/>
                <a:ext cx="3162300" cy="666750"/>
              </a:xfrm>
              <a:prstGeom prst="rect">
                <a:avLst/>
              </a:prstGeom>
              <a:solidFill>
                <a:schemeClr val="lt1"/>
              </a:solidFill>
              <a:ln w="9525">
                <a:solidFill>
                  <a:schemeClr val="accent6"/>
                </a:solidFill>
              </a:ln>
            </p:spPr>
          </p:sp>
          <p:sp>
            <p:nvSpPr>
              <p:cNvPr id="16" name="TextBox 16"/>
              <p:cNvSpPr txBox="1"/>
              <p:nvPr/>
            </p:nvSpPr>
            <p:spPr>
              <a:xfrm>
                <a:off x="5151577" y="4241800"/>
                <a:ext cx="3298546" cy="410718"/>
              </a:xfrm>
              <a:prstGeom prst="rect">
                <a:avLst/>
              </a:prstGeom>
              <a:noFill/>
              <a:ln>
                <a:noFill/>
              </a:ln>
            </p:spPr>
            <p:txBody>
              <a:bodyPr wrap="none" lIns="0" tIns="0" rIns="0" bIns="0" anchor="t" anchorCtr="0">
                <a:spAutoFit/>
              </a:bodyPr>
              <a:lstStyle/>
              <a:p>
                <a:pPr algn="ctr"/>
                <a:r>
                  <a:rPr lang="zh-CN" sz="2100" dirty="0">
                    <a:solidFill>
                      <a:schemeClr val="dk1"/>
                    </a:solidFill>
                    <a:latin typeface="+mn-lt"/>
                    <a:ea typeface="+mn-ea"/>
                    <a:cs typeface="+mn-cs"/>
                  </a:rPr>
                  <a:t>共享分割原型 P · 32 通道</a:t>
                </a:r>
              </a:p>
            </p:txBody>
          </p:sp>
          <p:sp>
            <p:nvSpPr>
              <p:cNvPr id="17" name="Line 17"/>
              <p:cNvSpPr/>
              <p:nvPr/>
            </p:nvSpPr>
            <p:spPr>
              <a:xfrm>
                <a:off x="4514850" y="3305175"/>
                <a:ext cx="361950" cy="9525"/>
              </a:xfrm>
              <a:custGeom>
                <a:avLst/>
                <a:gdLst/>
                <a:ahLst/>
                <a:cxnLst/>
                <a:rect l="l" t="t" r="r" b="b"/>
                <a:pathLst>
                  <a:path w="361950" h="9525">
                    <a:moveTo>
                      <a:pt x="0" y="0"/>
                    </a:moveTo>
                    <a:lnTo>
                      <a:pt x="361950" y="0"/>
                    </a:lnTo>
                  </a:path>
                </a:pathLst>
              </a:custGeom>
              <a:noFill/>
              <a:ln w="19050">
                <a:solidFill>
                  <a:srgbClr val="596B80"/>
                </a:solidFill>
              </a:ln>
            </p:spPr>
          </p:sp>
          <p:sp>
            <p:nvSpPr>
              <p:cNvPr id="18" name="Line 18"/>
              <p:cNvSpPr/>
              <p:nvPr/>
            </p:nvSpPr>
            <p:spPr>
              <a:xfrm>
                <a:off x="4876800" y="2533650"/>
                <a:ext cx="9525" cy="1885950"/>
              </a:xfrm>
              <a:custGeom>
                <a:avLst/>
                <a:gdLst/>
                <a:ahLst/>
                <a:cxnLst/>
                <a:rect l="l" t="t" r="r" b="b"/>
                <a:pathLst>
                  <a:path w="9525" h="1885950">
                    <a:moveTo>
                      <a:pt x="0" y="0"/>
                    </a:moveTo>
                    <a:lnTo>
                      <a:pt x="0" y="1885950"/>
                    </a:lnTo>
                  </a:path>
                </a:pathLst>
              </a:custGeom>
              <a:noFill/>
              <a:ln w="19050">
                <a:solidFill>
                  <a:srgbClr val="596B80"/>
                </a:solidFill>
              </a:ln>
            </p:spPr>
          </p:sp>
          <p:sp>
            <p:nvSpPr>
              <p:cNvPr id="19" name="Line 19"/>
              <p:cNvSpPr/>
              <p:nvPr/>
            </p:nvSpPr>
            <p:spPr>
              <a:xfrm>
                <a:off x="4876800" y="2533650"/>
                <a:ext cx="314325" cy="1"/>
              </a:xfrm>
              <a:prstGeom prst="line">
                <a:avLst/>
              </a:prstGeom>
              <a:noFill/>
              <a:ln w="19050">
                <a:solidFill>
                  <a:srgbClr val="596B80"/>
                </a:solidFill>
                <a:tailEnd type="triangle" w="lg" len="lg"/>
              </a:ln>
            </p:spPr>
          </p:sp>
          <p:sp>
            <p:nvSpPr>
              <p:cNvPr id="20" name="Line 20"/>
              <p:cNvSpPr/>
              <p:nvPr/>
            </p:nvSpPr>
            <p:spPr>
              <a:xfrm>
                <a:off x="4876800" y="3476625"/>
                <a:ext cx="314325" cy="1"/>
              </a:xfrm>
              <a:prstGeom prst="line">
                <a:avLst/>
              </a:prstGeom>
              <a:noFill/>
              <a:ln w="19050">
                <a:solidFill>
                  <a:srgbClr val="596B80"/>
                </a:solidFill>
                <a:tailEnd type="triangle" w="lg" len="lg"/>
              </a:ln>
            </p:spPr>
          </p:sp>
          <p:sp>
            <p:nvSpPr>
              <p:cNvPr id="21" name="Line 21"/>
              <p:cNvSpPr/>
              <p:nvPr/>
            </p:nvSpPr>
            <p:spPr>
              <a:xfrm>
                <a:off x="4876800" y="4419600"/>
                <a:ext cx="314325" cy="1"/>
              </a:xfrm>
              <a:prstGeom prst="line">
                <a:avLst/>
              </a:prstGeom>
              <a:noFill/>
              <a:ln w="19050">
                <a:solidFill>
                  <a:srgbClr val="596B80"/>
                </a:solidFill>
                <a:tailEnd type="triangle" w="lg" len="lg"/>
              </a:ln>
            </p:spPr>
          </p:sp>
        </p:grpSp>
        <p:grpSp>
          <p:nvGrpSpPr>
            <p:cNvPr id="26" name="image-input"/>
            <p:cNvGrpSpPr/>
            <p:nvPr/>
          </p:nvGrpSpPr>
          <p:grpSpPr>
            <a:xfrm>
              <a:off x="609600" y="2905125"/>
              <a:ext cx="1666875" cy="723900"/>
              <a:chOff x="609600" y="2905125"/>
              <a:chExt cx="1666875" cy="723900"/>
            </a:xfrm>
          </p:grpSpPr>
          <p:sp>
            <p:nvSpPr>
              <p:cNvPr id="23" name="Rectangle 23"/>
              <p:cNvSpPr/>
              <p:nvPr/>
            </p:nvSpPr>
            <p:spPr>
              <a:xfrm>
                <a:off x="609600" y="2905125"/>
                <a:ext cx="1133475" cy="723900"/>
              </a:xfrm>
              <a:prstGeom prst="rect">
                <a:avLst/>
              </a:prstGeom>
              <a:solidFill>
                <a:srgbClr val="F7F9FB"/>
              </a:solidFill>
              <a:ln w="9525">
                <a:solidFill>
                  <a:schemeClr val="accent6"/>
                </a:solidFill>
              </a:ln>
            </p:spPr>
          </p:sp>
          <p:sp>
            <p:nvSpPr>
              <p:cNvPr id="24" name="TextBox 24"/>
              <p:cNvSpPr txBox="1"/>
              <p:nvPr/>
            </p:nvSpPr>
            <p:spPr>
              <a:xfrm>
                <a:off x="882967" y="3089275"/>
                <a:ext cx="586740" cy="410718"/>
              </a:xfrm>
              <a:prstGeom prst="rect">
                <a:avLst/>
              </a:prstGeom>
              <a:noFill/>
              <a:ln>
                <a:noFill/>
              </a:ln>
            </p:spPr>
            <p:txBody>
              <a:bodyPr wrap="none" lIns="0" tIns="0" rIns="0" bIns="0" anchor="t" anchorCtr="0">
                <a:spAutoFit/>
              </a:bodyPr>
              <a:lstStyle/>
              <a:p>
                <a:pPr algn="ctr"/>
                <a:r>
                  <a:rPr lang="zh-CN" sz="2100" dirty="0">
                    <a:solidFill>
                      <a:schemeClr val="accent1"/>
                    </a:solidFill>
                    <a:latin typeface="+mn-lt"/>
                    <a:ea typeface="+mn-ea"/>
                    <a:cs typeface="+mn-cs"/>
                  </a:rPr>
                  <a:t>图像</a:t>
                </a:r>
              </a:p>
            </p:txBody>
          </p:sp>
          <p:sp>
            <p:nvSpPr>
              <p:cNvPr id="25" name="Line 25"/>
              <p:cNvSpPr/>
              <p:nvPr/>
            </p:nvSpPr>
            <p:spPr>
              <a:xfrm>
                <a:off x="1743075" y="3305175"/>
                <a:ext cx="533400" cy="1"/>
              </a:xfrm>
              <a:prstGeom prst="line">
                <a:avLst/>
              </a:prstGeom>
              <a:noFill/>
              <a:ln w="19050">
                <a:solidFill>
                  <a:srgbClr val="596B80"/>
                </a:solidFill>
                <a:tailEnd type="triangle" w="lg" len="lg"/>
              </a:ln>
            </p:spPr>
          </p:sp>
        </p:grpSp>
        <p:grpSp>
          <p:nvGrpSpPr>
            <p:cNvPr id="39" name="outputs"/>
            <p:cNvGrpSpPr/>
            <p:nvPr/>
          </p:nvGrpSpPr>
          <p:grpSpPr>
            <a:xfrm>
              <a:off x="8382000" y="2200275"/>
              <a:ext cx="3200400" cy="2524125"/>
              <a:chOff x="8382000" y="2200275"/>
              <a:chExt cx="3200400" cy="2524125"/>
            </a:xfrm>
          </p:grpSpPr>
          <p:sp>
            <p:nvSpPr>
              <p:cNvPr id="27" name="Rectangle 27"/>
              <p:cNvSpPr/>
              <p:nvPr/>
            </p:nvSpPr>
            <p:spPr>
              <a:xfrm>
                <a:off x="9544050" y="2200275"/>
                <a:ext cx="2038350" cy="666750"/>
              </a:xfrm>
              <a:prstGeom prst="rect">
                <a:avLst/>
              </a:prstGeom>
              <a:solidFill>
                <a:schemeClr val="lt1"/>
              </a:solidFill>
              <a:ln w="9525">
                <a:solidFill>
                  <a:srgbClr val="315E9D"/>
                </a:solidFill>
              </a:ln>
            </p:spPr>
          </p:sp>
          <p:sp>
            <p:nvSpPr>
              <p:cNvPr id="28" name="TextBox 28"/>
              <p:cNvSpPr txBox="1"/>
              <p:nvPr/>
            </p:nvSpPr>
            <p:spPr>
              <a:xfrm>
                <a:off x="9987153" y="2355850"/>
                <a:ext cx="1152144" cy="410718"/>
              </a:xfrm>
              <a:prstGeom prst="rect">
                <a:avLst/>
              </a:prstGeom>
              <a:noFill/>
              <a:ln>
                <a:noFill/>
              </a:ln>
            </p:spPr>
            <p:txBody>
              <a:bodyPr wrap="none" lIns="0" tIns="0" rIns="0" bIns="0" anchor="t" anchorCtr="0">
                <a:spAutoFit/>
              </a:bodyPr>
              <a:lstStyle/>
              <a:p>
                <a:pPr algn="ctr"/>
                <a:r>
                  <a:rPr lang="zh-CN" sz="2100" dirty="0">
                    <a:solidFill>
                      <a:srgbClr val="315E9D"/>
                    </a:solidFill>
                    <a:latin typeface="+mn-lt"/>
                    <a:ea typeface="+mn-ea"/>
                    <a:cs typeface="+mn-cs"/>
                  </a:rPr>
                  <a:t>检测结果</a:t>
                </a:r>
              </a:p>
            </p:txBody>
          </p:sp>
          <p:sp>
            <p:nvSpPr>
              <p:cNvPr id="29" name="Line 29"/>
              <p:cNvSpPr/>
              <p:nvPr/>
            </p:nvSpPr>
            <p:spPr>
              <a:xfrm>
                <a:off x="8382000" y="2533650"/>
                <a:ext cx="1123950" cy="1"/>
              </a:xfrm>
              <a:prstGeom prst="line">
                <a:avLst/>
              </a:prstGeom>
              <a:noFill/>
              <a:ln w="19050">
                <a:solidFill>
                  <a:srgbClr val="596B80"/>
                </a:solidFill>
                <a:tailEnd type="triangle" w="lg" len="lg"/>
              </a:ln>
            </p:spPr>
          </p:sp>
          <p:sp>
            <p:nvSpPr>
              <p:cNvPr id="30" name="Rectangle 30"/>
              <p:cNvSpPr/>
              <p:nvPr/>
            </p:nvSpPr>
            <p:spPr>
              <a:xfrm>
                <a:off x="9544050" y="3629025"/>
                <a:ext cx="2038350" cy="1095375"/>
              </a:xfrm>
              <a:prstGeom prst="rect">
                <a:avLst/>
              </a:prstGeom>
              <a:solidFill>
                <a:schemeClr val="lt1"/>
              </a:solidFill>
              <a:ln w="9525">
                <a:solidFill>
                  <a:schemeClr val="accent2"/>
                </a:solidFill>
              </a:ln>
            </p:spPr>
          </p:sp>
          <p:sp>
            <p:nvSpPr>
              <p:cNvPr id="31" name="TextBox 31"/>
              <p:cNvSpPr txBox="1"/>
              <p:nvPr/>
            </p:nvSpPr>
            <p:spPr>
              <a:xfrm>
                <a:off x="9563100" y="3794125"/>
                <a:ext cx="2000250" cy="410718"/>
              </a:xfrm>
              <a:prstGeom prst="rect">
                <a:avLst/>
              </a:prstGeom>
              <a:noFill/>
              <a:ln>
                <a:noFill/>
              </a:ln>
            </p:spPr>
            <p:txBody>
              <a:bodyPr wrap="none" lIns="0" tIns="0" rIns="0" bIns="0" anchor="t" anchorCtr="0">
                <a:spAutoFit/>
              </a:bodyPr>
              <a:lstStyle/>
              <a:p>
                <a:pPr algn="ctr"/>
                <a:r>
                  <a:rPr lang="zh-CN" sz="2100" dirty="0">
                    <a:solidFill>
                      <a:schemeClr val="accent2"/>
                    </a:solidFill>
                    <a:latin typeface="+mn-lt"/>
                    <a:ea typeface="+mn-ea"/>
                    <a:cs typeface="+mn-cs"/>
                  </a:rPr>
                  <a:t>组合与原生解码</a:t>
                </a:r>
              </a:p>
            </p:txBody>
          </p:sp>
          <p:sp>
            <p:nvSpPr>
              <p:cNvPr id="32" name="TextBox 32"/>
              <p:cNvSpPr txBox="1"/>
              <p:nvPr/>
            </p:nvSpPr>
            <p:spPr>
              <a:xfrm>
                <a:off x="9987153" y="4203700"/>
                <a:ext cx="1152144" cy="410718"/>
              </a:xfrm>
              <a:prstGeom prst="rect">
                <a:avLst/>
              </a:prstGeom>
              <a:noFill/>
              <a:ln>
                <a:noFill/>
              </a:ln>
            </p:spPr>
            <p:txBody>
              <a:bodyPr wrap="none" lIns="0" tIns="0" rIns="0" bIns="0" anchor="t" anchorCtr="0">
                <a:spAutoFit/>
              </a:bodyPr>
              <a:lstStyle/>
              <a:p>
                <a:pPr algn="ctr"/>
                <a:r>
                  <a:rPr lang="zh-CN" sz="2100" dirty="0">
                    <a:solidFill>
                      <a:schemeClr val="accent1"/>
                    </a:solidFill>
                    <a:latin typeface="+mn-lt"/>
                    <a:ea typeface="+mn-ea"/>
                    <a:cs typeface="+mn-cs"/>
                  </a:rPr>
                  <a:t>实例轮廓</a:t>
                </a:r>
              </a:p>
            </p:txBody>
          </p:sp>
          <p:sp>
            <p:nvSpPr>
              <p:cNvPr id="33" name="Line 33"/>
              <p:cNvSpPr/>
              <p:nvPr/>
            </p:nvSpPr>
            <p:spPr>
              <a:xfrm>
                <a:off x="8382000" y="3476625"/>
                <a:ext cx="733425" cy="9525"/>
              </a:xfrm>
              <a:custGeom>
                <a:avLst/>
                <a:gdLst/>
                <a:ahLst/>
                <a:cxnLst/>
                <a:rect l="l" t="t" r="r" b="b"/>
                <a:pathLst>
                  <a:path w="733425" h="9525">
                    <a:moveTo>
                      <a:pt x="0" y="0"/>
                    </a:moveTo>
                    <a:lnTo>
                      <a:pt x="733425" y="0"/>
                    </a:lnTo>
                  </a:path>
                </a:pathLst>
              </a:custGeom>
              <a:noFill/>
              <a:ln w="19050">
                <a:solidFill>
                  <a:srgbClr val="596B80"/>
                </a:solidFill>
              </a:ln>
            </p:spPr>
          </p:sp>
          <p:sp>
            <p:nvSpPr>
              <p:cNvPr id="34" name="Line 34"/>
              <p:cNvSpPr/>
              <p:nvPr/>
            </p:nvSpPr>
            <p:spPr>
              <a:xfrm>
                <a:off x="9115425" y="3476625"/>
                <a:ext cx="9525" cy="466725"/>
              </a:xfrm>
              <a:custGeom>
                <a:avLst/>
                <a:gdLst/>
                <a:ahLst/>
                <a:cxnLst/>
                <a:rect l="l" t="t" r="r" b="b"/>
                <a:pathLst>
                  <a:path w="9525" h="466725">
                    <a:moveTo>
                      <a:pt x="0" y="0"/>
                    </a:moveTo>
                    <a:lnTo>
                      <a:pt x="0" y="466725"/>
                    </a:lnTo>
                  </a:path>
                </a:pathLst>
              </a:custGeom>
              <a:noFill/>
              <a:ln w="19050">
                <a:solidFill>
                  <a:srgbClr val="596B80"/>
                </a:solidFill>
              </a:ln>
            </p:spPr>
          </p:sp>
          <p:sp>
            <p:nvSpPr>
              <p:cNvPr id="35" name="Line 35"/>
              <p:cNvSpPr/>
              <p:nvPr/>
            </p:nvSpPr>
            <p:spPr>
              <a:xfrm>
                <a:off x="9115425" y="3943350"/>
                <a:ext cx="390525" cy="1"/>
              </a:xfrm>
              <a:prstGeom prst="line">
                <a:avLst/>
              </a:prstGeom>
              <a:noFill/>
              <a:ln w="19050">
                <a:solidFill>
                  <a:srgbClr val="596B80"/>
                </a:solidFill>
                <a:tailEnd type="triangle" w="lg" len="lg"/>
              </a:ln>
            </p:spPr>
          </p:sp>
          <p:sp>
            <p:nvSpPr>
              <p:cNvPr id="36" name="Line 36"/>
              <p:cNvSpPr/>
              <p:nvPr/>
            </p:nvSpPr>
            <p:spPr>
              <a:xfrm>
                <a:off x="8382000" y="4419600"/>
                <a:ext cx="1123950" cy="1"/>
              </a:xfrm>
              <a:prstGeom prst="line">
                <a:avLst/>
              </a:prstGeom>
              <a:noFill/>
              <a:ln w="19050">
                <a:solidFill>
                  <a:srgbClr val="596B80"/>
                </a:solidFill>
                <a:tailEnd type="triangle" w="lg" len="lg"/>
              </a:ln>
            </p:spPr>
          </p:sp>
          <p:sp>
            <p:nvSpPr>
              <p:cNvPr id="37" name="Line 37"/>
              <p:cNvSpPr/>
              <p:nvPr/>
            </p:nvSpPr>
            <p:spPr>
              <a:xfrm>
                <a:off x="10563225" y="2867025"/>
                <a:ext cx="1" cy="723900"/>
              </a:xfrm>
              <a:prstGeom prst="line">
                <a:avLst/>
              </a:prstGeom>
              <a:noFill/>
              <a:ln w="19050">
                <a:solidFill>
                  <a:srgbClr val="596B80"/>
                </a:solidFill>
                <a:tailEnd type="triangle" w="lg" len="lg"/>
              </a:ln>
            </p:spPr>
          </p:sp>
          <p:sp>
            <p:nvSpPr>
              <p:cNvPr id="38" name="TextBox 38"/>
              <p:cNvSpPr txBox="1"/>
              <p:nvPr/>
            </p:nvSpPr>
            <p:spPr>
              <a:xfrm>
                <a:off x="10735818" y="3130550"/>
                <a:ext cx="683133"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预测框</a:t>
                </a:r>
              </a:p>
            </p:txBody>
          </p:sp>
        </p:grpSp>
      </p:grpSp>
      <p:grpSp>
        <p:nvGrpSpPr>
          <p:cNvPr id="43" name="model-meaning"/>
          <p:cNvGrpSpPr/>
          <p:nvPr/>
        </p:nvGrpSpPr>
        <p:grpSpPr>
          <a:xfrm>
            <a:off x="597408" y="5346700"/>
            <a:ext cx="8424672" cy="830707"/>
            <a:chOff x="597408" y="5346700"/>
            <a:chExt cx="8424672" cy="830707"/>
          </a:xfrm>
        </p:grpSpPr>
        <p:sp>
          <p:nvSpPr>
            <p:cNvPr id="41" name="TextBox 41"/>
            <p:cNvSpPr txBox="1"/>
            <p:nvPr/>
          </p:nvSpPr>
          <p:spPr>
            <a:xfrm>
              <a:off x="597408" y="5346700"/>
              <a:ext cx="8424672"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原型提供共享图案，系数决定每个实例如何组合这些图案。</a:t>
              </a:r>
            </a:p>
          </p:txBody>
        </p:sp>
        <p:sp>
          <p:nvSpPr>
            <p:cNvPr id="42" name="TextBox 42"/>
            <p:cNvSpPr txBox="1"/>
            <p:nvPr/>
          </p:nvSpPr>
          <p:spPr>
            <a:xfrm>
              <a:off x="601218" y="5854700"/>
              <a:ext cx="6236208"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当前研究固定原型和检测输出，只研究系数残差如何改善轮廓。</a:t>
              </a:r>
            </a:p>
          </p:txBody>
        </p:sp>
      </p:grpSp>
      <p:grpSp>
        <p:nvGrpSpPr>
          <p:cNvPr id="46" name="footer"/>
          <p:cNvGrpSpPr/>
          <p:nvPr/>
        </p:nvGrpSpPr>
        <p:grpSpPr>
          <a:xfrm>
            <a:off x="603504" y="6410325"/>
            <a:ext cx="10984992" cy="234696"/>
            <a:chOff x="603504" y="6410325"/>
            <a:chExt cx="10984992" cy="234696"/>
          </a:xfrm>
        </p:grpSpPr>
        <p:sp>
          <p:nvSpPr>
            <p:cNvPr id="44" name="TextBox 44"/>
            <p:cNvSpPr txBox="1"/>
            <p:nvPr/>
          </p:nvSpPr>
          <p:spPr>
            <a:xfrm>
              <a:off x="603504" y="6410325"/>
              <a:ext cx="6947542"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与本研究相关的推理支路；Ultralytics 8.4.100，O2O 最终输出；基础权重 yolo26m-seg.pt。</a:t>
              </a:r>
            </a:p>
          </p:txBody>
        </p:sp>
        <p:sp>
          <p:nvSpPr>
            <p:cNvPr id="45" name="TextBox 45"/>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07 / 22</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4876800" cy="964565"/>
            <a:chOff x="594360" y="415925"/>
            <a:chExt cx="4876800" cy="964565"/>
          </a:xfrm>
        </p:grpSpPr>
        <p:sp>
          <p:nvSpPr>
            <p:cNvPr id="2" name="TextBox 2"/>
            <p:cNvSpPr txBox="1"/>
            <p:nvPr/>
          </p:nvSpPr>
          <p:spPr>
            <a:xfrm>
              <a:off x="601218" y="415925"/>
              <a:ext cx="3504095" cy="322707"/>
            </a:xfrm>
            <a:prstGeom prst="rect">
              <a:avLst/>
            </a:prstGeom>
            <a:noFill/>
            <a:ln>
              <a:noFill/>
            </a:ln>
          </p:spPr>
          <p:txBody>
            <a:bodyPr wrap="none" lIns="0" tIns="0" rIns="0" bIns="0" anchor="t" anchorCtr="0">
              <a:spAutoFit/>
            </a:bodyPr>
            <a:lstStyle/>
            <a:p>
              <a:pPr algn="l"/>
              <a:r>
                <a:rPr lang="zh-CN" sz="1650" dirty="0">
                  <a:solidFill>
                    <a:srgbClr val="315E9D"/>
                  </a:solidFill>
                  <a:latin typeface="+mn-lt"/>
                  <a:ea typeface="+mn-ea"/>
                  <a:cs typeface="+mn-cs"/>
                </a:rPr>
                <a:t>02 研究方法 · 模块一 · 已实现结构</a:t>
              </a:r>
            </a:p>
          </p:txBody>
        </p:sp>
        <p:sp>
          <p:nvSpPr>
            <p:cNvPr id="3" name="TextBox 3"/>
            <p:cNvSpPr txBox="1"/>
            <p:nvPr/>
          </p:nvSpPr>
          <p:spPr>
            <a:xfrm>
              <a:off x="594360" y="793750"/>
              <a:ext cx="487680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轻量系数修正器的实际结构</a:t>
              </a:r>
            </a:p>
          </p:txBody>
        </p:sp>
      </p:grpSp>
      <p:grpSp>
        <p:nvGrpSpPr>
          <p:cNvPr id="13" name="spatial-branch"/>
          <p:cNvGrpSpPr/>
          <p:nvPr/>
        </p:nvGrpSpPr>
        <p:grpSpPr>
          <a:xfrm>
            <a:off x="601218" y="1768475"/>
            <a:ext cx="6113907" cy="1250950"/>
            <a:chOff x="601218" y="1768475"/>
            <a:chExt cx="6113907" cy="1250950"/>
          </a:xfrm>
        </p:grpSpPr>
        <p:sp>
          <p:nvSpPr>
            <p:cNvPr id="5" name="TextBox 5"/>
            <p:cNvSpPr txBox="1"/>
            <p:nvPr/>
          </p:nvSpPr>
          <p:spPr>
            <a:xfrm>
              <a:off x="601218" y="1768475"/>
              <a:ext cx="1349502" cy="322707"/>
            </a:xfrm>
            <a:prstGeom prst="rect">
              <a:avLst/>
            </a:prstGeom>
            <a:noFill/>
            <a:ln>
              <a:noFill/>
            </a:ln>
          </p:spPr>
          <p:txBody>
            <a:bodyPr wrap="none" lIns="0" tIns="0" rIns="0" bIns="0" anchor="t" anchorCtr="0">
              <a:spAutoFit/>
            </a:bodyPr>
            <a:lstStyle/>
            <a:p>
              <a:pPr algn="l"/>
              <a:r>
                <a:rPr lang="zh-CN" sz="1650" b="1" dirty="0">
                  <a:solidFill>
                    <a:srgbClr val="315E9D"/>
                  </a:solidFill>
                  <a:latin typeface="+mn-lt"/>
                  <a:ea typeface="+mn-ea"/>
                  <a:cs typeface="+mn-cs"/>
                </a:rPr>
                <a:t>空间信息支路</a:t>
              </a:r>
            </a:p>
          </p:txBody>
        </p:sp>
        <p:sp>
          <p:nvSpPr>
            <p:cNvPr id="6" name="Rectangle 6"/>
            <p:cNvSpPr/>
            <p:nvPr/>
          </p:nvSpPr>
          <p:spPr>
            <a:xfrm>
              <a:off x="609600" y="2152650"/>
              <a:ext cx="2895600" cy="866775"/>
            </a:xfrm>
            <a:prstGeom prst="rect">
              <a:avLst/>
            </a:prstGeom>
            <a:solidFill>
              <a:schemeClr val="lt2"/>
            </a:solidFill>
            <a:ln>
              <a:noFill/>
            </a:ln>
          </p:spPr>
        </p:sp>
        <p:sp>
          <p:nvSpPr>
            <p:cNvPr id="7" name="TextBox 7"/>
            <p:cNvSpPr txBox="1"/>
            <p:nvPr/>
          </p:nvSpPr>
          <p:spPr>
            <a:xfrm>
              <a:off x="828980" y="2232025"/>
              <a:ext cx="2456840" cy="410718"/>
            </a:xfrm>
            <a:prstGeom prst="rect">
              <a:avLst/>
            </a:prstGeom>
            <a:noFill/>
            <a:ln>
              <a:noFill/>
            </a:ln>
          </p:spPr>
          <p:txBody>
            <a:bodyPr wrap="none" lIns="0" tIns="0" rIns="0" bIns="0" anchor="t" anchorCtr="0">
              <a:spAutoFit/>
            </a:bodyPr>
            <a:lstStyle/>
            <a:p>
              <a:pPr algn="ctr"/>
              <a:r>
                <a:rPr lang="zh-CN" sz="2100" dirty="0">
                  <a:solidFill>
                    <a:schemeClr val="accent1"/>
                  </a:solidFill>
                  <a:latin typeface="+mn-lt"/>
                  <a:ea typeface="+mn-ea"/>
                  <a:cs typeface="+mn-cs"/>
                </a:rPr>
                <a:t>预测框内的 P 与 z₀</a:t>
              </a:r>
            </a:p>
          </p:txBody>
        </p:sp>
        <p:sp>
          <p:nvSpPr>
            <p:cNvPr id="8" name="TextBox 8"/>
            <p:cNvSpPr txBox="1"/>
            <p:nvPr/>
          </p:nvSpPr>
          <p:spPr>
            <a:xfrm>
              <a:off x="977275" y="2644775"/>
              <a:ext cx="2160251" cy="322707"/>
            </a:xfrm>
            <a:prstGeom prst="rect">
              <a:avLst/>
            </a:prstGeom>
            <a:noFill/>
            <a:ln>
              <a:noFill/>
            </a:ln>
          </p:spPr>
          <p:txBody>
            <a:bodyPr wrap="none" lIns="0" tIns="0" rIns="0" bIns="0" anchor="t" anchorCtr="0">
              <a:spAutoFit/>
            </a:bodyPr>
            <a:lstStyle/>
            <a:p>
              <a:pPr algn="ctr"/>
              <a:r>
                <a:rPr lang="zh-CN" sz="1650" dirty="0">
                  <a:solidFill>
                    <a:schemeClr val="accent5"/>
                  </a:solidFill>
                  <a:latin typeface="+mn-lt"/>
                  <a:ea typeface="+mn-ea"/>
                  <a:cs typeface="+mn-cs"/>
                </a:rPr>
                <a:t>8×8 采样，共 33 通道</a:t>
              </a:r>
            </a:p>
          </p:txBody>
        </p:sp>
        <p:sp>
          <p:nvSpPr>
            <p:cNvPr id="9" name="Rectangle 9"/>
            <p:cNvSpPr/>
            <p:nvPr/>
          </p:nvSpPr>
          <p:spPr>
            <a:xfrm>
              <a:off x="4095750" y="2152650"/>
              <a:ext cx="2619375" cy="866775"/>
            </a:xfrm>
            <a:prstGeom prst="rect">
              <a:avLst/>
            </a:prstGeom>
            <a:solidFill>
              <a:schemeClr val="lt2"/>
            </a:solidFill>
            <a:ln>
              <a:noFill/>
            </a:ln>
          </p:spPr>
        </p:sp>
        <p:sp>
          <p:nvSpPr>
            <p:cNvPr id="10" name="TextBox 10"/>
            <p:cNvSpPr txBox="1"/>
            <p:nvPr/>
          </p:nvSpPr>
          <p:spPr>
            <a:xfrm>
              <a:off x="4193286" y="2232025"/>
              <a:ext cx="2424303" cy="410718"/>
            </a:xfrm>
            <a:prstGeom prst="rect">
              <a:avLst/>
            </a:prstGeom>
            <a:noFill/>
            <a:ln>
              <a:noFill/>
            </a:ln>
          </p:spPr>
          <p:txBody>
            <a:bodyPr wrap="none" lIns="0" tIns="0" rIns="0" bIns="0" anchor="t" anchorCtr="0">
              <a:spAutoFit/>
            </a:bodyPr>
            <a:lstStyle/>
            <a:p>
              <a:pPr algn="ctr"/>
              <a:r>
                <a:rPr lang="zh-CN" sz="2100" dirty="0">
                  <a:solidFill>
                    <a:schemeClr val="accent1"/>
                  </a:solidFill>
                  <a:latin typeface="+mn-lt"/>
                  <a:ea typeface="+mn-ea"/>
                  <a:cs typeface="+mn-cs"/>
                </a:rPr>
                <a:t>两层 3×3 卷积 · 64</a:t>
              </a:r>
            </a:p>
          </p:txBody>
        </p:sp>
        <p:sp>
          <p:nvSpPr>
            <p:cNvPr id="11" name="TextBox 11"/>
            <p:cNvSpPr txBox="1"/>
            <p:nvPr/>
          </p:nvSpPr>
          <p:spPr>
            <a:xfrm>
              <a:off x="4165425" y="2644775"/>
              <a:ext cx="2480024" cy="322707"/>
            </a:xfrm>
            <a:prstGeom prst="rect">
              <a:avLst/>
            </a:prstGeom>
            <a:noFill/>
            <a:ln>
              <a:noFill/>
            </a:ln>
          </p:spPr>
          <p:txBody>
            <a:bodyPr wrap="none" lIns="0" tIns="0" rIns="0" bIns="0" anchor="t" anchorCtr="0">
              <a:spAutoFit/>
            </a:bodyPr>
            <a:lstStyle/>
            <a:p>
              <a:pPr algn="ctr"/>
              <a:r>
                <a:rPr lang="zh-CN" sz="1650" dirty="0">
                  <a:solidFill>
                    <a:schemeClr val="accent5"/>
                  </a:solidFill>
                  <a:latin typeface="+mn-lt"/>
                  <a:ea typeface="+mn-ea"/>
                  <a:cs typeface="+mn-cs"/>
                </a:rPr>
                <a:t>GELU + 全局平均 → 64 维</a:t>
              </a:r>
            </a:p>
          </p:txBody>
        </p:sp>
        <p:sp>
          <p:nvSpPr>
            <p:cNvPr id="12" name="Line 12"/>
            <p:cNvSpPr/>
            <p:nvPr/>
          </p:nvSpPr>
          <p:spPr>
            <a:xfrm>
              <a:off x="3505200" y="2590800"/>
              <a:ext cx="552450" cy="1"/>
            </a:xfrm>
            <a:prstGeom prst="line">
              <a:avLst/>
            </a:prstGeom>
            <a:noFill/>
            <a:ln w="19050">
              <a:solidFill>
                <a:srgbClr val="596B80"/>
              </a:solidFill>
              <a:tailEnd type="triangle" w="lg" len="lg"/>
            </a:ln>
          </p:spPr>
        </p:sp>
      </p:grpSp>
      <p:grpSp>
        <p:nvGrpSpPr>
          <p:cNvPr id="18" name="condition-branch"/>
          <p:cNvGrpSpPr/>
          <p:nvPr/>
        </p:nvGrpSpPr>
        <p:grpSpPr>
          <a:xfrm>
            <a:off x="601218" y="3406775"/>
            <a:ext cx="6113907" cy="1298575"/>
            <a:chOff x="601218" y="3406775"/>
            <a:chExt cx="6113907" cy="1298575"/>
          </a:xfrm>
        </p:grpSpPr>
        <p:sp>
          <p:nvSpPr>
            <p:cNvPr id="14" name="TextBox 14"/>
            <p:cNvSpPr txBox="1"/>
            <p:nvPr/>
          </p:nvSpPr>
          <p:spPr>
            <a:xfrm>
              <a:off x="601218" y="3406775"/>
              <a:ext cx="1349502" cy="322707"/>
            </a:xfrm>
            <a:prstGeom prst="rect">
              <a:avLst/>
            </a:prstGeom>
            <a:noFill/>
            <a:ln>
              <a:noFill/>
            </a:ln>
          </p:spPr>
          <p:txBody>
            <a:bodyPr wrap="none" lIns="0" tIns="0" rIns="0" bIns="0" anchor="t" anchorCtr="0">
              <a:spAutoFit/>
            </a:bodyPr>
            <a:lstStyle/>
            <a:p>
              <a:pPr algn="l"/>
              <a:r>
                <a:rPr lang="zh-CN" sz="1650" b="1" dirty="0">
                  <a:solidFill>
                    <a:srgbClr val="315E9D"/>
                  </a:solidFill>
                  <a:latin typeface="+mn-lt"/>
                  <a:ea typeface="+mn-ea"/>
                  <a:cs typeface="+mn-cs"/>
                </a:rPr>
                <a:t>实例条件支路</a:t>
              </a:r>
            </a:p>
          </p:txBody>
        </p:sp>
        <p:sp>
          <p:nvSpPr>
            <p:cNvPr id="15" name="Rectangle 15"/>
            <p:cNvSpPr/>
            <p:nvPr/>
          </p:nvSpPr>
          <p:spPr>
            <a:xfrm>
              <a:off x="609600" y="3790950"/>
              <a:ext cx="6105525" cy="914400"/>
            </a:xfrm>
            <a:prstGeom prst="rect">
              <a:avLst/>
            </a:prstGeom>
            <a:solidFill>
              <a:schemeClr val="lt2"/>
            </a:solidFill>
            <a:ln>
              <a:noFill/>
            </a:ln>
          </p:spPr>
        </p:sp>
        <p:sp>
          <p:nvSpPr>
            <p:cNvPr id="16" name="TextBox 16"/>
            <p:cNvSpPr txBox="1"/>
            <p:nvPr/>
          </p:nvSpPr>
          <p:spPr>
            <a:xfrm>
              <a:off x="827532" y="3889375"/>
              <a:ext cx="4697921"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特征 F → 64 维　　原系数 c₀ → 32 维</a:t>
              </a:r>
            </a:p>
          </p:txBody>
        </p:sp>
        <p:sp>
          <p:nvSpPr>
            <p:cNvPr id="17" name="TextBox 17"/>
            <p:cNvSpPr txBox="1"/>
            <p:nvPr/>
          </p:nvSpPr>
          <p:spPr>
            <a:xfrm>
              <a:off x="829818" y="4311650"/>
              <a:ext cx="4081615"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框几何 4 维 + 分数 1 维 + 类别嵌入 16 维</a:t>
              </a:r>
            </a:p>
          </p:txBody>
        </p:sp>
      </p:grpSp>
      <p:grpSp>
        <p:nvGrpSpPr>
          <p:cNvPr id="30" name="fusion"/>
          <p:cNvGrpSpPr/>
          <p:nvPr/>
        </p:nvGrpSpPr>
        <p:grpSpPr>
          <a:xfrm>
            <a:off x="6715125" y="2371725"/>
            <a:ext cx="4867275" cy="2076450"/>
            <a:chOff x="6715125" y="2371725"/>
            <a:chExt cx="4867275" cy="2076450"/>
          </a:xfrm>
        </p:grpSpPr>
        <p:sp>
          <p:nvSpPr>
            <p:cNvPr id="19" name="Rectangle 19"/>
            <p:cNvSpPr/>
            <p:nvPr/>
          </p:nvSpPr>
          <p:spPr>
            <a:xfrm>
              <a:off x="7334250" y="2371725"/>
              <a:ext cx="1857375" cy="2076450"/>
            </a:xfrm>
            <a:prstGeom prst="rect">
              <a:avLst/>
            </a:prstGeom>
            <a:solidFill>
              <a:schemeClr val="lt1"/>
            </a:solidFill>
            <a:ln w="19050">
              <a:solidFill>
                <a:schemeClr val="accent2"/>
              </a:solidFill>
            </a:ln>
          </p:spPr>
        </p:sp>
        <p:sp>
          <p:nvSpPr>
            <p:cNvPr id="20" name="TextBox 20"/>
            <p:cNvSpPr txBox="1"/>
            <p:nvPr/>
          </p:nvSpPr>
          <p:spPr>
            <a:xfrm>
              <a:off x="7494275" y="2536825"/>
              <a:ext cx="1537325" cy="410718"/>
            </a:xfrm>
            <a:prstGeom prst="rect">
              <a:avLst/>
            </a:prstGeom>
            <a:noFill/>
            <a:ln>
              <a:noFill/>
            </a:ln>
          </p:spPr>
          <p:txBody>
            <a:bodyPr wrap="none" lIns="0" tIns="0" rIns="0" bIns="0" anchor="t" anchorCtr="0">
              <a:spAutoFit/>
            </a:bodyPr>
            <a:lstStyle/>
            <a:p>
              <a:pPr algn="ctr"/>
              <a:r>
                <a:rPr lang="zh-CN" sz="2100" b="1" dirty="0">
                  <a:solidFill>
                    <a:schemeClr val="accent2"/>
                  </a:solidFill>
                  <a:latin typeface="+mn-lt"/>
                  <a:ea typeface="+mn-ea"/>
                  <a:cs typeface="+mn-cs"/>
                </a:rPr>
                <a:t>拼接 181 维</a:t>
              </a:r>
            </a:p>
          </p:txBody>
        </p:sp>
        <p:sp>
          <p:nvSpPr>
            <p:cNvPr id="21" name="TextBox 21"/>
            <p:cNvSpPr txBox="1"/>
            <p:nvPr/>
          </p:nvSpPr>
          <p:spPr>
            <a:xfrm>
              <a:off x="7552582" y="3041650"/>
              <a:ext cx="1420711" cy="410718"/>
            </a:xfrm>
            <a:prstGeom prst="rect">
              <a:avLst/>
            </a:prstGeom>
            <a:noFill/>
            <a:ln>
              <a:noFill/>
            </a:ln>
          </p:spPr>
          <p:txBody>
            <a:bodyPr wrap="none" lIns="0" tIns="0" rIns="0" bIns="0" anchor="t" anchorCtr="0">
              <a:spAutoFit/>
            </a:bodyPr>
            <a:lstStyle/>
            <a:p>
              <a:pPr algn="ctr"/>
              <a:r>
                <a:rPr lang="zh-CN" sz="2100" dirty="0">
                  <a:solidFill>
                    <a:schemeClr val="accent1"/>
                  </a:solidFill>
                  <a:latin typeface="+mn-lt"/>
                  <a:ea typeface="+mn-ea"/>
                  <a:cs typeface="+mn-cs"/>
                </a:rPr>
                <a:t>全连接 128</a:t>
              </a:r>
            </a:p>
          </p:txBody>
        </p:sp>
        <p:sp>
          <p:nvSpPr>
            <p:cNvPr id="22" name="TextBox 22"/>
            <p:cNvSpPr txBox="1"/>
            <p:nvPr/>
          </p:nvSpPr>
          <p:spPr>
            <a:xfrm>
              <a:off x="7923695" y="3460750"/>
              <a:ext cx="678485" cy="410718"/>
            </a:xfrm>
            <a:prstGeom prst="rect">
              <a:avLst/>
            </a:prstGeom>
            <a:noFill/>
            <a:ln>
              <a:noFill/>
            </a:ln>
          </p:spPr>
          <p:txBody>
            <a:bodyPr wrap="none" lIns="0" tIns="0" rIns="0" bIns="0" anchor="t" anchorCtr="0">
              <a:spAutoFit/>
            </a:bodyPr>
            <a:lstStyle/>
            <a:p>
              <a:pPr algn="ctr"/>
              <a:r>
                <a:rPr lang="en-US" sz="2100" dirty="0">
                  <a:solidFill>
                    <a:schemeClr val="accent1"/>
                  </a:solidFill>
                  <a:latin typeface="+mn-lt"/>
                  <a:ea typeface="+mn-ea"/>
                  <a:cs typeface="+mn-cs"/>
                </a:rPr>
                <a:t>GELU</a:t>
              </a:r>
            </a:p>
          </p:txBody>
        </p:sp>
        <p:sp>
          <p:nvSpPr>
            <p:cNvPr id="23" name="TextBox 23"/>
            <p:cNvSpPr txBox="1"/>
            <p:nvPr/>
          </p:nvSpPr>
          <p:spPr>
            <a:xfrm>
              <a:off x="7630325" y="3879850"/>
              <a:ext cx="1265225" cy="410718"/>
            </a:xfrm>
            <a:prstGeom prst="rect">
              <a:avLst/>
            </a:prstGeom>
            <a:noFill/>
            <a:ln>
              <a:noFill/>
            </a:ln>
          </p:spPr>
          <p:txBody>
            <a:bodyPr wrap="none" lIns="0" tIns="0" rIns="0" bIns="0" anchor="t" anchorCtr="0">
              <a:spAutoFit/>
            </a:bodyPr>
            <a:lstStyle/>
            <a:p>
              <a:pPr algn="ctr"/>
              <a:r>
                <a:rPr lang="zh-CN" sz="2100" dirty="0">
                  <a:solidFill>
                    <a:schemeClr val="accent1"/>
                  </a:solidFill>
                  <a:latin typeface="+mn-lt"/>
                  <a:ea typeface="+mn-ea"/>
                  <a:cs typeface="+mn-cs"/>
                </a:rPr>
                <a:t>全连接 32</a:t>
              </a:r>
            </a:p>
          </p:txBody>
        </p:sp>
        <p:sp>
          <p:nvSpPr>
            <p:cNvPr id="24" name="Line 24"/>
            <p:cNvSpPr/>
            <p:nvPr/>
          </p:nvSpPr>
          <p:spPr>
            <a:xfrm>
              <a:off x="6715125" y="2590800"/>
              <a:ext cx="581025" cy="1"/>
            </a:xfrm>
            <a:prstGeom prst="line">
              <a:avLst/>
            </a:prstGeom>
            <a:noFill/>
            <a:ln w="19050">
              <a:solidFill>
                <a:srgbClr val="596B80"/>
              </a:solidFill>
              <a:tailEnd type="triangle" w="lg" len="lg"/>
            </a:ln>
          </p:spPr>
        </p:sp>
        <p:sp>
          <p:nvSpPr>
            <p:cNvPr id="25" name="Line 25"/>
            <p:cNvSpPr/>
            <p:nvPr/>
          </p:nvSpPr>
          <p:spPr>
            <a:xfrm>
              <a:off x="6715125" y="4257675"/>
              <a:ext cx="581025" cy="1"/>
            </a:xfrm>
            <a:prstGeom prst="line">
              <a:avLst/>
            </a:prstGeom>
            <a:noFill/>
            <a:ln w="19050">
              <a:solidFill>
                <a:srgbClr val="596B80"/>
              </a:solidFill>
              <a:tailEnd type="triangle" w="lg" len="lg"/>
            </a:ln>
          </p:spPr>
        </p:sp>
        <p:sp>
          <p:nvSpPr>
            <p:cNvPr id="26" name="Rectangle 26"/>
            <p:cNvSpPr/>
            <p:nvPr/>
          </p:nvSpPr>
          <p:spPr>
            <a:xfrm>
              <a:off x="9753600" y="2990850"/>
              <a:ext cx="1828800" cy="952500"/>
            </a:xfrm>
            <a:prstGeom prst="rect">
              <a:avLst/>
            </a:prstGeom>
            <a:solidFill>
              <a:schemeClr val="accent2"/>
            </a:solidFill>
            <a:ln>
              <a:noFill/>
            </a:ln>
          </p:spPr>
        </p:sp>
        <p:sp>
          <p:nvSpPr>
            <p:cNvPr id="27" name="TextBox 27"/>
            <p:cNvSpPr txBox="1"/>
            <p:nvPr/>
          </p:nvSpPr>
          <p:spPr>
            <a:xfrm>
              <a:off x="9888436" y="3108325"/>
              <a:ext cx="1559128" cy="410718"/>
            </a:xfrm>
            <a:prstGeom prst="rect">
              <a:avLst/>
            </a:prstGeom>
            <a:noFill/>
            <a:ln>
              <a:noFill/>
            </a:ln>
          </p:spPr>
          <p:txBody>
            <a:bodyPr wrap="none" lIns="0" tIns="0" rIns="0" bIns="0" anchor="t" anchorCtr="0">
              <a:spAutoFit/>
            </a:bodyPr>
            <a:lstStyle/>
            <a:p>
              <a:pPr algn="ctr"/>
              <a:r>
                <a:rPr lang="zh-CN" sz="2100" dirty="0">
                  <a:solidFill>
                    <a:srgbClr val="FFFFFF"/>
                  </a:solidFill>
                  <a:latin typeface="+mn-lt"/>
                  <a:ea typeface="+mn-ea"/>
                  <a:cs typeface="+mn-cs"/>
                </a:rPr>
                <a:t>系数残差 Δc</a:t>
              </a:r>
            </a:p>
          </p:txBody>
        </p:sp>
        <p:sp>
          <p:nvSpPr>
            <p:cNvPr id="28" name="TextBox 28"/>
            <p:cNvSpPr txBox="1"/>
            <p:nvPr/>
          </p:nvSpPr>
          <p:spPr>
            <a:xfrm>
              <a:off x="10170947" y="3521075"/>
              <a:ext cx="994105" cy="322707"/>
            </a:xfrm>
            <a:prstGeom prst="rect">
              <a:avLst/>
            </a:prstGeom>
            <a:noFill/>
            <a:ln>
              <a:noFill/>
            </a:ln>
          </p:spPr>
          <p:txBody>
            <a:bodyPr wrap="none" lIns="0" tIns="0" rIns="0" bIns="0" anchor="t" anchorCtr="0">
              <a:spAutoFit/>
            </a:bodyPr>
            <a:lstStyle/>
            <a:p>
              <a:pPr algn="ctr"/>
              <a:r>
                <a:rPr lang="zh-CN" sz="1650" dirty="0">
                  <a:solidFill>
                    <a:srgbClr val="FFFFFF"/>
                  </a:solidFill>
                  <a:latin typeface="+mn-lt"/>
                  <a:ea typeface="+mn-ea"/>
                  <a:cs typeface="+mn-cs"/>
                </a:rPr>
                <a:t>32 维输出</a:t>
              </a:r>
            </a:p>
          </p:txBody>
        </p:sp>
        <p:sp>
          <p:nvSpPr>
            <p:cNvPr id="29" name="Line 29"/>
            <p:cNvSpPr/>
            <p:nvPr/>
          </p:nvSpPr>
          <p:spPr>
            <a:xfrm>
              <a:off x="9191625" y="3467100"/>
              <a:ext cx="523875" cy="1"/>
            </a:xfrm>
            <a:prstGeom prst="line">
              <a:avLst/>
            </a:prstGeom>
            <a:noFill/>
            <a:ln w="19050">
              <a:solidFill>
                <a:srgbClr val="596B80"/>
              </a:solidFill>
              <a:tailEnd type="triangle" w="lg" len="lg"/>
            </a:ln>
          </p:spPr>
        </p:sp>
      </p:grpSp>
      <p:grpSp>
        <p:nvGrpSpPr>
          <p:cNvPr id="33" name="residual-output"/>
          <p:cNvGrpSpPr/>
          <p:nvPr/>
        </p:nvGrpSpPr>
        <p:grpSpPr>
          <a:xfrm>
            <a:off x="597408" y="5165725"/>
            <a:ext cx="7855732" cy="859282"/>
            <a:chOff x="597408" y="5165725"/>
            <a:chExt cx="7855732" cy="859282"/>
          </a:xfrm>
        </p:grpSpPr>
        <p:sp>
          <p:nvSpPr>
            <p:cNvPr id="31" name="TextBox 31"/>
            <p:cNvSpPr txBox="1"/>
            <p:nvPr/>
          </p:nvSpPr>
          <p:spPr>
            <a:xfrm>
              <a:off x="597408" y="5165725"/>
              <a:ext cx="7855732"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c′ = c₀ + Δc，再与原型 P 组合，得到修正后的轮廓。</a:t>
              </a:r>
            </a:p>
          </p:txBody>
        </p:sp>
        <p:sp>
          <p:nvSpPr>
            <p:cNvPr id="32" name="TextBox 32"/>
            <p:cNvSpPr txBox="1"/>
            <p:nvPr/>
          </p:nvSpPr>
          <p:spPr>
            <a:xfrm>
              <a:off x="601218" y="5702300"/>
              <a:ext cx="7224655"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只训练新增的 167,872 个参数；输出层零初始化；推理不读取真实标注。</a:t>
              </a:r>
            </a:p>
          </p:txBody>
        </p:sp>
      </p:grpSp>
      <p:grpSp>
        <p:nvGrpSpPr>
          <p:cNvPr id="36" name="footer"/>
          <p:cNvGrpSpPr/>
          <p:nvPr/>
        </p:nvGrpSpPr>
        <p:grpSpPr>
          <a:xfrm>
            <a:off x="603504" y="6410325"/>
            <a:ext cx="10984992" cy="234696"/>
            <a:chOff x="603504" y="6410325"/>
            <a:chExt cx="10984992" cy="234696"/>
          </a:xfrm>
        </p:grpSpPr>
        <p:sp>
          <p:nvSpPr>
            <p:cNvPr id="34" name="TextBox 34"/>
            <p:cNvSpPr txBox="1"/>
            <p:nvPr/>
          </p:nvSpPr>
          <p:spPr>
            <a:xfrm>
              <a:off x="603504" y="6410325"/>
              <a:ext cx="7207555"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实际代码与训练合同：CoefficientAdapter；F 按所属层 256/512/512 通道分别投影；z₀ = c₀·P。</a:t>
              </a:r>
            </a:p>
          </p:txBody>
        </p:sp>
        <p:sp>
          <p:nvSpPr>
            <p:cNvPr id="35" name="TextBox 35"/>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08 / 22</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6170162" cy="964565"/>
            <a:chOff x="594360" y="415925"/>
            <a:chExt cx="6170162" cy="964565"/>
          </a:xfrm>
        </p:grpSpPr>
        <p:sp>
          <p:nvSpPr>
            <p:cNvPr id="2" name="TextBox 2"/>
            <p:cNvSpPr txBox="1"/>
            <p:nvPr/>
          </p:nvSpPr>
          <p:spPr>
            <a:xfrm>
              <a:off x="601218" y="415925"/>
              <a:ext cx="2138039" cy="322707"/>
            </a:xfrm>
            <a:prstGeom prst="rect">
              <a:avLst/>
            </a:prstGeom>
            <a:noFill/>
            <a:ln>
              <a:noFill/>
            </a:ln>
          </p:spPr>
          <p:txBody>
            <a:bodyPr wrap="none" lIns="0" tIns="0" rIns="0" bIns="0" anchor="t" anchorCtr="0">
              <a:spAutoFit/>
            </a:bodyPr>
            <a:lstStyle/>
            <a:p>
              <a:pPr algn="l"/>
              <a:r>
                <a:rPr lang="zh-CN" sz="1650" dirty="0">
                  <a:solidFill>
                    <a:srgbClr val="315E9D"/>
                  </a:solidFill>
                  <a:latin typeface="+mn-lt"/>
                  <a:ea typeface="+mn-ea"/>
                  <a:cs typeface="+mn-cs"/>
                </a:rPr>
                <a:t>02 研究方法 · 模块一</a:t>
              </a:r>
            </a:p>
          </p:txBody>
        </p:sp>
        <p:sp>
          <p:nvSpPr>
            <p:cNvPr id="3" name="TextBox 3"/>
            <p:cNvSpPr txBox="1"/>
            <p:nvPr/>
          </p:nvSpPr>
          <p:spPr>
            <a:xfrm>
              <a:off x="594360" y="793750"/>
              <a:ext cx="6170162"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6,229 个失败实例仍有合格检测框</a:t>
              </a:r>
            </a:p>
          </p:txBody>
        </p:sp>
      </p:grpSp>
      <p:grpSp>
        <p:nvGrpSpPr>
          <p:cNvPr id="6" name="experiment-scope"/>
          <p:cNvGrpSpPr/>
          <p:nvPr/>
        </p:nvGrpSpPr>
        <p:grpSpPr>
          <a:xfrm>
            <a:off x="601218" y="1682750"/>
            <a:ext cx="6458331" cy="322707"/>
            <a:chOff x="601218" y="1682750"/>
            <a:chExt cx="6458331" cy="322707"/>
          </a:xfrm>
        </p:grpSpPr>
        <p:sp>
          <p:nvSpPr>
            <p:cNvPr id="5" name="TextBox 5"/>
            <p:cNvSpPr txBox="1"/>
            <p:nvPr/>
          </p:nvSpPr>
          <p:spPr>
            <a:xfrm>
              <a:off x="601218" y="1682750"/>
              <a:ext cx="6458331"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对正常推理输出逐实例核对：分割失败究竟发生在哪一类目标上？</a:t>
              </a:r>
            </a:p>
          </p:txBody>
        </p:sp>
      </p:grpSp>
      <p:grpSp>
        <p:nvGrpSpPr>
          <p:cNvPr id="26" name="failure-split"/>
          <p:cNvGrpSpPr/>
          <p:nvPr/>
        </p:nvGrpSpPr>
        <p:grpSpPr>
          <a:xfrm>
            <a:off x="601218" y="2476500"/>
            <a:ext cx="7723251" cy="2606421"/>
            <a:chOff x="601218" y="2476500"/>
            <a:chExt cx="7723251" cy="2606421"/>
          </a:xfrm>
        </p:grpSpPr>
        <p:grpSp>
          <p:nvGrpSpPr>
            <p:cNvPr id="11" name="failure-split-chartArea"/>
            <p:cNvGrpSpPr/>
            <p:nvPr/>
          </p:nvGrpSpPr>
          <p:grpSpPr>
            <a:xfrm>
              <a:off x="2952750" y="2476500"/>
              <a:ext cx="5143500" cy="2295525"/>
              <a:chOff x="2952750" y="2476500"/>
              <a:chExt cx="5143500" cy="2295525"/>
            </a:xfrm>
          </p:grpSpPr>
          <p:sp>
            <p:nvSpPr>
              <p:cNvPr id="7" name="Line 7"/>
              <p:cNvSpPr/>
              <p:nvPr/>
            </p:nvSpPr>
            <p:spPr>
              <a:xfrm>
                <a:off x="2952750" y="4762500"/>
                <a:ext cx="5143500" cy="9525"/>
              </a:xfrm>
              <a:custGeom>
                <a:avLst/>
                <a:gdLst/>
                <a:ahLst/>
                <a:cxnLst/>
                <a:rect l="l" t="t" r="r" b="b"/>
                <a:pathLst>
                  <a:path w="5143500" h="9525">
                    <a:moveTo>
                      <a:pt x="0" y="0"/>
                    </a:moveTo>
                    <a:lnTo>
                      <a:pt x="5143500" y="0"/>
                    </a:lnTo>
                  </a:path>
                </a:pathLst>
              </a:custGeom>
              <a:noFill/>
              <a:ln w="9525">
                <a:solidFill>
                  <a:srgbClr val="596B80"/>
                </a:solidFill>
              </a:ln>
            </p:spPr>
          </p:sp>
          <p:sp>
            <p:nvSpPr>
              <p:cNvPr id="8" name="Rectangle 8"/>
              <p:cNvSpPr/>
              <p:nvPr/>
            </p:nvSpPr>
            <p:spPr>
              <a:xfrm>
                <a:off x="2952750" y="2476500"/>
                <a:ext cx="4595717" cy="285750"/>
              </a:xfrm>
              <a:prstGeom prst="rect">
                <a:avLst/>
              </a:prstGeom>
              <a:solidFill>
                <a:srgbClr val="596B80"/>
              </a:solidFill>
              <a:ln>
                <a:noFill/>
              </a:ln>
            </p:spPr>
          </p:sp>
          <p:sp>
            <p:nvSpPr>
              <p:cNvPr id="9" name="Rectangle 9"/>
              <p:cNvSpPr/>
              <p:nvPr/>
            </p:nvSpPr>
            <p:spPr>
              <a:xfrm>
                <a:off x="2952750" y="3333750"/>
                <a:ext cx="4004862" cy="285750"/>
              </a:xfrm>
              <a:prstGeom prst="rect">
                <a:avLst/>
              </a:prstGeom>
              <a:solidFill>
                <a:schemeClr val="accent2"/>
              </a:solidFill>
              <a:ln>
                <a:noFill/>
              </a:ln>
            </p:spPr>
          </p:sp>
          <p:sp>
            <p:nvSpPr>
              <p:cNvPr id="10" name="Rectangle 10"/>
              <p:cNvSpPr/>
              <p:nvPr/>
            </p:nvSpPr>
            <p:spPr>
              <a:xfrm>
                <a:off x="2952750" y="4191000"/>
                <a:ext cx="643" cy="285750"/>
              </a:xfrm>
              <a:prstGeom prst="rect">
                <a:avLst/>
              </a:prstGeom>
              <a:solidFill>
                <a:schemeClr val="accent3"/>
              </a:solidFill>
              <a:ln>
                <a:noFill/>
              </a:ln>
            </p:spPr>
          </p:sp>
        </p:grpSp>
        <p:grpSp>
          <p:nvGrpSpPr>
            <p:cNvPr id="19" name="Group 19"/>
            <p:cNvGrpSpPr/>
            <p:nvPr/>
          </p:nvGrpSpPr>
          <p:grpSpPr>
            <a:xfrm>
              <a:off x="601218" y="2482850"/>
              <a:ext cx="7685627" cy="2046732"/>
              <a:chOff x="601218" y="2482850"/>
              <a:chExt cx="7685627" cy="2046732"/>
            </a:xfrm>
          </p:grpSpPr>
          <p:sp>
            <p:nvSpPr>
              <p:cNvPr id="12" name="TextBox 12"/>
              <p:cNvSpPr txBox="1"/>
              <p:nvPr/>
            </p:nvSpPr>
            <p:spPr>
              <a:xfrm>
                <a:off x="601218" y="2482850"/>
                <a:ext cx="1349502"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无合格框配对</a:t>
                </a:r>
              </a:p>
            </p:txBody>
          </p:sp>
          <p:sp>
            <p:nvSpPr>
              <p:cNvPr id="13" name="TextBox 13"/>
              <p:cNvSpPr txBox="1"/>
              <p:nvPr/>
            </p:nvSpPr>
            <p:spPr>
              <a:xfrm>
                <a:off x="601218" y="3206750"/>
                <a:ext cx="683133"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框合格</a:t>
                </a:r>
              </a:p>
            </p:txBody>
          </p:sp>
          <p:sp>
            <p:nvSpPr>
              <p:cNvPr id="14" name="TextBox 14"/>
              <p:cNvSpPr txBox="1"/>
              <p:nvPr/>
            </p:nvSpPr>
            <p:spPr>
              <a:xfrm>
                <a:off x="601218" y="3492500"/>
                <a:ext cx="1326871"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轮廓不合格 T</a:t>
                </a:r>
              </a:p>
            </p:txBody>
          </p:sp>
          <p:sp>
            <p:nvSpPr>
              <p:cNvPr id="15" name="TextBox 15"/>
              <p:cNvSpPr txBox="1"/>
              <p:nvPr/>
            </p:nvSpPr>
            <p:spPr>
              <a:xfrm>
                <a:off x="601218" y="4197350"/>
                <a:ext cx="1349502"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匹配竞争案例</a:t>
                </a:r>
              </a:p>
            </p:txBody>
          </p:sp>
          <p:sp>
            <p:nvSpPr>
              <p:cNvPr id="16" name="TextBox 16"/>
              <p:cNvSpPr txBox="1"/>
              <p:nvPr/>
            </p:nvSpPr>
            <p:spPr>
              <a:xfrm>
                <a:off x="7659243" y="2492375"/>
                <a:ext cx="627602"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7,148</a:t>
                </a:r>
              </a:p>
            </p:txBody>
          </p:sp>
          <p:sp>
            <p:nvSpPr>
              <p:cNvPr id="17" name="TextBox 17"/>
              <p:cNvSpPr txBox="1"/>
              <p:nvPr/>
            </p:nvSpPr>
            <p:spPr>
              <a:xfrm>
                <a:off x="7068693" y="3349625"/>
                <a:ext cx="658144" cy="322707"/>
              </a:xfrm>
              <a:prstGeom prst="rect">
                <a:avLst/>
              </a:prstGeom>
              <a:noFill/>
              <a:ln>
                <a:noFill/>
              </a:ln>
            </p:spPr>
            <p:txBody>
              <a:bodyPr wrap="none" lIns="0" tIns="0" rIns="0" bIns="0" anchor="t" anchorCtr="0">
                <a:spAutoFit/>
              </a:bodyPr>
              <a:lstStyle/>
              <a:p>
                <a:pPr algn="l"/>
                <a:r>
                  <a:rPr lang="zh-CN" sz="1650" b="1" dirty="0">
                    <a:solidFill>
                      <a:schemeClr val="accent2"/>
                    </a:solidFill>
                    <a:latin typeface="+mn-lt"/>
                    <a:ea typeface="+mn-ea"/>
                    <a:cs typeface="+mn-cs"/>
                  </a:rPr>
                  <a:t>6,229</a:t>
                </a:r>
              </a:p>
            </p:txBody>
          </p:sp>
          <p:sp>
            <p:nvSpPr>
              <p:cNvPr id="18" name="TextBox 18"/>
              <p:cNvSpPr txBox="1"/>
              <p:nvPr/>
            </p:nvSpPr>
            <p:spPr>
              <a:xfrm>
                <a:off x="3077718" y="4206875"/>
                <a:ext cx="138932"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1</a:t>
                </a:r>
              </a:p>
            </p:txBody>
          </p:sp>
        </p:grpSp>
        <p:grpSp>
          <p:nvGrpSpPr>
            <p:cNvPr id="25" name="Group 25"/>
            <p:cNvGrpSpPr/>
            <p:nvPr/>
          </p:nvGrpSpPr>
          <p:grpSpPr>
            <a:xfrm>
              <a:off x="2902229" y="4848225"/>
              <a:ext cx="5422240" cy="234696"/>
              <a:chOff x="2902229" y="4848225"/>
              <a:chExt cx="5422240" cy="234696"/>
            </a:xfrm>
          </p:grpSpPr>
          <p:sp>
            <p:nvSpPr>
              <p:cNvPr id="20" name="TextBox 20"/>
              <p:cNvSpPr txBox="1"/>
              <p:nvPr/>
            </p:nvSpPr>
            <p:spPr>
              <a:xfrm>
                <a:off x="2902229" y="4848225"/>
                <a:ext cx="101041"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0</a:t>
                </a:r>
              </a:p>
            </p:txBody>
          </p:sp>
          <p:sp>
            <p:nvSpPr>
              <p:cNvPr id="21" name="TextBox 21"/>
              <p:cNvSpPr txBox="1"/>
              <p:nvPr/>
            </p:nvSpPr>
            <p:spPr>
              <a:xfrm>
                <a:off x="4010406" y="4848225"/>
                <a:ext cx="456438"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2,000</a:t>
                </a:r>
              </a:p>
            </p:txBody>
          </p:sp>
          <p:sp>
            <p:nvSpPr>
              <p:cNvPr id="22" name="TextBox 22"/>
              <p:cNvSpPr txBox="1"/>
              <p:nvPr/>
            </p:nvSpPr>
            <p:spPr>
              <a:xfrm>
                <a:off x="5296281" y="4848225"/>
                <a:ext cx="456438"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4,000</a:t>
                </a:r>
              </a:p>
            </p:txBody>
          </p:sp>
          <p:sp>
            <p:nvSpPr>
              <p:cNvPr id="23" name="TextBox 23"/>
              <p:cNvSpPr txBox="1"/>
              <p:nvPr/>
            </p:nvSpPr>
            <p:spPr>
              <a:xfrm>
                <a:off x="6582156" y="4848225"/>
                <a:ext cx="456438"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6,000</a:t>
                </a:r>
              </a:p>
            </p:txBody>
          </p:sp>
          <p:sp>
            <p:nvSpPr>
              <p:cNvPr id="24" name="TextBox 24"/>
              <p:cNvSpPr txBox="1"/>
              <p:nvPr/>
            </p:nvSpPr>
            <p:spPr>
              <a:xfrm>
                <a:off x="7868031" y="4848225"/>
                <a:ext cx="456438"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8,000</a:t>
                </a:r>
              </a:p>
            </p:txBody>
          </p:sp>
        </p:grpSp>
      </p:grpSp>
      <p:grpSp>
        <p:nvGrpSpPr>
          <p:cNvPr id="31" name="target-share"/>
          <p:cNvGrpSpPr/>
          <p:nvPr/>
        </p:nvGrpSpPr>
        <p:grpSpPr>
          <a:xfrm>
            <a:off x="8686800" y="2355850"/>
            <a:ext cx="2709634" cy="2392807"/>
            <a:chOff x="8686800" y="2355850"/>
            <a:chExt cx="2709634" cy="2392807"/>
          </a:xfrm>
        </p:grpSpPr>
        <p:sp>
          <p:nvSpPr>
            <p:cNvPr id="27" name="TextBox 27"/>
            <p:cNvSpPr txBox="1"/>
            <p:nvPr/>
          </p:nvSpPr>
          <p:spPr>
            <a:xfrm>
              <a:off x="8686800" y="2355850"/>
              <a:ext cx="2709634" cy="1047750"/>
            </a:xfrm>
            <a:prstGeom prst="rect">
              <a:avLst/>
            </a:prstGeom>
            <a:noFill/>
            <a:ln>
              <a:noFill/>
            </a:ln>
          </p:spPr>
          <p:txBody>
            <a:bodyPr wrap="none" lIns="0" tIns="0" rIns="0" bIns="0" anchor="t" anchorCtr="0">
              <a:spAutoFit/>
            </a:bodyPr>
            <a:lstStyle/>
            <a:p>
              <a:pPr algn="l"/>
              <a:r>
                <a:rPr lang="zh-CN" sz="5400" b="1" dirty="0">
                  <a:solidFill>
                    <a:schemeClr val="accent2"/>
                  </a:solidFill>
                  <a:latin typeface="+mn-lt"/>
                  <a:ea typeface="+mn-ea"/>
                  <a:cs typeface="+mn-cs"/>
                </a:rPr>
                <a:t>46.56%</a:t>
              </a:r>
            </a:p>
          </p:txBody>
        </p:sp>
        <p:sp>
          <p:nvSpPr>
            <p:cNvPr id="28" name="TextBox 28"/>
            <p:cNvSpPr txBox="1"/>
            <p:nvPr/>
          </p:nvSpPr>
          <p:spPr>
            <a:xfrm>
              <a:off x="8695182" y="3336925"/>
              <a:ext cx="1717548"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分割失败中的</a:t>
              </a:r>
            </a:p>
          </p:txBody>
        </p:sp>
        <p:sp>
          <p:nvSpPr>
            <p:cNvPr id="29" name="TextBox 29"/>
            <p:cNvSpPr txBox="1"/>
            <p:nvPr/>
          </p:nvSpPr>
          <p:spPr>
            <a:xfrm>
              <a:off x="8695182" y="3775075"/>
              <a:ext cx="149565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目标 T 占比</a:t>
              </a:r>
            </a:p>
          </p:txBody>
        </p:sp>
        <p:sp>
          <p:nvSpPr>
            <p:cNvPr id="30" name="TextBox 30"/>
            <p:cNvSpPr txBox="1"/>
            <p:nvPr/>
          </p:nvSpPr>
          <p:spPr>
            <a:xfrm>
              <a:off x="8697468" y="4425950"/>
              <a:ext cx="1616050"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6,229 / 13,378</a:t>
              </a:r>
            </a:p>
          </p:txBody>
        </p:sp>
      </p:grpSp>
      <p:grpSp>
        <p:nvGrpSpPr>
          <p:cNvPr id="34" name="finding"/>
          <p:cNvGrpSpPr/>
          <p:nvPr/>
        </p:nvGrpSpPr>
        <p:grpSpPr>
          <a:xfrm>
            <a:off x="597408" y="5403850"/>
            <a:ext cx="7778496" cy="802132"/>
            <a:chOff x="597408" y="5403850"/>
            <a:chExt cx="7778496" cy="802132"/>
          </a:xfrm>
        </p:grpSpPr>
        <p:sp>
          <p:nvSpPr>
            <p:cNvPr id="32" name="TextBox 32"/>
            <p:cNvSpPr txBox="1"/>
            <p:nvPr/>
          </p:nvSpPr>
          <p:spPr>
            <a:xfrm>
              <a:off x="597408" y="5403850"/>
              <a:ext cx="7778496"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这部分错误可以在固定检测框后，继续研究轮廓修正。</a:t>
              </a:r>
            </a:p>
          </p:txBody>
        </p:sp>
        <p:sp>
          <p:nvSpPr>
            <p:cNvPr id="33" name="TextBox 33"/>
            <p:cNvSpPr txBox="1"/>
            <p:nvPr/>
          </p:nvSpPr>
          <p:spPr>
            <a:xfrm>
              <a:off x="601218" y="5883275"/>
              <a:ext cx="4903470"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其余错误尚未纳入这一修正对象，需要分别研究。</a:t>
              </a:r>
            </a:p>
          </p:txBody>
        </p:sp>
      </p:grpSp>
      <p:grpSp>
        <p:nvGrpSpPr>
          <p:cNvPr id="37" name="footer"/>
          <p:cNvGrpSpPr/>
          <p:nvPr/>
        </p:nvGrpSpPr>
        <p:grpSpPr>
          <a:xfrm>
            <a:off x="603504" y="6410325"/>
            <a:ext cx="10984992" cy="234696"/>
            <a:chOff x="603504" y="6410325"/>
            <a:chExt cx="10984992" cy="234696"/>
          </a:xfrm>
        </p:grpSpPr>
        <p:sp>
          <p:nvSpPr>
            <p:cNvPr id="35" name="TextBox 35"/>
            <p:cNvSpPr txBox="1"/>
            <p:nvPr/>
          </p:nvSpPr>
          <p:spPr>
            <a:xfrm>
              <a:off x="603504" y="6410325"/>
              <a:ext cx="6498050"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[E0] COCO val2017 5,000 图；普通 GT 36,335，分割失败 13,378；比例不等同于 AP。</a:t>
              </a:r>
            </a:p>
          </p:txBody>
        </p:sp>
        <p:sp>
          <p:nvSpPr>
            <p:cNvPr id="36" name="TextBox 36"/>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09 / 22</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6088380" cy="964565"/>
            <a:chOff x="594360" y="415925"/>
            <a:chExt cx="6088380" cy="964565"/>
          </a:xfrm>
        </p:grpSpPr>
        <p:sp>
          <p:nvSpPr>
            <p:cNvPr id="2" name="TextBox 2"/>
            <p:cNvSpPr txBox="1"/>
            <p:nvPr/>
          </p:nvSpPr>
          <p:spPr>
            <a:xfrm>
              <a:off x="601218" y="415925"/>
              <a:ext cx="2138039"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02 研究方法 · 模块一</a:t>
              </a:r>
            </a:p>
          </p:txBody>
        </p:sp>
        <p:sp>
          <p:nvSpPr>
            <p:cNvPr id="3" name="TextBox 3"/>
            <p:cNvSpPr txBox="1"/>
            <p:nvPr/>
          </p:nvSpPr>
          <p:spPr>
            <a:xfrm>
              <a:off x="594360" y="793750"/>
              <a:ext cx="608838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固定检测后，仍存在轮廓修正空间</a:t>
              </a:r>
            </a:p>
          </p:txBody>
        </p:sp>
      </p:grpSp>
      <p:grpSp>
        <p:nvGrpSpPr>
          <p:cNvPr id="6" name="oracle-procedure"/>
          <p:cNvGrpSpPr/>
          <p:nvPr/>
        </p:nvGrpSpPr>
        <p:grpSpPr>
          <a:xfrm>
            <a:off x="601218" y="1654175"/>
            <a:ext cx="8013192" cy="322707"/>
            <a:chOff x="601218" y="1654175"/>
            <a:chExt cx="8013192" cy="322707"/>
          </a:xfrm>
        </p:grpSpPr>
        <p:sp>
          <p:nvSpPr>
            <p:cNvPr id="5" name="TextBox 5"/>
            <p:cNvSpPr txBox="1"/>
            <p:nvPr/>
          </p:nvSpPr>
          <p:spPr>
            <a:xfrm>
              <a:off x="601218" y="1654175"/>
              <a:ext cx="8013192"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固定原型与检测框，只优化组合系数；使用真实标注指导优化，测量可改进空间。</a:t>
              </a:r>
            </a:p>
          </p:txBody>
        </p:sp>
      </p:grpSp>
      <p:grpSp>
        <p:nvGrpSpPr>
          <p:cNvPr id="27" name="oracle-area"/>
          <p:cNvGrpSpPr/>
          <p:nvPr/>
        </p:nvGrpSpPr>
        <p:grpSpPr>
          <a:xfrm>
            <a:off x="598932" y="2063750"/>
            <a:ext cx="7316267" cy="3057271"/>
            <a:chOff x="598932" y="2063750"/>
            <a:chExt cx="7316267" cy="3057271"/>
          </a:xfrm>
        </p:grpSpPr>
        <p:grpSp>
          <p:nvGrpSpPr>
            <p:cNvPr id="11" name="oracle-area-chartArea"/>
            <p:cNvGrpSpPr/>
            <p:nvPr/>
          </p:nvGrpSpPr>
          <p:grpSpPr>
            <a:xfrm>
              <a:off x="2190750" y="2400300"/>
              <a:ext cx="5524500" cy="2047875"/>
              <a:chOff x="2190750" y="2400300"/>
              <a:chExt cx="5524500" cy="2047875"/>
            </a:xfrm>
          </p:grpSpPr>
          <p:sp>
            <p:nvSpPr>
              <p:cNvPr id="7" name="Line 7"/>
              <p:cNvSpPr/>
              <p:nvPr/>
            </p:nvSpPr>
            <p:spPr>
              <a:xfrm>
                <a:off x="2190750" y="4438650"/>
                <a:ext cx="5524500" cy="9525"/>
              </a:xfrm>
              <a:custGeom>
                <a:avLst/>
                <a:gdLst/>
                <a:ahLst/>
                <a:cxnLst/>
                <a:rect l="l" t="t" r="r" b="b"/>
                <a:pathLst>
                  <a:path w="5524500" h="9525">
                    <a:moveTo>
                      <a:pt x="0" y="0"/>
                    </a:moveTo>
                    <a:lnTo>
                      <a:pt x="5524500" y="0"/>
                    </a:lnTo>
                  </a:path>
                </a:pathLst>
              </a:custGeom>
              <a:noFill/>
              <a:ln w="9525">
                <a:solidFill>
                  <a:srgbClr val="596B80"/>
                </a:solidFill>
              </a:ln>
            </p:spPr>
          </p:sp>
          <p:sp>
            <p:nvSpPr>
              <p:cNvPr id="8" name="Rectangle 8"/>
              <p:cNvSpPr/>
              <p:nvPr/>
            </p:nvSpPr>
            <p:spPr>
              <a:xfrm>
                <a:off x="2190750" y="2400300"/>
                <a:ext cx="1418453" cy="266700"/>
              </a:xfrm>
              <a:prstGeom prst="rect">
                <a:avLst/>
              </a:prstGeom>
              <a:solidFill>
                <a:schemeClr val="accent2"/>
              </a:solidFill>
              <a:ln>
                <a:noFill/>
              </a:ln>
            </p:spPr>
          </p:sp>
          <p:sp>
            <p:nvSpPr>
              <p:cNvPr id="9" name="Rectangle 9"/>
              <p:cNvSpPr/>
              <p:nvPr/>
            </p:nvSpPr>
            <p:spPr>
              <a:xfrm>
                <a:off x="2190750" y="3162300"/>
                <a:ext cx="3798094" cy="266700"/>
              </a:xfrm>
              <a:prstGeom prst="rect">
                <a:avLst/>
              </a:prstGeom>
              <a:solidFill>
                <a:schemeClr val="accent2"/>
              </a:solidFill>
              <a:ln>
                <a:noFill/>
              </a:ln>
            </p:spPr>
          </p:sp>
          <p:sp>
            <p:nvSpPr>
              <p:cNvPr id="10" name="Rectangle 10"/>
              <p:cNvSpPr/>
              <p:nvPr/>
            </p:nvSpPr>
            <p:spPr>
              <a:xfrm>
                <a:off x="2190750" y="3924300"/>
                <a:ext cx="5022275" cy="266700"/>
              </a:xfrm>
              <a:prstGeom prst="rect">
                <a:avLst/>
              </a:prstGeom>
              <a:solidFill>
                <a:schemeClr val="accent2"/>
              </a:solidFill>
              <a:ln>
                <a:noFill/>
              </a:ln>
            </p:spPr>
          </p:sp>
        </p:grpSp>
        <p:grpSp>
          <p:nvGrpSpPr>
            <p:cNvPr id="15" name="Group 15"/>
            <p:cNvGrpSpPr/>
            <p:nvPr/>
          </p:nvGrpSpPr>
          <p:grpSpPr>
            <a:xfrm>
              <a:off x="598932" y="2365375"/>
              <a:ext cx="869442" cy="1934718"/>
              <a:chOff x="598932" y="2365375"/>
              <a:chExt cx="869442" cy="1934718"/>
            </a:xfrm>
          </p:grpSpPr>
          <p:sp>
            <p:nvSpPr>
              <p:cNvPr id="12" name="TextBox 12"/>
              <p:cNvSpPr txBox="1"/>
              <p:nvPr/>
            </p:nvSpPr>
            <p:spPr>
              <a:xfrm>
                <a:off x="598932" y="2365375"/>
                <a:ext cx="86944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小目标</a:t>
                </a:r>
              </a:p>
            </p:txBody>
          </p:sp>
          <p:sp>
            <p:nvSpPr>
              <p:cNvPr id="13" name="TextBox 13"/>
              <p:cNvSpPr txBox="1"/>
              <p:nvPr/>
            </p:nvSpPr>
            <p:spPr>
              <a:xfrm>
                <a:off x="598932" y="3127375"/>
                <a:ext cx="86944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中目标</a:t>
                </a:r>
              </a:p>
            </p:txBody>
          </p:sp>
          <p:sp>
            <p:nvSpPr>
              <p:cNvPr id="14" name="TextBox 14"/>
              <p:cNvSpPr txBox="1"/>
              <p:nvPr/>
            </p:nvSpPr>
            <p:spPr>
              <a:xfrm>
                <a:off x="598932" y="3889375"/>
                <a:ext cx="86944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大目标</a:t>
                </a:r>
              </a:p>
            </p:txBody>
          </p:sp>
        </p:grpSp>
        <p:grpSp>
          <p:nvGrpSpPr>
            <p:cNvPr id="19" name="Group 19"/>
            <p:cNvGrpSpPr/>
            <p:nvPr/>
          </p:nvGrpSpPr>
          <p:grpSpPr>
            <a:xfrm>
              <a:off x="2182368" y="2063750"/>
              <a:ext cx="2104720" cy="1846707"/>
              <a:chOff x="2182368" y="2063750"/>
              <a:chExt cx="2104720" cy="1846707"/>
            </a:xfrm>
          </p:grpSpPr>
          <p:sp>
            <p:nvSpPr>
              <p:cNvPr id="16" name="TextBox 16"/>
              <p:cNvSpPr txBox="1"/>
              <p:nvPr/>
            </p:nvSpPr>
            <p:spPr>
              <a:xfrm>
                <a:off x="2182368" y="2063750"/>
                <a:ext cx="2104720"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25.68%（38 / 148）</a:t>
                </a:r>
              </a:p>
            </p:txBody>
          </p:sp>
          <p:sp>
            <p:nvSpPr>
              <p:cNvPr id="17" name="TextBox 17"/>
              <p:cNvSpPr txBox="1"/>
              <p:nvPr/>
            </p:nvSpPr>
            <p:spPr>
              <a:xfrm>
                <a:off x="2182368" y="2825750"/>
                <a:ext cx="1982553"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68.75%（44 / 64）</a:t>
                </a:r>
              </a:p>
            </p:txBody>
          </p:sp>
          <p:sp>
            <p:nvSpPr>
              <p:cNvPr id="18" name="TextBox 18"/>
              <p:cNvSpPr txBox="1"/>
              <p:nvPr/>
            </p:nvSpPr>
            <p:spPr>
              <a:xfrm>
                <a:off x="2182368" y="3587750"/>
                <a:ext cx="1982553"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90.91%（40 / 44）</a:t>
                </a:r>
              </a:p>
            </p:txBody>
          </p:sp>
        </p:grpSp>
        <p:grpSp>
          <p:nvGrpSpPr>
            <p:cNvPr id="25" name="Group 25"/>
            <p:cNvGrpSpPr/>
            <p:nvPr/>
          </p:nvGrpSpPr>
          <p:grpSpPr>
            <a:xfrm>
              <a:off x="2140229" y="4619625"/>
              <a:ext cx="5774970" cy="234696"/>
              <a:chOff x="2140229" y="4619625"/>
              <a:chExt cx="5774970" cy="234696"/>
            </a:xfrm>
          </p:grpSpPr>
          <p:sp>
            <p:nvSpPr>
              <p:cNvPr id="20" name="TextBox 20"/>
              <p:cNvSpPr txBox="1"/>
              <p:nvPr/>
            </p:nvSpPr>
            <p:spPr>
              <a:xfrm>
                <a:off x="2140229" y="4619625"/>
                <a:ext cx="101041"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0</a:t>
                </a:r>
              </a:p>
            </p:txBody>
          </p:sp>
          <p:sp>
            <p:nvSpPr>
              <p:cNvPr id="21" name="TextBox 21"/>
              <p:cNvSpPr txBox="1"/>
              <p:nvPr/>
            </p:nvSpPr>
            <p:spPr>
              <a:xfrm>
                <a:off x="3476930" y="4619625"/>
                <a:ext cx="18989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25</a:t>
                </a:r>
              </a:p>
            </p:txBody>
          </p:sp>
          <p:sp>
            <p:nvSpPr>
              <p:cNvPr id="22" name="TextBox 22"/>
              <p:cNvSpPr txBox="1"/>
              <p:nvPr/>
            </p:nvSpPr>
            <p:spPr>
              <a:xfrm>
                <a:off x="4858055" y="4619625"/>
                <a:ext cx="18989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50</a:t>
                </a:r>
              </a:p>
            </p:txBody>
          </p:sp>
          <p:sp>
            <p:nvSpPr>
              <p:cNvPr id="23" name="TextBox 23"/>
              <p:cNvSpPr txBox="1"/>
              <p:nvPr/>
            </p:nvSpPr>
            <p:spPr>
              <a:xfrm>
                <a:off x="6239180" y="4619625"/>
                <a:ext cx="18989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75</a:t>
                </a:r>
              </a:p>
            </p:txBody>
          </p:sp>
          <p:sp>
            <p:nvSpPr>
              <p:cNvPr id="24" name="TextBox 24"/>
              <p:cNvSpPr txBox="1"/>
              <p:nvPr/>
            </p:nvSpPr>
            <p:spPr>
              <a:xfrm>
                <a:off x="7515301" y="4619625"/>
                <a:ext cx="399898"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100%</a:t>
                </a:r>
              </a:p>
            </p:txBody>
          </p:sp>
        </p:grpSp>
        <p:sp>
          <p:nvSpPr>
            <p:cNvPr id="26" name="TextBox 26"/>
            <p:cNvSpPr txBox="1"/>
            <p:nvPr/>
          </p:nvSpPr>
          <p:spPr>
            <a:xfrm>
              <a:off x="2184654" y="4886325"/>
              <a:ext cx="2847594"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同一检测的轮廓达到 IoU ≥ 0.75 的比例</a:t>
              </a:r>
            </a:p>
          </p:txBody>
        </p:sp>
      </p:grpSp>
      <p:grpSp>
        <p:nvGrpSpPr>
          <p:cNvPr id="31" name="oracle-total"/>
          <p:cNvGrpSpPr/>
          <p:nvPr/>
        </p:nvGrpSpPr>
        <p:grpSpPr>
          <a:xfrm>
            <a:off x="8553450" y="2251075"/>
            <a:ext cx="2709634" cy="2732532"/>
            <a:chOff x="8553450" y="2251075"/>
            <a:chExt cx="2709634" cy="2732532"/>
          </a:xfrm>
        </p:grpSpPr>
        <p:sp>
          <p:nvSpPr>
            <p:cNvPr id="28" name="TextBox 28"/>
            <p:cNvSpPr txBox="1"/>
            <p:nvPr/>
          </p:nvSpPr>
          <p:spPr>
            <a:xfrm>
              <a:off x="8553450" y="2251075"/>
              <a:ext cx="2709634" cy="1047750"/>
            </a:xfrm>
            <a:prstGeom prst="rect">
              <a:avLst/>
            </a:prstGeom>
            <a:noFill/>
            <a:ln>
              <a:noFill/>
            </a:ln>
          </p:spPr>
          <p:txBody>
            <a:bodyPr wrap="none" lIns="0" tIns="0" rIns="0" bIns="0" anchor="t" anchorCtr="0">
              <a:spAutoFit/>
            </a:bodyPr>
            <a:lstStyle/>
            <a:p>
              <a:pPr algn="l"/>
              <a:r>
                <a:rPr lang="zh-CN" sz="5400" b="1" dirty="0">
                  <a:solidFill>
                    <a:schemeClr val="accent2"/>
                  </a:solidFill>
                  <a:latin typeface="+mn-lt"/>
                  <a:ea typeface="+mn-ea"/>
                  <a:cs typeface="+mn-cs"/>
                </a:rPr>
                <a:t>47.66%</a:t>
              </a:r>
            </a:p>
          </p:txBody>
        </p:sp>
        <p:sp>
          <p:nvSpPr>
            <p:cNvPr id="29" name="TextBox 29"/>
            <p:cNvSpPr txBox="1"/>
            <p:nvPr/>
          </p:nvSpPr>
          <p:spPr>
            <a:xfrm>
              <a:off x="8561832" y="3184525"/>
              <a:ext cx="2488311" cy="858393"/>
            </a:xfrm>
            <a:prstGeom prst="rect">
              <a:avLst/>
            </a:prstGeom>
            <a:noFill/>
            <a:ln>
              <a:noFill/>
            </a:ln>
          </p:spPr>
          <p:txBody>
            <a:bodyPr wrap="none" lIns="0" tIns="0" rIns="0" bIns="0" anchor="t" anchorCtr="0">
              <a:spAutoFit/>
            </a:bodyPr>
            <a:lstStyle/>
            <a:p>
              <a:pPr algn="l">
                <a:lnSpc>
                  <a:spcPts val="3525"/>
                </a:lnSpc>
              </a:pPr>
              <a:r>
                <a:rPr lang="zh-CN" sz="2100" dirty="0">
                  <a:solidFill>
                    <a:schemeClr val="dk1"/>
                  </a:solidFill>
                  <a:latin typeface="+mn-lt"/>
                  <a:ea typeface="+mn-ea"/>
                  <a:cs typeface="+mn-cs"/>
                </a:rPr>
                <a:t>256 个固定目标中</a:t>
              </a:r>
              <a:br>
                <a:rPr lang="zh-CN" sz="2100" dirty="0">
                  <a:solidFill>
                    <a:schemeClr val="dk1"/>
                  </a:solidFill>
                  <a:latin typeface="+mn-lt"/>
                  <a:ea typeface="+mn-ea"/>
                  <a:cs typeface="+mn-cs"/>
                </a:rPr>
              </a:br>
              <a:r>
                <a:rPr lang="zh-CN" sz="2100" dirty="0">
                  <a:solidFill>
                    <a:schemeClr val="dk1"/>
                  </a:solidFill>
                  <a:latin typeface="+mn-lt"/>
                  <a:ea typeface="+mn-ea"/>
                  <a:cs typeface="+mn-cs"/>
                </a:rPr>
                <a:t>找到 122 个达标结果</a:t>
              </a:r>
            </a:p>
          </p:txBody>
        </p:sp>
        <p:sp>
          <p:nvSpPr>
            <p:cNvPr id="30" name="TextBox 30"/>
            <p:cNvSpPr txBox="1"/>
            <p:nvPr/>
          </p:nvSpPr>
          <p:spPr>
            <a:xfrm>
              <a:off x="8564118" y="4318000"/>
              <a:ext cx="1902714" cy="665607"/>
            </a:xfrm>
            <a:prstGeom prst="rect">
              <a:avLst/>
            </a:prstGeom>
            <a:noFill/>
            <a:ln>
              <a:noFill/>
            </a:ln>
          </p:spPr>
          <p:txBody>
            <a:bodyPr wrap="none" lIns="0" tIns="0" rIns="0" bIns="0" anchor="t" anchorCtr="0">
              <a:spAutoFit/>
            </a:bodyPr>
            <a:lstStyle/>
            <a:p>
              <a:pPr algn="l">
                <a:lnSpc>
                  <a:spcPts val="2700"/>
                </a:lnSpc>
              </a:pPr>
              <a:r>
                <a:rPr lang="zh-CN" sz="1650" dirty="0">
                  <a:solidFill>
                    <a:schemeClr val="accent3"/>
                  </a:solidFill>
                  <a:latin typeface="+mn-lt"/>
                  <a:ea typeface="+mn-ea"/>
                  <a:cs typeface="+mn-cs"/>
                </a:rPr>
                <a:t>标注辅助的修正机会</a:t>
              </a:r>
              <a:br>
                <a:rPr lang="zh-CN" sz="1650" dirty="0">
                  <a:solidFill>
                    <a:schemeClr val="accent3"/>
                  </a:solidFill>
                  <a:latin typeface="+mn-lt"/>
                  <a:ea typeface="+mn-ea"/>
                  <a:cs typeface="+mn-cs"/>
                </a:rPr>
              </a:br>
              <a:r>
                <a:rPr lang="zh-CN" sz="1650" dirty="0">
                  <a:solidFill>
                    <a:schemeClr val="accent3"/>
                  </a:solidFill>
                  <a:latin typeface="+mn-lt"/>
                  <a:ea typeface="+mn-ea"/>
                  <a:cs typeface="+mn-cs"/>
                </a:rPr>
                <a:t>不代表自动方法收益</a:t>
              </a:r>
            </a:p>
          </p:txBody>
        </p:sp>
      </p:grpSp>
      <p:grpSp>
        <p:nvGrpSpPr>
          <p:cNvPr id="34" name="finding"/>
          <p:cNvGrpSpPr/>
          <p:nvPr/>
        </p:nvGrpSpPr>
        <p:grpSpPr>
          <a:xfrm>
            <a:off x="597408" y="5413375"/>
            <a:ext cx="7455408" cy="783082"/>
            <a:chOff x="597408" y="5413375"/>
            <a:chExt cx="7455408" cy="783082"/>
          </a:xfrm>
        </p:grpSpPr>
        <p:sp>
          <p:nvSpPr>
            <p:cNvPr id="32" name="TextBox 32"/>
            <p:cNvSpPr txBox="1"/>
            <p:nvPr/>
          </p:nvSpPr>
          <p:spPr>
            <a:xfrm>
              <a:off x="597408" y="5413375"/>
              <a:ext cx="7455408"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现有表示还有修正机会，下一步检验能否自动学到。</a:t>
              </a:r>
            </a:p>
          </p:txBody>
        </p:sp>
        <p:sp>
          <p:nvSpPr>
            <p:cNvPr id="33" name="TextBox 33"/>
            <p:cNvSpPr txBox="1"/>
            <p:nvPr/>
          </p:nvSpPr>
          <p:spPr>
            <a:xfrm>
              <a:off x="601218" y="5873750"/>
              <a:ext cx="6014085"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面积分组使用真实标注面积；这是固定样本的有限求解结果。</a:t>
              </a:r>
            </a:p>
          </p:txBody>
        </p:sp>
      </p:grpSp>
      <p:grpSp>
        <p:nvGrpSpPr>
          <p:cNvPr id="37" name="footer"/>
          <p:cNvGrpSpPr/>
          <p:nvPr/>
        </p:nvGrpSpPr>
        <p:grpSpPr>
          <a:xfrm>
            <a:off x="603504" y="6410325"/>
            <a:ext cx="10984992" cy="234696"/>
            <a:chOff x="603504" y="6410325"/>
            <a:chExt cx="10984992" cy="234696"/>
          </a:xfrm>
        </p:grpSpPr>
        <p:sp>
          <p:nvSpPr>
            <p:cNvPr id="35" name="TextBox 35"/>
            <p:cNvSpPr txBox="1"/>
            <p:nvPr/>
          </p:nvSpPr>
          <p:spPr>
            <a:xfrm>
              <a:off x="603504" y="6410325"/>
              <a:ext cx="7156094"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[E1] 从 T=6,229 中按冻结规则选取 256 个 GT；256/256 收敛；不外推为全体失败实例的修复率。</a:t>
              </a:r>
            </a:p>
          </p:txBody>
        </p:sp>
        <p:sp>
          <p:nvSpPr>
            <p:cNvPr id="36" name="TextBox 36"/>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10 / 22</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4876800" cy="964565"/>
            <a:chOff x="594360" y="415925"/>
            <a:chExt cx="4876800" cy="964565"/>
          </a:xfrm>
        </p:grpSpPr>
        <p:sp>
          <p:nvSpPr>
            <p:cNvPr id="2" name="TextBox 2"/>
            <p:cNvSpPr txBox="1"/>
            <p:nvPr/>
          </p:nvSpPr>
          <p:spPr>
            <a:xfrm>
              <a:off x="601218" y="415925"/>
              <a:ext cx="3504095" cy="322707"/>
            </a:xfrm>
            <a:prstGeom prst="rect">
              <a:avLst/>
            </a:prstGeom>
            <a:noFill/>
            <a:ln>
              <a:noFill/>
            </a:ln>
          </p:spPr>
          <p:txBody>
            <a:bodyPr wrap="none" lIns="0" tIns="0" rIns="0" bIns="0" anchor="t" anchorCtr="0">
              <a:spAutoFit/>
            </a:bodyPr>
            <a:lstStyle/>
            <a:p>
              <a:pPr algn="l"/>
              <a:r>
                <a:rPr lang="zh-CN" sz="1650" dirty="0">
                  <a:solidFill>
                    <a:srgbClr val="315E9D"/>
                  </a:solidFill>
                  <a:latin typeface="+mn-lt"/>
                  <a:ea typeface="+mn-ea"/>
                  <a:cs typeface="+mn-cs"/>
                </a:rPr>
                <a:t>02 研究方法 · 模块一 · 已完成探索</a:t>
              </a:r>
            </a:p>
          </p:txBody>
        </p:sp>
        <p:sp>
          <p:nvSpPr>
            <p:cNvPr id="3" name="TextBox 3"/>
            <p:cNvSpPr txBox="1"/>
            <p:nvPr/>
          </p:nvSpPr>
          <p:spPr>
            <a:xfrm>
              <a:off x="594360" y="793750"/>
              <a:ext cx="487680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探索实验逐项检验修正条件</a:t>
              </a:r>
            </a:p>
          </p:txBody>
        </p:sp>
      </p:grpSp>
      <p:grpSp>
        <p:nvGrpSpPr>
          <p:cNvPr id="6" name="common-budget"/>
          <p:cNvGrpSpPr/>
          <p:nvPr/>
        </p:nvGrpSpPr>
        <p:grpSpPr>
          <a:xfrm>
            <a:off x="601218" y="1711325"/>
            <a:ext cx="8068723" cy="322707"/>
            <a:chOff x="601218" y="1711325"/>
            <a:chExt cx="8068723" cy="322707"/>
          </a:xfrm>
        </p:grpSpPr>
        <p:sp>
          <p:nvSpPr>
            <p:cNvPr id="5" name="TextBox 5"/>
            <p:cNvSpPr txBox="1"/>
            <p:nvPr/>
          </p:nvSpPr>
          <p:spPr>
            <a:xfrm>
              <a:off x="601218" y="1711325"/>
              <a:ext cx="8068723"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三个训练配置均用 2,000 张图、3 轮、1,500 步；以冻结的原生输出为共同基线。</a:t>
              </a:r>
            </a:p>
          </p:txBody>
        </p:sp>
      </p:grpSp>
      <p:grpSp>
        <p:nvGrpSpPr>
          <p:cNvPr id="26" name="experiment-comparison"/>
          <p:cNvGrpSpPr/>
          <p:nvPr/>
        </p:nvGrpSpPr>
        <p:grpSpPr>
          <a:xfrm>
            <a:off x="598932" y="2270125"/>
            <a:ext cx="10983468" cy="2972943"/>
            <a:chOff x="598932" y="2270125"/>
            <a:chExt cx="10983468" cy="2972943"/>
          </a:xfrm>
        </p:grpSpPr>
        <p:sp>
          <p:nvSpPr>
            <p:cNvPr id="7" name="Line 7"/>
            <p:cNvSpPr/>
            <p:nvPr/>
          </p:nvSpPr>
          <p:spPr>
            <a:xfrm>
              <a:off x="609600" y="2676525"/>
              <a:ext cx="10972800" cy="9525"/>
            </a:xfrm>
            <a:custGeom>
              <a:avLst/>
              <a:gdLst/>
              <a:ahLst/>
              <a:cxnLst/>
              <a:rect l="l" t="t" r="r" b="b"/>
              <a:pathLst>
                <a:path w="10972800" h="9525">
                  <a:moveTo>
                    <a:pt x="0" y="0"/>
                  </a:moveTo>
                  <a:lnTo>
                    <a:pt x="10972800" y="0"/>
                  </a:lnTo>
                </a:path>
              </a:pathLst>
            </a:custGeom>
            <a:noFill/>
            <a:ln w="19050">
              <a:solidFill>
                <a:schemeClr val="accent6"/>
              </a:solidFill>
            </a:ln>
          </p:spPr>
        </p:sp>
        <p:sp>
          <p:nvSpPr>
            <p:cNvPr id="8" name="TextBox 8"/>
            <p:cNvSpPr txBox="1"/>
            <p:nvPr/>
          </p:nvSpPr>
          <p:spPr>
            <a:xfrm>
              <a:off x="598932" y="2270125"/>
              <a:ext cx="1152144"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实验配置</a:t>
              </a:r>
            </a:p>
          </p:txBody>
        </p:sp>
        <p:sp>
          <p:nvSpPr>
            <p:cNvPr id="9" name="TextBox 9"/>
            <p:cNvSpPr txBox="1"/>
            <p:nvPr/>
          </p:nvSpPr>
          <p:spPr>
            <a:xfrm>
              <a:off x="3084957" y="2270125"/>
              <a:ext cx="1434846"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改变的条件</a:t>
              </a:r>
            </a:p>
          </p:txBody>
        </p:sp>
        <p:sp>
          <p:nvSpPr>
            <p:cNvPr id="10" name="TextBox 10"/>
            <p:cNvSpPr txBox="1"/>
            <p:nvPr/>
          </p:nvSpPr>
          <p:spPr>
            <a:xfrm>
              <a:off x="7809357" y="2270125"/>
              <a:ext cx="1434846"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检验的问题</a:t>
              </a:r>
            </a:p>
          </p:txBody>
        </p:sp>
        <p:sp>
          <p:nvSpPr>
            <p:cNvPr id="11" name="TextBox 11"/>
            <p:cNvSpPr txBox="1"/>
            <p:nvPr/>
          </p:nvSpPr>
          <p:spPr>
            <a:xfrm>
              <a:off x="598932" y="2860675"/>
              <a:ext cx="1717548"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空间打乱对照</a:t>
              </a:r>
            </a:p>
          </p:txBody>
        </p:sp>
        <p:sp>
          <p:nvSpPr>
            <p:cNvPr id="12" name="TextBox 12"/>
            <p:cNvSpPr txBox="1"/>
            <p:nvPr/>
          </p:nvSpPr>
          <p:spPr>
            <a:xfrm>
              <a:off x="3084957" y="2860675"/>
              <a:ext cx="355404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联合打乱 P / z₀ 的空间排列</a:t>
              </a:r>
            </a:p>
          </p:txBody>
        </p:sp>
        <p:sp>
          <p:nvSpPr>
            <p:cNvPr id="13" name="TextBox 13"/>
            <p:cNvSpPr txBox="1"/>
            <p:nvPr/>
          </p:nvSpPr>
          <p:spPr>
            <a:xfrm>
              <a:off x="7809357" y="2860675"/>
              <a:ext cx="256565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空间组织是否有帮助</a:t>
              </a:r>
            </a:p>
          </p:txBody>
        </p:sp>
        <p:sp>
          <p:nvSpPr>
            <p:cNvPr id="14" name="Line 14"/>
            <p:cNvSpPr/>
            <p:nvPr/>
          </p:nvSpPr>
          <p:spPr>
            <a:xfrm>
              <a:off x="609600" y="33337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5" name="TextBox 15"/>
            <p:cNvSpPr txBox="1"/>
            <p:nvPr/>
          </p:nvSpPr>
          <p:spPr>
            <a:xfrm>
              <a:off x="598932" y="3517900"/>
              <a:ext cx="1988515"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正常空间 + BCE</a:t>
              </a:r>
            </a:p>
          </p:txBody>
        </p:sp>
        <p:sp>
          <p:nvSpPr>
            <p:cNvPr id="16" name="TextBox 16"/>
            <p:cNvSpPr txBox="1"/>
            <p:nvPr/>
          </p:nvSpPr>
          <p:spPr>
            <a:xfrm>
              <a:off x="3084957" y="3517900"/>
              <a:ext cx="369646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保留空间，使用像素分类损失</a:t>
              </a:r>
            </a:p>
          </p:txBody>
        </p:sp>
        <p:sp>
          <p:nvSpPr>
            <p:cNvPr id="17" name="TextBox 17"/>
            <p:cNvSpPr txBox="1"/>
            <p:nvPr/>
          </p:nvSpPr>
          <p:spPr>
            <a:xfrm>
              <a:off x="7809357" y="3517900"/>
              <a:ext cx="228295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能否自动改善轮廓</a:t>
              </a:r>
            </a:p>
          </p:txBody>
        </p:sp>
        <p:sp>
          <p:nvSpPr>
            <p:cNvPr id="18" name="Line 18"/>
            <p:cNvSpPr/>
            <p:nvPr/>
          </p:nvSpPr>
          <p:spPr>
            <a:xfrm>
              <a:off x="609600" y="3990975"/>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9" name="TextBox 19"/>
            <p:cNvSpPr txBox="1"/>
            <p:nvPr/>
          </p:nvSpPr>
          <p:spPr>
            <a:xfrm>
              <a:off x="598932" y="4175125"/>
              <a:ext cx="1900238"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正常空间 + IoU</a:t>
              </a:r>
            </a:p>
          </p:txBody>
        </p:sp>
        <p:sp>
          <p:nvSpPr>
            <p:cNvPr id="20" name="TextBox 20"/>
            <p:cNvSpPr txBox="1"/>
            <p:nvPr/>
          </p:nvSpPr>
          <p:spPr>
            <a:xfrm>
              <a:off x="3084957" y="4175125"/>
              <a:ext cx="322101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仅把 GT 项换为 soft-IoU</a:t>
              </a:r>
            </a:p>
          </p:txBody>
        </p:sp>
        <p:sp>
          <p:nvSpPr>
            <p:cNvPr id="21" name="TextBox 21"/>
            <p:cNvSpPr txBox="1"/>
            <p:nvPr/>
          </p:nvSpPr>
          <p:spPr>
            <a:xfrm>
              <a:off x="7809357" y="4175125"/>
              <a:ext cx="228295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换损失是否更有效</a:t>
              </a:r>
            </a:p>
          </p:txBody>
        </p:sp>
        <p:sp>
          <p:nvSpPr>
            <p:cNvPr id="22" name="Line 22"/>
            <p:cNvSpPr/>
            <p:nvPr/>
          </p:nvSpPr>
          <p:spPr>
            <a:xfrm>
              <a:off x="609600" y="46482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23" name="TextBox 23"/>
            <p:cNvSpPr txBox="1"/>
            <p:nvPr/>
          </p:nvSpPr>
          <p:spPr>
            <a:xfrm>
              <a:off x="598932" y="4832350"/>
              <a:ext cx="1717548" cy="410718"/>
            </a:xfrm>
            <a:prstGeom prst="rect">
              <a:avLst/>
            </a:prstGeom>
            <a:noFill/>
            <a:ln>
              <a:noFill/>
            </a:ln>
          </p:spPr>
          <p:txBody>
            <a:bodyPr wrap="none" lIns="0" tIns="0" rIns="0" bIns="0" anchor="t" anchorCtr="0">
              <a:spAutoFit/>
            </a:bodyPr>
            <a:lstStyle/>
            <a:p>
              <a:pPr algn="l"/>
              <a:r>
                <a:rPr lang="zh-CN" sz="2100" b="1" dirty="0">
                  <a:solidFill>
                    <a:schemeClr val="accent2"/>
                  </a:solidFill>
                  <a:latin typeface="+mn-lt"/>
                  <a:ea typeface="+mn-ea"/>
                  <a:cs typeface="+mn-cs"/>
                </a:rPr>
                <a:t>固定面积选择</a:t>
              </a:r>
            </a:p>
          </p:txBody>
        </p:sp>
        <p:sp>
          <p:nvSpPr>
            <p:cNvPr id="24" name="TextBox 24"/>
            <p:cNvSpPr txBox="1"/>
            <p:nvPr/>
          </p:nvSpPr>
          <p:spPr>
            <a:xfrm>
              <a:off x="3084957" y="4832350"/>
              <a:ext cx="3851948"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同 checkpoint，仅大掩码应用</a:t>
              </a:r>
            </a:p>
          </p:txBody>
        </p:sp>
        <p:sp>
          <p:nvSpPr>
            <p:cNvPr id="25" name="TextBox 25"/>
            <p:cNvSpPr txBox="1"/>
            <p:nvPr/>
          </p:nvSpPr>
          <p:spPr>
            <a:xfrm>
              <a:off x="7809357" y="4832350"/>
              <a:ext cx="228295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能否减少修正损伤</a:t>
              </a:r>
            </a:p>
          </p:txBody>
        </p:sp>
      </p:grpSp>
      <p:grpSp>
        <p:nvGrpSpPr>
          <p:cNvPr id="29" name="training-details"/>
          <p:cNvGrpSpPr/>
          <p:nvPr/>
        </p:nvGrpSpPr>
        <p:grpSpPr>
          <a:xfrm>
            <a:off x="601218" y="5530850"/>
            <a:ext cx="8601818" cy="665607"/>
            <a:chOff x="601218" y="5530850"/>
            <a:chExt cx="8601818" cy="665607"/>
          </a:xfrm>
        </p:grpSpPr>
        <p:sp>
          <p:nvSpPr>
            <p:cNvPr id="27" name="TextBox 27"/>
            <p:cNvSpPr txBox="1"/>
            <p:nvPr/>
          </p:nvSpPr>
          <p:spPr>
            <a:xfrm>
              <a:off x="601218" y="5530850"/>
              <a:ext cx="8539917"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训练：AdamW，学习率 0.001，有效 batch=4，固定最后一轮；基线保持项权重 0.1。</a:t>
              </a:r>
            </a:p>
          </p:txBody>
        </p:sp>
        <p:sp>
          <p:nvSpPr>
            <p:cNvPr id="28" name="TextBox 28"/>
            <p:cNvSpPr txBox="1"/>
            <p:nvPr/>
          </p:nvSpPr>
          <p:spPr>
            <a:xfrm>
              <a:off x="601218" y="5873750"/>
              <a:ext cx="8601818"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面积选择使用修正前原图掩码面积 ≥ 96²，新增训练为 0；保留完整输出和原评价分母。</a:t>
              </a:r>
            </a:p>
          </p:txBody>
        </p:sp>
      </p:grpSp>
      <p:grpSp>
        <p:nvGrpSpPr>
          <p:cNvPr id="32" name="footer"/>
          <p:cNvGrpSpPr/>
          <p:nvPr/>
        </p:nvGrpSpPr>
        <p:grpSpPr>
          <a:xfrm>
            <a:off x="603504" y="6410325"/>
            <a:ext cx="10984992" cy="234696"/>
            <a:chOff x="603504" y="6410325"/>
            <a:chExt cx="10984992" cy="234696"/>
          </a:xfrm>
        </p:grpSpPr>
        <p:sp>
          <p:nvSpPr>
            <p:cNvPr id="30" name="TextBox 30"/>
            <p:cNvSpPr txBox="1"/>
            <p:nvPr/>
          </p:nvSpPr>
          <p:spPr>
            <a:xfrm>
              <a:off x="603504" y="6410325"/>
              <a:ext cx="6417564"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[E2/E3/E5] 开发目标 T=655；整体固定配对=2,925；面积策略由已观察开发结果选定。</a:t>
              </a:r>
            </a:p>
          </p:txBody>
        </p:sp>
        <p:sp>
          <p:nvSpPr>
            <p:cNvPr id="31" name="TextBox 31"/>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11 / 22</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6492240" cy="964565"/>
            <a:chOff x="594360" y="415925"/>
            <a:chExt cx="6492240" cy="964565"/>
          </a:xfrm>
        </p:grpSpPr>
        <p:sp>
          <p:nvSpPr>
            <p:cNvPr id="2" name="TextBox 2"/>
            <p:cNvSpPr txBox="1"/>
            <p:nvPr/>
          </p:nvSpPr>
          <p:spPr>
            <a:xfrm>
              <a:off x="601218" y="415925"/>
              <a:ext cx="2138039" cy="322707"/>
            </a:xfrm>
            <a:prstGeom prst="rect">
              <a:avLst/>
            </a:prstGeom>
            <a:noFill/>
            <a:ln>
              <a:noFill/>
            </a:ln>
          </p:spPr>
          <p:txBody>
            <a:bodyPr wrap="none" lIns="0" tIns="0" rIns="0" bIns="0" anchor="t" anchorCtr="0">
              <a:spAutoFit/>
            </a:bodyPr>
            <a:lstStyle/>
            <a:p>
              <a:pPr algn="l"/>
              <a:r>
                <a:rPr lang="zh-CN" sz="1650" dirty="0">
                  <a:solidFill>
                    <a:srgbClr val="315E9D"/>
                  </a:solidFill>
                  <a:latin typeface="+mn-lt"/>
                  <a:ea typeface="+mn-ea"/>
                  <a:cs typeface="+mn-cs"/>
                </a:rPr>
                <a:t>02 研究方法 · 模块一</a:t>
              </a:r>
            </a:p>
          </p:txBody>
        </p:sp>
        <p:sp>
          <p:nvSpPr>
            <p:cNvPr id="3" name="TextBox 3"/>
            <p:cNvSpPr txBox="1"/>
            <p:nvPr/>
          </p:nvSpPr>
          <p:spPr>
            <a:xfrm>
              <a:off x="594360" y="793750"/>
              <a:ext cx="649224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无条件自动修正尚未兼顾收益与保护</a:t>
              </a:r>
            </a:p>
          </p:txBody>
        </p:sp>
      </p:grpSp>
      <p:grpSp>
        <p:nvGrpSpPr>
          <p:cNvPr id="6" name="training-setup"/>
          <p:cNvGrpSpPr/>
          <p:nvPr/>
        </p:nvGrpSpPr>
        <p:grpSpPr>
          <a:xfrm>
            <a:off x="601218" y="1654175"/>
            <a:ext cx="9390355" cy="322707"/>
            <a:chOff x="601218" y="1654175"/>
            <a:chExt cx="9390355" cy="322707"/>
          </a:xfrm>
        </p:grpSpPr>
        <p:sp>
          <p:nvSpPr>
            <p:cNvPr id="5" name="TextBox 5"/>
            <p:cNvSpPr txBox="1"/>
            <p:nvPr/>
          </p:nvSpPr>
          <p:spPr>
            <a:xfrm>
              <a:off x="601218" y="1654175"/>
              <a:ext cx="9390355"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冻结基础模型，只训练轻量系数修正器；同 2,000 张训练图、3 轮，比较空间信息与损失函数。</a:t>
              </a:r>
            </a:p>
          </p:txBody>
        </p:sp>
      </p:grpSp>
      <p:grpSp>
        <p:nvGrpSpPr>
          <p:cNvPr id="34" name="pilot-effects"/>
          <p:cNvGrpSpPr/>
          <p:nvPr/>
        </p:nvGrpSpPr>
        <p:grpSpPr>
          <a:xfrm>
            <a:off x="598932" y="2120900"/>
            <a:ext cx="10500588" cy="2884932"/>
            <a:chOff x="598932" y="2120900"/>
            <a:chExt cx="10500588" cy="2884932"/>
          </a:xfrm>
        </p:grpSpPr>
        <p:grpSp>
          <p:nvGrpSpPr>
            <p:cNvPr id="16" name="pilot-effects-chartArea"/>
            <p:cNvGrpSpPr/>
            <p:nvPr/>
          </p:nvGrpSpPr>
          <p:grpSpPr>
            <a:xfrm>
              <a:off x="4000500" y="2257425"/>
              <a:ext cx="7048500" cy="2085975"/>
              <a:chOff x="4000500" y="2257425"/>
              <a:chExt cx="7048500" cy="2085975"/>
            </a:xfrm>
          </p:grpSpPr>
          <p:sp>
            <p:nvSpPr>
              <p:cNvPr id="7" name="Line 7"/>
              <p:cNvSpPr/>
              <p:nvPr/>
            </p:nvSpPr>
            <p:spPr>
              <a:xfrm>
                <a:off x="8699497" y="2257425"/>
                <a:ext cx="9525" cy="2076450"/>
              </a:xfrm>
              <a:custGeom>
                <a:avLst/>
                <a:gdLst/>
                <a:ahLst/>
                <a:cxnLst/>
                <a:rect l="l" t="t" r="r" b="b"/>
                <a:pathLst>
                  <a:path w="9525" h="2076450">
                    <a:moveTo>
                      <a:pt x="0" y="0"/>
                    </a:moveTo>
                    <a:lnTo>
                      <a:pt x="0" y="2076450"/>
                    </a:lnTo>
                  </a:path>
                </a:pathLst>
              </a:custGeom>
              <a:noFill/>
              <a:ln w="9525">
                <a:solidFill>
                  <a:srgbClr val="596B80"/>
                </a:solidFill>
                <a:custDash>
                  <a:ds d="500000" sp="500000"/>
                </a:custDash>
              </a:ln>
            </p:spPr>
          </p:sp>
          <p:sp>
            <p:nvSpPr>
              <p:cNvPr id="8" name="Line 8"/>
              <p:cNvSpPr/>
              <p:nvPr/>
            </p:nvSpPr>
            <p:spPr>
              <a:xfrm>
                <a:off x="4000500" y="4333875"/>
                <a:ext cx="7048500" cy="9525"/>
              </a:xfrm>
              <a:custGeom>
                <a:avLst/>
                <a:gdLst/>
                <a:ahLst/>
                <a:cxnLst/>
                <a:rect l="l" t="t" r="r" b="b"/>
                <a:pathLst>
                  <a:path w="7048500" h="9525">
                    <a:moveTo>
                      <a:pt x="0" y="0"/>
                    </a:moveTo>
                    <a:lnTo>
                      <a:pt x="7048500" y="0"/>
                    </a:lnTo>
                  </a:path>
                </a:pathLst>
              </a:custGeom>
              <a:noFill/>
              <a:ln w="9525">
                <a:solidFill>
                  <a:srgbClr val="596B80"/>
                </a:solidFill>
              </a:ln>
            </p:spPr>
          </p:sp>
          <p:grpSp>
            <p:nvGrpSpPr>
              <p:cNvPr id="12" name="Group 12"/>
              <p:cNvGrpSpPr/>
              <p:nvPr/>
            </p:nvGrpSpPr>
            <p:grpSpPr>
              <a:xfrm>
                <a:off x="5135937" y="2438400"/>
                <a:ext cx="5489296" cy="1676400"/>
                <a:chOff x="5135937" y="2438400"/>
                <a:chExt cx="5489296" cy="1676400"/>
              </a:xfrm>
            </p:grpSpPr>
            <p:sp>
              <p:nvSpPr>
                <p:cNvPr id="9" name="Freeform 9"/>
                <p:cNvSpPr/>
                <p:nvPr/>
              </p:nvSpPr>
              <p:spPr>
                <a:xfrm>
                  <a:off x="5135937" y="2438400"/>
                  <a:ext cx="2518181" cy="152400"/>
                </a:xfrm>
                <a:custGeom>
                  <a:avLst/>
                  <a:gdLst/>
                  <a:ahLst/>
                  <a:cxnLst/>
                  <a:rect l="l" t="t" r="r" b="b"/>
                  <a:pathLst>
                    <a:path w="2518181" h="152400">
                      <a:moveTo>
                        <a:pt x="0" y="76200"/>
                      </a:moveTo>
                      <a:lnTo>
                        <a:pt x="2518181" y="76200"/>
                      </a:lnTo>
                      <a:moveTo>
                        <a:pt x="0" y="0"/>
                      </a:moveTo>
                      <a:lnTo>
                        <a:pt x="0" y="152400"/>
                      </a:lnTo>
                      <a:moveTo>
                        <a:pt x="2518181" y="0"/>
                      </a:moveTo>
                      <a:lnTo>
                        <a:pt x="2518181" y="152400"/>
                      </a:lnTo>
                    </a:path>
                  </a:pathLst>
                </a:custGeom>
                <a:noFill/>
                <a:ln w="38100">
                  <a:solidFill>
                    <a:srgbClr val="596B80"/>
                  </a:solidFill>
                </a:ln>
              </p:spPr>
            </p:sp>
            <p:sp>
              <p:nvSpPr>
                <p:cNvPr id="10" name="Freeform 10"/>
                <p:cNvSpPr/>
                <p:nvPr/>
              </p:nvSpPr>
              <p:spPr>
                <a:xfrm>
                  <a:off x="6337144" y="3200400"/>
                  <a:ext cx="2375802" cy="152400"/>
                </a:xfrm>
                <a:custGeom>
                  <a:avLst/>
                  <a:gdLst/>
                  <a:ahLst/>
                  <a:cxnLst/>
                  <a:rect l="l" t="t" r="r" b="b"/>
                  <a:pathLst>
                    <a:path w="2375802" h="152400">
                      <a:moveTo>
                        <a:pt x="0" y="76200"/>
                      </a:moveTo>
                      <a:lnTo>
                        <a:pt x="2375802" y="76200"/>
                      </a:lnTo>
                      <a:moveTo>
                        <a:pt x="0" y="0"/>
                      </a:moveTo>
                      <a:lnTo>
                        <a:pt x="0" y="152400"/>
                      </a:lnTo>
                      <a:moveTo>
                        <a:pt x="2375802" y="0"/>
                      </a:moveTo>
                      <a:lnTo>
                        <a:pt x="2375802" y="152400"/>
                      </a:lnTo>
                    </a:path>
                  </a:pathLst>
                </a:custGeom>
                <a:noFill/>
                <a:ln w="38100">
                  <a:solidFill>
                    <a:srgbClr val="315E9D"/>
                  </a:solidFill>
                </a:ln>
              </p:spPr>
            </p:sp>
            <p:sp>
              <p:nvSpPr>
                <p:cNvPr id="11" name="Freeform 11"/>
                <p:cNvSpPr/>
                <p:nvPr/>
              </p:nvSpPr>
              <p:spPr>
                <a:xfrm>
                  <a:off x="8550707" y="3962400"/>
                  <a:ext cx="2074526" cy="152400"/>
                </a:xfrm>
                <a:custGeom>
                  <a:avLst/>
                  <a:gdLst/>
                  <a:ahLst/>
                  <a:cxnLst/>
                  <a:rect l="l" t="t" r="r" b="b"/>
                  <a:pathLst>
                    <a:path w="2074526" h="152400">
                      <a:moveTo>
                        <a:pt x="0" y="76200"/>
                      </a:moveTo>
                      <a:lnTo>
                        <a:pt x="2074526" y="76200"/>
                      </a:lnTo>
                      <a:moveTo>
                        <a:pt x="0" y="0"/>
                      </a:moveTo>
                      <a:lnTo>
                        <a:pt x="0" y="152400"/>
                      </a:lnTo>
                      <a:moveTo>
                        <a:pt x="2074526" y="0"/>
                      </a:moveTo>
                      <a:lnTo>
                        <a:pt x="2074526" y="152400"/>
                      </a:lnTo>
                    </a:path>
                  </a:pathLst>
                </a:custGeom>
                <a:noFill/>
                <a:ln w="38100">
                  <a:solidFill>
                    <a:schemeClr val="accent2"/>
                  </a:solidFill>
                </a:ln>
              </p:spPr>
            </p:sp>
          </p:grpSp>
          <p:sp>
            <p:nvSpPr>
              <p:cNvPr id="13" name="Ellipse 13"/>
              <p:cNvSpPr/>
              <p:nvPr/>
            </p:nvSpPr>
            <p:spPr>
              <a:xfrm>
                <a:off x="6365767" y="2447925"/>
                <a:ext cx="133350" cy="133350"/>
              </a:xfrm>
              <a:prstGeom prst="ellipse">
                <a:avLst/>
              </a:prstGeom>
              <a:solidFill>
                <a:srgbClr val="596B80"/>
              </a:solidFill>
              <a:ln>
                <a:noFill/>
              </a:ln>
            </p:spPr>
          </p:sp>
          <p:sp>
            <p:nvSpPr>
              <p:cNvPr id="14" name="Ellipse 14"/>
              <p:cNvSpPr/>
              <p:nvPr/>
            </p:nvSpPr>
            <p:spPr>
              <a:xfrm>
                <a:off x="7463209" y="3209925"/>
                <a:ext cx="133350" cy="133350"/>
              </a:xfrm>
              <a:prstGeom prst="ellipse">
                <a:avLst/>
              </a:prstGeom>
              <a:solidFill>
                <a:srgbClr val="315E9D"/>
              </a:solidFill>
              <a:ln>
                <a:noFill/>
              </a:ln>
            </p:spPr>
          </p:sp>
          <p:sp>
            <p:nvSpPr>
              <p:cNvPr id="15" name="Ellipse 15"/>
              <p:cNvSpPr/>
              <p:nvPr/>
            </p:nvSpPr>
            <p:spPr>
              <a:xfrm>
                <a:off x="9431531" y="3971925"/>
                <a:ext cx="133350" cy="133350"/>
              </a:xfrm>
              <a:prstGeom prst="ellipse">
                <a:avLst/>
              </a:prstGeom>
              <a:solidFill>
                <a:schemeClr val="accent2"/>
              </a:solidFill>
              <a:ln>
                <a:noFill/>
              </a:ln>
            </p:spPr>
          </p:sp>
        </p:grpSp>
        <p:grpSp>
          <p:nvGrpSpPr>
            <p:cNvPr id="20" name="Group 20"/>
            <p:cNvGrpSpPr/>
            <p:nvPr/>
          </p:nvGrpSpPr>
          <p:grpSpPr>
            <a:xfrm>
              <a:off x="598932" y="2346325"/>
              <a:ext cx="2909735" cy="1934718"/>
              <a:chOff x="598932" y="2346325"/>
              <a:chExt cx="2909735" cy="1934718"/>
            </a:xfrm>
          </p:grpSpPr>
          <p:sp>
            <p:nvSpPr>
              <p:cNvPr id="17" name="TextBox 17"/>
              <p:cNvSpPr txBox="1"/>
              <p:nvPr/>
            </p:nvSpPr>
            <p:spPr>
              <a:xfrm>
                <a:off x="598932" y="2346325"/>
                <a:ext cx="2210410"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空间打乱（BCE）</a:t>
                </a:r>
              </a:p>
            </p:txBody>
          </p:sp>
          <p:sp>
            <p:nvSpPr>
              <p:cNvPr id="18" name="TextBox 18"/>
              <p:cNvSpPr txBox="1"/>
              <p:nvPr/>
            </p:nvSpPr>
            <p:spPr>
              <a:xfrm>
                <a:off x="598932" y="3108325"/>
                <a:ext cx="2210410"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保留空间（BCE）</a:t>
                </a:r>
              </a:p>
            </p:txBody>
          </p:sp>
          <p:sp>
            <p:nvSpPr>
              <p:cNvPr id="19" name="TextBox 19"/>
              <p:cNvSpPr txBox="1"/>
              <p:nvPr/>
            </p:nvSpPr>
            <p:spPr>
              <a:xfrm>
                <a:off x="598932" y="3870325"/>
                <a:ext cx="2909735"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保留空间（soft-IoU）</a:t>
                </a:r>
              </a:p>
            </p:txBody>
          </p:sp>
        </p:grpSp>
        <p:grpSp>
          <p:nvGrpSpPr>
            <p:cNvPr id="24" name="Group 24"/>
            <p:cNvGrpSpPr/>
            <p:nvPr/>
          </p:nvGrpSpPr>
          <p:grpSpPr>
            <a:xfrm>
              <a:off x="6039232" y="2120900"/>
              <a:ext cx="3852184" cy="1846707"/>
              <a:chOff x="6039232" y="2120900"/>
              <a:chExt cx="3852184" cy="1846707"/>
            </a:xfrm>
          </p:grpSpPr>
          <p:sp>
            <p:nvSpPr>
              <p:cNvPr id="21" name="TextBox 21"/>
              <p:cNvSpPr txBox="1"/>
              <p:nvPr/>
            </p:nvSpPr>
            <p:spPr>
              <a:xfrm>
                <a:off x="6039232" y="2120900"/>
                <a:ext cx="786420" cy="322707"/>
              </a:xfrm>
              <a:prstGeom prst="rect">
                <a:avLst/>
              </a:prstGeom>
              <a:noFill/>
              <a:ln>
                <a:noFill/>
              </a:ln>
            </p:spPr>
            <p:txBody>
              <a:bodyPr wrap="none" lIns="0" tIns="0" rIns="0" bIns="0" anchor="t" anchorCtr="0">
                <a:spAutoFit/>
              </a:bodyPr>
              <a:lstStyle/>
              <a:p>
                <a:pPr algn="ctr"/>
                <a:r>
                  <a:rPr lang="zh-CN" sz="1650" b="1" dirty="0">
                    <a:solidFill>
                      <a:schemeClr val="accent5"/>
                    </a:solidFill>
                    <a:latin typeface="+mn-lt"/>
                    <a:ea typeface="+mn-ea"/>
                    <a:cs typeface="+mn-cs"/>
                  </a:rPr>
                  <a:t>−1.930</a:t>
                </a:r>
              </a:p>
            </p:txBody>
          </p:sp>
          <p:sp>
            <p:nvSpPr>
              <p:cNvPr id="22" name="TextBox 22"/>
              <p:cNvSpPr txBox="1"/>
              <p:nvPr/>
            </p:nvSpPr>
            <p:spPr>
              <a:xfrm>
                <a:off x="7136674" y="2882900"/>
                <a:ext cx="786420" cy="322707"/>
              </a:xfrm>
              <a:prstGeom prst="rect">
                <a:avLst/>
              </a:prstGeom>
              <a:noFill/>
              <a:ln>
                <a:noFill/>
              </a:ln>
            </p:spPr>
            <p:txBody>
              <a:bodyPr wrap="none" lIns="0" tIns="0" rIns="0" bIns="0" anchor="t" anchorCtr="0">
                <a:spAutoFit/>
              </a:bodyPr>
              <a:lstStyle/>
              <a:p>
                <a:pPr algn="ctr"/>
                <a:r>
                  <a:rPr lang="zh-CN" sz="1650" b="1" dirty="0">
                    <a:solidFill>
                      <a:srgbClr val="315E9D"/>
                    </a:solidFill>
                    <a:latin typeface="+mn-lt"/>
                    <a:ea typeface="+mn-ea"/>
                    <a:cs typeface="+mn-cs"/>
                  </a:rPr>
                  <a:t>−0.996</a:t>
                </a:r>
              </a:p>
            </p:txBody>
          </p:sp>
          <p:sp>
            <p:nvSpPr>
              <p:cNvPr id="23" name="TextBox 23"/>
              <p:cNvSpPr txBox="1"/>
              <p:nvPr/>
            </p:nvSpPr>
            <p:spPr>
              <a:xfrm>
                <a:off x="9104996" y="3644900"/>
                <a:ext cx="786420" cy="322707"/>
              </a:xfrm>
              <a:prstGeom prst="rect">
                <a:avLst/>
              </a:prstGeom>
              <a:noFill/>
              <a:ln>
                <a:noFill/>
              </a:ln>
            </p:spPr>
            <p:txBody>
              <a:bodyPr wrap="none" lIns="0" tIns="0" rIns="0" bIns="0" anchor="t" anchorCtr="0">
                <a:spAutoFit/>
              </a:bodyPr>
              <a:lstStyle/>
              <a:p>
                <a:pPr algn="ctr"/>
                <a:r>
                  <a:rPr lang="zh-CN" sz="1650" b="1" dirty="0">
                    <a:solidFill>
                      <a:schemeClr val="accent2"/>
                    </a:solidFill>
                    <a:latin typeface="+mn-lt"/>
                    <a:ea typeface="+mn-ea"/>
                    <a:cs typeface="+mn-cs"/>
                  </a:rPr>
                  <a:t>+0.680</a:t>
                </a:r>
              </a:p>
            </p:txBody>
          </p:sp>
        </p:grpSp>
        <p:grpSp>
          <p:nvGrpSpPr>
            <p:cNvPr id="32" name="Group 32"/>
            <p:cNvGrpSpPr/>
            <p:nvPr/>
          </p:nvGrpSpPr>
          <p:grpSpPr>
            <a:xfrm>
              <a:off x="3905555" y="4419600"/>
              <a:ext cx="7193965" cy="234696"/>
              <a:chOff x="3905555" y="4419600"/>
              <a:chExt cx="7193965" cy="234696"/>
            </a:xfrm>
          </p:grpSpPr>
          <p:sp>
            <p:nvSpPr>
              <p:cNvPr id="25" name="TextBox 25"/>
              <p:cNvSpPr txBox="1"/>
              <p:nvPr/>
            </p:nvSpPr>
            <p:spPr>
              <a:xfrm>
                <a:off x="3905555" y="4419600"/>
                <a:ext cx="18989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−4</a:t>
                </a:r>
              </a:p>
            </p:txBody>
          </p:sp>
          <p:sp>
            <p:nvSpPr>
              <p:cNvPr id="26" name="TextBox 26"/>
              <p:cNvSpPr txBox="1"/>
              <p:nvPr/>
            </p:nvSpPr>
            <p:spPr>
              <a:xfrm>
                <a:off x="5080302" y="4419600"/>
                <a:ext cx="18989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−3</a:t>
                </a:r>
              </a:p>
            </p:txBody>
          </p:sp>
          <p:sp>
            <p:nvSpPr>
              <p:cNvPr id="27" name="TextBox 27"/>
              <p:cNvSpPr txBox="1"/>
              <p:nvPr/>
            </p:nvSpPr>
            <p:spPr>
              <a:xfrm>
                <a:off x="6255058" y="4419600"/>
                <a:ext cx="18989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−2</a:t>
                </a:r>
              </a:p>
            </p:txBody>
          </p:sp>
          <p:sp>
            <p:nvSpPr>
              <p:cNvPr id="28" name="TextBox 28"/>
              <p:cNvSpPr txBox="1"/>
              <p:nvPr/>
            </p:nvSpPr>
            <p:spPr>
              <a:xfrm>
                <a:off x="7429805" y="4419600"/>
                <a:ext cx="18989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−1</a:t>
                </a:r>
              </a:p>
            </p:txBody>
          </p:sp>
          <p:sp>
            <p:nvSpPr>
              <p:cNvPr id="29" name="TextBox 29"/>
              <p:cNvSpPr txBox="1"/>
              <p:nvPr/>
            </p:nvSpPr>
            <p:spPr>
              <a:xfrm>
                <a:off x="8648976" y="4419600"/>
                <a:ext cx="101041"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0</a:t>
                </a:r>
              </a:p>
            </p:txBody>
          </p:sp>
          <p:sp>
            <p:nvSpPr>
              <p:cNvPr id="30" name="TextBox 30"/>
              <p:cNvSpPr txBox="1"/>
              <p:nvPr/>
            </p:nvSpPr>
            <p:spPr>
              <a:xfrm>
                <a:off x="9823733" y="4419600"/>
                <a:ext cx="101041"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1</a:t>
                </a:r>
              </a:p>
            </p:txBody>
          </p:sp>
          <p:sp>
            <p:nvSpPr>
              <p:cNvPr id="31" name="TextBox 31"/>
              <p:cNvSpPr txBox="1"/>
              <p:nvPr/>
            </p:nvSpPr>
            <p:spPr>
              <a:xfrm>
                <a:off x="10998479" y="4419600"/>
                <a:ext cx="101041"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2</a:t>
                </a:r>
              </a:p>
            </p:txBody>
          </p:sp>
        </p:grpSp>
        <p:sp>
          <p:nvSpPr>
            <p:cNvPr id="33" name="TextBox 33"/>
            <p:cNvSpPr txBox="1"/>
            <p:nvPr/>
          </p:nvSpPr>
          <p:spPr>
            <a:xfrm>
              <a:off x="3992118" y="4683125"/>
              <a:ext cx="4732792"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目标组 ΔMaskIoU（百分点），横线为 95% 区间</a:t>
              </a:r>
            </a:p>
          </p:txBody>
        </p:sp>
      </p:grpSp>
      <p:grpSp>
        <p:nvGrpSpPr>
          <p:cNvPr id="37" name="acceptance-finding"/>
          <p:cNvGrpSpPr/>
          <p:nvPr/>
        </p:nvGrpSpPr>
        <p:grpSpPr>
          <a:xfrm>
            <a:off x="598932" y="5299075"/>
            <a:ext cx="7852181" cy="858393"/>
            <a:chOff x="598932" y="5299075"/>
            <a:chExt cx="7852181" cy="858393"/>
          </a:xfrm>
        </p:grpSpPr>
        <p:sp>
          <p:nvSpPr>
            <p:cNvPr id="35" name="TextBox 35"/>
            <p:cNvSpPr txBox="1"/>
            <p:nvPr/>
          </p:nvSpPr>
          <p:spPr>
            <a:xfrm>
              <a:off x="598932" y="5299075"/>
              <a:ext cx="7753369"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soft-IoU：目标均值 +0.680 pp，但总体仍下降 0.262 pp。</a:t>
              </a:r>
            </a:p>
          </p:txBody>
        </p:sp>
        <p:sp>
          <p:nvSpPr>
            <p:cNvPr id="36" name="TextBox 36"/>
            <p:cNvSpPr txBox="1"/>
            <p:nvPr/>
          </p:nvSpPr>
          <p:spPr>
            <a:xfrm>
              <a:off x="598932" y="5746750"/>
              <a:ext cx="7852181" cy="410718"/>
            </a:xfrm>
            <a:prstGeom prst="rect">
              <a:avLst/>
            </a:prstGeom>
            <a:noFill/>
            <a:ln>
              <a:noFill/>
            </a:ln>
          </p:spPr>
          <p:txBody>
            <a:bodyPr wrap="none" lIns="0" tIns="0" rIns="0" bIns="0" anchor="t" anchorCtr="0">
              <a:spAutoFit/>
            </a:bodyPr>
            <a:lstStyle/>
            <a:p>
              <a:pPr algn="l"/>
              <a:r>
                <a:rPr lang="zh-CN" sz="2100" dirty="0">
                  <a:solidFill>
                    <a:schemeClr val="accent3"/>
                  </a:solidFill>
                  <a:latin typeface="+mn-lt"/>
                  <a:ea typeface="+mn-ea"/>
                  <a:cs typeface="+mn-cs"/>
                </a:rPr>
                <a:t>原成功实例损伤 53 / 1,024，损伤上界 6.43%（要求 ≤1%）。</a:t>
              </a:r>
            </a:p>
          </p:txBody>
        </p:sp>
      </p:grpSp>
      <p:grpSp>
        <p:nvGrpSpPr>
          <p:cNvPr id="40" name="footer"/>
          <p:cNvGrpSpPr/>
          <p:nvPr/>
        </p:nvGrpSpPr>
        <p:grpSpPr>
          <a:xfrm>
            <a:off x="603504" y="6410325"/>
            <a:ext cx="10984992" cy="234696"/>
            <a:chOff x="603504" y="6410325"/>
            <a:chExt cx="10984992" cy="234696"/>
          </a:xfrm>
        </p:grpSpPr>
        <p:sp>
          <p:nvSpPr>
            <p:cNvPr id="38" name="TextBox 38"/>
            <p:cNvSpPr txBox="1"/>
            <p:nvPr/>
          </p:nvSpPr>
          <p:spPr>
            <a:xfrm>
              <a:off x="603504" y="6410325"/>
              <a:ext cx="6289396"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[E2/E3] 同 512 张开发图，目标 T=655；按图平均；三种配置均未通过全部验收门槛。</a:t>
              </a:r>
            </a:p>
          </p:txBody>
        </p:sp>
        <p:sp>
          <p:nvSpPr>
            <p:cNvPr id="39" name="TextBox 39"/>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12 / 22</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4472940" cy="964565"/>
            <a:chOff x="594360" y="415925"/>
            <a:chExt cx="4472940" cy="964565"/>
          </a:xfrm>
        </p:grpSpPr>
        <p:sp>
          <p:nvSpPr>
            <p:cNvPr id="2" name="TextBox 2"/>
            <p:cNvSpPr txBox="1"/>
            <p:nvPr/>
          </p:nvSpPr>
          <p:spPr>
            <a:xfrm>
              <a:off x="601218" y="415925"/>
              <a:ext cx="2138039" cy="322707"/>
            </a:xfrm>
            <a:prstGeom prst="rect">
              <a:avLst/>
            </a:prstGeom>
            <a:noFill/>
            <a:ln>
              <a:noFill/>
            </a:ln>
          </p:spPr>
          <p:txBody>
            <a:bodyPr wrap="none" lIns="0" tIns="0" rIns="0" bIns="0" anchor="t" anchorCtr="0">
              <a:spAutoFit/>
            </a:bodyPr>
            <a:lstStyle/>
            <a:p>
              <a:pPr algn="l"/>
              <a:r>
                <a:rPr lang="zh-CN" sz="1650" dirty="0">
                  <a:solidFill>
                    <a:schemeClr val="accent3"/>
                  </a:solidFill>
                  <a:latin typeface="+mn-lt"/>
                  <a:ea typeface="+mn-ea"/>
                  <a:cs typeface="+mn-cs"/>
                </a:rPr>
                <a:t>02 研究方法 · 模块一</a:t>
              </a:r>
            </a:p>
          </p:txBody>
        </p:sp>
        <p:sp>
          <p:nvSpPr>
            <p:cNvPr id="3" name="TextBox 3"/>
            <p:cNvSpPr txBox="1"/>
            <p:nvPr/>
          </p:nvSpPr>
          <p:spPr>
            <a:xfrm>
              <a:off x="594360" y="793750"/>
              <a:ext cx="447294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小掩码的修正损伤更集中</a:t>
              </a:r>
            </a:p>
          </p:txBody>
        </p:sp>
      </p:grpSp>
      <p:grpSp>
        <p:nvGrpSpPr>
          <p:cNvPr id="6" name="stratification-setup"/>
          <p:cNvGrpSpPr/>
          <p:nvPr/>
        </p:nvGrpSpPr>
        <p:grpSpPr>
          <a:xfrm>
            <a:off x="601218" y="1654175"/>
            <a:ext cx="6641987" cy="322707"/>
            <a:chOff x="601218" y="1654175"/>
            <a:chExt cx="6641987" cy="322707"/>
          </a:xfrm>
        </p:grpSpPr>
        <p:sp>
          <p:nvSpPr>
            <p:cNvPr id="5" name="TextBox 5"/>
            <p:cNvSpPr txBox="1"/>
            <p:nvPr/>
          </p:nvSpPr>
          <p:spPr>
            <a:xfrm>
              <a:off x="601218" y="1654175"/>
              <a:ext cx="6641987"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复用同一 soft-IoU 修正结果，按推理时可见的原生掩码面积分组。</a:t>
              </a:r>
            </a:p>
          </p:txBody>
        </p:sp>
      </p:grpSp>
      <p:grpSp>
        <p:nvGrpSpPr>
          <p:cNvPr id="32" name="area-damage"/>
          <p:cNvGrpSpPr/>
          <p:nvPr/>
        </p:nvGrpSpPr>
        <p:grpSpPr>
          <a:xfrm>
            <a:off x="598932" y="2082800"/>
            <a:ext cx="10991850" cy="3142996"/>
            <a:chOff x="598932" y="2082800"/>
            <a:chExt cx="10991850" cy="3142996"/>
          </a:xfrm>
        </p:grpSpPr>
        <p:grpSp>
          <p:nvGrpSpPr>
            <p:cNvPr id="11" name="area-damage-chartArea"/>
            <p:cNvGrpSpPr/>
            <p:nvPr/>
          </p:nvGrpSpPr>
          <p:grpSpPr>
            <a:xfrm>
              <a:off x="2381250" y="2362200"/>
              <a:ext cx="7143750" cy="2314575"/>
              <a:chOff x="2381250" y="2362200"/>
              <a:chExt cx="7143750" cy="2314575"/>
            </a:xfrm>
          </p:grpSpPr>
          <p:sp>
            <p:nvSpPr>
              <p:cNvPr id="7" name="Line 7"/>
              <p:cNvSpPr/>
              <p:nvPr/>
            </p:nvSpPr>
            <p:spPr>
              <a:xfrm>
                <a:off x="2381250" y="4667250"/>
                <a:ext cx="7143750" cy="9525"/>
              </a:xfrm>
              <a:custGeom>
                <a:avLst/>
                <a:gdLst/>
                <a:ahLst/>
                <a:cxnLst/>
                <a:rect l="l" t="t" r="r" b="b"/>
                <a:pathLst>
                  <a:path w="7143750" h="9525">
                    <a:moveTo>
                      <a:pt x="0" y="0"/>
                    </a:moveTo>
                    <a:lnTo>
                      <a:pt x="7143750" y="0"/>
                    </a:lnTo>
                  </a:path>
                </a:pathLst>
              </a:custGeom>
              <a:noFill/>
              <a:ln w="9525">
                <a:solidFill>
                  <a:srgbClr val="596B80"/>
                </a:solidFill>
              </a:ln>
            </p:spPr>
          </p:sp>
          <p:sp>
            <p:nvSpPr>
              <p:cNvPr id="8" name="Rectangle 8"/>
              <p:cNvSpPr/>
              <p:nvPr/>
            </p:nvSpPr>
            <p:spPr>
              <a:xfrm>
                <a:off x="2381250" y="2362200"/>
                <a:ext cx="6118489" cy="323850"/>
              </a:xfrm>
              <a:prstGeom prst="rect">
                <a:avLst/>
              </a:prstGeom>
              <a:solidFill>
                <a:schemeClr val="accent3"/>
              </a:solidFill>
              <a:ln>
                <a:noFill/>
              </a:ln>
            </p:spPr>
          </p:sp>
          <p:sp>
            <p:nvSpPr>
              <p:cNvPr id="9" name="Rectangle 9"/>
              <p:cNvSpPr/>
              <p:nvPr/>
            </p:nvSpPr>
            <p:spPr>
              <a:xfrm>
                <a:off x="2381250" y="3219450"/>
                <a:ext cx="1474241" cy="323850"/>
              </a:xfrm>
              <a:prstGeom prst="rect">
                <a:avLst/>
              </a:prstGeom>
              <a:solidFill>
                <a:srgbClr val="315E9D"/>
              </a:solidFill>
              <a:ln>
                <a:noFill/>
              </a:ln>
            </p:spPr>
          </p:sp>
          <p:sp>
            <p:nvSpPr>
              <p:cNvPr id="10" name="Rectangle 10"/>
              <p:cNvSpPr/>
              <p:nvPr/>
            </p:nvSpPr>
            <p:spPr>
              <a:xfrm>
                <a:off x="2381250" y="4076700"/>
                <a:ext cx="270596" cy="323850"/>
              </a:xfrm>
              <a:prstGeom prst="rect">
                <a:avLst/>
              </a:prstGeom>
              <a:solidFill>
                <a:schemeClr val="accent2"/>
              </a:solidFill>
              <a:ln>
                <a:noFill/>
              </a:ln>
            </p:spPr>
          </p:sp>
        </p:grpSp>
        <p:grpSp>
          <p:nvGrpSpPr>
            <p:cNvPr id="15" name="Group 15"/>
            <p:cNvGrpSpPr/>
            <p:nvPr/>
          </p:nvGrpSpPr>
          <p:grpSpPr>
            <a:xfrm>
              <a:off x="598932" y="2355850"/>
              <a:ext cx="869442" cy="2125218"/>
              <a:chOff x="598932" y="2355850"/>
              <a:chExt cx="869442" cy="2125218"/>
            </a:xfrm>
          </p:grpSpPr>
          <p:sp>
            <p:nvSpPr>
              <p:cNvPr id="12" name="TextBox 12"/>
              <p:cNvSpPr txBox="1"/>
              <p:nvPr/>
            </p:nvSpPr>
            <p:spPr>
              <a:xfrm>
                <a:off x="598932" y="2355850"/>
                <a:ext cx="86944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小掩码</a:t>
                </a:r>
              </a:p>
            </p:txBody>
          </p:sp>
          <p:sp>
            <p:nvSpPr>
              <p:cNvPr id="13" name="TextBox 13"/>
              <p:cNvSpPr txBox="1"/>
              <p:nvPr/>
            </p:nvSpPr>
            <p:spPr>
              <a:xfrm>
                <a:off x="598932" y="3213100"/>
                <a:ext cx="86944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中掩码</a:t>
                </a:r>
              </a:p>
            </p:txBody>
          </p:sp>
          <p:sp>
            <p:nvSpPr>
              <p:cNvPr id="14" name="TextBox 14"/>
              <p:cNvSpPr txBox="1"/>
              <p:nvPr/>
            </p:nvSpPr>
            <p:spPr>
              <a:xfrm>
                <a:off x="598932" y="4070350"/>
                <a:ext cx="86944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大掩码</a:t>
                </a:r>
              </a:p>
            </p:txBody>
          </p:sp>
        </p:grpSp>
        <p:grpSp>
          <p:nvGrpSpPr>
            <p:cNvPr id="19" name="Group 19"/>
            <p:cNvGrpSpPr/>
            <p:nvPr/>
          </p:nvGrpSpPr>
          <p:grpSpPr>
            <a:xfrm>
              <a:off x="2791968" y="2406650"/>
              <a:ext cx="6671891" cy="2037207"/>
              <a:chOff x="2791968" y="2406650"/>
              <a:chExt cx="6671891" cy="2037207"/>
            </a:xfrm>
          </p:grpSpPr>
          <p:sp>
            <p:nvSpPr>
              <p:cNvPr id="16" name="TextBox 16"/>
              <p:cNvSpPr txBox="1"/>
              <p:nvPr/>
            </p:nvSpPr>
            <p:spPr>
              <a:xfrm>
                <a:off x="8630793" y="2406650"/>
                <a:ext cx="833066" cy="322707"/>
              </a:xfrm>
              <a:prstGeom prst="rect">
                <a:avLst/>
              </a:prstGeom>
              <a:noFill/>
              <a:ln>
                <a:noFill/>
              </a:ln>
            </p:spPr>
            <p:txBody>
              <a:bodyPr wrap="none" lIns="0" tIns="0" rIns="0" bIns="0" anchor="t" anchorCtr="0">
                <a:spAutoFit/>
              </a:bodyPr>
              <a:lstStyle/>
              <a:p>
                <a:pPr algn="l"/>
                <a:r>
                  <a:rPr lang="zh-CN" sz="1650" b="1" dirty="0">
                    <a:solidFill>
                      <a:schemeClr val="accent3"/>
                    </a:solidFill>
                    <a:latin typeface="+mn-lt"/>
                    <a:ea typeface="+mn-ea"/>
                    <a:cs typeface="+mn-cs"/>
                  </a:rPr>
                  <a:t>13.70%</a:t>
                </a:r>
              </a:p>
            </p:txBody>
          </p:sp>
          <p:sp>
            <p:nvSpPr>
              <p:cNvPr id="17" name="TextBox 17"/>
              <p:cNvSpPr txBox="1"/>
              <p:nvPr/>
            </p:nvSpPr>
            <p:spPr>
              <a:xfrm>
                <a:off x="3992118" y="3263900"/>
                <a:ext cx="704790" cy="322707"/>
              </a:xfrm>
              <a:prstGeom prst="rect">
                <a:avLst/>
              </a:prstGeom>
              <a:noFill/>
              <a:ln>
                <a:noFill/>
              </a:ln>
            </p:spPr>
            <p:txBody>
              <a:bodyPr wrap="none" lIns="0" tIns="0" rIns="0" bIns="0" anchor="t" anchorCtr="0">
                <a:spAutoFit/>
              </a:bodyPr>
              <a:lstStyle/>
              <a:p>
                <a:pPr algn="l"/>
                <a:r>
                  <a:rPr lang="zh-CN" sz="1650" b="1" dirty="0">
                    <a:solidFill>
                      <a:srgbClr val="315E9D"/>
                    </a:solidFill>
                    <a:latin typeface="+mn-lt"/>
                    <a:ea typeface="+mn-ea"/>
                    <a:cs typeface="+mn-cs"/>
                  </a:rPr>
                  <a:t>3.30%</a:t>
                </a:r>
              </a:p>
            </p:txBody>
          </p:sp>
          <p:sp>
            <p:nvSpPr>
              <p:cNvPr id="18" name="TextBox 18"/>
              <p:cNvSpPr txBox="1"/>
              <p:nvPr/>
            </p:nvSpPr>
            <p:spPr>
              <a:xfrm>
                <a:off x="2791968" y="4121150"/>
                <a:ext cx="704790" cy="322707"/>
              </a:xfrm>
              <a:prstGeom prst="rect">
                <a:avLst/>
              </a:prstGeom>
              <a:noFill/>
              <a:ln>
                <a:noFill/>
              </a:ln>
            </p:spPr>
            <p:txBody>
              <a:bodyPr wrap="none" lIns="0" tIns="0" rIns="0" bIns="0" anchor="t" anchorCtr="0">
                <a:spAutoFit/>
              </a:bodyPr>
              <a:lstStyle/>
              <a:p>
                <a:pPr algn="l"/>
                <a:r>
                  <a:rPr lang="zh-CN" sz="1650" b="1" dirty="0">
                    <a:solidFill>
                      <a:schemeClr val="accent2"/>
                    </a:solidFill>
                    <a:latin typeface="+mn-lt"/>
                    <a:ea typeface="+mn-ea"/>
                    <a:cs typeface="+mn-cs"/>
                  </a:rPr>
                  <a:t>0.61%</a:t>
                </a:r>
              </a:p>
            </p:txBody>
          </p:sp>
        </p:grpSp>
        <p:grpSp>
          <p:nvGrpSpPr>
            <p:cNvPr id="24" name="Group 24"/>
            <p:cNvGrpSpPr/>
            <p:nvPr/>
          </p:nvGrpSpPr>
          <p:grpSpPr>
            <a:xfrm>
              <a:off x="9763716" y="2082800"/>
              <a:ext cx="1827066" cy="2361057"/>
              <a:chOff x="9763716" y="2082800"/>
              <a:chExt cx="1827066" cy="2361057"/>
            </a:xfrm>
          </p:grpSpPr>
          <p:sp>
            <p:nvSpPr>
              <p:cNvPr id="20" name="TextBox 20"/>
              <p:cNvSpPr txBox="1"/>
              <p:nvPr/>
            </p:nvSpPr>
            <p:spPr>
              <a:xfrm>
                <a:off x="9763716" y="2082800"/>
                <a:ext cx="1827066" cy="322707"/>
              </a:xfrm>
              <a:prstGeom prst="rect">
                <a:avLst/>
              </a:prstGeom>
              <a:noFill/>
              <a:ln>
                <a:noFill/>
              </a:ln>
            </p:spPr>
            <p:txBody>
              <a:bodyPr wrap="none" lIns="0" tIns="0" rIns="0" bIns="0" anchor="t" anchorCtr="0">
                <a:spAutoFit/>
              </a:bodyPr>
              <a:lstStyle/>
              <a:p>
                <a:pPr algn="r"/>
                <a:r>
                  <a:rPr lang="zh-CN" sz="1650" dirty="0">
                    <a:solidFill>
                      <a:schemeClr val="accent5"/>
                    </a:solidFill>
                    <a:latin typeface="+mn-lt"/>
                    <a:ea typeface="+mn-ea"/>
                    <a:cs typeface="+mn-cs"/>
                  </a:rPr>
                  <a:t>损伤数 / 原成功数</a:t>
                </a:r>
              </a:p>
            </p:txBody>
          </p:sp>
          <p:sp>
            <p:nvSpPr>
              <p:cNvPr id="21" name="TextBox 21"/>
              <p:cNvSpPr txBox="1"/>
              <p:nvPr/>
            </p:nvSpPr>
            <p:spPr>
              <a:xfrm>
                <a:off x="10707738" y="2406650"/>
                <a:ext cx="883044" cy="322707"/>
              </a:xfrm>
              <a:prstGeom prst="rect">
                <a:avLst/>
              </a:prstGeom>
              <a:noFill/>
              <a:ln>
                <a:noFill/>
              </a:ln>
            </p:spPr>
            <p:txBody>
              <a:bodyPr wrap="none" lIns="0" tIns="0" rIns="0" bIns="0" anchor="t" anchorCtr="0">
                <a:spAutoFit/>
              </a:bodyPr>
              <a:lstStyle/>
              <a:p>
                <a:pPr algn="r"/>
                <a:r>
                  <a:rPr lang="zh-CN" sz="1650" dirty="0">
                    <a:solidFill>
                      <a:schemeClr val="accent5"/>
                    </a:solidFill>
                    <a:latin typeface="+mn-lt"/>
                    <a:ea typeface="+mn-ea"/>
                    <a:cs typeface="+mn-cs"/>
                  </a:rPr>
                  <a:t>37 / 270</a:t>
                </a:r>
              </a:p>
            </p:txBody>
          </p:sp>
          <p:sp>
            <p:nvSpPr>
              <p:cNvPr id="22" name="TextBox 22"/>
              <p:cNvSpPr txBox="1"/>
              <p:nvPr/>
            </p:nvSpPr>
            <p:spPr>
              <a:xfrm>
                <a:off x="10707738" y="3263900"/>
                <a:ext cx="883044" cy="322707"/>
              </a:xfrm>
              <a:prstGeom prst="rect">
                <a:avLst/>
              </a:prstGeom>
              <a:noFill/>
              <a:ln>
                <a:noFill/>
              </a:ln>
            </p:spPr>
            <p:txBody>
              <a:bodyPr wrap="none" lIns="0" tIns="0" rIns="0" bIns="0" anchor="t" anchorCtr="0">
                <a:spAutoFit/>
              </a:bodyPr>
              <a:lstStyle/>
              <a:p>
                <a:pPr algn="r"/>
                <a:r>
                  <a:rPr lang="zh-CN" sz="1650" dirty="0">
                    <a:solidFill>
                      <a:schemeClr val="accent5"/>
                    </a:solidFill>
                    <a:latin typeface="+mn-lt"/>
                    <a:ea typeface="+mn-ea"/>
                    <a:cs typeface="+mn-cs"/>
                  </a:rPr>
                  <a:t>14 / 424</a:t>
                </a:r>
              </a:p>
            </p:txBody>
          </p:sp>
          <p:sp>
            <p:nvSpPr>
              <p:cNvPr id="23" name="TextBox 23"/>
              <p:cNvSpPr txBox="1"/>
              <p:nvPr/>
            </p:nvSpPr>
            <p:spPr>
              <a:xfrm>
                <a:off x="10829906" y="4121150"/>
                <a:ext cx="760876" cy="322707"/>
              </a:xfrm>
              <a:prstGeom prst="rect">
                <a:avLst/>
              </a:prstGeom>
              <a:noFill/>
              <a:ln>
                <a:noFill/>
              </a:ln>
            </p:spPr>
            <p:txBody>
              <a:bodyPr wrap="none" lIns="0" tIns="0" rIns="0" bIns="0" anchor="t" anchorCtr="0">
                <a:spAutoFit/>
              </a:bodyPr>
              <a:lstStyle/>
              <a:p>
                <a:pPr algn="r"/>
                <a:r>
                  <a:rPr lang="zh-CN" sz="1650" dirty="0">
                    <a:solidFill>
                      <a:schemeClr val="accent5"/>
                    </a:solidFill>
                    <a:latin typeface="+mn-lt"/>
                    <a:ea typeface="+mn-ea"/>
                    <a:cs typeface="+mn-cs"/>
                  </a:rPr>
                  <a:t>2 / 330</a:t>
                </a:r>
              </a:p>
            </p:txBody>
          </p:sp>
        </p:grpSp>
        <p:grpSp>
          <p:nvGrpSpPr>
            <p:cNvPr id="30" name="Group 30"/>
            <p:cNvGrpSpPr/>
            <p:nvPr/>
          </p:nvGrpSpPr>
          <p:grpSpPr>
            <a:xfrm>
              <a:off x="2330729" y="4752975"/>
              <a:ext cx="7349795" cy="234696"/>
              <a:chOff x="2330729" y="4752975"/>
              <a:chExt cx="7349795" cy="234696"/>
            </a:xfrm>
          </p:grpSpPr>
          <p:sp>
            <p:nvSpPr>
              <p:cNvPr id="25" name="TextBox 25"/>
              <p:cNvSpPr txBox="1"/>
              <p:nvPr/>
            </p:nvSpPr>
            <p:spPr>
              <a:xfrm>
                <a:off x="2330729" y="4752975"/>
                <a:ext cx="101041"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0</a:t>
                </a:r>
              </a:p>
            </p:txBody>
          </p:sp>
          <p:sp>
            <p:nvSpPr>
              <p:cNvPr id="26" name="TextBox 26"/>
              <p:cNvSpPr txBox="1"/>
              <p:nvPr/>
            </p:nvSpPr>
            <p:spPr>
              <a:xfrm>
                <a:off x="4116667" y="4752975"/>
                <a:ext cx="101041"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4</a:t>
                </a:r>
              </a:p>
            </p:txBody>
          </p:sp>
          <p:sp>
            <p:nvSpPr>
              <p:cNvPr id="27" name="TextBox 27"/>
              <p:cNvSpPr txBox="1"/>
              <p:nvPr/>
            </p:nvSpPr>
            <p:spPr>
              <a:xfrm>
                <a:off x="5902604" y="4752975"/>
                <a:ext cx="101041"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8</a:t>
                </a:r>
              </a:p>
            </p:txBody>
          </p:sp>
          <p:sp>
            <p:nvSpPr>
              <p:cNvPr id="28" name="TextBox 28"/>
              <p:cNvSpPr txBox="1"/>
              <p:nvPr/>
            </p:nvSpPr>
            <p:spPr>
              <a:xfrm>
                <a:off x="7644117" y="4752975"/>
                <a:ext cx="18989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12</a:t>
                </a:r>
              </a:p>
            </p:txBody>
          </p:sp>
          <p:sp>
            <p:nvSpPr>
              <p:cNvPr id="29" name="TextBox 29"/>
              <p:cNvSpPr txBox="1"/>
              <p:nvPr/>
            </p:nvSpPr>
            <p:spPr>
              <a:xfrm>
                <a:off x="9369476" y="4752975"/>
                <a:ext cx="311048"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16%</a:t>
                </a:r>
              </a:p>
            </p:txBody>
          </p:sp>
        </p:grpSp>
        <p:sp>
          <p:nvSpPr>
            <p:cNvPr id="31" name="TextBox 31"/>
            <p:cNvSpPr txBox="1"/>
            <p:nvPr/>
          </p:nvSpPr>
          <p:spPr>
            <a:xfrm>
              <a:off x="2375154" y="4991100"/>
              <a:ext cx="3081528"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原成功实例修正后失去分割任务匹配的比例</a:t>
              </a:r>
            </a:p>
          </p:txBody>
        </p:sp>
      </p:grpSp>
      <p:grpSp>
        <p:nvGrpSpPr>
          <p:cNvPr id="35" name="stratum-finding"/>
          <p:cNvGrpSpPr/>
          <p:nvPr/>
        </p:nvGrpSpPr>
        <p:grpSpPr>
          <a:xfrm>
            <a:off x="597408" y="5394325"/>
            <a:ext cx="8045044" cy="802132"/>
            <a:chOff x="597408" y="5394325"/>
            <a:chExt cx="8045044" cy="802132"/>
          </a:xfrm>
        </p:grpSpPr>
        <p:sp>
          <p:nvSpPr>
            <p:cNvPr id="33" name="TextBox 33"/>
            <p:cNvSpPr txBox="1"/>
            <p:nvPr/>
          </p:nvSpPr>
          <p:spPr>
            <a:xfrm>
              <a:off x="597408" y="5394325"/>
              <a:ext cx="8045044"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小掩码占成功面板的 26.4%，却占损伤案例的 69.8%。</a:t>
              </a:r>
            </a:p>
          </p:txBody>
        </p:sp>
        <p:sp>
          <p:nvSpPr>
            <p:cNvPr id="34" name="TextBox 34"/>
            <p:cNvSpPr txBox="1"/>
            <p:nvPr/>
          </p:nvSpPr>
          <p:spPr>
            <a:xfrm>
              <a:off x="601218" y="5873750"/>
              <a:ext cx="6369482"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大掩码组点估计较低，仍不能据此宣布其损伤上界已经低于 1%。</a:t>
              </a:r>
            </a:p>
          </p:txBody>
        </p:sp>
      </p:grpSp>
      <p:grpSp>
        <p:nvGrpSpPr>
          <p:cNvPr id="38" name="footer"/>
          <p:cNvGrpSpPr/>
          <p:nvPr/>
        </p:nvGrpSpPr>
        <p:grpSpPr>
          <a:xfrm>
            <a:off x="603504" y="6410325"/>
            <a:ext cx="10984992" cy="234696"/>
            <a:chOff x="603504" y="6410325"/>
            <a:chExt cx="10984992" cy="234696"/>
          </a:xfrm>
        </p:grpSpPr>
        <p:sp>
          <p:nvSpPr>
            <p:cNvPr id="36" name="TextBox 36"/>
            <p:cNvSpPr txBox="1"/>
            <p:nvPr/>
          </p:nvSpPr>
          <p:spPr>
            <a:xfrm>
              <a:off x="603504" y="6410325"/>
              <a:ext cx="6819900"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[E4] 原成功面板 n=1,024；面积按原图像素：小&lt;32²，中[32²,96²)，大≥96²；描述性比例。</a:t>
              </a:r>
            </a:p>
          </p:txBody>
        </p:sp>
        <p:sp>
          <p:nvSpPr>
            <p:cNvPr id="37" name="TextBox 37"/>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13 / 22</a:t>
              </a:r>
            </a:p>
          </p:txBody>
        </p:sp>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4876800" cy="964565"/>
            <a:chOff x="594360" y="415925"/>
            <a:chExt cx="4876800" cy="964565"/>
          </a:xfrm>
        </p:grpSpPr>
        <p:sp>
          <p:nvSpPr>
            <p:cNvPr id="2" name="TextBox 2"/>
            <p:cNvSpPr txBox="1"/>
            <p:nvPr/>
          </p:nvSpPr>
          <p:spPr>
            <a:xfrm>
              <a:off x="601218" y="415925"/>
              <a:ext cx="3948341" cy="322707"/>
            </a:xfrm>
            <a:prstGeom prst="rect">
              <a:avLst/>
            </a:prstGeom>
            <a:noFill/>
            <a:ln>
              <a:noFill/>
            </a:ln>
          </p:spPr>
          <p:txBody>
            <a:bodyPr wrap="none" lIns="0" tIns="0" rIns="0" bIns="0" anchor="t" anchorCtr="0">
              <a:spAutoFit/>
            </a:bodyPr>
            <a:lstStyle/>
            <a:p>
              <a:pPr algn="l"/>
              <a:r>
                <a:rPr lang="zh-CN" sz="1650" dirty="0">
                  <a:solidFill>
                    <a:srgbClr val="315E9D"/>
                  </a:solidFill>
                  <a:latin typeface="+mn-lt"/>
                  <a:ea typeface="+mn-ea"/>
                  <a:cs typeface="+mn-cs"/>
                </a:rPr>
                <a:t>02 研究方法 · 模块一 · 已完成开发筛查</a:t>
              </a:r>
            </a:p>
          </p:txBody>
        </p:sp>
        <p:sp>
          <p:nvSpPr>
            <p:cNvPr id="3" name="TextBox 3"/>
            <p:cNvSpPr txBox="1"/>
            <p:nvPr/>
          </p:nvSpPr>
          <p:spPr>
            <a:xfrm>
              <a:off x="594360" y="793750"/>
              <a:ext cx="487680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固定面积选择通过开发筛查</a:t>
              </a:r>
            </a:p>
          </p:txBody>
        </p:sp>
      </p:grpSp>
      <p:grpSp>
        <p:nvGrpSpPr>
          <p:cNvPr id="6" name="selection-rule"/>
          <p:cNvGrpSpPr/>
          <p:nvPr/>
        </p:nvGrpSpPr>
        <p:grpSpPr>
          <a:xfrm>
            <a:off x="601218" y="1654175"/>
            <a:ext cx="8257527" cy="322707"/>
            <a:chOff x="601218" y="1654175"/>
            <a:chExt cx="8257527" cy="322707"/>
          </a:xfrm>
        </p:grpSpPr>
        <p:sp>
          <p:nvSpPr>
            <p:cNvPr id="5" name="TextBox 5"/>
            <p:cNvSpPr txBox="1"/>
            <p:nvPr/>
          </p:nvSpPr>
          <p:spPr>
            <a:xfrm>
              <a:off x="601218" y="1654175"/>
              <a:ext cx="8257527"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同一修正器，仅在原生掩码面积 ≥ 96² 时应用修正；其余保留原结果，不增加训练。</a:t>
              </a:r>
            </a:p>
          </p:txBody>
        </p:sp>
      </p:grpSp>
      <p:grpSp>
        <p:nvGrpSpPr>
          <p:cNvPr id="47" name="selective-effects"/>
          <p:cNvGrpSpPr/>
          <p:nvPr/>
        </p:nvGrpSpPr>
        <p:grpSpPr>
          <a:xfrm>
            <a:off x="601218" y="2035175"/>
            <a:ext cx="6586652" cy="3390646"/>
            <a:chOff x="601218" y="2035175"/>
            <a:chExt cx="6586652" cy="3390646"/>
          </a:xfrm>
        </p:grpSpPr>
        <p:sp>
          <p:nvSpPr>
            <p:cNvPr id="7" name="TextBox 7"/>
            <p:cNvSpPr txBox="1"/>
            <p:nvPr/>
          </p:nvSpPr>
          <p:spPr>
            <a:xfrm>
              <a:off x="601218" y="2035175"/>
              <a:ext cx="2460117"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轮廓质量变化（百分点）</a:t>
              </a:r>
            </a:p>
          </p:txBody>
        </p:sp>
        <p:grpSp>
          <p:nvGrpSpPr>
            <p:cNvPr id="28" name="selective-effects-chartArea"/>
            <p:cNvGrpSpPr/>
            <p:nvPr/>
          </p:nvGrpSpPr>
          <p:grpSpPr>
            <a:xfrm>
              <a:off x="2952750" y="2343150"/>
              <a:ext cx="4095750" cy="2524125"/>
              <a:chOff x="2952750" y="2343150"/>
              <a:chExt cx="4095750" cy="2524125"/>
            </a:xfrm>
          </p:grpSpPr>
          <p:sp>
            <p:nvSpPr>
              <p:cNvPr id="8" name="Line 8"/>
              <p:cNvSpPr/>
              <p:nvPr/>
            </p:nvSpPr>
            <p:spPr>
              <a:xfrm>
                <a:off x="2952750" y="4857750"/>
                <a:ext cx="4095750" cy="9525"/>
              </a:xfrm>
              <a:custGeom>
                <a:avLst/>
                <a:gdLst/>
                <a:ahLst/>
                <a:cxnLst/>
                <a:rect l="l" t="t" r="r" b="b"/>
                <a:pathLst>
                  <a:path w="4095750" h="9525">
                    <a:moveTo>
                      <a:pt x="0" y="0"/>
                    </a:moveTo>
                    <a:lnTo>
                      <a:pt x="4095750" y="0"/>
                    </a:lnTo>
                  </a:path>
                </a:pathLst>
              </a:custGeom>
              <a:noFill/>
              <a:ln w="9525">
                <a:solidFill>
                  <a:srgbClr val="596B80"/>
                </a:solidFill>
              </a:ln>
            </p:spPr>
          </p:sp>
          <p:sp>
            <p:nvSpPr>
              <p:cNvPr id="9" name="Line 9"/>
              <p:cNvSpPr/>
              <p:nvPr/>
            </p:nvSpPr>
            <p:spPr>
              <a:xfrm>
                <a:off x="3771900" y="2343150"/>
                <a:ext cx="9525" cy="2514600"/>
              </a:xfrm>
              <a:custGeom>
                <a:avLst/>
                <a:gdLst/>
                <a:ahLst/>
                <a:cxnLst/>
                <a:rect l="l" t="t" r="r" b="b"/>
                <a:pathLst>
                  <a:path w="9525" h="2514600">
                    <a:moveTo>
                      <a:pt x="0" y="0"/>
                    </a:moveTo>
                    <a:lnTo>
                      <a:pt x="0" y="2514600"/>
                    </a:lnTo>
                  </a:path>
                </a:pathLst>
              </a:custGeom>
              <a:noFill/>
              <a:ln w="9525">
                <a:solidFill>
                  <a:srgbClr val="596B80"/>
                </a:solidFill>
                <a:custDash>
                  <a:ds d="500000" sp="500000"/>
                </a:custDash>
              </a:ln>
            </p:spPr>
          </p:sp>
          <p:grpSp>
            <p:nvGrpSpPr>
              <p:cNvPr id="16" name="Group 16"/>
              <p:cNvGrpSpPr/>
              <p:nvPr/>
            </p:nvGrpSpPr>
            <p:grpSpPr>
              <a:xfrm>
                <a:off x="3111265" y="2562225"/>
                <a:ext cx="3355772" cy="1504950"/>
                <a:chOff x="3111265" y="2562225"/>
                <a:chExt cx="3355772" cy="1504950"/>
              </a:xfrm>
            </p:grpSpPr>
            <p:sp>
              <p:nvSpPr>
                <p:cNvPr id="10" name="Line 10"/>
                <p:cNvSpPr/>
                <p:nvPr/>
              </p:nvSpPr>
              <p:spPr>
                <a:xfrm>
                  <a:off x="3564398" y="2619375"/>
                  <a:ext cx="2893114" cy="9525"/>
                </a:xfrm>
                <a:custGeom>
                  <a:avLst/>
                  <a:gdLst/>
                  <a:ahLst/>
                  <a:cxnLst/>
                  <a:rect l="l" t="t" r="r" b="b"/>
                  <a:pathLst>
                    <a:path w="2893114" h="9525">
                      <a:moveTo>
                        <a:pt x="0" y="0"/>
                      </a:moveTo>
                      <a:lnTo>
                        <a:pt x="2893114" y="0"/>
                      </a:lnTo>
                    </a:path>
                  </a:pathLst>
                </a:custGeom>
                <a:noFill/>
                <a:ln w="28575">
                  <a:solidFill>
                    <a:schemeClr val="accent3"/>
                  </a:solidFill>
                </a:ln>
              </p:spPr>
            </p:sp>
            <p:sp>
              <p:nvSpPr>
                <p:cNvPr id="11" name="Line 11"/>
                <p:cNvSpPr/>
                <p:nvPr/>
              </p:nvSpPr>
              <p:spPr>
                <a:xfrm>
                  <a:off x="3564398" y="2562225"/>
                  <a:ext cx="9525" cy="114300"/>
                </a:xfrm>
                <a:custGeom>
                  <a:avLst/>
                  <a:gdLst/>
                  <a:ahLst/>
                  <a:cxnLst/>
                  <a:rect l="l" t="t" r="r" b="b"/>
                  <a:pathLst>
                    <a:path w="9525" h="114300">
                      <a:moveTo>
                        <a:pt x="0" y="0"/>
                      </a:moveTo>
                      <a:lnTo>
                        <a:pt x="0" y="114300"/>
                      </a:lnTo>
                    </a:path>
                  </a:pathLst>
                </a:custGeom>
                <a:noFill/>
                <a:ln w="28575">
                  <a:solidFill>
                    <a:schemeClr val="accent3"/>
                  </a:solidFill>
                </a:ln>
              </p:spPr>
            </p:sp>
            <p:sp>
              <p:nvSpPr>
                <p:cNvPr id="12" name="Line 12"/>
                <p:cNvSpPr/>
                <p:nvPr/>
              </p:nvSpPr>
              <p:spPr>
                <a:xfrm>
                  <a:off x="6457512" y="2562225"/>
                  <a:ext cx="9525" cy="114300"/>
                </a:xfrm>
                <a:custGeom>
                  <a:avLst/>
                  <a:gdLst/>
                  <a:ahLst/>
                  <a:cxnLst/>
                  <a:rect l="l" t="t" r="r" b="b"/>
                  <a:pathLst>
                    <a:path w="9525" h="114300">
                      <a:moveTo>
                        <a:pt x="0" y="0"/>
                      </a:moveTo>
                      <a:lnTo>
                        <a:pt x="0" y="114300"/>
                      </a:lnTo>
                    </a:path>
                  </a:pathLst>
                </a:custGeom>
                <a:noFill/>
                <a:ln w="28575">
                  <a:solidFill>
                    <a:schemeClr val="accent3"/>
                  </a:solidFill>
                </a:ln>
              </p:spPr>
            </p:sp>
            <p:sp>
              <p:nvSpPr>
                <p:cNvPr id="13" name="Line 13"/>
                <p:cNvSpPr/>
                <p:nvPr/>
              </p:nvSpPr>
              <p:spPr>
                <a:xfrm>
                  <a:off x="3111265" y="4010025"/>
                  <a:ext cx="474183" cy="9525"/>
                </a:xfrm>
                <a:custGeom>
                  <a:avLst/>
                  <a:gdLst/>
                  <a:ahLst/>
                  <a:cxnLst/>
                  <a:rect l="l" t="t" r="r" b="b"/>
                  <a:pathLst>
                    <a:path w="474183" h="9525">
                      <a:moveTo>
                        <a:pt x="0" y="0"/>
                      </a:moveTo>
                      <a:lnTo>
                        <a:pt x="474183" y="0"/>
                      </a:lnTo>
                    </a:path>
                  </a:pathLst>
                </a:custGeom>
                <a:noFill/>
                <a:ln w="28575">
                  <a:solidFill>
                    <a:schemeClr val="accent3"/>
                  </a:solidFill>
                </a:ln>
              </p:spPr>
            </p:sp>
            <p:sp>
              <p:nvSpPr>
                <p:cNvPr id="14" name="Line 14"/>
                <p:cNvSpPr/>
                <p:nvPr/>
              </p:nvSpPr>
              <p:spPr>
                <a:xfrm>
                  <a:off x="3111265" y="3952875"/>
                  <a:ext cx="9525" cy="114300"/>
                </a:xfrm>
                <a:custGeom>
                  <a:avLst/>
                  <a:gdLst/>
                  <a:ahLst/>
                  <a:cxnLst/>
                  <a:rect l="l" t="t" r="r" b="b"/>
                  <a:pathLst>
                    <a:path w="9525" h="114300">
                      <a:moveTo>
                        <a:pt x="0" y="0"/>
                      </a:moveTo>
                      <a:lnTo>
                        <a:pt x="0" y="114300"/>
                      </a:lnTo>
                    </a:path>
                  </a:pathLst>
                </a:custGeom>
                <a:noFill/>
                <a:ln w="28575">
                  <a:solidFill>
                    <a:schemeClr val="accent3"/>
                  </a:solidFill>
                </a:ln>
              </p:spPr>
            </p:sp>
            <p:sp>
              <p:nvSpPr>
                <p:cNvPr id="15" name="Line 15"/>
                <p:cNvSpPr/>
                <p:nvPr/>
              </p:nvSpPr>
              <p:spPr>
                <a:xfrm>
                  <a:off x="3585448" y="3952875"/>
                  <a:ext cx="9525" cy="114300"/>
                </a:xfrm>
                <a:custGeom>
                  <a:avLst/>
                  <a:gdLst/>
                  <a:ahLst/>
                  <a:cxnLst/>
                  <a:rect l="l" t="t" r="r" b="b"/>
                  <a:pathLst>
                    <a:path w="9525" h="114300">
                      <a:moveTo>
                        <a:pt x="0" y="0"/>
                      </a:moveTo>
                      <a:lnTo>
                        <a:pt x="0" y="114300"/>
                      </a:lnTo>
                    </a:path>
                  </a:pathLst>
                </a:custGeom>
                <a:noFill/>
                <a:ln w="28575">
                  <a:solidFill>
                    <a:schemeClr val="accent3"/>
                  </a:solidFill>
                </a:ln>
              </p:spPr>
            </p:sp>
          </p:grpSp>
          <p:grpSp>
            <p:nvGrpSpPr>
              <p:cNvPr id="23" name="Group 23"/>
              <p:cNvGrpSpPr/>
              <p:nvPr/>
            </p:nvGrpSpPr>
            <p:grpSpPr>
              <a:xfrm>
                <a:off x="3737696" y="3133725"/>
                <a:ext cx="3066554" cy="1504950"/>
                <a:chOff x="3737696" y="3133725"/>
                <a:chExt cx="3066554" cy="1504950"/>
              </a:xfrm>
            </p:grpSpPr>
            <p:sp>
              <p:nvSpPr>
                <p:cNvPr id="17" name="Line 17"/>
                <p:cNvSpPr/>
                <p:nvPr/>
              </p:nvSpPr>
              <p:spPr>
                <a:xfrm>
                  <a:off x="4234301" y="3190875"/>
                  <a:ext cx="2560425" cy="9525"/>
                </a:xfrm>
                <a:custGeom>
                  <a:avLst/>
                  <a:gdLst/>
                  <a:ahLst/>
                  <a:cxnLst/>
                  <a:rect l="l" t="t" r="r" b="b"/>
                  <a:pathLst>
                    <a:path w="2560425" h="9525">
                      <a:moveTo>
                        <a:pt x="0" y="0"/>
                      </a:moveTo>
                      <a:lnTo>
                        <a:pt x="2560425" y="0"/>
                      </a:lnTo>
                    </a:path>
                  </a:pathLst>
                </a:custGeom>
                <a:noFill/>
                <a:ln w="28575">
                  <a:solidFill>
                    <a:schemeClr val="accent2"/>
                  </a:solidFill>
                </a:ln>
              </p:spPr>
            </p:sp>
            <p:sp>
              <p:nvSpPr>
                <p:cNvPr id="18" name="Line 18"/>
                <p:cNvSpPr/>
                <p:nvPr/>
              </p:nvSpPr>
              <p:spPr>
                <a:xfrm>
                  <a:off x="4234301" y="3133725"/>
                  <a:ext cx="9525" cy="114300"/>
                </a:xfrm>
                <a:custGeom>
                  <a:avLst/>
                  <a:gdLst/>
                  <a:ahLst/>
                  <a:cxnLst/>
                  <a:rect l="l" t="t" r="r" b="b"/>
                  <a:pathLst>
                    <a:path w="9525" h="114300">
                      <a:moveTo>
                        <a:pt x="0" y="0"/>
                      </a:moveTo>
                      <a:lnTo>
                        <a:pt x="0" y="114300"/>
                      </a:lnTo>
                    </a:path>
                  </a:pathLst>
                </a:custGeom>
                <a:noFill/>
                <a:ln w="28575">
                  <a:solidFill>
                    <a:schemeClr val="accent2"/>
                  </a:solidFill>
                </a:ln>
              </p:spPr>
            </p:sp>
            <p:sp>
              <p:nvSpPr>
                <p:cNvPr id="19" name="Line 19"/>
                <p:cNvSpPr/>
                <p:nvPr/>
              </p:nvSpPr>
              <p:spPr>
                <a:xfrm>
                  <a:off x="6794725" y="3133725"/>
                  <a:ext cx="9525" cy="114300"/>
                </a:xfrm>
                <a:custGeom>
                  <a:avLst/>
                  <a:gdLst/>
                  <a:ahLst/>
                  <a:cxnLst/>
                  <a:rect l="l" t="t" r="r" b="b"/>
                  <a:pathLst>
                    <a:path w="9525" h="114300">
                      <a:moveTo>
                        <a:pt x="0" y="0"/>
                      </a:moveTo>
                      <a:lnTo>
                        <a:pt x="0" y="114300"/>
                      </a:lnTo>
                    </a:path>
                  </a:pathLst>
                </a:custGeom>
                <a:noFill/>
                <a:ln w="28575">
                  <a:solidFill>
                    <a:schemeClr val="accent2"/>
                  </a:solidFill>
                </a:ln>
              </p:spPr>
            </p:sp>
            <p:sp>
              <p:nvSpPr>
                <p:cNvPr id="20" name="Line 20"/>
                <p:cNvSpPr/>
                <p:nvPr/>
              </p:nvSpPr>
              <p:spPr>
                <a:xfrm>
                  <a:off x="3737696" y="4581525"/>
                  <a:ext cx="369560" cy="9525"/>
                </a:xfrm>
                <a:custGeom>
                  <a:avLst/>
                  <a:gdLst/>
                  <a:ahLst/>
                  <a:cxnLst/>
                  <a:rect l="l" t="t" r="r" b="b"/>
                  <a:pathLst>
                    <a:path w="369560" h="9525">
                      <a:moveTo>
                        <a:pt x="0" y="0"/>
                      </a:moveTo>
                      <a:lnTo>
                        <a:pt x="369560" y="0"/>
                      </a:lnTo>
                    </a:path>
                  </a:pathLst>
                </a:custGeom>
                <a:noFill/>
                <a:ln w="28575">
                  <a:solidFill>
                    <a:schemeClr val="accent2"/>
                  </a:solidFill>
                </a:ln>
              </p:spPr>
            </p:sp>
            <p:sp>
              <p:nvSpPr>
                <p:cNvPr id="21" name="Line 21"/>
                <p:cNvSpPr/>
                <p:nvPr/>
              </p:nvSpPr>
              <p:spPr>
                <a:xfrm>
                  <a:off x="3737696" y="4524375"/>
                  <a:ext cx="9525" cy="114300"/>
                </a:xfrm>
                <a:custGeom>
                  <a:avLst/>
                  <a:gdLst/>
                  <a:ahLst/>
                  <a:cxnLst/>
                  <a:rect l="l" t="t" r="r" b="b"/>
                  <a:pathLst>
                    <a:path w="9525" h="114300">
                      <a:moveTo>
                        <a:pt x="0" y="0"/>
                      </a:moveTo>
                      <a:lnTo>
                        <a:pt x="0" y="114300"/>
                      </a:lnTo>
                    </a:path>
                  </a:pathLst>
                </a:custGeom>
                <a:noFill/>
                <a:ln w="28575">
                  <a:solidFill>
                    <a:schemeClr val="accent2"/>
                  </a:solidFill>
                </a:ln>
              </p:spPr>
            </p:sp>
            <p:sp>
              <p:nvSpPr>
                <p:cNvPr id="22" name="Line 22"/>
                <p:cNvSpPr/>
                <p:nvPr/>
              </p:nvSpPr>
              <p:spPr>
                <a:xfrm>
                  <a:off x="4107256" y="4524375"/>
                  <a:ext cx="9525" cy="114300"/>
                </a:xfrm>
                <a:custGeom>
                  <a:avLst/>
                  <a:gdLst/>
                  <a:ahLst/>
                  <a:cxnLst/>
                  <a:rect l="l" t="t" r="r" b="b"/>
                  <a:pathLst>
                    <a:path w="9525" h="114300">
                      <a:moveTo>
                        <a:pt x="0" y="0"/>
                      </a:moveTo>
                      <a:lnTo>
                        <a:pt x="0" y="114300"/>
                      </a:lnTo>
                    </a:path>
                  </a:pathLst>
                </a:custGeom>
                <a:noFill/>
                <a:ln w="28575">
                  <a:solidFill>
                    <a:schemeClr val="accent2"/>
                  </a:solidFill>
                </a:ln>
              </p:spPr>
            </p:sp>
          </p:grpSp>
          <p:sp>
            <p:nvSpPr>
              <p:cNvPr id="24" name="Ellipse 24"/>
              <p:cNvSpPr/>
              <p:nvPr/>
            </p:nvSpPr>
            <p:spPr>
              <a:xfrm>
                <a:off x="4828623" y="2562225"/>
                <a:ext cx="114300" cy="114300"/>
              </a:xfrm>
              <a:prstGeom prst="ellipse">
                <a:avLst/>
              </a:prstGeom>
              <a:solidFill>
                <a:schemeClr val="accent3"/>
              </a:solidFill>
              <a:ln>
                <a:noFill/>
              </a:ln>
            </p:spPr>
          </p:sp>
          <p:sp>
            <p:nvSpPr>
              <p:cNvPr id="25" name="Ellipse 25"/>
              <p:cNvSpPr/>
              <p:nvPr/>
            </p:nvSpPr>
            <p:spPr>
              <a:xfrm>
                <a:off x="5357060" y="3133725"/>
                <a:ext cx="114300" cy="114300"/>
              </a:xfrm>
              <a:prstGeom prst="ellipse">
                <a:avLst/>
              </a:prstGeom>
              <a:solidFill>
                <a:schemeClr val="accent2"/>
              </a:solidFill>
              <a:ln>
                <a:noFill/>
              </a:ln>
            </p:spPr>
          </p:sp>
          <p:sp>
            <p:nvSpPr>
              <p:cNvPr id="26" name="Ellipse 26"/>
              <p:cNvSpPr/>
              <p:nvPr/>
            </p:nvSpPr>
            <p:spPr>
              <a:xfrm>
                <a:off x="3285782" y="3952875"/>
                <a:ext cx="114300" cy="114300"/>
              </a:xfrm>
              <a:prstGeom prst="ellipse">
                <a:avLst/>
              </a:prstGeom>
              <a:solidFill>
                <a:schemeClr val="accent3"/>
              </a:solidFill>
              <a:ln>
                <a:noFill/>
              </a:ln>
            </p:spPr>
          </p:sp>
          <p:sp>
            <p:nvSpPr>
              <p:cNvPr id="27" name="Ellipse 27"/>
              <p:cNvSpPr/>
              <p:nvPr/>
            </p:nvSpPr>
            <p:spPr>
              <a:xfrm>
                <a:off x="3860721" y="4524375"/>
                <a:ext cx="114300" cy="114300"/>
              </a:xfrm>
              <a:prstGeom prst="ellipse">
                <a:avLst/>
              </a:prstGeom>
              <a:solidFill>
                <a:schemeClr val="accent2"/>
              </a:solidFill>
              <a:ln>
                <a:noFill/>
              </a:ln>
            </p:spPr>
          </p:sp>
        </p:grpSp>
        <p:grpSp>
          <p:nvGrpSpPr>
            <p:cNvPr id="33" name="Group 33"/>
            <p:cNvGrpSpPr/>
            <p:nvPr/>
          </p:nvGrpSpPr>
          <p:grpSpPr>
            <a:xfrm>
              <a:off x="601218" y="2492375"/>
              <a:ext cx="1827066" cy="2284857"/>
              <a:chOff x="601218" y="2492375"/>
              <a:chExt cx="1827066" cy="2284857"/>
            </a:xfrm>
          </p:grpSpPr>
          <p:sp>
            <p:nvSpPr>
              <p:cNvPr id="29" name="TextBox 29"/>
              <p:cNvSpPr txBox="1"/>
              <p:nvPr/>
            </p:nvSpPr>
            <p:spPr>
              <a:xfrm>
                <a:off x="601218" y="2492375"/>
                <a:ext cx="1827066"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目标 · 无条件修正</a:t>
                </a:r>
              </a:p>
            </p:txBody>
          </p:sp>
          <p:sp>
            <p:nvSpPr>
              <p:cNvPr id="30" name="TextBox 30"/>
              <p:cNvSpPr txBox="1"/>
              <p:nvPr/>
            </p:nvSpPr>
            <p:spPr>
              <a:xfrm>
                <a:off x="601218" y="3063875"/>
                <a:ext cx="1604943"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目标 · 面积选择</a:t>
                </a:r>
              </a:p>
            </p:txBody>
          </p:sp>
          <p:sp>
            <p:nvSpPr>
              <p:cNvPr id="31" name="TextBox 31"/>
              <p:cNvSpPr txBox="1"/>
              <p:nvPr/>
            </p:nvSpPr>
            <p:spPr>
              <a:xfrm>
                <a:off x="601218" y="3883025"/>
                <a:ext cx="1827066"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整体 · 无条件修正</a:t>
                </a:r>
              </a:p>
            </p:txBody>
          </p:sp>
          <p:sp>
            <p:nvSpPr>
              <p:cNvPr id="32" name="TextBox 32"/>
              <p:cNvSpPr txBox="1"/>
              <p:nvPr/>
            </p:nvSpPr>
            <p:spPr>
              <a:xfrm>
                <a:off x="601218" y="4454525"/>
                <a:ext cx="1604943"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整体 · 面积选择</a:t>
                </a:r>
              </a:p>
            </p:txBody>
          </p:sp>
        </p:grpSp>
        <p:grpSp>
          <p:nvGrpSpPr>
            <p:cNvPr id="38" name="Group 38"/>
            <p:cNvGrpSpPr/>
            <p:nvPr/>
          </p:nvGrpSpPr>
          <p:grpSpPr>
            <a:xfrm>
              <a:off x="2949722" y="2263775"/>
              <a:ext cx="2857698" cy="2275332"/>
              <a:chOff x="2949722" y="2263775"/>
              <a:chExt cx="2857698" cy="2275332"/>
            </a:xfrm>
          </p:grpSpPr>
          <p:sp>
            <p:nvSpPr>
              <p:cNvPr id="34" name="TextBox 34"/>
              <p:cNvSpPr txBox="1"/>
              <p:nvPr/>
            </p:nvSpPr>
            <p:spPr>
              <a:xfrm>
                <a:off x="4492562" y="2263775"/>
                <a:ext cx="786420" cy="322707"/>
              </a:xfrm>
              <a:prstGeom prst="rect">
                <a:avLst/>
              </a:prstGeom>
              <a:noFill/>
              <a:ln>
                <a:noFill/>
              </a:ln>
            </p:spPr>
            <p:txBody>
              <a:bodyPr wrap="none" lIns="0" tIns="0" rIns="0" bIns="0" anchor="t" anchorCtr="0">
                <a:spAutoFit/>
              </a:bodyPr>
              <a:lstStyle/>
              <a:p>
                <a:pPr algn="ctr"/>
                <a:r>
                  <a:rPr lang="zh-CN" sz="1650" b="1" dirty="0">
                    <a:solidFill>
                      <a:schemeClr val="accent3"/>
                    </a:solidFill>
                    <a:latin typeface="+mn-lt"/>
                    <a:ea typeface="+mn-ea"/>
                    <a:cs typeface="+mn-cs"/>
                  </a:rPr>
                  <a:t>+0.680</a:t>
                </a:r>
              </a:p>
            </p:txBody>
          </p:sp>
          <p:sp>
            <p:nvSpPr>
              <p:cNvPr id="35" name="TextBox 35"/>
              <p:cNvSpPr txBox="1"/>
              <p:nvPr/>
            </p:nvSpPr>
            <p:spPr>
              <a:xfrm>
                <a:off x="5021000" y="2835275"/>
                <a:ext cx="786420" cy="322707"/>
              </a:xfrm>
              <a:prstGeom prst="rect">
                <a:avLst/>
              </a:prstGeom>
              <a:noFill/>
              <a:ln>
                <a:noFill/>
              </a:ln>
            </p:spPr>
            <p:txBody>
              <a:bodyPr wrap="none" lIns="0" tIns="0" rIns="0" bIns="0" anchor="t" anchorCtr="0">
                <a:spAutoFit/>
              </a:bodyPr>
              <a:lstStyle/>
              <a:p>
                <a:pPr algn="ctr"/>
                <a:r>
                  <a:rPr lang="zh-CN" sz="1650" b="1" dirty="0">
                    <a:solidFill>
                      <a:schemeClr val="accent2"/>
                    </a:solidFill>
                    <a:latin typeface="+mn-lt"/>
                    <a:ea typeface="+mn-ea"/>
                    <a:cs typeface="+mn-cs"/>
                  </a:rPr>
                  <a:t>+1.002</a:t>
                </a:r>
              </a:p>
            </p:txBody>
          </p:sp>
          <p:sp>
            <p:nvSpPr>
              <p:cNvPr id="36" name="TextBox 36"/>
              <p:cNvSpPr txBox="1"/>
              <p:nvPr/>
            </p:nvSpPr>
            <p:spPr>
              <a:xfrm>
                <a:off x="2949722" y="3654425"/>
                <a:ext cx="786420" cy="322707"/>
              </a:xfrm>
              <a:prstGeom prst="rect">
                <a:avLst/>
              </a:prstGeom>
              <a:noFill/>
              <a:ln>
                <a:noFill/>
              </a:ln>
            </p:spPr>
            <p:txBody>
              <a:bodyPr wrap="none" lIns="0" tIns="0" rIns="0" bIns="0" anchor="t" anchorCtr="0">
                <a:spAutoFit/>
              </a:bodyPr>
              <a:lstStyle/>
              <a:p>
                <a:pPr algn="ctr"/>
                <a:r>
                  <a:rPr lang="zh-CN" sz="1650" b="1" dirty="0">
                    <a:solidFill>
                      <a:schemeClr val="accent3"/>
                    </a:solidFill>
                    <a:latin typeface="+mn-lt"/>
                    <a:ea typeface="+mn-ea"/>
                    <a:cs typeface="+mn-cs"/>
                  </a:rPr>
                  <a:t>−0.262</a:t>
                </a:r>
              </a:p>
            </p:txBody>
          </p:sp>
          <p:sp>
            <p:nvSpPr>
              <p:cNvPr id="37" name="TextBox 37"/>
              <p:cNvSpPr txBox="1"/>
              <p:nvPr/>
            </p:nvSpPr>
            <p:spPr>
              <a:xfrm>
                <a:off x="3912090" y="4216400"/>
                <a:ext cx="786420" cy="322707"/>
              </a:xfrm>
              <a:prstGeom prst="rect">
                <a:avLst/>
              </a:prstGeom>
              <a:noFill/>
              <a:ln>
                <a:noFill/>
              </a:ln>
            </p:spPr>
            <p:txBody>
              <a:bodyPr wrap="none" lIns="0" tIns="0" rIns="0" bIns="0" anchor="t" anchorCtr="0">
                <a:spAutoFit/>
              </a:bodyPr>
              <a:lstStyle/>
              <a:p>
                <a:pPr algn="ctr"/>
                <a:r>
                  <a:rPr lang="zh-CN" sz="1650" b="1" dirty="0">
                    <a:solidFill>
                      <a:schemeClr val="accent2"/>
                    </a:solidFill>
                    <a:latin typeface="+mn-lt"/>
                    <a:ea typeface="+mn-ea"/>
                    <a:cs typeface="+mn-cs"/>
                  </a:rPr>
                  <a:t>+0.089</a:t>
                </a:r>
              </a:p>
            </p:txBody>
          </p:sp>
        </p:grpSp>
        <p:grpSp>
          <p:nvGrpSpPr>
            <p:cNvPr id="45" name="Group 45"/>
            <p:cNvGrpSpPr/>
            <p:nvPr/>
          </p:nvGrpSpPr>
          <p:grpSpPr>
            <a:xfrm>
              <a:off x="2768956" y="4943475"/>
              <a:ext cx="4418914" cy="234696"/>
              <a:chOff x="2768956" y="4943475"/>
              <a:chExt cx="4418914" cy="234696"/>
            </a:xfrm>
          </p:grpSpPr>
          <p:sp>
            <p:nvSpPr>
              <p:cNvPr id="39" name="TextBox 39"/>
              <p:cNvSpPr txBox="1"/>
              <p:nvPr/>
            </p:nvSpPr>
            <p:spPr>
              <a:xfrm>
                <a:off x="2768956" y="4943475"/>
                <a:ext cx="367589"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−0.5</a:t>
                </a:r>
              </a:p>
            </p:txBody>
          </p:sp>
          <p:sp>
            <p:nvSpPr>
              <p:cNvPr id="40" name="TextBox 40"/>
              <p:cNvSpPr txBox="1"/>
              <p:nvPr/>
            </p:nvSpPr>
            <p:spPr>
              <a:xfrm>
                <a:off x="3721379" y="4943475"/>
                <a:ext cx="101041"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0</a:t>
                </a:r>
              </a:p>
            </p:txBody>
          </p:sp>
          <p:sp>
            <p:nvSpPr>
              <p:cNvPr id="41" name="TextBox 41"/>
              <p:cNvSpPr txBox="1"/>
              <p:nvPr/>
            </p:nvSpPr>
            <p:spPr>
              <a:xfrm>
                <a:off x="4451680" y="4943475"/>
                <a:ext cx="27874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0.5</a:t>
                </a:r>
              </a:p>
            </p:txBody>
          </p:sp>
          <p:sp>
            <p:nvSpPr>
              <p:cNvPr id="42" name="TextBox 42"/>
              <p:cNvSpPr txBox="1"/>
              <p:nvPr/>
            </p:nvSpPr>
            <p:spPr>
              <a:xfrm>
                <a:off x="5270830" y="4943475"/>
                <a:ext cx="27874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1.0</a:t>
                </a:r>
              </a:p>
            </p:txBody>
          </p:sp>
          <p:sp>
            <p:nvSpPr>
              <p:cNvPr id="43" name="TextBox 43"/>
              <p:cNvSpPr txBox="1"/>
              <p:nvPr/>
            </p:nvSpPr>
            <p:spPr>
              <a:xfrm>
                <a:off x="6089980" y="4943475"/>
                <a:ext cx="27874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1.5</a:t>
                </a:r>
              </a:p>
            </p:txBody>
          </p:sp>
          <p:sp>
            <p:nvSpPr>
              <p:cNvPr id="44" name="TextBox 44"/>
              <p:cNvSpPr txBox="1"/>
              <p:nvPr/>
            </p:nvSpPr>
            <p:spPr>
              <a:xfrm>
                <a:off x="6909130" y="4943475"/>
                <a:ext cx="27874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2.0</a:t>
                </a:r>
              </a:p>
            </p:txBody>
          </p:sp>
        </p:grpSp>
        <p:sp>
          <p:nvSpPr>
            <p:cNvPr id="46" name="TextBox 46"/>
            <p:cNvSpPr txBox="1"/>
            <p:nvPr/>
          </p:nvSpPr>
          <p:spPr>
            <a:xfrm>
              <a:off x="2946654" y="5191125"/>
              <a:ext cx="3621024"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目标 655 GT；整体 2,925 配对；原公式 95% 区间</a:t>
              </a:r>
            </a:p>
          </p:txBody>
        </p:sp>
      </p:grpSp>
      <p:grpSp>
        <p:nvGrpSpPr>
          <p:cNvPr id="67" name="selective-damage"/>
          <p:cNvGrpSpPr/>
          <p:nvPr/>
        </p:nvGrpSpPr>
        <p:grpSpPr>
          <a:xfrm>
            <a:off x="7964043" y="2035175"/>
            <a:ext cx="3370707" cy="3419221"/>
            <a:chOff x="7964043" y="2035175"/>
            <a:chExt cx="3370707" cy="3419221"/>
          </a:xfrm>
        </p:grpSpPr>
        <p:sp>
          <p:nvSpPr>
            <p:cNvPr id="48" name="TextBox 48"/>
            <p:cNvSpPr txBox="1"/>
            <p:nvPr/>
          </p:nvSpPr>
          <p:spPr>
            <a:xfrm>
              <a:off x="7964043" y="2035175"/>
              <a:ext cx="2412916"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同一面板的损伤率（%）</a:t>
              </a:r>
            </a:p>
          </p:txBody>
        </p:sp>
        <p:grpSp>
          <p:nvGrpSpPr>
            <p:cNvPr id="52" name="selective-damage-chartArea"/>
            <p:cNvGrpSpPr/>
            <p:nvPr/>
          </p:nvGrpSpPr>
          <p:grpSpPr>
            <a:xfrm>
              <a:off x="8239125" y="2639282"/>
              <a:ext cx="3095625" cy="2227993"/>
              <a:chOff x="8239125" y="2639282"/>
              <a:chExt cx="3095625" cy="2227993"/>
            </a:xfrm>
          </p:grpSpPr>
          <p:sp>
            <p:nvSpPr>
              <p:cNvPr id="49" name="Line 49"/>
              <p:cNvSpPr/>
              <p:nvPr/>
            </p:nvSpPr>
            <p:spPr>
              <a:xfrm>
                <a:off x="8239125" y="4857750"/>
                <a:ext cx="3095625" cy="9525"/>
              </a:xfrm>
              <a:custGeom>
                <a:avLst/>
                <a:gdLst/>
                <a:ahLst/>
                <a:cxnLst/>
                <a:rect l="l" t="t" r="r" b="b"/>
                <a:pathLst>
                  <a:path w="3095625" h="9525">
                    <a:moveTo>
                      <a:pt x="0" y="0"/>
                    </a:moveTo>
                    <a:lnTo>
                      <a:pt x="3095625" y="0"/>
                    </a:lnTo>
                  </a:path>
                </a:pathLst>
              </a:custGeom>
              <a:noFill/>
              <a:ln w="9525">
                <a:solidFill>
                  <a:srgbClr val="596B80"/>
                </a:solidFill>
              </a:ln>
            </p:spPr>
          </p:sp>
          <p:sp>
            <p:nvSpPr>
              <p:cNvPr id="50" name="Rectangle 50"/>
              <p:cNvSpPr/>
              <p:nvPr/>
            </p:nvSpPr>
            <p:spPr>
              <a:xfrm>
                <a:off x="8679656" y="2639282"/>
                <a:ext cx="666750" cy="2218468"/>
              </a:xfrm>
              <a:prstGeom prst="rect">
                <a:avLst/>
              </a:prstGeom>
              <a:solidFill>
                <a:schemeClr val="accent3"/>
              </a:solidFill>
              <a:ln>
                <a:noFill/>
              </a:ln>
            </p:spPr>
          </p:sp>
          <p:sp>
            <p:nvSpPr>
              <p:cNvPr id="51" name="Rectangle 51"/>
              <p:cNvSpPr/>
              <p:nvPr/>
            </p:nvSpPr>
            <p:spPr>
              <a:xfrm>
                <a:off x="10227469" y="4774035"/>
                <a:ext cx="666750" cy="83715"/>
              </a:xfrm>
              <a:prstGeom prst="rect">
                <a:avLst/>
              </a:prstGeom>
              <a:solidFill>
                <a:schemeClr val="accent2"/>
              </a:solidFill>
              <a:ln>
                <a:noFill/>
              </a:ln>
            </p:spPr>
          </p:sp>
        </p:grpSp>
        <p:grpSp>
          <p:nvGrpSpPr>
            <p:cNvPr id="57" name="Group 57"/>
            <p:cNvGrpSpPr/>
            <p:nvPr/>
          </p:nvGrpSpPr>
          <p:grpSpPr>
            <a:xfrm>
              <a:off x="8020355" y="2190750"/>
              <a:ext cx="101041" cy="2806446"/>
              <a:chOff x="8020355" y="2190750"/>
              <a:chExt cx="101041" cy="2806446"/>
            </a:xfrm>
          </p:grpSpPr>
          <p:sp>
            <p:nvSpPr>
              <p:cNvPr id="53" name="TextBox 53"/>
              <p:cNvSpPr txBox="1"/>
              <p:nvPr/>
            </p:nvSpPr>
            <p:spPr>
              <a:xfrm>
                <a:off x="8020355" y="4762500"/>
                <a:ext cx="101041"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a:t>
                </a:r>
              </a:p>
            </p:txBody>
          </p:sp>
          <p:sp>
            <p:nvSpPr>
              <p:cNvPr id="54" name="TextBox 54"/>
              <p:cNvSpPr txBox="1"/>
              <p:nvPr/>
            </p:nvSpPr>
            <p:spPr>
              <a:xfrm>
                <a:off x="8020355" y="3905250"/>
                <a:ext cx="101041"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2</a:t>
                </a:r>
              </a:p>
            </p:txBody>
          </p:sp>
          <p:sp>
            <p:nvSpPr>
              <p:cNvPr id="55" name="TextBox 55"/>
              <p:cNvSpPr txBox="1"/>
              <p:nvPr/>
            </p:nvSpPr>
            <p:spPr>
              <a:xfrm>
                <a:off x="8020355" y="3048000"/>
                <a:ext cx="101041"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4</a:t>
                </a:r>
              </a:p>
            </p:txBody>
          </p:sp>
          <p:sp>
            <p:nvSpPr>
              <p:cNvPr id="56" name="TextBox 56"/>
              <p:cNvSpPr txBox="1"/>
              <p:nvPr/>
            </p:nvSpPr>
            <p:spPr>
              <a:xfrm>
                <a:off x="8020355" y="2190750"/>
                <a:ext cx="101041"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6</a:t>
                </a:r>
              </a:p>
            </p:txBody>
          </p:sp>
        </p:grpSp>
        <p:grpSp>
          <p:nvGrpSpPr>
            <p:cNvPr id="60" name="Group 60"/>
            <p:cNvGrpSpPr/>
            <p:nvPr/>
          </p:nvGrpSpPr>
          <p:grpSpPr>
            <a:xfrm>
              <a:off x="8660636" y="2349500"/>
              <a:ext cx="2252603" cy="2437257"/>
              <a:chOff x="8660636" y="2349500"/>
              <a:chExt cx="2252603" cy="2437257"/>
            </a:xfrm>
          </p:grpSpPr>
          <p:sp>
            <p:nvSpPr>
              <p:cNvPr id="58" name="TextBox 58"/>
              <p:cNvSpPr txBox="1"/>
              <p:nvPr/>
            </p:nvSpPr>
            <p:spPr>
              <a:xfrm>
                <a:off x="8660636" y="2349500"/>
                <a:ext cx="704790" cy="322707"/>
              </a:xfrm>
              <a:prstGeom prst="rect">
                <a:avLst/>
              </a:prstGeom>
              <a:noFill/>
              <a:ln>
                <a:noFill/>
              </a:ln>
            </p:spPr>
            <p:txBody>
              <a:bodyPr wrap="none" lIns="0" tIns="0" rIns="0" bIns="0" anchor="t" anchorCtr="0">
                <a:spAutoFit/>
              </a:bodyPr>
              <a:lstStyle/>
              <a:p>
                <a:pPr algn="ctr"/>
                <a:r>
                  <a:rPr lang="zh-CN" sz="1650" b="1" dirty="0">
                    <a:solidFill>
                      <a:schemeClr val="accent3"/>
                    </a:solidFill>
                    <a:latin typeface="+mn-lt"/>
                    <a:ea typeface="+mn-ea"/>
                    <a:cs typeface="+mn-cs"/>
                  </a:rPr>
                  <a:t>5.18%</a:t>
                </a:r>
              </a:p>
            </p:txBody>
          </p:sp>
          <p:sp>
            <p:nvSpPr>
              <p:cNvPr id="59" name="TextBox 59"/>
              <p:cNvSpPr txBox="1"/>
              <p:nvPr/>
            </p:nvSpPr>
            <p:spPr>
              <a:xfrm>
                <a:off x="10208449" y="4464050"/>
                <a:ext cx="704790" cy="322707"/>
              </a:xfrm>
              <a:prstGeom prst="rect">
                <a:avLst/>
              </a:prstGeom>
              <a:noFill/>
              <a:ln>
                <a:noFill/>
              </a:ln>
            </p:spPr>
            <p:txBody>
              <a:bodyPr wrap="none" lIns="0" tIns="0" rIns="0" bIns="0" anchor="t" anchorCtr="0">
                <a:spAutoFit/>
              </a:bodyPr>
              <a:lstStyle/>
              <a:p>
                <a:pPr algn="ctr"/>
                <a:r>
                  <a:rPr lang="zh-CN" sz="1650" b="1" dirty="0">
                    <a:solidFill>
                      <a:schemeClr val="accent2"/>
                    </a:solidFill>
                    <a:latin typeface="+mn-lt"/>
                    <a:ea typeface="+mn-ea"/>
                    <a:cs typeface="+mn-cs"/>
                  </a:rPr>
                  <a:t>0.20%</a:t>
                </a:r>
              </a:p>
            </p:txBody>
          </p:sp>
        </p:grpSp>
        <p:grpSp>
          <p:nvGrpSpPr>
            <p:cNvPr id="63" name="Group 63"/>
            <p:cNvGrpSpPr/>
            <p:nvPr/>
          </p:nvGrpSpPr>
          <p:grpSpPr>
            <a:xfrm>
              <a:off x="8449342" y="4930775"/>
              <a:ext cx="2564130" cy="322707"/>
              <a:chOff x="8449342" y="4930775"/>
              <a:chExt cx="2564130" cy="322707"/>
            </a:xfrm>
          </p:grpSpPr>
          <p:sp>
            <p:nvSpPr>
              <p:cNvPr id="61" name="TextBox 61"/>
              <p:cNvSpPr txBox="1"/>
              <p:nvPr/>
            </p:nvSpPr>
            <p:spPr>
              <a:xfrm>
                <a:off x="8449342" y="4930775"/>
                <a:ext cx="1127379" cy="322707"/>
              </a:xfrm>
              <a:prstGeom prst="rect">
                <a:avLst/>
              </a:prstGeom>
              <a:noFill/>
              <a:ln>
                <a:noFill/>
              </a:ln>
            </p:spPr>
            <p:txBody>
              <a:bodyPr wrap="none" lIns="0" tIns="0" rIns="0" bIns="0" anchor="t" anchorCtr="0">
                <a:spAutoFit/>
              </a:bodyPr>
              <a:lstStyle/>
              <a:p>
                <a:pPr algn="ctr"/>
                <a:r>
                  <a:rPr lang="zh-CN" sz="1650" dirty="0">
                    <a:solidFill>
                      <a:schemeClr val="dk1"/>
                    </a:solidFill>
                    <a:latin typeface="+mn-lt"/>
                    <a:ea typeface="+mn-ea"/>
                    <a:cs typeface="+mn-cs"/>
                  </a:rPr>
                  <a:t>无条件修正</a:t>
                </a:r>
              </a:p>
            </p:txBody>
          </p:sp>
          <p:sp>
            <p:nvSpPr>
              <p:cNvPr id="62" name="TextBox 62"/>
              <p:cNvSpPr txBox="1"/>
              <p:nvPr/>
            </p:nvSpPr>
            <p:spPr>
              <a:xfrm>
                <a:off x="10108216" y="4930775"/>
                <a:ext cx="905256" cy="322707"/>
              </a:xfrm>
              <a:prstGeom prst="rect">
                <a:avLst/>
              </a:prstGeom>
              <a:noFill/>
              <a:ln>
                <a:noFill/>
              </a:ln>
            </p:spPr>
            <p:txBody>
              <a:bodyPr wrap="none" lIns="0" tIns="0" rIns="0" bIns="0" anchor="t" anchorCtr="0">
                <a:spAutoFit/>
              </a:bodyPr>
              <a:lstStyle/>
              <a:p>
                <a:pPr algn="ctr"/>
                <a:r>
                  <a:rPr lang="zh-CN" sz="1650" dirty="0">
                    <a:solidFill>
                      <a:schemeClr val="dk1"/>
                    </a:solidFill>
                    <a:latin typeface="+mn-lt"/>
                    <a:ea typeface="+mn-ea"/>
                    <a:cs typeface="+mn-cs"/>
                  </a:rPr>
                  <a:t>面积选择</a:t>
                </a:r>
              </a:p>
            </p:txBody>
          </p:sp>
        </p:grpSp>
        <p:grpSp>
          <p:nvGrpSpPr>
            <p:cNvPr id="66" name="Group 66"/>
            <p:cNvGrpSpPr/>
            <p:nvPr/>
          </p:nvGrpSpPr>
          <p:grpSpPr>
            <a:xfrm>
              <a:off x="8603075" y="5219700"/>
              <a:ext cx="2323300" cy="234696"/>
              <a:chOff x="8603075" y="5219700"/>
              <a:chExt cx="2323300" cy="234696"/>
            </a:xfrm>
          </p:grpSpPr>
          <p:sp>
            <p:nvSpPr>
              <p:cNvPr id="64" name="TextBox 64"/>
              <p:cNvSpPr txBox="1"/>
              <p:nvPr/>
            </p:nvSpPr>
            <p:spPr>
              <a:xfrm>
                <a:off x="8603075" y="5219700"/>
                <a:ext cx="819912"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53 / 1,024</a:t>
                </a:r>
              </a:p>
            </p:txBody>
          </p:sp>
          <p:sp>
            <p:nvSpPr>
              <p:cNvPr id="65" name="TextBox 65"/>
              <p:cNvSpPr txBox="1"/>
              <p:nvPr/>
            </p:nvSpPr>
            <p:spPr>
              <a:xfrm>
                <a:off x="10195312" y="5219700"/>
                <a:ext cx="731063"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2 / 1,024</a:t>
                </a:r>
              </a:p>
            </p:txBody>
          </p:sp>
        </p:grpSp>
      </p:grpSp>
      <p:grpSp>
        <p:nvGrpSpPr>
          <p:cNvPr id="70" name="development-conclusion"/>
          <p:cNvGrpSpPr/>
          <p:nvPr/>
        </p:nvGrpSpPr>
        <p:grpSpPr>
          <a:xfrm>
            <a:off x="598932" y="5594350"/>
            <a:ext cx="7848886" cy="687832"/>
            <a:chOff x="598932" y="5594350"/>
            <a:chExt cx="7848886" cy="687832"/>
          </a:xfrm>
        </p:grpSpPr>
        <p:sp>
          <p:nvSpPr>
            <p:cNvPr id="68" name="TextBox 68"/>
            <p:cNvSpPr txBox="1"/>
            <p:nvPr/>
          </p:nvSpPr>
          <p:spPr>
            <a:xfrm>
              <a:off x="598932" y="5594350"/>
              <a:ext cx="6773967"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原三项数值门槛通过；全量 AP 与独立确认尚未完成。</a:t>
              </a:r>
            </a:p>
          </p:txBody>
        </p:sp>
        <p:sp>
          <p:nvSpPr>
            <p:cNvPr id="69" name="TextBox 69"/>
            <p:cNvSpPr txBox="1"/>
            <p:nvPr/>
          </p:nvSpPr>
          <p:spPr>
            <a:xfrm>
              <a:off x="601218" y="5959475"/>
              <a:ext cx="7846600"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总体区间跨零；损伤名义上界 0.60%，复用开发面板不具有新的独立覆盖保证。</a:t>
              </a:r>
            </a:p>
          </p:txBody>
        </p:sp>
      </p:grpSp>
      <p:grpSp>
        <p:nvGrpSpPr>
          <p:cNvPr id="73" name="footer"/>
          <p:cNvGrpSpPr/>
          <p:nvPr/>
        </p:nvGrpSpPr>
        <p:grpSpPr>
          <a:xfrm>
            <a:off x="603504" y="6410325"/>
            <a:ext cx="10984992" cy="234696"/>
            <a:chOff x="603504" y="6410325"/>
            <a:chExt cx="10984992" cy="234696"/>
          </a:xfrm>
        </p:grpSpPr>
        <p:sp>
          <p:nvSpPr>
            <p:cNvPr id="71" name="TextBox 71"/>
            <p:cNvSpPr txBox="1"/>
            <p:nvPr/>
          </p:nvSpPr>
          <p:spPr>
            <a:xfrm>
              <a:off x="603504" y="6410325"/>
              <a:ext cx="7218274"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[E3/E5] 1,314 图完整输出重新匹配；未应用修正的实例仍计入原分母；面积策略由开发结果选定。</a:t>
              </a:r>
            </a:p>
          </p:txBody>
        </p:sp>
        <p:sp>
          <p:nvSpPr>
            <p:cNvPr id="72" name="TextBox 72"/>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14 / 22</a:t>
              </a:r>
            </a:p>
          </p:txBody>
        </p:sp>
      </p:gr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5280660" cy="964565"/>
            <a:chOff x="594360" y="415925"/>
            <a:chExt cx="5280660" cy="964565"/>
          </a:xfrm>
        </p:grpSpPr>
        <p:sp>
          <p:nvSpPr>
            <p:cNvPr id="2" name="TextBox 2"/>
            <p:cNvSpPr txBox="1"/>
            <p:nvPr/>
          </p:nvSpPr>
          <p:spPr>
            <a:xfrm>
              <a:off x="601218" y="415925"/>
              <a:ext cx="2138039" cy="322707"/>
            </a:xfrm>
            <a:prstGeom prst="rect">
              <a:avLst/>
            </a:prstGeom>
            <a:noFill/>
            <a:ln>
              <a:noFill/>
            </a:ln>
          </p:spPr>
          <p:txBody>
            <a:bodyPr wrap="none" lIns="0" tIns="0" rIns="0" bIns="0" anchor="t" anchorCtr="0">
              <a:spAutoFit/>
            </a:bodyPr>
            <a:lstStyle/>
            <a:p>
              <a:pPr algn="l"/>
              <a:r>
                <a:rPr lang="zh-CN" sz="1650" dirty="0">
                  <a:solidFill>
                    <a:srgbClr val="315E9D"/>
                  </a:solidFill>
                  <a:latin typeface="+mn-lt"/>
                  <a:ea typeface="+mn-ea"/>
                  <a:cs typeface="+mn-cs"/>
                </a:rPr>
                <a:t>02 研究方法 · 模块一</a:t>
              </a:r>
            </a:p>
          </p:txBody>
        </p:sp>
        <p:sp>
          <p:nvSpPr>
            <p:cNvPr id="3" name="TextBox 3"/>
            <p:cNvSpPr txBox="1"/>
            <p:nvPr/>
          </p:nvSpPr>
          <p:spPr>
            <a:xfrm>
              <a:off x="594360" y="793750"/>
              <a:ext cx="528066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模块一的重要结论与验证边界</a:t>
              </a:r>
            </a:p>
          </p:txBody>
        </p:sp>
      </p:grpSp>
      <p:grpSp>
        <p:nvGrpSpPr>
          <p:cNvPr id="7" name="opportunity"/>
          <p:cNvGrpSpPr/>
          <p:nvPr/>
        </p:nvGrpSpPr>
        <p:grpSpPr>
          <a:xfrm>
            <a:off x="597408" y="1803400"/>
            <a:ext cx="7669949" cy="867918"/>
            <a:chOff x="597408" y="1803400"/>
            <a:chExt cx="7669949" cy="867918"/>
          </a:xfrm>
        </p:grpSpPr>
        <p:sp>
          <p:nvSpPr>
            <p:cNvPr id="5" name="TextBox 5"/>
            <p:cNvSpPr txBox="1"/>
            <p:nvPr/>
          </p:nvSpPr>
          <p:spPr>
            <a:xfrm>
              <a:off x="597408" y="1803400"/>
              <a:ext cx="4870704" cy="469392"/>
            </a:xfrm>
            <a:prstGeom prst="rect">
              <a:avLst/>
            </a:prstGeom>
            <a:noFill/>
            <a:ln>
              <a:noFill/>
            </a:ln>
          </p:spPr>
          <p:txBody>
            <a:bodyPr wrap="none" lIns="0" tIns="0" rIns="0" bIns="0" anchor="t" anchorCtr="0">
              <a:spAutoFit/>
            </a:bodyPr>
            <a:lstStyle/>
            <a:p>
              <a:pPr algn="l"/>
              <a:r>
                <a:rPr lang="zh-CN" sz="2400" b="1" dirty="0">
                  <a:solidFill>
                    <a:srgbClr val="315E9D"/>
                  </a:solidFill>
                  <a:latin typeface="+mn-lt"/>
                  <a:ea typeface="+mn-ea"/>
                  <a:cs typeface="+mn-cs"/>
                </a:rPr>
                <a:t>固定原有表示，仍有轮廓修正机会</a:t>
              </a:r>
            </a:p>
          </p:txBody>
        </p:sp>
        <p:sp>
          <p:nvSpPr>
            <p:cNvPr id="6" name="TextBox 6"/>
            <p:cNvSpPr txBox="1"/>
            <p:nvPr/>
          </p:nvSpPr>
          <p:spPr>
            <a:xfrm>
              <a:off x="598932" y="2260600"/>
              <a:ext cx="7668425"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标注辅助实验中 122 / 256 达标，为研究系数修正提供依据。</a:t>
              </a:r>
            </a:p>
          </p:txBody>
        </p:sp>
      </p:grpSp>
      <p:grpSp>
        <p:nvGrpSpPr>
          <p:cNvPr id="11" name="risk"/>
          <p:cNvGrpSpPr/>
          <p:nvPr/>
        </p:nvGrpSpPr>
        <p:grpSpPr>
          <a:xfrm>
            <a:off x="597408" y="2819400"/>
            <a:ext cx="10984992" cy="937768"/>
            <a:chOff x="597408" y="2819400"/>
            <a:chExt cx="10984992" cy="937768"/>
          </a:xfrm>
        </p:grpSpPr>
        <p:sp>
          <p:nvSpPr>
            <p:cNvPr id="8" name="Line 8"/>
            <p:cNvSpPr/>
            <p:nvPr/>
          </p:nvSpPr>
          <p:spPr>
            <a:xfrm>
              <a:off x="609600" y="28194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9" name="TextBox 9"/>
            <p:cNvSpPr txBox="1"/>
            <p:nvPr/>
          </p:nvSpPr>
          <p:spPr>
            <a:xfrm>
              <a:off x="597408" y="2889250"/>
              <a:ext cx="4224528" cy="469392"/>
            </a:xfrm>
            <a:prstGeom prst="rect">
              <a:avLst/>
            </a:prstGeom>
            <a:noFill/>
            <a:ln>
              <a:noFill/>
            </a:ln>
          </p:spPr>
          <p:txBody>
            <a:bodyPr wrap="none" lIns="0" tIns="0" rIns="0" bIns="0" anchor="t" anchorCtr="0">
              <a:spAutoFit/>
            </a:bodyPr>
            <a:lstStyle/>
            <a:p>
              <a:pPr algn="l"/>
              <a:r>
                <a:rPr lang="zh-CN" sz="2400" b="1" dirty="0">
                  <a:solidFill>
                    <a:schemeClr val="accent3"/>
                  </a:solidFill>
                  <a:latin typeface="+mn-lt"/>
                  <a:ea typeface="+mn-ea"/>
                  <a:cs typeface="+mn-cs"/>
                </a:rPr>
                <a:t>修正不能对所有实例一视同仁</a:t>
              </a:r>
            </a:p>
          </p:txBody>
        </p:sp>
        <p:sp>
          <p:nvSpPr>
            <p:cNvPr id="10" name="TextBox 10"/>
            <p:cNvSpPr txBox="1"/>
            <p:nvPr/>
          </p:nvSpPr>
          <p:spPr>
            <a:xfrm>
              <a:off x="598932" y="3346450"/>
              <a:ext cx="793699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无条件修正存在损伤，小掩码风险更集中；需要选择适用范围。</a:t>
              </a:r>
            </a:p>
          </p:txBody>
        </p:sp>
      </p:grpSp>
      <p:grpSp>
        <p:nvGrpSpPr>
          <p:cNvPr id="15" name="development-result"/>
          <p:cNvGrpSpPr/>
          <p:nvPr/>
        </p:nvGrpSpPr>
        <p:grpSpPr>
          <a:xfrm>
            <a:off x="597408" y="3905250"/>
            <a:ext cx="10984992" cy="937768"/>
            <a:chOff x="597408" y="3905250"/>
            <a:chExt cx="10984992" cy="937768"/>
          </a:xfrm>
        </p:grpSpPr>
        <p:sp>
          <p:nvSpPr>
            <p:cNvPr id="12" name="Line 12"/>
            <p:cNvSpPr/>
            <p:nvPr/>
          </p:nvSpPr>
          <p:spPr>
            <a:xfrm>
              <a:off x="609600" y="39052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3" name="TextBox 13"/>
            <p:cNvSpPr txBox="1"/>
            <p:nvPr/>
          </p:nvSpPr>
          <p:spPr>
            <a:xfrm>
              <a:off x="597408" y="3975100"/>
              <a:ext cx="5193792" cy="469392"/>
            </a:xfrm>
            <a:prstGeom prst="rect">
              <a:avLst/>
            </a:prstGeom>
            <a:noFill/>
            <a:ln>
              <a:noFill/>
            </a:ln>
          </p:spPr>
          <p:txBody>
            <a:bodyPr wrap="none" lIns="0" tIns="0" rIns="0" bIns="0" anchor="t" anchorCtr="0">
              <a:spAutoFit/>
            </a:bodyPr>
            <a:lstStyle/>
            <a:p>
              <a:pPr algn="l"/>
              <a:r>
                <a:rPr lang="zh-CN" sz="2400" b="1" dirty="0">
                  <a:solidFill>
                    <a:schemeClr val="accent2"/>
                  </a:solidFill>
                  <a:latin typeface="+mn-lt"/>
                  <a:ea typeface="+mn-ea"/>
                  <a:cs typeface="+mn-cs"/>
                </a:rPr>
                <a:t>固定面积选择，已通过开发数值筛查</a:t>
              </a:r>
            </a:p>
          </p:txBody>
        </p:sp>
        <p:sp>
          <p:nvSpPr>
            <p:cNvPr id="14" name="TextBox 14"/>
            <p:cNvSpPr txBox="1"/>
            <p:nvPr/>
          </p:nvSpPr>
          <p:spPr>
            <a:xfrm>
              <a:off x="598932" y="4432300"/>
              <a:ext cx="7879385"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目标质量改善、损伤减少；尚不能推出全量 AP 或跨场景有效。</a:t>
              </a:r>
            </a:p>
          </p:txBody>
        </p:sp>
      </p:grpSp>
      <p:grpSp>
        <p:nvGrpSpPr>
          <p:cNvPr id="19" name="next-validation"/>
          <p:cNvGrpSpPr/>
          <p:nvPr/>
        </p:nvGrpSpPr>
        <p:grpSpPr>
          <a:xfrm>
            <a:off x="609600" y="5124450"/>
            <a:ext cx="10972800" cy="1047750"/>
            <a:chOff x="609600" y="5124450"/>
            <a:chExt cx="10972800" cy="1047750"/>
          </a:xfrm>
        </p:grpSpPr>
        <p:sp>
          <p:nvSpPr>
            <p:cNvPr id="16" name="Rectangle 16"/>
            <p:cNvSpPr/>
            <p:nvPr/>
          </p:nvSpPr>
          <p:spPr>
            <a:xfrm>
              <a:off x="609600" y="5124450"/>
              <a:ext cx="10972800" cy="1047750"/>
            </a:xfrm>
            <a:prstGeom prst="rect">
              <a:avLst/>
            </a:prstGeom>
            <a:solidFill>
              <a:schemeClr val="lt2"/>
            </a:solidFill>
            <a:ln>
              <a:noFill/>
            </a:ln>
          </p:spPr>
        </p:sp>
        <p:sp>
          <p:nvSpPr>
            <p:cNvPr id="17" name="TextBox 17"/>
            <p:cNvSpPr txBox="1"/>
            <p:nvPr/>
          </p:nvSpPr>
          <p:spPr>
            <a:xfrm>
              <a:off x="827532" y="5251450"/>
              <a:ext cx="9747285"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下一步：固定同一模型和面积条件，验证全 5,000 图 AP 与原成功总体损伤。</a:t>
              </a:r>
            </a:p>
          </p:txBody>
        </p:sp>
        <p:sp>
          <p:nvSpPr>
            <p:cNvPr id="18" name="TextBox 18"/>
            <p:cNvSpPr txBox="1"/>
            <p:nvPr/>
          </p:nvSpPr>
          <p:spPr>
            <a:xfrm>
              <a:off x="829818" y="5711825"/>
              <a:ext cx="7875727"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当前证据来自 COCO 图像开发实验；密集专项、动物场景和视频仍需后续验证。</a:t>
              </a:r>
            </a:p>
          </p:txBody>
        </p:sp>
      </p:grpSp>
      <p:grpSp>
        <p:nvGrpSpPr>
          <p:cNvPr id="22" name="footer"/>
          <p:cNvGrpSpPr/>
          <p:nvPr/>
        </p:nvGrpSpPr>
        <p:grpSpPr>
          <a:xfrm>
            <a:off x="603504" y="6410325"/>
            <a:ext cx="10984992" cy="234696"/>
            <a:chOff x="603504" y="6410325"/>
            <a:chExt cx="10984992" cy="234696"/>
          </a:xfrm>
        </p:grpSpPr>
        <p:sp>
          <p:nvSpPr>
            <p:cNvPr id="20" name="TextBox 20"/>
            <p:cNvSpPr txBox="1"/>
            <p:nvPr/>
          </p:nvSpPr>
          <p:spPr>
            <a:xfrm>
              <a:off x="603504" y="6410325"/>
              <a:ext cx="6013323"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[E0—E5] 无条件 BCE / soft-IoU 配置的失败结论保留；新策略仅为开发筛查通过。</a:t>
              </a:r>
            </a:p>
          </p:txBody>
        </p:sp>
        <p:sp>
          <p:nvSpPr>
            <p:cNvPr id="21" name="TextBox 21"/>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15 / 22</a:t>
              </a:r>
            </a:p>
          </p:txBody>
        </p:sp>
      </p:gr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6088380" cy="964565"/>
            <a:chOff x="594360" y="415925"/>
            <a:chExt cx="6088380" cy="964565"/>
          </a:xfrm>
        </p:grpSpPr>
        <p:sp>
          <p:nvSpPr>
            <p:cNvPr id="2" name="TextBox 2"/>
            <p:cNvSpPr txBox="1"/>
            <p:nvPr/>
          </p:nvSpPr>
          <p:spPr>
            <a:xfrm>
              <a:off x="601218" y="415925"/>
              <a:ext cx="3059849"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02 研究方法 · 模块二 · 拟开展</a:t>
              </a:r>
            </a:p>
          </p:txBody>
        </p:sp>
        <p:sp>
          <p:nvSpPr>
            <p:cNvPr id="3" name="TextBox 3"/>
            <p:cNvSpPr txBox="1"/>
            <p:nvPr/>
          </p:nvSpPr>
          <p:spPr>
            <a:xfrm>
              <a:off x="594360" y="793750"/>
              <a:ext cx="608838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连续视频中的身份关联与稳定保持</a:t>
              </a:r>
            </a:p>
          </p:txBody>
        </p:sp>
      </p:grpSp>
      <p:grpSp>
        <p:nvGrpSpPr>
          <p:cNvPr id="6" name="research-question"/>
          <p:cNvGrpSpPr/>
          <p:nvPr/>
        </p:nvGrpSpPr>
        <p:grpSpPr>
          <a:xfrm>
            <a:off x="601218" y="1654175"/>
            <a:ext cx="7124700" cy="322707"/>
            <a:chOff x="601218" y="1654175"/>
            <a:chExt cx="7124700" cy="322707"/>
          </a:xfrm>
        </p:grpSpPr>
        <p:sp>
          <p:nvSpPr>
            <p:cNvPr id="5" name="TextBox 5"/>
            <p:cNvSpPr txBox="1"/>
            <p:nvPr/>
          </p:nvSpPr>
          <p:spPr>
            <a:xfrm>
              <a:off x="601218" y="1654175"/>
              <a:ext cx="7124700"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研究个体交叉、外观相似和短暂漏检时，如何减少编号切换与轨迹断裂。</a:t>
              </a:r>
            </a:p>
          </p:txBody>
        </p:sp>
      </p:grpSp>
      <p:grpSp>
        <p:nvGrpSpPr>
          <p:cNvPr id="35" name="proposed-tracker"/>
          <p:cNvGrpSpPr/>
          <p:nvPr/>
        </p:nvGrpSpPr>
        <p:grpSpPr>
          <a:xfrm>
            <a:off x="609600" y="2352675"/>
            <a:ext cx="10972800" cy="2314575"/>
            <a:chOff x="609600" y="2352675"/>
            <a:chExt cx="10972800" cy="2314575"/>
          </a:xfrm>
        </p:grpSpPr>
        <p:sp>
          <p:nvSpPr>
            <p:cNvPr id="7" name="Rectangle 7"/>
            <p:cNvSpPr/>
            <p:nvPr/>
          </p:nvSpPr>
          <p:spPr>
            <a:xfrm>
              <a:off x="609600" y="2352675"/>
              <a:ext cx="2466975" cy="857250"/>
            </a:xfrm>
            <a:prstGeom prst="rect">
              <a:avLst/>
            </a:prstGeom>
            <a:solidFill>
              <a:schemeClr val="lt2"/>
            </a:solidFill>
            <a:ln>
              <a:noFill/>
            </a:ln>
          </p:spPr>
        </p:sp>
        <p:sp>
          <p:nvSpPr>
            <p:cNvPr id="8" name="TextBox 8"/>
            <p:cNvSpPr txBox="1"/>
            <p:nvPr/>
          </p:nvSpPr>
          <p:spPr>
            <a:xfrm>
              <a:off x="984313" y="2441575"/>
              <a:ext cx="1717548" cy="410718"/>
            </a:xfrm>
            <a:prstGeom prst="rect">
              <a:avLst/>
            </a:prstGeom>
            <a:noFill/>
            <a:ln>
              <a:noFill/>
            </a:ln>
          </p:spPr>
          <p:txBody>
            <a:bodyPr wrap="none" lIns="0" tIns="0" rIns="0" bIns="0" anchor="t" anchorCtr="0">
              <a:spAutoFit/>
            </a:bodyPr>
            <a:lstStyle/>
            <a:p>
              <a:pPr algn="ctr"/>
              <a:r>
                <a:rPr lang="zh-CN" sz="2100" dirty="0">
                  <a:solidFill>
                    <a:schemeClr val="accent1"/>
                  </a:solidFill>
                  <a:latin typeface="+mn-lt"/>
                  <a:ea typeface="+mn-ea"/>
                  <a:cs typeface="+mn-cs"/>
                </a:rPr>
                <a:t>当前帧的观测</a:t>
              </a:r>
            </a:p>
          </p:txBody>
        </p:sp>
        <p:sp>
          <p:nvSpPr>
            <p:cNvPr id="9" name="TextBox 9"/>
            <p:cNvSpPr txBox="1"/>
            <p:nvPr/>
          </p:nvSpPr>
          <p:spPr>
            <a:xfrm>
              <a:off x="835152" y="2835275"/>
              <a:ext cx="2015871" cy="322707"/>
            </a:xfrm>
            <a:prstGeom prst="rect">
              <a:avLst/>
            </a:prstGeom>
            <a:noFill/>
            <a:ln>
              <a:noFill/>
            </a:ln>
          </p:spPr>
          <p:txBody>
            <a:bodyPr wrap="none" lIns="0" tIns="0" rIns="0" bIns="0" anchor="t" anchorCtr="0">
              <a:spAutoFit/>
            </a:bodyPr>
            <a:lstStyle/>
            <a:p>
              <a:pPr algn="ctr"/>
              <a:r>
                <a:rPr lang="zh-CN" sz="1650" dirty="0">
                  <a:solidFill>
                    <a:schemeClr val="accent5"/>
                  </a:solidFill>
                  <a:latin typeface="+mn-lt"/>
                  <a:ea typeface="+mn-ea"/>
                  <a:cs typeface="+mn-cs"/>
                </a:rPr>
                <a:t>框、分数、个体轮廓</a:t>
              </a:r>
            </a:p>
          </p:txBody>
        </p:sp>
        <p:sp>
          <p:nvSpPr>
            <p:cNvPr id="10" name="Rectangle 10"/>
            <p:cNvSpPr/>
            <p:nvPr/>
          </p:nvSpPr>
          <p:spPr>
            <a:xfrm>
              <a:off x="609600" y="3810000"/>
              <a:ext cx="2466975" cy="857250"/>
            </a:xfrm>
            <a:prstGeom prst="rect">
              <a:avLst/>
            </a:prstGeom>
            <a:solidFill>
              <a:schemeClr val="lt2"/>
            </a:solidFill>
            <a:ln>
              <a:noFill/>
            </a:ln>
          </p:spPr>
        </p:sp>
        <p:sp>
          <p:nvSpPr>
            <p:cNvPr id="11" name="TextBox 11"/>
            <p:cNvSpPr txBox="1"/>
            <p:nvPr/>
          </p:nvSpPr>
          <p:spPr>
            <a:xfrm>
              <a:off x="984313" y="3898900"/>
              <a:ext cx="1717548" cy="410718"/>
            </a:xfrm>
            <a:prstGeom prst="rect">
              <a:avLst/>
            </a:prstGeom>
            <a:noFill/>
            <a:ln>
              <a:noFill/>
            </a:ln>
          </p:spPr>
          <p:txBody>
            <a:bodyPr wrap="none" lIns="0" tIns="0" rIns="0" bIns="0" anchor="t" anchorCtr="0">
              <a:spAutoFit/>
            </a:bodyPr>
            <a:lstStyle/>
            <a:p>
              <a:pPr algn="ctr"/>
              <a:r>
                <a:rPr lang="zh-CN" sz="2100" dirty="0">
                  <a:solidFill>
                    <a:schemeClr val="accent1"/>
                  </a:solidFill>
                  <a:latin typeface="+mn-lt"/>
                  <a:ea typeface="+mn-ea"/>
                  <a:cs typeface="+mn-cs"/>
                </a:rPr>
                <a:t>已有个体轨迹</a:t>
              </a:r>
            </a:p>
          </p:txBody>
        </p:sp>
        <p:sp>
          <p:nvSpPr>
            <p:cNvPr id="12" name="TextBox 12"/>
            <p:cNvSpPr txBox="1"/>
            <p:nvPr/>
          </p:nvSpPr>
          <p:spPr>
            <a:xfrm>
              <a:off x="724090" y="4292600"/>
              <a:ext cx="2237994" cy="322707"/>
            </a:xfrm>
            <a:prstGeom prst="rect">
              <a:avLst/>
            </a:prstGeom>
            <a:noFill/>
            <a:ln>
              <a:noFill/>
            </a:ln>
          </p:spPr>
          <p:txBody>
            <a:bodyPr wrap="none" lIns="0" tIns="0" rIns="0" bIns="0" anchor="t" anchorCtr="0">
              <a:spAutoFit/>
            </a:bodyPr>
            <a:lstStyle/>
            <a:p>
              <a:pPr algn="ctr"/>
              <a:r>
                <a:rPr lang="zh-CN" sz="1650" dirty="0">
                  <a:solidFill>
                    <a:schemeClr val="accent5"/>
                  </a:solidFill>
                  <a:latin typeface="+mn-lt"/>
                  <a:ea typeface="+mn-ea"/>
                  <a:cs typeface="+mn-cs"/>
                </a:rPr>
                <a:t>历史编号、位置、外观</a:t>
              </a:r>
            </a:p>
          </p:txBody>
        </p:sp>
        <p:sp>
          <p:nvSpPr>
            <p:cNvPr id="13" name="Rectangle 13"/>
            <p:cNvSpPr/>
            <p:nvPr/>
          </p:nvSpPr>
          <p:spPr>
            <a:xfrm>
              <a:off x="3771900" y="2352675"/>
              <a:ext cx="2819400" cy="857250"/>
            </a:xfrm>
            <a:prstGeom prst="rect">
              <a:avLst/>
            </a:prstGeom>
            <a:solidFill>
              <a:schemeClr val="lt1"/>
            </a:solidFill>
            <a:ln w="9525">
              <a:solidFill>
                <a:schemeClr val="accent6"/>
              </a:solidFill>
            </a:ln>
          </p:spPr>
        </p:sp>
        <p:sp>
          <p:nvSpPr>
            <p:cNvPr id="14" name="TextBox 14"/>
            <p:cNvSpPr txBox="1"/>
            <p:nvPr/>
          </p:nvSpPr>
          <p:spPr>
            <a:xfrm>
              <a:off x="4322826" y="2441575"/>
              <a:ext cx="1717548" cy="410718"/>
            </a:xfrm>
            <a:prstGeom prst="rect">
              <a:avLst/>
            </a:prstGeom>
            <a:noFill/>
            <a:ln>
              <a:noFill/>
            </a:ln>
          </p:spPr>
          <p:txBody>
            <a:bodyPr wrap="none" lIns="0" tIns="0" rIns="0" bIns="0" anchor="t" anchorCtr="0">
              <a:spAutoFit/>
            </a:bodyPr>
            <a:lstStyle/>
            <a:p>
              <a:pPr algn="ctr"/>
              <a:r>
                <a:rPr lang="zh-CN" sz="2100" dirty="0">
                  <a:solidFill>
                    <a:schemeClr val="accent1"/>
                  </a:solidFill>
                  <a:latin typeface="+mn-lt"/>
                  <a:ea typeface="+mn-ea"/>
                  <a:cs typeface="+mn-cs"/>
                </a:rPr>
                <a:t>提取个体外观</a:t>
              </a:r>
            </a:p>
          </p:txBody>
        </p:sp>
        <p:sp>
          <p:nvSpPr>
            <p:cNvPr id="15" name="TextBox 15"/>
            <p:cNvSpPr txBox="1"/>
            <p:nvPr/>
          </p:nvSpPr>
          <p:spPr>
            <a:xfrm>
              <a:off x="4062603" y="2835275"/>
              <a:ext cx="2237994" cy="322707"/>
            </a:xfrm>
            <a:prstGeom prst="rect">
              <a:avLst/>
            </a:prstGeom>
            <a:noFill/>
            <a:ln>
              <a:noFill/>
            </a:ln>
          </p:spPr>
          <p:txBody>
            <a:bodyPr wrap="none" lIns="0" tIns="0" rIns="0" bIns="0" anchor="t" anchorCtr="0">
              <a:spAutoFit/>
            </a:bodyPr>
            <a:lstStyle/>
            <a:p>
              <a:pPr algn="ctr"/>
              <a:r>
                <a:rPr lang="zh-CN" sz="1650" dirty="0">
                  <a:solidFill>
                    <a:schemeClr val="accent5"/>
                  </a:solidFill>
                  <a:latin typeface="+mn-lt"/>
                  <a:ea typeface="+mn-ea"/>
                  <a:cs typeface="+mn-cs"/>
                </a:rPr>
                <a:t>比较框区域与轮廓区域</a:t>
              </a:r>
            </a:p>
          </p:txBody>
        </p:sp>
        <p:sp>
          <p:nvSpPr>
            <p:cNvPr id="16" name="Rectangle 16"/>
            <p:cNvSpPr/>
            <p:nvPr/>
          </p:nvSpPr>
          <p:spPr>
            <a:xfrm>
              <a:off x="3771900" y="3810000"/>
              <a:ext cx="2819400" cy="857250"/>
            </a:xfrm>
            <a:prstGeom prst="rect">
              <a:avLst/>
            </a:prstGeom>
            <a:solidFill>
              <a:schemeClr val="lt1"/>
            </a:solidFill>
            <a:ln w="9525">
              <a:solidFill>
                <a:schemeClr val="accent6"/>
              </a:solidFill>
            </a:ln>
          </p:spPr>
        </p:sp>
        <p:sp>
          <p:nvSpPr>
            <p:cNvPr id="17" name="TextBox 17"/>
            <p:cNvSpPr txBox="1"/>
            <p:nvPr/>
          </p:nvSpPr>
          <p:spPr>
            <a:xfrm>
              <a:off x="4322826" y="3898900"/>
              <a:ext cx="1717548" cy="410718"/>
            </a:xfrm>
            <a:prstGeom prst="rect">
              <a:avLst/>
            </a:prstGeom>
            <a:noFill/>
            <a:ln>
              <a:noFill/>
            </a:ln>
          </p:spPr>
          <p:txBody>
            <a:bodyPr wrap="none" lIns="0" tIns="0" rIns="0" bIns="0" anchor="t" anchorCtr="0">
              <a:spAutoFit/>
            </a:bodyPr>
            <a:lstStyle/>
            <a:p>
              <a:pPr algn="ctr"/>
              <a:r>
                <a:rPr lang="zh-CN" sz="2100" dirty="0">
                  <a:solidFill>
                    <a:schemeClr val="accent1"/>
                  </a:solidFill>
                  <a:latin typeface="+mn-lt"/>
                  <a:ea typeface="+mn-ea"/>
                  <a:cs typeface="+mn-cs"/>
                </a:rPr>
                <a:t>预测移动位置</a:t>
              </a:r>
            </a:p>
          </p:txBody>
        </p:sp>
        <p:sp>
          <p:nvSpPr>
            <p:cNvPr id="18" name="TextBox 18"/>
            <p:cNvSpPr txBox="1"/>
            <p:nvPr/>
          </p:nvSpPr>
          <p:spPr>
            <a:xfrm>
              <a:off x="4173664" y="4292600"/>
              <a:ext cx="2015871" cy="322707"/>
            </a:xfrm>
            <a:prstGeom prst="rect">
              <a:avLst/>
            </a:prstGeom>
            <a:noFill/>
            <a:ln>
              <a:noFill/>
            </a:ln>
          </p:spPr>
          <p:txBody>
            <a:bodyPr wrap="none" lIns="0" tIns="0" rIns="0" bIns="0" anchor="t" anchorCtr="0">
              <a:spAutoFit/>
            </a:bodyPr>
            <a:lstStyle/>
            <a:p>
              <a:pPr algn="ctr"/>
              <a:r>
                <a:rPr lang="zh-CN" sz="1650" dirty="0">
                  <a:solidFill>
                    <a:schemeClr val="accent5"/>
                  </a:solidFill>
                  <a:latin typeface="+mn-lt"/>
                  <a:ea typeface="+mn-ea"/>
                  <a:cs typeface="+mn-cs"/>
                </a:rPr>
                <a:t>保留可靠的外观历史</a:t>
              </a:r>
            </a:p>
          </p:txBody>
        </p:sp>
        <p:sp>
          <p:nvSpPr>
            <p:cNvPr id="19" name="Rectangle 19"/>
            <p:cNvSpPr/>
            <p:nvPr/>
          </p:nvSpPr>
          <p:spPr>
            <a:xfrm>
              <a:off x="7267575" y="2943225"/>
              <a:ext cx="2200275" cy="1181100"/>
            </a:xfrm>
            <a:prstGeom prst="rect">
              <a:avLst/>
            </a:prstGeom>
            <a:solidFill>
              <a:schemeClr val="lt1"/>
            </a:solidFill>
            <a:ln w="19050">
              <a:solidFill>
                <a:schemeClr val="accent2"/>
              </a:solidFill>
            </a:ln>
          </p:spPr>
        </p:sp>
        <p:sp>
          <p:nvSpPr>
            <p:cNvPr id="20" name="TextBox 20"/>
            <p:cNvSpPr txBox="1"/>
            <p:nvPr/>
          </p:nvSpPr>
          <p:spPr>
            <a:xfrm>
              <a:off x="7367588" y="3108325"/>
              <a:ext cx="2000250" cy="410718"/>
            </a:xfrm>
            <a:prstGeom prst="rect">
              <a:avLst/>
            </a:prstGeom>
            <a:noFill/>
            <a:ln>
              <a:noFill/>
            </a:ln>
          </p:spPr>
          <p:txBody>
            <a:bodyPr wrap="none" lIns="0" tIns="0" rIns="0" bIns="0" anchor="t" anchorCtr="0">
              <a:spAutoFit/>
            </a:bodyPr>
            <a:lstStyle/>
            <a:p>
              <a:pPr algn="ctr"/>
              <a:r>
                <a:rPr lang="zh-CN" sz="2100" b="1" dirty="0">
                  <a:solidFill>
                    <a:schemeClr val="accent2"/>
                  </a:solidFill>
                  <a:latin typeface="+mn-lt"/>
                  <a:ea typeface="+mn-ea"/>
                  <a:cs typeface="+mn-cs"/>
                </a:rPr>
                <a:t>运动与外观关联</a:t>
              </a:r>
            </a:p>
          </p:txBody>
        </p:sp>
        <p:sp>
          <p:nvSpPr>
            <p:cNvPr id="21" name="TextBox 21"/>
            <p:cNvSpPr txBox="1"/>
            <p:nvPr/>
          </p:nvSpPr>
          <p:spPr>
            <a:xfrm>
              <a:off x="7248716" y="3578225"/>
              <a:ext cx="2237994" cy="322707"/>
            </a:xfrm>
            <a:prstGeom prst="rect">
              <a:avLst/>
            </a:prstGeom>
            <a:noFill/>
            <a:ln>
              <a:noFill/>
            </a:ln>
          </p:spPr>
          <p:txBody>
            <a:bodyPr wrap="none" lIns="0" tIns="0" rIns="0" bIns="0" anchor="t" anchorCtr="0">
              <a:spAutoFit/>
            </a:bodyPr>
            <a:lstStyle/>
            <a:p>
              <a:pPr algn="ctr"/>
              <a:r>
                <a:rPr lang="zh-CN" sz="1650" dirty="0">
                  <a:solidFill>
                    <a:schemeClr val="accent5"/>
                  </a:solidFill>
                  <a:latin typeface="+mn-lt"/>
                  <a:ea typeface="+mn-ea"/>
                  <a:cs typeface="+mn-cs"/>
                </a:rPr>
                <a:t>判断前后是否同一个体</a:t>
              </a:r>
            </a:p>
          </p:txBody>
        </p:sp>
        <p:sp>
          <p:nvSpPr>
            <p:cNvPr id="22" name="Rectangle 22"/>
            <p:cNvSpPr/>
            <p:nvPr/>
          </p:nvSpPr>
          <p:spPr>
            <a:xfrm>
              <a:off x="10096500" y="3124200"/>
              <a:ext cx="1485900" cy="819150"/>
            </a:xfrm>
            <a:prstGeom prst="rect">
              <a:avLst/>
            </a:prstGeom>
            <a:solidFill>
              <a:schemeClr val="accent2"/>
            </a:solidFill>
            <a:ln>
              <a:noFill/>
            </a:ln>
          </p:spPr>
        </p:sp>
        <p:sp>
          <p:nvSpPr>
            <p:cNvPr id="23" name="TextBox 23"/>
            <p:cNvSpPr txBox="1"/>
            <p:nvPr/>
          </p:nvSpPr>
          <p:spPr>
            <a:xfrm>
              <a:off x="10374325" y="3213100"/>
              <a:ext cx="930250" cy="410718"/>
            </a:xfrm>
            <a:prstGeom prst="rect">
              <a:avLst/>
            </a:prstGeom>
            <a:noFill/>
            <a:ln>
              <a:noFill/>
            </a:ln>
          </p:spPr>
          <p:txBody>
            <a:bodyPr wrap="none" lIns="0" tIns="0" rIns="0" bIns="0" anchor="t" anchorCtr="0">
              <a:spAutoFit/>
            </a:bodyPr>
            <a:lstStyle/>
            <a:p>
              <a:pPr algn="ctr"/>
              <a:r>
                <a:rPr lang="zh-CN" sz="2100" dirty="0">
                  <a:solidFill>
                    <a:srgbClr val="FFFFFF"/>
                  </a:solidFill>
                  <a:latin typeface="+mn-lt"/>
                  <a:ea typeface="+mn-ea"/>
                  <a:cs typeface="+mn-cs"/>
                </a:rPr>
                <a:t>持续 ID</a:t>
              </a:r>
            </a:p>
          </p:txBody>
        </p:sp>
        <p:sp>
          <p:nvSpPr>
            <p:cNvPr id="24" name="TextBox 24"/>
            <p:cNvSpPr txBox="1"/>
            <p:nvPr/>
          </p:nvSpPr>
          <p:spPr>
            <a:xfrm>
              <a:off x="10386822" y="3597275"/>
              <a:ext cx="905256" cy="322707"/>
            </a:xfrm>
            <a:prstGeom prst="rect">
              <a:avLst/>
            </a:prstGeom>
            <a:noFill/>
            <a:ln>
              <a:noFill/>
            </a:ln>
          </p:spPr>
          <p:txBody>
            <a:bodyPr wrap="none" lIns="0" tIns="0" rIns="0" bIns="0" anchor="t" anchorCtr="0">
              <a:spAutoFit/>
            </a:bodyPr>
            <a:lstStyle/>
            <a:p>
              <a:pPr algn="ctr"/>
              <a:r>
                <a:rPr lang="zh-CN" sz="1650" dirty="0">
                  <a:solidFill>
                    <a:srgbClr val="FFFFFF"/>
                  </a:solidFill>
                  <a:latin typeface="+mn-lt"/>
                  <a:ea typeface="+mn-ea"/>
                  <a:cs typeface="+mn-cs"/>
                </a:rPr>
                <a:t>更新轨迹</a:t>
              </a:r>
            </a:p>
          </p:txBody>
        </p:sp>
        <p:grpSp>
          <p:nvGrpSpPr>
            <p:cNvPr id="34" name="Group 34"/>
            <p:cNvGrpSpPr/>
            <p:nvPr/>
          </p:nvGrpSpPr>
          <p:grpSpPr>
            <a:xfrm>
              <a:off x="3076575" y="2781300"/>
              <a:ext cx="6981825" cy="1466850"/>
              <a:chOff x="3076575" y="2781300"/>
              <a:chExt cx="6981825" cy="1466850"/>
            </a:xfrm>
          </p:grpSpPr>
          <p:sp>
            <p:nvSpPr>
              <p:cNvPr id="25" name="Line 25"/>
              <p:cNvSpPr/>
              <p:nvPr/>
            </p:nvSpPr>
            <p:spPr>
              <a:xfrm>
                <a:off x="3076575" y="2781300"/>
                <a:ext cx="657225" cy="1"/>
              </a:xfrm>
              <a:prstGeom prst="line">
                <a:avLst/>
              </a:prstGeom>
              <a:noFill/>
              <a:ln w="19050">
                <a:solidFill>
                  <a:srgbClr val="596B80"/>
                </a:solidFill>
                <a:tailEnd type="triangle" w="lg" len="lg"/>
              </a:ln>
            </p:spPr>
          </p:sp>
          <p:sp>
            <p:nvSpPr>
              <p:cNvPr id="26" name="Line 26"/>
              <p:cNvSpPr/>
              <p:nvPr/>
            </p:nvSpPr>
            <p:spPr>
              <a:xfrm>
                <a:off x="3076575" y="4238625"/>
                <a:ext cx="657225" cy="1"/>
              </a:xfrm>
              <a:prstGeom prst="line">
                <a:avLst/>
              </a:prstGeom>
              <a:noFill/>
              <a:ln w="19050">
                <a:solidFill>
                  <a:srgbClr val="596B80"/>
                </a:solidFill>
                <a:tailEnd type="triangle" w="lg" len="lg"/>
              </a:ln>
            </p:spPr>
          </p:sp>
          <p:sp>
            <p:nvSpPr>
              <p:cNvPr id="27" name="Line 27"/>
              <p:cNvSpPr/>
              <p:nvPr/>
            </p:nvSpPr>
            <p:spPr>
              <a:xfrm>
                <a:off x="6591300" y="2781300"/>
                <a:ext cx="371475" cy="9525"/>
              </a:xfrm>
              <a:custGeom>
                <a:avLst/>
                <a:gdLst/>
                <a:ahLst/>
                <a:cxnLst/>
                <a:rect l="l" t="t" r="r" b="b"/>
                <a:pathLst>
                  <a:path w="371475" h="9525">
                    <a:moveTo>
                      <a:pt x="0" y="0"/>
                    </a:moveTo>
                    <a:lnTo>
                      <a:pt x="371475" y="0"/>
                    </a:lnTo>
                  </a:path>
                </a:pathLst>
              </a:custGeom>
              <a:noFill/>
              <a:ln w="19050">
                <a:solidFill>
                  <a:srgbClr val="596B80"/>
                </a:solidFill>
              </a:ln>
            </p:spPr>
          </p:sp>
          <p:sp>
            <p:nvSpPr>
              <p:cNvPr id="28" name="Line 28"/>
              <p:cNvSpPr/>
              <p:nvPr/>
            </p:nvSpPr>
            <p:spPr>
              <a:xfrm>
                <a:off x="6962775" y="2781300"/>
                <a:ext cx="9525" cy="447675"/>
              </a:xfrm>
              <a:custGeom>
                <a:avLst/>
                <a:gdLst/>
                <a:ahLst/>
                <a:cxnLst/>
                <a:rect l="l" t="t" r="r" b="b"/>
                <a:pathLst>
                  <a:path w="9525" h="447675">
                    <a:moveTo>
                      <a:pt x="0" y="0"/>
                    </a:moveTo>
                    <a:lnTo>
                      <a:pt x="0" y="447675"/>
                    </a:lnTo>
                  </a:path>
                </a:pathLst>
              </a:custGeom>
              <a:noFill/>
              <a:ln w="19050">
                <a:solidFill>
                  <a:srgbClr val="596B80"/>
                </a:solidFill>
              </a:ln>
            </p:spPr>
          </p:sp>
          <p:sp>
            <p:nvSpPr>
              <p:cNvPr id="29" name="Line 29"/>
              <p:cNvSpPr/>
              <p:nvPr/>
            </p:nvSpPr>
            <p:spPr>
              <a:xfrm>
                <a:off x="6962775" y="3228975"/>
                <a:ext cx="266700" cy="1"/>
              </a:xfrm>
              <a:prstGeom prst="line">
                <a:avLst/>
              </a:prstGeom>
              <a:noFill/>
              <a:ln w="19050">
                <a:solidFill>
                  <a:srgbClr val="596B80"/>
                </a:solidFill>
                <a:tailEnd type="triangle" w="lg" len="lg"/>
              </a:ln>
            </p:spPr>
          </p:sp>
          <p:sp>
            <p:nvSpPr>
              <p:cNvPr id="30" name="Line 30"/>
              <p:cNvSpPr/>
              <p:nvPr/>
            </p:nvSpPr>
            <p:spPr>
              <a:xfrm>
                <a:off x="6591300" y="4238625"/>
                <a:ext cx="371475" cy="9525"/>
              </a:xfrm>
              <a:custGeom>
                <a:avLst/>
                <a:gdLst/>
                <a:ahLst/>
                <a:cxnLst/>
                <a:rect l="l" t="t" r="r" b="b"/>
                <a:pathLst>
                  <a:path w="371475" h="9525">
                    <a:moveTo>
                      <a:pt x="0" y="0"/>
                    </a:moveTo>
                    <a:lnTo>
                      <a:pt x="371475" y="0"/>
                    </a:lnTo>
                  </a:path>
                </a:pathLst>
              </a:custGeom>
              <a:noFill/>
              <a:ln w="19050">
                <a:solidFill>
                  <a:srgbClr val="596B80"/>
                </a:solidFill>
              </a:ln>
            </p:spPr>
          </p:sp>
          <p:sp>
            <p:nvSpPr>
              <p:cNvPr id="31" name="Line 31"/>
              <p:cNvSpPr/>
              <p:nvPr/>
            </p:nvSpPr>
            <p:spPr>
              <a:xfrm>
                <a:off x="6962775" y="3838575"/>
                <a:ext cx="9525" cy="400050"/>
              </a:xfrm>
              <a:custGeom>
                <a:avLst/>
                <a:gdLst/>
                <a:ahLst/>
                <a:cxnLst/>
                <a:rect l="l" t="t" r="r" b="b"/>
                <a:pathLst>
                  <a:path w="9525" h="400050">
                    <a:moveTo>
                      <a:pt x="0" y="400050"/>
                    </a:moveTo>
                    <a:lnTo>
                      <a:pt x="0" y="0"/>
                    </a:lnTo>
                  </a:path>
                </a:pathLst>
              </a:custGeom>
              <a:noFill/>
              <a:ln w="19050">
                <a:solidFill>
                  <a:srgbClr val="596B80"/>
                </a:solidFill>
              </a:ln>
            </p:spPr>
          </p:sp>
          <p:sp>
            <p:nvSpPr>
              <p:cNvPr id="32" name="Line 32"/>
              <p:cNvSpPr/>
              <p:nvPr/>
            </p:nvSpPr>
            <p:spPr>
              <a:xfrm>
                <a:off x="6962775" y="3838575"/>
                <a:ext cx="266700" cy="1"/>
              </a:xfrm>
              <a:prstGeom prst="line">
                <a:avLst/>
              </a:prstGeom>
              <a:noFill/>
              <a:ln w="19050">
                <a:solidFill>
                  <a:srgbClr val="596B80"/>
                </a:solidFill>
                <a:tailEnd type="triangle" w="lg" len="lg"/>
              </a:ln>
            </p:spPr>
          </p:sp>
          <p:sp>
            <p:nvSpPr>
              <p:cNvPr id="33" name="Line 33"/>
              <p:cNvSpPr/>
              <p:nvPr/>
            </p:nvSpPr>
            <p:spPr>
              <a:xfrm>
                <a:off x="9467850" y="3533775"/>
                <a:ext cx="590550" cy="1"/>
              </a:xfrm>
              <a:prstGeom prst="line">
                <a:avLst/>
              </a:prstGeom>
              <a:noFill/>
              <a:ln w="19050">
                <a:solidFill>
                  <a:srgbClr val="596B80"/>
                </a:solidFill>
                <a:tailEnd type="triangle" w="lg" len="lg"/>
              </a:ln>
            </p:spPr>
          </p:sp>
        </p:grpSp>
      </p:grpSp>
      <p:grpSp>
        <p:nvGrpSpPr>
          <p:cNvPr id="38" name="model-plan"/>
          <p:cNvGrpSpPr/>
          <p:nvPr/>
        </p:nvGrpSpPr>
        <p:grpSpPr>
          <a:xfrm>
            <a:off x="598932" y="5308600"/>
            <a:ext cx="8871816" cy="811657"/>
            <a:chOff x="598932" y="5308600"/>
            <a:chExt cx="8871816" cy="811657"/>
          </a:xfrm>
        </p:grpSpPr>
        <p:sp>
          <p:nvSpPr>
            <p:cNvPr id="36" name="TextBox 36"/>
            <p:cNvSpPr txBox="1"/>
            <p:nvPr/>
          </p:nvSpPr>
          <p:spPr>
            <a:xfrm>
              <a:off x="598932" y="5308600"/>
              <a:ext cx="8871816"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基线采用 ByteTrack，参照 BoT-SORT 研究运动与外观的联合关联。</a:t>
              </a:r>
            </a:p>
          </p:txBody>
        </p:sp>
        <p:sp>
          <p:nvSpPr>
            <p:cNvPr id="37" name="TextBox 37"/>
            <p:cNvSpPr txBox="1"/>
            <p:nvPr/>
          </p:nvSpPr>
          <p:spPr>
            <a:xfrm>
              <a:off x="601218" y="5797550"/>
              <a:ext cx="7568946"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轮廓需明确用于外观提取或关联；仅替换掩码，不会自动改善纯检测框跟踪。</a:t>
              </a:r>
            </a:p>
          </p:txBody>
        </p:sp>
      </p:grpSp>
      <p:grpSp>
        <p:nvGrpSpPr>
          <p:cNvPr id="41" name="footer"/>
          <p:cNvGrpSpPr/>
          <p:nvPr/>
        </p:nvGrpSpPr>
        <p:grpSpPr>
          <a:xfrm>
            <a:off x="603504" y="6410325"/>
            <a:ext cx="10984992" cy="234696"/>
            <a:chOff x="603504" y="6410325"/>
            <a:chExt cx="10984992" cy="234696"/>
          </a:xfrm>
        </p:grpSpPr>
        <p:sp>
          <p:nvSpPr>
            <p:cNvPr id="39" name="TextBox 39"/>
            <p:cNvSpPr txBox="1"/>
            <p:nvPr/>
          </p:nvSpPr>
          <p:spPr>
            <a:xfrm>
              <a:off x="603504" y="6410325"/>
              <a:ext cx="6076427"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拟研究框架，尚无视频实验结果；参考 ByteTrack（2022）、BoT-SORT（2022）。</a:t>
              </a:r>
            </a:p>
          </p:txBody>
        </p:sp>
        <p:sp>
          <p:nvSpPr>
            <p:cNvPr id="40" name="TextBox 40"/>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16 / 22</a:t>
              </a:r>
            </a:p>
          </p:txBody>
        </p:sp>
      </p:gr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3665220" cy="964565"/>
            <a:chOff x="594360" y="415925"/>
            <a:chExt cx="3665220" cy="964565"/>
          </a:xfrm>
        </p:grpSpPr>
        <p:sp>
          <p:nvSpPr>
            <p:cNvPr id="2" name="TextBox 2"/>
            <p:cNvSpPr txBox="1"/>
            <p:nvPr/>
          </p:nvSpPr>
          <p:spPr>
            <a:xfrm>
              <a:off x="601218" y="415925"/>
              <a:ext cx="3059849"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02 研究方法 · 模块二 · 拟开展</a:t>
              </a:r>
            </a:p>
          </p:txBody>
        </p:sp>
        <p:sp>
          <p:nvSpPr>
            <p:cNvPr id="3" name="TextBox 3"/>
            <p:cNvSpPr txBox="1"/>
            <p:nvPr/>
          </p:nvSpPr>
          <p:spPr>
            <a:xfrm>
              <a:off x="594360" y="793750"/>
              <a:ext cx="366522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身份保持的实验设想</a:t>
              </a:r>
            </a:p>
          </p:txBody>
        </p:sp>
      </p:grpSp>
      <p:grpSp>
        <p:nvGrpSpPr>
          <p:cNvPr id="6" name="video-scope"/>
          <p:cNvGrpSpPr/>
          <p:nvPr/>
        </p:nvGrpSpPr>
        <p:grpSpPr>
          <a:xfrm>
            <a:off x="601218" y="1663700"/>
            <a:ext cx="6458331" cy="322707"/>
            <a:chOff x="601218" y="1663700"/>
            <a:chExt cx="6458331" cy="322707"/>
          </a:xfrm>
        </p:grpSpPr>
        <p:sp>
          <p:nvSpPr>
            <p:cNvPr id="5" name="TextBox 5"/>
            <p:cNvSpPr txBox="1"/>
            <p:nvPr/>
          </p:nvSpPr>
          <p:spPr>
            <a:xfrm>
              <a:off x="601218" y="1663700"/>
              <a:ext cx="6458331"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先固定视频与检测结果，再分别检验关联方法和轮廓信息的作用。</a:t>
              </a:r>
            </a:p>
          </p:txBody>
        </p:sp>
      </p:grpSp>
      <p:grpSp>
        <p:nvGrpSpPr>
          <p:cNvPr id="22" name="planned-comparison"/>
          <p:cNvGrpSpPr/>
          <p:nvPr/>
        </p:nvGrpSpPr>
        <p:grpSpPr>
          <a:xfrm>
            <a:off x="598932" y="2222500"/>
            <a:ext cx="10983468" cy="2877693"/>
            <a:chOff x="598932" y="2222500"/>
            <a:chExt cx="10983468" cy="2877693"/>
          </a:xfrm>
        </p:grpSpPr>
        <p:sp>
          <p:nvSpPr>
            <p:cNvPr id="7" name="TextBox 7"/>
            <p:cNvSpPr txBox="1"/>
            <p:nvPr/>
          </p:nvSpPr>
          <p:spPr>
            <a:xfrm>
              <a:off x="598932" y="2222500"/>
              <a:ext cx="1717548"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拟比较的配置</a:t>
              </a:r>
            </a:p>
          </p:txBody>
        </p:sp>
        <p:sp>
          <p:nvSpPr>
            <p:cNvPr id="8" name="TextBox 8"/>
            <p:cNvSpPr txBox="1"/>
            <p:nvPr/>
          </p:nvSpPr>
          <p:spPr>
            <a:xfrm>
              <a:off x="6409182" y="2222500"/>
              <a:ext cx="2000250"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希望回答的问题</a:t>
              </a:r>
            </a:p>
          </p:txBody>
        </p:sp>
        <p:sp>
          <p:nvSpPr>
            <p:cNvPr id="9" name="Line 9"/>
            <p:cNvSpPr/>
            <p:nvPr/>
          </p:nvSpPr>
          <p:spPr>
            <a:xfrm>
              <a:off x="609600" y="2667000"/>
              <a:ext cx="10972800" cy="9525"/>
            </a:xfrm>
            <a:custGeom>
              <a:avLst/>
              <a:gdLst/>
              <a:ahLst/>
              <a:cxnLst/>
              <a:rect l="l" t="t" r="r" b="b"/>
              <a:pathLst>
                <a:path w="10972800" h="9525">
                  <a:moveTo>
                    <a:pt x="0" y="0"/>
                  </a:moveTo>
                  <a:lnTo>
                    <a:pt x="10972800" y="0"/>
                  </a:lnTo>
                </a:path>
              </a:pathLst>
            </a:custGeom>
            <a:noFill/>
            <a:ln w="19050">
              <a:solidFill>
                <a:schemeClr val="accent6"/>
              </a:solidFill>
            </a:ln>
          </p:spPr>
        </p:sp>
        <p:grpSp>
          <p:nvGrpSpPr>
            <p:cNvPr id="21" name="Group 21"/>
            <p:cNvGrpSpPr/>
            <p:nvPr/>
          </p:nvGrpSpPr>
          <p:grpSpPr>
            <a:xfrm>
              <a:off x="598932" y="2832100"/>
              <a:ext cx="10983468" cy="2268093"/>
              <a:chOff x="598932" y="2832100"/>
              <a:chExt cx="10983468" cy="2268093"/>
            </a:xfrm>
          </p:grpSpPr>
          <p:sp>
            <p:nvSpPr>
              <p:cNvPr id="10" name="TextBox 10"/>
              <p:cNvSpPr txBox="1"/>
              <p:nvPr/>
            </p:nvSpPr>
            <p:spPr>
              <a:xfrm>
                <a:off x="598932" y="2832100"/>
                <a:ext cx="3421317"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① 相同检测框 + ByteTrack</a:t>
                </a:r>
              </a:p>
            </p:txBody>
          </p:sp>
          <p:sp>
            <p:nvSpPr>
              <p:cNvPr id="11" name="TextBox 11"/>
              <p:cNvSpPr txBox="1"/>
              <p:nvPr/>
            </p:nvSpPr>
            <p:spPr>
              <a:xfrm>
                <a:off x="6409182" y="2832100"/>
                <a:ext cx="397916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现有跟踪基线在本场景表现如何</a:t>
                </a:r>
              </a:p>
            </p:txBody>
          </p:sp>
          <p:sp>
            <p:nvSpPr>
              <p:cNvPr id="12" name="Line 12"/>
              <p:cNvSpPr/>
              <p:nvPr/>
            </p:nvSpPr>
            <p:spPr>
              <a:xfrm>
                <a:off x="609600" y="3286125"/>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3" name="TextBox 13"/>
              <p:cNvSpPr txBox="1"/>
              <p:nvPr/>
            </p:nvSpPr>
            <p:spPr>
              <a:xfrm>
                <a:off x="598932" y="3451225"/>
                <a:ext cx="3654057"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② 在基线上加入外观联合关联</a:t>
                </a:r>
              </a:p>
            </p:txBody>
          </p:sp>
          <p:sp>
            <p:nvSpPr>
              <p:cNvPr id="14" name="TextBox 14"/>
              <p:cNvSpPr txBox="1"/>
              <p:nvPr/>
            </p:nvSpPr>
            <p:spPr>
              <a:xfrm>
                <a:off x="6409182" y="3451225"/>
                <a:ext cx="397916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交叉运动时，外观能否减少换号</a:t>
                </a:r>
              </a:p>
            </p:txBody>
          </p:sp>
          <p:sp>
            <p:nvSpPr>
              <p:cNvPr id="15" name="Line 15"/>
              <p:cNvSpPr/>
              <p:nvPr/>
            </p:nvSpPr>
            <p:spPr>
              <a:xfrm>
                <a:off x="609600" y="39052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6" name="TextBox 16"/>
              <p:cNvSpPr txBox="1"/>
              <p:nvPr/>
            </p:nvSpPr>
            <p:spPr>
              <a:xfrm>
                <a:off x="598932" y="4070350"/>
                <a:ext cx="3371355"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③ 用原生轮廓提取个体外观</a:t>
                </a:r>
              </a:p>
            </p:txBody>
          </p:sp>
          <p:sp>
            <p:nvSpPr>
              <p:cNvPr id="17" name="TextBox 17"/>
              <p:cNvSpPr txBox="1"/>
              <p:nvPr/>
            </p:nvSpPr>
            <p:spPr>
              <a:xfrm>
                <a:off x="6409182" y="4070350"/>
                <a:ext cx="369646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减少邻近个体混入是否有帮助</a:t>
                </a:r>
              </a:p>
            </p:txBody>
          </p:sp>
          <p:sp>
            <p:nvSpPr>
              <p:cNvPr id="18" name="Line 18"/>
              <p:cNvSpPr/>
              <p:nvPr/>
            </p:nvSpPr>
            <p:spPr>
              <a:xfrm>
                <a:off x="609600" y="4524375"/>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9" name="TextBox 19"/>
              <p:cNvSpPr txBox="1"/>
              <p:nvPr/>
            </p:nvSpPr>
            <p:spPr>
              <a:xfrm>
                <a:off x="598932" y="4689475"/>
                <a:ext cx="3526841"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④ 仅将③的轮廓换成修正结果</a:t>
                </a:r>
              </a:p>
            </p:txBody>
          </p:sp>
          <p:sp>
            <p:nvSpPr>
              <p:cNvPr id="20" name="TextBox 20"/>
              <p:cNvSpPr txBox="1"/>
              <p:nvPr/>
            </p:nvSpPr>
            <p:spPr>
              <a:xfrm>
                <a:off x="6409182" y="4689475"/>
                <a:ext cx="4261866"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模块一的改善能否转化为身份收益</a:t>
                </a:r>
              </a:p>
            </p:txBody>
          </p:sp>
        </p:grpSp>
      </p:grpSp>
      <p:grpSp>
        <p:nvGrpSpPr>
          <p:cNvPr id="25" name="evaluation-plan"/>
          <p:cNvGrpSpPr/>
          <p:nvPr/>
        </p:nvGrpSpPr>
        <p:grpSpPr>
          <a:xfrm>
            <a:off x="598932" y="5308600"/>
            <a:ext cx="8507501" cy="802132"/>
            <a:chOff x="598932" y="5308600"/>
            <a:chExt cx="8507501" cy="802132"/>
          </a:xfrm>
        </p:grpSpPr>
        <p:sp>
          <p:nvSpPr>
            <p:cNvPr id="23" name="TextBox 23"/>
            <p:cNvSpPr txBox="1"/>
            <p:nvPr/>
          </p:nvSpPr>
          <p:spPr>
            <a:xfrm>
              <a:off x="598932" y="5308600"/>
              <a:ext cx="7417780"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评价：IDF1、编号切换次数、轨迹断裂、端到端处理速度。</a:t>
              </a:r>
            </a:p>
          </p:txBody>
        </p:sp>
        <p:sp>
          <p:nvSpPr>
            <p:cNvPr id="24" name="TextBox 24"/>
            <p:cNvSpPr txBox="1"/>
            <p:nvPr/>
          </p:nvSpPr>
          <p:spPr>
            <a:xfrm>
              <a:off x="601218" y="5788025"/>
              <a:ext cx="8505215"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按完整场景或序列划分数据；标注跨帧真实 ID；重点覆盖交叉、相似外观与短暂漏检。</a:t>
              </a:r>
            </a:p>
          </p:txBody>
        </p:sp>
      </p:grpSp>
      <p:grpSp>
        <p:nvGrpSpPr>
          <p:cNvPr id="28" name="footer"/>
          <p:cNvGrpSpPr/>
          <p:nvPr/>
        </p:nvGrpSpPr>
        <p:grpSpPr>
          <a:xfrm>
            <a:off x="603504" y="6410325"/>
            <a:ext cx="10984992" cy="234696"/>
            <a:chOff x="603504" y="6410325"/>
            <a:chExt cx="10984992" cy="234696"/>
          </a:xfrm>
        </p:grpSpPr>
        <p:sp>
          <p:nvSpPr>
            <p:cNvPr id="26" name="TextBox 26"/>
            <p:cNvSpPr txBox="1"/>
            <p:nvPr/>
          </p:nvSpPr>
          <p:spPr>
            <a:xfrm>
              <a:off x="603504" y="6410325"/>
              <a:ext cx="6694729"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外观特征需验证目标场景适用性；可用 TrackEval 统一评价；实验配置和预算在运行前固定。</a:t>
              </a:r>
            </a:p>
          </p:txBody>
        </p:sp>
        <p:sp>
          <p:nvSpPr>
            <p:cNvPr id="27" name="TextBox 27"/>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17 / 22</a:t>
              </a:r>
            </a:p>
          </p:txBody>
        </p:sp>
      </p:gr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5280660" cy="964565"/>
            <a:chOff x="594360" y="415925"/>
            <a:chExt cx="5280660" cy="964565"/>
          </a:xfrm>
        </p:grpSpPr>
        <p:sp>
          <p:nvSpPr>
            <p:cNvPr id="2" name="TextBox 2"/>
            <p:cNvSpPr txBox="1"/>
            <p:nvPr/>
          </p:nvSpPr>
          <p:spPr>
            <a:xfrm>
              <a:off x="601218" y="415925"/>
              <a:ext cx="3059849" cy="322707"/>
            </a:xfrm>
            <a:prstGeom prst="rect">
              <a:avLst/>
            </a:prstGeom>
            <a:noFill/>
            <a:ln>
              <a:noFill/>
            </a:ln>
          </p:spPr>
          <p:txBody>
            <a:bodyPr wrap="none" lIns="0" tIns="0" rIns="0" bIns="0" anchor="t" anchorCtr="0">
              <a:spAutoFit/>
            </a:bodyPr>
            <a:lstStyle/>
            <a:p>
              <a:pPr algn="l"/>
              <a:r>
                <a:rPr lang="zh-CN" sz="1650" dirty="0">
                  <a:solidFill>
                    <a:schemeClr val="accent3"/>
                  </a:solidFill>
                  <a:latin typeface="+mn-lt"/>
                  <a:ea typeface="+mn-ea"/>
                  <a:cs typeface="+mn-cs"/>
                </a:rPr>
                <a:t>02 研究方法 · 模块三 · 拟开展</a:t>
              </a:r>
            </a:p>
          </p:txBody>
        </p:sp>
        <p:sp>
          <p:nvSpPr>
            <p:cNvPr id="3" name="TextBox 3"/>
            <p:cNvSpPr txBox="1"/>
            <p:nvPr/>
          </p:nvSpPr>
          <p:spPr>
            <a:xfrm>
              <a:off x="594360" y="793750"/>
              <a:ext cx="528066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遮挡后的身份恢复与轨迹续接</a:t>
              </a:r>
            </a:p>
          </p:txBody>
        </p:sp>
      </p:grpSp>
      <p:grpSp>
        <p:nvGrpSpPr>
          <p:cNvPr id="6" name="recovery-question"/>
          <p:cNvGrpSpPr/>
          <p:nvPr/>
        </p:nvGrpSpPr>
        <p:grpSpPr>
          <a:xfrm>
            <a:off x="601218" y="1654175"/>
            <a:ext cx="6950354" cy="322707"/>
            <a:chOff x="601218" y="1654175"/>
            <a:chExt cx="6950354" cy="322707"/>
          </a:xfrm>
        </p:grpSpPr>
        <p:sp>
          <p:nvSpPr>
            <p:cNvPr id="5" name="TextBox 5"/>
            <p:cNvSpPr txBox="1"/>
            <p:nvPr/>
          </p:nvSpPr>
          <p:spPr>
            <a:xfrm>
              <a:off x="601218" y="1654175"/>
              <a:ext cx="6950354"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重点处理已丢失的轨迹：目标重新出现时，判断能否可靠地接回原 ID。</a:t>
              </a:r>
            </a:p>
          </p:txBody>
        </p:sp>
      </p:grpSp>
      <p:grpSp>
        <p:nvGrpSpPr>
          <p:cNvPr id="32" name="proposed-recovery"/>
          <p:cNvGrpSpPr/>
          <p:nvPr/>
        </p:nvGrpSpPr>
        <p:grpSpPr>
          <a:xfrm>
            <a:off x="601218" y="2187575"/>
            <a:ext cx="10981182" cy="2717800"/>
            <a:chOff x="601218" y="2187575"/>
            <a:chExt cx="10981182" cy="2717800"/>
          </a:xfrm>
        </p:grpSpPr>
        <p:sp>
          <p:nvSpPr>
            <p:cNvPr id="7" name="Rectangle 7"/>
            <p:cNvSpPr/>
            <p:nvPr/>
          </p:nvSpPr>
          <p:spPr>
            <a:xfrm>
              <a:off x="609600" y="2486025"/>
              <a:ext cx="1895475" cy="914400"/>
            </a:xfrm>
            <a:prstGeom prst="rect">
              <a:avLst/>
            </a:prstGeom>
            <a:solidFill>
              <a:schemeClr val="lt2"/>
            </a:solidFill>
            <a:ln>
              <a:noFill/>
            </a:ln>
          </p:spPr>
        </p:sp>
        <p:sp>
          <p:nvSpPr>
            <p:cNvPr id="8" name="TextBox 8"/>
            <p:cNvSpPr txBox="1"/>
            <p:nvPr/>
          </p:nvSpPr>
          <p:spPr>
            <a:xfrm>
              <a:off x="981266" y="2603500"/>
              <a:ext cx="1152144" cy="410718"/>
            </a:xfrm>
            <a:prstGeom prst="rect">
              <a:avLst/>
            </a:prstGeom>
            <a:noFill/>
            <a:ln>
              <a:noFill/>
            </a:ln>
          </p:spPr>
          <p:txBody>
            <a:bodyPr wrap="none" lIns="0" tIns="0" rIns="0" bIns="0" anchor="t" anchorCtr="0">
              <a:spAutoFit/>
            </a:bodyPr>
            <a:lstStyle/>
            <a:p>
              <a:pPr algn="ctr"/>
              <a:r>
                <a:rPr lang="zh-CN" sz="2100" dirty="0">
                  <a:solidFill>
                    <a:schemeClr val="accent1"/>
                  </a:solidFill>
                  <a:latin typeface="+mn-lt"/>
                  <a:ea typeface="+mn-ea"/>
                  <a:cs typeface="+mn-cs"/>
                </a:rPr>
                <a:t>正在跟踪</a:t>
              </a:r>
            </a:p>
          </p:txBody>
        </p:sp>
        <p:sp>
          <p:nvSpPr>
            <p:cNvPr id="9" name="TextBox 9"/>
            <p:cNvSpPr txBox="1"/>
            <p:nvPr/>
          </p:nvSpPr>
          <p:spPr>
            <a:xfrm>
              <a:off x="858698" y="3016250"/>
              <a:ext cx="1397279" cy="322707"/>
            </a:xfrm>
            <a:prstGeom prst="rect">
              <a:avLst/>
            </a:prstGeom>
            <a:noFill/>
            <a:ln>
              <a:noFill/>
            </a:ln>
          </p:spPr>
          <p:txBody>
            <a:bodyPr wrap="none" lIns="0" tIns="0" rIns="0" bIns="0" anchor="t" anchorCtr="0">
              <a:spAutoFit/>
            </a:bodyPr>
            <a:lstStyle/>
            <a:p>
              <a:pPr algn="ctr"/>
              <a:r>
                <a:rPr lang="zh-CN" sz="1650" dirty="0">
                  <a:solidFill>
                    <a:schemeClr val="accent5"/>
                  </a:solidFill>
                  <a:latin typeface="+mn-lt"/>
                  <a:ea typeface="+mn-ea"/>
                  <a:cs typeface="+mn-cs"/>
                </a:rPr>
                <a:t>持续更新原 ID</a:t>
              </a:r>
            </a:p>
          </p:txBody>
        </p:sp>
        <p:sp>
          <p:nvSpPr>
            <p:cNvPr id="10" name="Rectangle 10"/>
            <p:cNvSpPr/>
            <p:nvPr/>
          </p:nvSpPr>
          <p:spPr>
            <a:xfrm>
              <a:off x="3248025" y="2486025"/>
              <a:ext cx="2333625" cy="914400"/>
            </a:xfrm>
            <a:prstGeom prst="rect">
              <a:avLst/>
            </a:prstGeom>
            <a:solidFill>
              <a:schemeClr val="lt2"/>
            </a:solidFill>
            <a:ln>
              <a:noFill/>
            </a:ln>
          </p:spPr>
        </p:sp>
        <p:sp>
          <p:nvSpPr>
            <p:cNvPr id="11" name="TextBox 11"/>
            <p:cNvSpPr txBox="1"/>
            <p:nvPr/>
          </p:nvSpPr>
          <p:spPr>
            <a:xfrm>
              <a:off x="3414712" y="2603500"/>
              <a:ext cx="2000250" cy="410718"/>
            </a:xfrm>
            <a:prstGeom prst="rect">
              <a:avLst/>
            </a:prstGeom>
            <a:noFill/>
            <a:ln>
              <a:noFill/>
            </a:ln>
          </p:spPr>
          <p:txBody>
            <a:bodyPr wrap="none" lIns="0" tIns="0" rIns="0" bIns="0" anchor="t" anchorCtr="0">
              <a:spAutoFit/>
            </a:bodyPr>
            <a:lstStyle/>
            <a:p>
              <a:pPr algn="ctr"/>
              <a:r>
                <a:rPr lang="zh-CN" sz="2100" dirty="0">
                  <a:solidFill>
                    <a:schemeClr val="accent1"/>
                  </a:solidFill>
                  <a:latin typeface="+mn-lt"/>
                  <a:ea typeface="+mn-ea"/>
                  <a:cs typeface="+mn-cs"/>
                </a:rPr>
                <a:t>遮挡后保留记忆</a:t>
              </a:r>
            </a:p>
          </p:txBody>
        </p:sp>
        <p:sp>
          <p:nvSpPr>
            <p:cNvPr id="12" name="TextBox 12"/>
            <p:cNvSpPr txBox="1"/>
            <p:nvPr/>
          </p:nvSpPr>
          <p:spPr>
            <a:xfrm>
              <a:off x="3295840" y="3016250"/>
              <a:ext cx="2237994" cy="322707"/>
            </a:xfrm>
            <a:prstGeom prst="rect">
              <a:avLst/>
            </a:prstGeom>
            <a:noFill/>
            <a:ln>
              <a:noFill/>
            </a:ln>
          </p:spPr>
          <p:txBody>
            <a:bodyPr wrap="none" lIns="0" tIns="0" rIns="0" bIns="0" anchor="t" anchorCtr="0">
              <a:spAutoFit/>
            </a:bodyPr>
            <a:lstStyle/>
            <a:p>
              <a:pPr algn="ctr"/>
              <a:r>
                <a:rPr lang="zh-CN" sz="1650" dirty="0">
                  <a:solidFill>
                    <a:schemeClr val="accent5"/>
                  </a:solidFill>
                  <a:latin typeface="+mn-lt"/>
                  <a:ea typeface="+mn-ea"/>
                  <a:cs typeface="+mn-cs"/>
                </a:rPr>
                <a:t>外观、位置与运动历史</a:t>
              </a:r>
            </a:p>
          </p:txBody>
        </p:sp>
        <p:sp>
          <p:nvSpPr>
            <p:cNvPr id="13" name="Rectangle 13"/>
            <p:cNvSpPr/>
            <p:nvPr/>
          </p:nvSpPr>
          <p:spPr>
            <a:xfrm>
              <a:off x="6334125" y="2486025"/>
              <a:ext cx="2466975" cy="914400"/>
            </a:xfrm>
            <a:prstGeom prst="rect">
              <a:avLst/>
            </a:prstGeom>
            <a:solidFill>
              <a:schemeClr val="lt1"/>
            </a:solidFill>
            <a:ln w="19050">
              <a:solidFill>
                <a:schemeClr val="accent3"/>
              </a:solidFill>
            </a:ln>
          </p:spPr>
        </p:sp>
        <p:sp>
          <p:nvSpPr>
            <p:cNvPr id="14" name="TextBox 14"/>
            <p:cNvSpPr txBox="1"/>
            <p:nvPr/>
          </p:nvSpPr>
          <p:spPr>
            <a:xfrm>
              <a:off x="6567488" y="2603500"/>
              <a:ext cx="2000250" cy="410718"/>
            </a:xfrm>
            <a:prstGeom prst="rect">
              <a:avLst/>
            </a:prstGeom>
            <a:noFill/>
            <a:ln>
              <a:noFill/>
            </a:ln>
          </p:spPr>
          <p:txBody>
            <a:bodyPr wrap="none" lIns="0" tIns="0" rIns="0" bIns="0" anchor="t" anchorCtr="0">
              <a:spAutoFit/>
            </a:bodyPr>
            <a:lstStyle/>
            <a:p>
              <a:pPr algn="ctr"/>
              <a:r>
                <a:rPr lang="zh-CN" sz="2100" dirty="0">
                  <a:solidFill>
                    <a:schemeClr val="accent1"/>
                  </a:solidFill>
                  <a:latin typeface="+mn-lt"/>
                  <a:ea typeface="+mn-ea"/>
                  <a:cs typeface="+mn-cs"/>
                </a:rPr>
                <a:t>重现候选待确认</a:t>
              </a:r>
            </a:p>
          </p:txBody>
        </p:sp>
        <p:sp>
          <p:nvSpPr>
            <p:cNvPr id="15" name="TextBox 15"/>
            <p:cNvSpPr txBox="1"/>
            <p:nvPr/>
          </p:nvSpPr>
          <p:spPr>
            <a:xfrm>
              <a:off x="6559677" y="3016250"/>
              <a:ext cx="2015871" cy="322707"/>
            </a:xfrm>
            <a:prstGeom prst="rect">
              <a:avLst/>
            </a:prstGeom>
            <a:noFill/>
            <a:ln>
              <a:noFill/>
            </a:ln>
          </p:spPr>
          <p:txBody>
            <a:bodyPr wrap="none" lIns="0" tIns="0" rIns="0" bIns="0" anchor="t" anchorCtr="0">
              <a:spAutoFit/>
            </a:bodyPr>
            <a:lstStyle/>
            <a:p>
              <a:pPr algn="ctr"/>
              <a:r>
                <a:rPr lang="zh-CN" sz="1650" dirty="0">
                  <a:solidFill>
                    <a:schemeClr val="accent5"/>
                  </a:solidFill>
                  <a:latin typeface="+mn-lt"/>
                  <a:ea typeface="+mn-ea"/>
                  <a:cs typeface="+mn-cs"/>
                </a:rPr>
                <a:t>筛选候选，连续观测</a:t>
              </a:r>
            </a:p>
          </p:txBody>
        </p:sp>
        <p:sp>
          <p:nvSpPr>
            <p:cNvPr id="16" name="Rectangle 16"/>
            <p:cNvSpPr/>
            <p:nvPr/>
          </p:nvSpPr>
          <p:spPr>
            <a:xfrm>
              <a:off x="9563100" y="2486025"/>
              <a:ext cx="2019300" cy="914400"/>
            </a:xfrm>
            <a:prstGeom prst="rect">
              <a:avLst/>
            </a:prstGeom>
            <a:solidFill>
              <a:schemeClr val="accent2"/>
            </a:solidFill>
            <a:ln>
              <a:noFill/>
            </a:ln>
          </p:spPr>
        </p:sp>
        <p:sp>
          <p:nvSpPr>
            <p:cNvPr id="17" name="TextBox 17"/>
            <p:cNvSpPr txBox="1"/>
            <p:nvPr/>
          </p:nvSpPr>
          <p:spPr>
            <a:xfrm>
              <a:off x="9966274" y="2603500"/>
              <a:ext cx="1212952" cy="410718"/>
            </a:xfrm>
            <a:prstGeom prst="rect">
              <a:avLst/>
            </a:prstGeom>
            <a:noFill/>
            <a:ln>
              <a:noFill/>
            </a:ln>
          </p:spPr>
          <p:txBody>
            <a:bodyPr wrap="none" lIns="0" tIns="0" rIns="0" bIns="0" anchor="t" anchorCtr="0">
              <a:spAutoFit/>
            </a:bodyPr>
            <a:lstStyle/>
            <a:p>
              <a:pPr algn="ctr"/>
              <a:r>
                <a:rPr lang="zh-CN" sz="2100" dirty="0">
                  <a:solidFill>
                    <a:srgbClr val="FFFFFF"/>
                  </a:solidFill>
                  <a:latin typeface="+mn-lt"/>
                  <a:ea typeface="+mn-ea"/>
                  <a:cs typeface="+mn-cs"/>
                </a:rPr>
                <a:t>恢复原 ID</a:t>
              </a:r>
            </a:p>
          </p:txBody>
        </p:sp>
        <p:sp>
          <p:nvSpPr>
            <p:cNvPr id="18" name="TextBox 18"/>
            <p:cNvSpPr txBox="1"/>
            <p:nvPr/>
          </p:nvSpPr>
          <p:spPr>
            <a:xfrm>
              <a:off x="9786938" y="3016250"/>
              <a:ext cx="1571625" cy="322707"/>
            </a:xfrm>
            <a:prstGeom prst="rect">
              <a:avLst/>
            </a:prstGeom>
            <a:noFill/>
            <a:ln>
              <a:noFill/>
            </a:ln>
          </p:spPr>
          <p:txBody>
            <a:bodyPr wrap="none" lIns="0" tIns="0" rIns="0" bIns="0" anchor="t" anchorCtr="0">
              <a:spAutoFit/>
            </a:bodyPr>
            <a:lstStyle/>
            <a:p>
              <a:pPr algn="ctr"/>
              <a:r>
                <a:rPr lang="zh-CN" sz="1650" dirty="0">
                  <a:solidFill>
                    <a:srgbClr val="FFFFFF"/>
                  </a:solidFill>
                  <a:latin typeface="+mn-lt"/>
                  <a:ea typeface="+mn-ea"/>
                  <a:cs typeface="+mn-cs"/>
                </a:rPr>
                <a:t>续接遮挡前记录</a:t>
              </a:r>
            </a:p>
          </p:txBody>
        </p:sp>
        <p:grpSp>
          <p:nvGrpSpPr>
            <p:cNvPr id="23" name="Group 23"/>
            <p:cNvGrpSpPr/>
            <p:nvPr/>
          </p:nvGrpSpPr>
          <p:grpSpPr>
            <a:xfrm>
              <a:off x="2505075" y="2943225"/>
              <a:ext cx="7019925" cy="1085850"/>
              <a:chOff x="2505075" y="2943225"/>
              <a:chExt cx="7019925" cy="1085850"/>
            </a:xfrm>
          </p:grpSpPr>
          <p:sp>
            <p:nvSpPr>
              <p:cNvPr id="19" name="Line 19"/>
              <p:cNvSpPr/>
              <p:nvPr/>
            </p:nvSpPr>
            <p:spPr>
              <a:xfrm>
                <a:off x="2505075" y="2943225"/>
                <a:ext cx="704850" cy="1"/>
              </a:xfrm>
              <a:prstGeom prst="line">
                <a:avLst/>
              </a:prstGeom>
              <a:noFill/>
              <a:ln w="19050">
                <a:solidFill>
                  <a:srgbClr val="596B80"/>
                </a:solidFill>
                <a:tailEnd type="triangle" w="lg" len="lg"/>
              </a:ln>
            </p:spPr>
          </p:sp>
          <p:sp>
            <p:nvSpPr>
              <p:cNvPr id="20" name="Line 20"/>
              <p:cNvSpPr/>
              <p:nvPr/>
            </p:nvSpPr>
            <p:spPr>
              <a:xfrm>
                <a:off x="5581650" y="2943225"/>
                <a:ext cx="714375" cy="1"/>
              </a:xfrm>
              <a:prstGeom prst="line">
                <a:avLst/>
              </a:prstGeom>
              <a:noFill/>
              <a:ln w="19050">
                <a:solidFill>
                  <a:srgbClr val="596B80"/>
                </a:solidFill>
                <a:tailEnd type="triangle" w="lg" len="lg"/>
              </a:ln>
            </p:spPr>
          </p:sp>
          <p:sp>
            <p:nvSpPr>
              <p:cNvPr id="21" name="Line 21"/>
              <p:cNvSpPr/>
              <p:nvPr/>
            </p:nvSpPr>
            <p:spPr>
              <a:xfrm>
                <a:off x="8801100" y="2943225"/>
                <a:ext cx="723900" cy="1"/>
              </a:xfrm>
              <a:prstGeom prst="line">
                <a:avLst/>
              </a:prstGeom>
              <a:noFill/>
              <a:ln w="19050">
                <a:solidFill>
                  <a:srgbClr val="596B80"/>
                </a:solidFill>
                <a:tailEnd type="triangle" w="lg" len="lg"/>
              </a:ln>
            </p:spPr>
          </p:sp>
          <p:sp>
            <p:nvSpPr>
              <p:cNvPr id="22" name="Line 22"/>
              <p:cNvSpPr/>
              <p:nvPr/>
            </p:nvSpPr>
            <p:spPr>
              <a:xfrm>
                <a:off x="7567612" y="3400425"/>
                <a:ext cx="1" cy="628650"/>
              </a:xfrm>
              <a:prstGeom prst="line">
                <a:avLst/>
              </a:prstGeom>
              <a:noFill/>
              <a:ln w="19050">
                <a:solidFill>
                  <a:srgbClr val="596B80"/>
                </a:solidFill>
                <a:tailEnd type="triangle" w="lg" len="lg"/>
              </a:ln>
            </p:spPr>
          </p:sp>
        </p:grpSp>
        <p:sp>
          <p:nvSpPr>
            <p:cNvPr id="24" name="TextBox 24"/>
            <p:cNvSpPr txBox="1"/>
            <p:nvPr/>
          </p:nvSpPr>
          <p:spPr>
            <a:xfrm>
              <a:off x="2655570" y="2187575"/>
              <a:ext cx="461010" cy="322707"/>
            </a:xfrm>
            <a:prstGeom prst="rect">
              <a:avLst/>
            </a:prstGeom>
            <a:noFill/>
            <a:ln>
              <a:noFill/>
            </a:ln>
          </p:spPr>
          <p:txBody>
            <a:bodyPr wrap="none" lIns="0" tIns="0" rIns="0" bIns="0" anchor="t" anchorCtr="0">
              <a:spAutoFit/>
            </a:bodyPr>
            <a:lstStyle/>
            <a:p>
              <a:pPr algn="ctr"/>
              <a:r>
                <a:rPr lang="zh-CN" sz="1650" dirty="0">
                  <a:solidFill>
                    <a:schemeClr val="accent5"/>
                  </a:solidFill>
                  <a:latin typeface="+mn-lt"/>
                  <a:ea typeface="+mn-ea"/>
                  <a:cs typeface="+mn-cs"/>
                </a:rPr>
                <a:t>丢失</a:t>
              </a:r>
            </a:p>
          </p:txBody>
        </p:sp>
        <p:sp>
          <p:nvSpPr>
            <p:cNvPr id="25" name="TextBox 25"/>
            <p:cNvSpPr txBox="1"/>
            <p:nvPr/>
          </p:nvSpPr>
          <p:spPr>
            <a:xfrm>
              <a:off x="5722620" y="2187575"/>
              <a:ext cx="461010" cy="322707"/>
            </a:xfrm>
            <a:prstGeom prst="rect">
              <a:avLst/>
            </a:prstGeom>
            <a:noFill/>
            <a:ln>
              <a:noFill/>
            </a:ln>
          </p:spPr>
          <p:txBody>
            <a:bodyPr wrap="none" lIns="0" tIns="0" rIns="0" bIns="0" anchor="t" anchorCtr="0">
              <a:spAutoFit/>
            </a:bodyPr>
            <a:lstStyle/>
            <a:p>
              <a:pPr algn="ctr"/>
              <a:r>
                <a:rPr lang="zh-CN" sz="1650" dirty="0">
                  <a:solidFill>
                    <a:schemeClr val="accent5"/>
                  </a:solidFill>
                  <a:latin typeface="+mn-lt"/>
                  <a:ea typeface="+mn-ea"/>
                  <a:cs typeface="+mn-cs"/>
                </a:rPr>
                <a:t>重现</a:t>
              </a:r>
            </a:p>
          </p:txBody>
        </p:sp>
        <p:sp>
          <p:nvSpPr>
            <p:cNvPr id="26" name="TextBox 26"/>
            <p:cNvSpPr txBox="1"/>
            <p:nvPr/>
          </p:nvSpPr>
          <p:spPr>
            <a:xfrm>
              <a:off x="8951595" y="2187575"/>
              <a:ext cx="461010" cy="322707"/>
            </a:xfrm>
            <a:prstGeom prst="rect">
              <a:avLst/>
            </a:prstGeom>
            <a:noFill/>
            <a:ln>
              <a:noFill/>
            </a:ln>
          </p:spPr>
          <p:txBody>
            <a:bodyPr wrap="none" lIns="0" tIns="0" rIns="0" bIns="0" anchor="t" anchorCtr="0">
              <a:spAutoFit/>
            </a:bodyPr>
            <a:lstStyle/>
            <a:p>
              <a:pPr algn="ctr"/>
              <a:r>
                <a:rPr lang="zh-CN" sz="1650" dirty="0">
                  <a:solidFill>
                    <a:schemeClr val="accent2"/>
                  </a:solidFill>
                  <a:latin typeface="+mn-lt"/>
                  <a:ea typeface="+mn-ea"/>
                  <a:cs typeface="+mn-cs"/>
                </a:rPr>
                <a:t>可信</a:t>
              </a:r>
            </a:p>
          </p:txBody>
        </p:sp>
        <p:sp>
          <p:nvSpPr>
            <p:cNvPr id="27" name="Rectangle 27"/>
            <p:cNvSpPr/>
            <p:nvPr/>
          </p:nvSpPr>
          <p:spPr>
            <a:xfrm>
              <a:off x="6334125" y="4076700"/>
              <a:ext cx="5248275" cy="828675"/>
            </a:xfrm>
            <a:prstGeom prst="rect">
              <a:avLst/>
            </a:prstGeom>
            <a:solidFill>
              <a:srgbClr val="F7F9FB"/>
            </a:solidFill>
            <a:ln>
              <a:noFill/>
            </a:ln>
          </p:spPr>
        </p:sp>
        <p:sp>
          <p:nvSpPr>
            <p:cNvPr id="28" name="TextBox 28"/>
            <p:cNvSpPr txBox="1"/>
            <p:nvPr/>
          </p:nvSpPr>
          <p:spPr>
            <a:xfrm>
              <a:off x="6554343" y="4216400"/>
              <a:ext cx="4014978" cy="322707"/>
            </a:xfrm>
            <a:prstGeom prst="rect">
              <a:avLst/>
            </a:prstGeom>
            <a:noFill/>
            <a:ln>
              <a:noFill/>
            </a:ln>
          </p:spPr>
          <p:txBody>
            <a:bodyPr wrap="none" lIns="0" tIns="0" rIns="0" bIns="0" anchor="t" anchorCtr="0">
              <a:spAutoFit/>
            </a:bodyPr>
            <a:lstStyle/>
            <a:p>
              <a:pPr algn="l"/>
              <a:r>
                <a:rPr lang="zh-CN" sz="1650" dirty="0">
                  <a:solidFill>
                    <a:schemeClr val="accent3"/>
                  </a:solidFill>
                  <a:latin typeface="+mn-lt"/>
                  <a:ea typeface="+mn-ea"/>
                  <a:cs typeface="+mn-cs"/>
                </a:rPr>
                <a:t>证据不足：保留未确认状态，继续观察。</a:t>
              </a:r>
            </a:p>
          </p:txBody>
        </p:sp>
        <p:sp>
          <p:nvSpPr>
            <p:cNvPr id="29" name="TextBox 29"/>
            <p:cNvSpPr txBox="1"/>
            <p:nvPr/>
          </p:nvSpPr>
          <p:spPr>
            <a:xfrm>
              <a:off x="6554343" y="4559300"/>
              <a:ext cx="4459224"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到达固定时限后终止旧轨迹，避免强行接错。</a:t>
              </a:r>
            </a:p>
          </p:txBody>
        </p:sp>
        <p:sp>
          <p:nvSpPr>
            <p:cNvPr id="30" name="TextBox 30"/>
            <p:cNvSpPr txBox="1"/>
            <p:nvPr/>
          </p:nvSpPr>
          <p:spPr>
            <a:xfrm>
              <a:off x="601218" y="3978275"/>
              <a:ext cx="2237994"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沿用模块二的跟踪框架</a:t>
              </a:r>
            </a:p>
          </p:txBody>
        </p:sp>
        <p:sp>
          <p:nvSpPr>
            <p:cNvPr id="31" name="TextBox 31"/>
            <p:cNvSpPr txBox="1"/>
            <p:nvPr/>
          </p:nvSpPr>
          <p:spPr>
            <a:xfrm>
              <a:off x="601218" y="4368800"/>
              <a:ext cx="2904363"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增加丢失轨迹记忆与恢复判定</a:t>
              </a:r>
            </a:p>
          </p:txBody>
        </p:sp>
      </p:grpSp>
      <p:grpSp>
        <p:nvGrpSpPr>
          <p:cNvPr id="35" name="recovery-principle"/>
          <p:cNvGrpSpPr/>
          <p:nvPr/>
        </p:nvGrpSpPr>
        <p:grpSpPr>
          <a:xfrm>
            <a:off x="598932" y="5318125"/>
            <a:ext cx="7793355" cy="802132"/>
            <a:chOff x="598932" y="5318125"/>
            <a:chExt cx="7793355" cy="802132"/>
          </a:xfrm>
        </p:grpSpPr>
        <p:sp>
          <p:nvSpPr>
            <p:cNvPr id="33" name="TextBox 33"/>
            <p:cNvSpPr txBox="1"/>
            <p:nvPr/>
          </p:nvSpPr>
          <p:spPr>
            <a:xfrm>
              <a:off x="598932" y="5318125"/>
              <a:ext cx="7698109"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关键问题是“接回正确个体”，同时控制误接和长期悬而未决。</a:t>
              </a:r>
            </a:p>
          </p:txBody>
        </p:sp>
        <p:sp>
          <p:nvSpPr>
            <p:cNvPr id="34" name="TextBox 34"/>
            <p:cNvSpPr txBox="1"/>
            <p:nvPr/>
          </p:nvSpPr>
          <p:spPr>
            <a:xfrm>
              <a:off x="601218" y="5797550"/>
              <a:ext cx="7791069"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遮挡期间的位置预测应标为推测；只有重新观测后，才能确认身份与轨迹续接。</a:t>
              </a:r>
            </a:p>
          </p:txBody>
        </p:sp>
      </p:grpSp>
      <p:grpSp>
        <p:nvGrpSpPr>
          <p:cNvPr id="38" name="footer"/>
          <p:cNvGrpSpPr/>
          <p:nvPr/>
        </p:nvGrpSpPr>
        <p:grpSpPr>
          <a:xfrm>
            <a:off x="603504" y="6410325"/>
            <a:ext cx="10984992" cy="234696"/>
            <a:chOff x="603504" y="6410325"/>
            <a:chExt cx="10984992" cy="234696"/>
          </a:xfrm>
        </p:grpSpPr>
        <p:sp>
          <p:nvSpPr>
            <p:cNvPr id="36" name="TextBox 36"/>
            <p:cNvSpPr txBox="1"/>
            <p:nvPr/>
          </p:nvSpPr>
          <p:spPr>
            <a:xfrm>
              <a:off x="603504" y="6410325"/>
              <a:ext cx="5020056"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拟研究框架，尚未实现或验证；以单摄像头内的临时遮挡与重现为主。</a:t>
              </a:r>
            </a:p>
          </p:txBody>
        </p:sp>
        <p:sp>
          <p:nvSpPr>
            <p:cNvPr id="37" name="TextBox 37"/>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18 / 22</a:t>
              </a:r>
            </a:p>
          </p:txBody>
        </p:sp>
      </p:gr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3665220" cy="964565"/>
            <a:chOff x="594360" y="415925"/>
            <a:chExt cx="3665220" cy="964565"/>
          </a:xfrm>
        </p:grpSpPr>
        <p:sp>
          <p:nvSpPr>
            <p:cNvPr id="2" name="TextBox 2"/>
            <p:cNvSpPr txBox="1"/>
            <p:nvPr/>
          </p:nvSpPr>
          <p:spPr>
            <a:xfrm>
              <a:off x="601218" y="415925"/>
              <a:ext cx="3059849" cy="322707"/>
            </a:xfrm>
            <a:prstGeom prst="rect">
              <a:avLst/>
            </a:prstGeom>
            <a:noFill/>
            <a:ln>
              <a:noFill/>
            </a:ln>
          </p:spPr>
          <p:txBody>
            <a:bodyPr wrap="none" lIns="0" tIns="0" rIns="0" bIns="0" anchor="t" anchorCtr="0">
              <a:spAutoFit/>
            </a:bodyPr>
            <a:lstStyle/>
            <a:p>
              <a:pPr algn="l"/>
              <a:r>
                <a:rPr lang="zh-CN" sz="1650" dirty="0">
                  <a:solidFill>
                    <a:schemeClr val="accent3"/>
                  </a:solidFill>
                  <a:latin typeface="+mn-lt"/>
                  <a:ea typeface="+mn-ea"/>
                  <a:cs typeface="+mn-cs"/>
                </a:rPr>
                <a:t>02 研究方法 · 模块三 · 拟开展</a:t>
              </a:r>
            </a:p>
          </p:txBody>
        </p:sp>
        <p:sp>
          <p:nvSpPr>
            <p:cNvPr id="3" name="TextBox 3"/>
            <p:cNvSpPr txBox="1"/>
            <p:nvPr/>
          </p:nvSpPr>
          <p:spPr>
            <a:xfrm>
              <a:off x="594360" y="793750"/>
              <a:ext cx="366522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遮挡恢复的实验设想</a:t>
              </a:r>
            </a:p>
          </p:txBody>
        </p:sp>
      </p:grpSp>
      <p:grpSp>
        <p:nvGrpSpPr>
          <p:cNvPr id="6" name="event-definition"/>
          <p:cNvGrpSpPr/>
          <p:nvPr/>
        </p:nvGrpSpPr>
        <p:grpSpPr>
          <a:xfrm>
            <a:off x="601218" y="1654175"/>
            <a:ext cx="6950354" cy="322707"/>
            <a:chOff x="601218" y="1654175"/>
            <a:chExt cx="6950354" cy="322707"/>
          </a:xfrm>
        </p:grpSpPr>
        <p:sp>
          <p:nvSpPr>
            <p:cNvPr id="5" name="TextBox 5"/>
            <p:cNvSpPr txBox="1"/>
            <p:nvPr/>
          </p:nvSpPr>
          <p:spPr>
            <a:xfrm>
              <a:off x="601218" y="1654175"/>
              <a:ext cx="6950354"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标注遮挡开始、重新可见与真实 ID；按事前固定的遮挡时长分层比较。</a:t>
              </a:r>
            </a:p>
          </p:txBody>
        </p:sp>
      </p:grpSp>
      <p:grpSp>
        <p:nvGrpSpPr>
          <p:cNvPr id="22" name="recovery-ablations"/>
          <p:cNvGrpSpPr/>
          <p:nvPr/>
        </p:nvGrpSpPr>
        <p:grpSpPr>
          <a:xfrm>
            <a:off x="598932" y="2184400"/>
            <a:ext cx="10983468" cy="2877693"/>
            <a:chOff x="598932" y="2184400"/>
            <a:chExt cx="10983468" cy="2877693"/>
          </a:xfrm>
        </p:grpSpPr>
        <p:sp>
          <p:nvSpPr>
            <p:cNvPr id="7" name="TextBox 7"/>
            <p:cNvSpPr txBox="1"/>
            <p:nvPr/>
          </p:nvSpPr>
          <p:spPr>
            <a:xfrm>
              <a:off x="598932" y="2184400"/>
              <a:ext cx="1717548"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拟比较的配置</a:t>
              </a:r>
            </a:p>
          </p:txBody>
        </p:sp>
        <p:sp>
          <p:nvSpPr>
            <p:cNvPr id="8" name="TextBox 8"/>
            <p:cNvSpPr txBox="1"/>
            <p:nvPr/>
          </p:nvSpPr>
          <p:spPr>
            <a:xfrm>
              <a:off x="6409182" y="2184400"/>
              <a:ext cx="2000250"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分离的影响因素</a:t>
              </a:r>
            </a:p>
          </p:txBody>
        </p:sp>
        <p:sp>
          <p:nvSpPr>
            <p:cNvPr id="9" name="Line 9"/>
            <p:cNvSpPr/>
            <p:nvPr/>
          </p:nvSpPr>
          <p:spPr>
            <a:xfrm>
              <a:off x="609600" y="2628900"/>
              <a:ext cx="10972800" cy="9525"/>
            </a:xfrm>
            <a:custGeom>
              <a:avLst/>
              <a:gdLst/>
              <a:ahLst/>
              <a:cxnLst/>
              <a:rect l="l" t="t" r="r" b="b"/>
              <a:pathLst>
                <a:path w="10972800" h="9525">
                  <a:moveTo>
                    <a:pt x="0" y="0"/>
                  </a:moveTo>
                  <a:lnTo>
                    <a:pt x="10972800" y="0"/>
                  </a:lnTo>
                </a:path>
              </a:pathLst>
            </a:custGeom>
            <a:noFill/>
            <a:ln w="19050">
              <a:solidFill>
                <a:schemeClr val="accent6"/>
              </a:solidFill>
            </a:ln>
          </p:spPr>
        </p:sp>
        <p:grpSp>
          <p:nvGrpSpPr>
            <p:cNvPr id="21" name="Group 21"/>
            <p:cNvGrpSpPr/>
            <p:nvPr/>
          </p:nvGrpSpPr>
          <p:grpSpPr>
            <a:xfrm>
              <a:off x="598932" y="2794000"/>
              <a:ext cx="10983468" cy="2268093"/>
              <a:chOff x="598932" y="2794000"/>
              <a:chExt cx="10983468" cy="2268093"/>
            </a:xfrm>
          </p:grpSpPr>
          <p:sp>
            <p:nvSpPr>
              <p:cNvPr id="10" name="TextBox 10"/>
              <p:cNvSpPr txBox="1"/>
              <p:nvPr/>
            </p:nvSpPr>
            <p:spPr>
              <a:xfrm>
                <a:off x="598932" y="2794000"/>
                <a:ext cx="3371355"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① 原跟踪器的默认丢失保留</a:t>
                </a:r>
              </a:p>
            </p:txBody>
          </p:sp>
          <p:sp>
            <p:nvSpPr>
              <p:cNvPr id="11" name="TextBox 11"/>
              <p:cNvSpPr txBox="1"/>
              <p:nvPr/>
            </p:nvSpPr>
            <p:spPr>
              <a:xfrm>
                <a:off x="6409182" y="2794000"/>
                <a:ext cx="3131058"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当前框架本身的恢复能力</a:t>
                </a:r>
              </a:p>
            </p:txBody>
          </p:sp>
          <p:sp>
            <p:nvSpPr>
              <p:cNvPr id="12" name="Line 12"/>
              <p:cNvSpPr/>
              <p:nvPr/>
            </p:nvSpPr>
            <p:spPr>
              <a:xfrm>
                <a:off x="609600" y="3248025"/>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3" name="TextBox 13"/>
              <p:cNvSpPr txBox="1"/>
              <p:nvPr/>
            </p:nvSpPr>
            <p:spPr>
              <a:xfrm>
                <a:off x="598932" y="3413125"/>
                <a:ext cx="2805951"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② 仅延长轨迹保留时间</a:t>
                </a:r>
              </a:p>
            </p:txBody>
          </p:sp>
          <p:sp>
            <p:nvSpPr>
              <p:cNvPr id="14" name="TextBox 14"/>
              <p:cNvSpPr txBox="1"/>
              <p:nvPr/>
            </p:nvSpPr>
            <p:spPr>
              <a:xfrm>
                <a:off x="6409182" y="3413125"/>
                <a:ext cx="3131058"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单纯等待更久能改善多少</a:t>
                </a:r>
              </a:p>
            </p:txBody>
          </p:sp>
          <p:sp>
            <p:nvSpPr>
              <p:cNvPr id="15" name="Line 15"/>
              <p:cNvSpPr/>
              <p:nvPr/>
            </p:nvSpPr>
            <p:spPr>
              <a:xfrm>
                <a:off x="609600" y="38671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6" name="TextBox 16"/>
              <p:cNvSpPr txBox="1"/>
              <p:nvPr/>
            </p:nvSpPr>
            <p:spPr>
              <a:xfrm>
                <a:off x="598932" y="4032250"/>
                <a:ext cx="3654057"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③ 同预算下加入可靠外观记忆</a:t>
                </a:r>
              </a:p>
            </p:txBody>
          </p:sp>
          <p:sp>
            <p:nvSpPr>
              <p:cNvPr id="17" name="TextBox 17"/>
              <p:cNvSpPr txBox="1"/>
              <p:nvPr/>
            </p:nvSpPr>
            <p:spPr>
              <a:xfrm>
                <a:off x="6409182" y="4032250"/>
                <a:ext cx="3413760"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记忆能否减少认错与漏恢复</a:t>
                </a:r>
              </a:p>
            </p:txBody>
          </p:sp>
          <p:sp>
            <p:nvSpPr>
              <p:cNvPr id="18" name="Line 18"/>
              <p:cNvSpPr/>
              <p:nvPr/>
            </p:nvSpPr>
            <p:spPr>
              <a:xfrm>
                <a:off x="609600" y="4486275"/>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9" name="TextBox 19"/>
              <p:cNvSpPr txBox="1"/>
              <p:nvPr/>
            </p:nvSpPr>
            <p:spPr>
              <a:xfrm>
                <a:off x="598932" y="4651375"/>
                <a:ext cx="2805951"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④ 再加入连续多帧确认</a:t>
                </a:r>
              </a:p>
            </p:txBody>
          </p:sp>
          <p:sp>
            <p:nvSpPr>
              <p:cNvPr id="20" name="TextBox 20"/>
              <p:cNvSpPr txBox="1"/>
              <p:nvPr/>
            </p:nvSpPr>
            <p:spPr>
              <a:xfrm>
                <a:off x="6409182" y="4651375"/>
                <a:ext cx="369646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降低误接是否会增加恢复延迟</a:t>
                </a:r>
              </a:p>
            </p:txBody>
          </p:sp>
        </p:grpSp>
      </p:grpSp>
      <p:grpSp>
        <p:nvGrpSpPr>
          <p:cNvPr id="25" name="event-metrics"/>
          <p:cNvGrpSpPr/>
          <p:nvPr/>
        </p:nvGrpSpPr>
        <p:grpSpPr>
          <a:xfrm>
            <a:off x="598932" y="5270500"/>
            <a:ext cx="8502396" cy="783082"/>
            <a:chOff x="598932" y="5270500"/>
            <a:chExt cx="8502396" cy="783082"/>
          </a:xfrm>
        </p:grpSpPr>
        <p:sp>
          <p:nvSpPr>
            <p:cNvPr id="23" name="TextBox 23"/>
            <p:cNvSpPr txBox="1"/>
            <p:nvPr/>
          </p:nvSpPr>
          <p:spPr>
            <a:xfrm>
              <a:off x="598932" y="5270500"/>
              <a:ext cx="8502396"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同一批重现事件：正确恢复、错误续接、未恢复；另报延迟与超时。</a:t>
              </a:r>
            </a:p>
          </p:txBody>
        </p:sp>
        <p:sp>
          <p:nvSpPr>
            <p:cNvPr id="24" name="TextBox 24"/>
            <p:cNvSpPr txBox="1"/>
            <p:nvPr/>
          </p:nvSpPr>
          <p:spPr>
            <a:xfrm>
              <a:off x="601218" y="5730875"/>
              <a:ext cx="7346823"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三类结果共用全部合格事件分母；加入新目标进入、出画重入等干扰对照。</a:t>
              </a:r>
            </a:p>
          </p:txBody>
        </p:sp>
      </p:grpSp>
      <p:grpSp>
        <p:nvGrpSpPr>
          <p:cNvPr id="28" name="footer"/>
          <p:cNvGrpSpPr/>
          <p:nvPr/>
        </p:nvGrpSpPr>
        <p:grpSpPr>
          <a:xfrm>
            <a:off x="603504" y="6410325"/>
            <a:ext cx="10984992" cy="234696"/>
            <a:chOff x="603504" y="6410325"/>
            <a:chExt cx="10984992" cy="234696"/>
          </a:xfrm>
        </p:grpSpPr>
        <p:sp>
          <p:nvSpPr>
            <p:cNvPr id="26" name="TextBox 26"/>
            <p:cNvSpPr txBox="1"/>
            <p:nvPr/>
          </p:nvSpPr>
          <p:spPr>
            <a:xfrm>
              <a:off x="603504" y="6410325"/>
              <a:ext cx="6635496"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实验尚未开展；只把身份可标定的重现计入恢复机会；阈值、时限和评价窗口在运行前固定。</a:t>
              </a:r>
            </a:p>
          </p:txBody>
        </p:sp>
        <p:sp>
          <p:nvSpPr>
            <p:cNvPr id="27" name="TextBox 27"/>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19 / 22</a:t>
              </a:r>
            </a:p>
          </p:txBody>
        </p:sp>
      </p:gr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3665220" cy="964565"/>
            <a:chOff x="594360" y="415925"/>
            <a:chExt cx="3665220" cy="964565"/>
          </a:xfrm>
        </p:grpSpPr>
        <p:sp>
          <p:nvSpPr>
            <p:cNvPr id="2" name="TextBox 2"/>
            <p:cNvSpPr txBox="1"/>
            <p:nvPr/>
          </p:nvSpPr>
          <p:spPr>
            <a:xfrm>
              <a:off x="601218" y="415925"/>
              <a:ext cx="1216228"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03 系统设计</a:t>
              </a:r>
            </a:p>
          </p:txBody>
        </p:sp>
        <p:sp>
          <p:nvSpPr>
            <p:cNvPr id="3" name="TextBox 3"/>
            <p:cNvSpPr txBox="1"/>
            <p:nvPr/>
          </p:nvSpPr>
          <p:spPr>
            <a:xfrm>
              <a:off x="594360" y="793750"/>
              <a:ext cx="366522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通用系统的使用流程</a:t>
              </a:r>
            </a:p>
          </p:txBody>
        </p:sp>
      </p:grpSp>
      <p:grpSp>
        <p:nvGrpSpPr>
          <p:cNvPr id="8" name="choose-task"/>
          <p:cNvGrpSpPr/>
          <p:nvPr/>
        </p:nvGrpSpPr>
        <p:grpSpPr>
          <a:xfrm>
            <a:off x="590550" y="1870075"/>
            <a:ext cx="1896618" cy="2483993"/>
            <a:chOff x="590550" y="1870075"/>
            <a:chExt cx="1896618" cy="2483993"/>
          </a:xfrm>
        </p:grpSpPr>
        <p:sp>
          <p:nvSpPr>
            <p:cNvPr id="5" name="TextBox 5"/>
            <p:cNvSpPr txBox="1"/>
            <p:nvPr/>
          </p:nvSpPr>
          <p:spPr>
            <a:xfrm>
              <a:off x="590550" y="1870075"/>
              <a:ext cx="877725" cy="1047750"/>
            </a:xfrm>
            <a:prstGeom prst="rect">
              <a:avLst/>
            </a:prstGeom>
            <a:noFill/>
            <a:ln>
              <a:noFill/>
            </a:ln>
          </p:spPr>
          <p:txBody>
            <a:bodyPr wrap="none" lIns="0" tIns="0" rIns="0" bIns="0" anchor="t" anchorCtr="0">
              <a:spAutoFit/>
            </a:bodyPr>
            <a:lstStyle/>
            <a:p>
              <a:pPr algn="l"/>
              <a:r>
                <a:rPr lang="zh-CN" sz="5400" b="1" dirty="0">
                  <a:solidFill>
                    <a:srgbClr val="315E9D"/>
                  </a:solidFill>
                  <a:latin typeface="+mn-lt"/>
                  <a:ea typeface="+mn-ea"/>
                  <a:cs typeface="+mn-cs"/>
                </a:rPr>
                <a:t>01</a:t>
              </a:r>
            </a:p>
          </p:txBody>
        </p:sp>
        <p:sp>
          <p:nvSpPr>
            <p:cNvPr id="6" name="TextBox 6"/>
            <p:cNvSpPr txBox="1"/>
            <p:nvPr/>
          </p:nvSpPr>
          <p:spPr>
            <a:xfrm>
              <a:off x="597408" y="2879725"/>
              <a:ext cx="1316736"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选择任务</a:t>
              </a:r>
            </a:p>
          </p:txBody>
        </p:sp>
        <p:sp>
          <p:nvSpPr>
            <p:cNvPr id="7" name="TextBox 7"/>
            <p:cNvSpPr txBox="1"/>
            <p:nvPr/>
          </p:nvSpPr>
          <p:spPr>
            <a:xfrm>
              <a:off x="598932" y="3486150"/>
              <a:ext cx="1888236" cy="867918"/>
            </a:xfrm>
            <a:prstGeom prst="rect">
              <a:avLst/>
            </a:prstGeom>
            <a:noFill/>
            <a:ln>
              <a:noFill/>
            </a:ln>
          </p:spPr>
          <p:txBody>
            <a:bodyPr wrap="none" lIns="0" tIns="0" rIns="0" bIns="0" anchor="t" anchorCtr="0">
              <a:spAutoFit/>
            </a:bodyPr>
            <a:lstStyle/>
            <a:p>
              <a:pPr algn="l">
                <a:lnSpc>
                  <a:spcPts val="3600"/>
                </a:lnSpc>
              </a:pPr>
              <a:r>
                <a:rPr lang="zh-CN" sz="2100" dirty="0">
                  <a:solidFill>
                    <a:schemeClr val="dk1"/>
                  </a:solidFill>
                  <a:latin typeface="+mn-lt"/>
                  <a:ea typeface="+mn-ea"/>
                  <a:cs typeface="+mn-cs"/>
                </a:rPr>
                <a:t>选择图片或视频</a:t>
              </a:r>
              <a:br>
                <a:rPr lang="zh-CN" sz="2100" dirty="0">
                  <a:solidFill>
                    <a:schemeClr val="dk1"/>
                  </a:solidFill>
                  <a:latin typeface="+mn-lt"/>
                  <a:ea typeface="+mn-ea"/>
                  <a:cs typeface="+mn-cs"/>
                </a:rPr>
              </a:br>
              <a:r>
                <a:rPr lang="zh-CN" sz="2100" dirty="0">
                  <a:solidFill>
                    <a:schemeClr val="dk1"/>
                  </a:solidFill>
                  <a:latin typeface="+mn-lt"/>
                  <a:ea typeface="+mn-ea"/>
                  <a:cs typeface="+mn-cs"/>
                </a:rPr>
                <a:t>设置识别对象</a:t>
              </a:r>
            </a:p>
          </p:txBody>
        </p:sp>
      </p:grpSp>
      <p:grpSp>
        <p:nvGrpSpPr>
          <p:cNvPr id="12" name="view-analysis"/>
          <p:cNvGrpSpPr/>
          <p:nvPr/>
        </p:nvGrpSpPr>
        <p:grpSpPr>
          <a:xfrm>
            <a:off x="4400550" y="1870075"/>
            <a:ext cx="2430018" cy="2483993"/>
            <a:chOff x="4400550" y="1870075"/>
            <a:chExt cx="2430018" cy="2483993"/>
          </a:xfrm>
        </p:grpSpPr>
        <p:sp>
          <p:nvSpPr>
            <p:cNvPr id="9" name="TextBox 9"/>
            <p:cNvSpPr txBox="1"/>
            <p:nvPr/>
          </p:nvSpPr>
          <p:spPr>
            <a:xfrm>
              <a:off x="4400550" y="1870075"/>
              <a:ext cx="877725" cy="1047750"/>
            </a:xfrm>
            <a:prstGeom prst="rect">
              <a:avLst/>
            </a:prstGeom>
            <a:noFill/>
            <a:ln>
              <a:noFill/>
            </a:ln>
          </p:spPr>
          <p:txBody>
            <a:bodyPr wrap="none" lIns="0" tIns="0" rIns="0" bIns="0" anchor="t" anchorCtr="0">
              <a:spAutoFit/>
            </a:bodyPr>
            <a:lstStyle/>
            <a:p>
              <a:pPr algn="l"/>
              <a:r>
                <a:rPr lang="zh-CN" sz="5400" b="1" dirty="0">
                  <a:solidFill>
                    <a:schemeClr val="accent2"/>
                  </a:solidFill>
                  <a:latin typeface="+mn-lt"/>
                  <a:ea typeface="+mn-ea"/>
                  <a:cs typeface="+mn-cs"/>
                </a:rPr>
                <a:t>02</a:t>
              </a:r>
            </a:p>
          </p:txBody>
        </p:sp>
        <p:sp>
          <p:nvSpPr>
            <p:cNvPr id="10" name="TextBox 10"/>
            <p:cNvSpPr txBox="1"/>
            <p:nvPr/>
          </p:nvSpPr>
          <p:spPr>
            <a:xfrm>
              <a:off x="4407408" y="2879725"/>
              <a:ext cx="1316736"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查看分析</a:t>
              </a:r>
            </a:p>
          </p:txBody>
        </p:sp>
        <p:sp>
          <p:nvSpPr>
            <p:cNvPr id="11" name="TextBox 11"/>
            <p:cNvSpPr txBox="1"/>
            <p:nvPr/>
          </p:nvSpPr>
          <p:spPr>
            <a:xfrm>
              <a:off x="4408932" y="3486150"/>
              <a:ext cx="2421636" cy="867918"/>
            </a:xfrm>
            <a:prstGeom prst="rect">
              <a:avLst/>
            </a:prstGeom>
            <a:noFill/>
            <a:ln>
              <a:noFill/>
            </a:ln>
          </p:spPr>
          <p:txBody>
            <a:bodyPr wrap="none" lIns="0" tIns="0" rIns="0" bIns="0" anchor="t" anchorCtr="0">
              <a:spAutoFit/>
            </a:bodyPr>
            <a:lstStyle/>
            <a:p>
              <a:pPr algn="l">
                <a:lnSpc>
                  <a:spcPts val="3600"/>
                </a:lnSpc>
              </a:pPr>
              <a:r>
                <a:rPr lang="zh-CN" sz="2100" dirty="0">
                  <a:solidFill>
                    <a:schemeClr val="dk1"/>
                  </a:solidFill>
                  <a:latin typeface="+mn-lt"/>
                  <a:ea typeface="+mn-ea"/>
                  <a:cs typeface="+mn-cs"/>
                </a:rPr>
                <a:t>查看个体位置、轮廓</a:t>
              </a:r>
              <a:br>
                <a:rPr lang="zh-CN" sz="2100" dirty="0">
                  <a:solidFill>
                    <a:schemeClr val="dk1"/>
                  </a:solidFill>
                  <a:latin typeface="+mn-lt"/>
                  <a:ea typeface="+mn-ea"/>
                  <a:cs typeface="+mn-cs"/>
                </a:rPr>
              </a:br>
              <a:r>
                <a:rPr lang="zh-CN" sz="2100" dirty="0">
                  <a:solidFill>
                    <a:schemeClr val="dk1"/>
                  </a:solidFill>
                  <a:latin typeface="+mn-lt"/>
                  <a:ea typeface="+mn-ea"/>
                  <a:cs typeface="+mn-cs"/>
                </a:rPr>
                <a:t>与连续编号</a:t>
              </a:r>
            </a:p>
          </p:txBody>
        </p:sp>
      </p:grpSp>
      <p:grpSp>
        <p:nvGrpSpPr>
          <p:cNvPr id="16" name="save-records"/>
          <p:cNvGrpSpPr/>
          <p:nvPr/>
        </p:nvGrpSpPr>
        <p:grpSpPr>
          <a:xfrm>
            <a:off x="8210550" y="1870075"/>
            <a:ext cx="2696718" cy="2483993"/>
            <a:chOff x="8210550" y="1870075"/>
            <a:chExt cx="2696718" cy="2483993"/>
          </a:xfrm>
        </p:grpSpPr>
        <p:sp>
          <p:nvSpPr>
            <p:cNvPr id="13" name="TextBox 13"/>
            <p:cNvSpPr txBox="1"/>
            <p:nvPr/>
          </p:nvSpPr>
          <p:spPr>
            <a:xfrm>
              <a:off x="8210550" y="1870075"/>
              <a:ext cx="877725" cy="1047750"/>
            </a:xfrm>
            <a:prstGeom prst="rect">
              <a:avLst/>
            </a:prstGeom>
            <a:noFill/>
            <a:ln>
              <a:noFill/>
            </a:ln>
          </p:spPr>
          <p:txBody>
            <a:bodyPr wrap="none" lIns="0" tIns="0" rIns="0" bIns="0" anchor="t" anchorCtr="0">
              <a:spAutoFit/>
            </a:bodyPr>
            <a:lstStyle/>
            <a:p>
              <a:pPr algn="l"/>
              <a:r>
                <a:rPr lang="zh-CN" sz="5400" b="1" dirty="0">
                  <a:solidFill>
                    <a:schemeClr val="accent1"/>
                  </a:solidFill>
                  <a:latin typeface="+mn-lt"/>
                  <a:ea typeface="+mn-ea"/>
                  <a:cs typeface="+mn-cs"/>
                </a:rPr>
                <a:t>03</a:t>
              </a:r>
            </a:p>
          </p:txBody>
        </p:sp>
        <p:sp>
          <p:nvSpPr>
            <p:cNvPr id="14" name="TextBox 14"/>
            <p:cNvSpPr txBox="1"/>
            <p:nvPr/>
          </p:nvSpPr>
          <p:spPr>
            <a:xfrm>
              <a:off x="8217408" y="2879725"/>
              <a:ext cx="1316736"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保存记录</a:t>
              </a:r>
            </a:p>
          </p:txBody>
        </p:sp>
        <p:sp>
          <p:nvSpPr>
            <p:cNvPr id="15" name="TextBox 15"/>
            <p:cNvSpPr txBox="1"/>
            <p:nvPr/>
          </p:nvSpPr>
          <p:spPr>
            <a:xfrm>
              <a:off x="8218932" y="3486150"/>
              <a:ext cx="2688336" cy="867918"/>
            </a:xfrm>
            <a:prstGeom prst="rect">
              <a:avLst/>
            </a:prstGeom>
            <a:noFill/>
            <a:ln>
              <a:noFill/>
            </a:ln>
          </p:spPr>
          <p:txBody>
            <a:bodyPr wrap="none" lIns="0" tIns="0" rIns="0" bIns="0" anchor="t" anchorCtr="0">
              <a:spAutoFit/>
            </a:bodyPr>
            <a:lstStyle/>
            <a:p>
              <a:pPr algn="l">
                <a:lnSpc>
                  <a:spcPts val="3600"/>
                </a:lnSpc>
              </a:pPr>
              <a:r>
                <a:rPr lang="zh-CN" sz="2100" dirty="0">
                  <a:solidFill>
                    <a:schemeClr val="dk1"/>
                  </a:solidFill>
                  <a:latin typeface="+mn-lt"/>
                  <a:ea typeface="+mn-ea"/>
                  <a:cs typeface="+mn-cs"/>
                </a:rPr>
                <a:t>回看遮挡与恢复记录</a:t>
              </a:r>
              <a:br>
                <a:rPr lang="zh-CN" sz="2100" dirty="0">
                  <a:solidFill>
                    <a:schemeClr val="dk1"/>
                  </a:solidFill>
                  <a:latin typeface="+mn-lt"/>
                  <a:ea typeface="+mn-ea"/>
                  <a:cs typeface="+mn-cs"/>
                </a:rPr>
              </a:br>
              <a:r>
                <a:rPr lang="zh-CN" sz="2100" dirty="0">
                  <a:solidFill>
                    <a:schemeClr val="dk1"/>
                  </a:solidFill>
                  <a:latin typeface="+mn-lt"/>
                  <a:ea typeface="+mn-ea"/>
                  <a:cs typeface="+mn-cs"/>
                </a:rPr>
                <a:t>导出轨迹、数量与报表</a:t>
              </a:r>
            </a:p>
          </p:txBody>
        </p:sp>
      </p:grpSp>
      <p:grpSp>
        <p:nvGrpSpPr>
          <p:cNvPr id="19" name="usable-output"/>
          <p:cNvGrpSpPr/>
          <p:nvPr/>
        </p:nvGrpSpPr>
        <p:grpSpPr>
          <a:xfrm>
            <a:off x="597408" y="5334000"/>
            <a:ext cx="10984992" cy="729742"/>
            <a:chOff x="597408" y="5334000"/>
            <a:chExt cx="10984992" cy="729742"/>
          </a:xfrm>
        </p:grpSpPr>
        <p:sp>
          <p:nvSpPr>
            <p:cNvPr id="17" name="Line 17"/>
            <p:cNvSpPr/>
            <p:nvPr/>
          </p:nvSpPr>
          <p:spPr>
            <a:xfrm>
              <a:off x="609600" y="5334000"/>
              <a:ext cx="10972800" cy="9525"/>
            </a:xfrm>
            <a:custGeom>
              <a:avLst/>
              <a:gdLst/>
              <a:ahLst/>
              <a:cxnLst/>
              <a:rect l="l" t="t" r="r" b="b"/>
              <a:pathLst>
                <a:path w="10972800" h="9525">
                  <a:moveTo>
                    <a:pt x="0" y="0"/>
                  </a:moveTo>
                  <a:lnTo>
                    <a:pt x="10972800" y="0"/>
                  </a:lnTo>
                </a:path>
              </a:pathLst>
            </a:custGeom>
            <a:noFill/>
            <a:ln w="19050">
              <a:solidFill>
                <a:schemeClr val="accent6"/>
              </a:solidFill>
            </a:ln>
          </p:spPr>
        </p:sp>
        <p:sp>
          <p:nvSpPr>
            <p:cNvPr id="18" name="TextBox 18"/>
            <p:cNvSpPr txBox="1"/>
            <p:nvPr/>
          </p:nvSpPr>
          <p:spPr>
            <a:xfrm>
              <a:off x="597408" y="5594350"/>
              <a:ext cx="5193792"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让分析结果可以查看、回看和保存。</a:t>
              </a:r>
            </a:p>
          </p:txBody>
        </p:sp>
      </p:grpSp>
      <p:grpSp>
        <p:nvGrpSpPr>
          <p:cNvPr id="22" name="footer"/>
          <p:cNvGrpSpPr/>
          <p:nvPr/>
        </p:nvGrpSpPr>
        <p:grpSpPr>
          <a:xfrm>
            <a:off x="603504" y="6410325"/>
            <a:ext cx="10984992" cy="234696"/>
            <a:chOff x="603504" y="6410325"/>
            <a:chExt cx="10984992" cy="234696"/>
          </a:xfrm>
        </p:grpSpPr>
        <p:sp>
          <p:nvSpPr>
            <p:cNvPr id="20" name="TextBox 20"/>
            <p:cNvSpPr txBox="1"/>
            <p:nvPr/>
          </p:nvSpPr>
          <p:spPr>
            <a:xfrm>
              <a:off x="603504" y="6410325"/>
              <a:ext cx="1466088"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拟建系统的主要功能</a:t>
              </a:r>
            </a:p>
          </p:txBody>
        </p:sp>
        <p:sp>
          <p:nvSpPr>
            <p:cNvPr id="21" name="TextBox 21"/>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20 / 22</a:t>
              </a:r>
            </a:p>
          </p:txBody>
        </p:sp>
      </p:grpSp>
    </p:spTree>
  </p:cSld>
  <p:clrMapOvr>
    <a:masterClrMapping/>
  </p:clrMapOvr>
  <p:transition xmlns:p14="http://schemas.microsoft.com/office/powerpoint/2010/main" p14:dur="400">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4472940" cy="964565"/>
            <a:chOff x="594360" y="415925"/>
            <a:chExt cx="4472940" cy="964565"/>
          </a:xfrm>
        </p:grpSpPr>
        <p:sp>
          <p:nvSpPr>
            <p:cNvPr id="2" name="TextBox 2"/>
            <p:cNvSpPr txBox="1"/>
            <p:nvPr/>
          </p:nvSpPr>
          <p:spPr>
            <a:xfrm>
              <a:off x="601218" y="415925"/>
              <a:ext cx="1216228"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03 系统设计</a:t>
              </a:r>
            </a:p>
          </p:txBody>
        </p:sp>
        <p:sp>
          <p:nvSpPr>
            <p:cNvPr id="3" name="TextBox 3"/>
            <p:cNvSpPr txBox="1"/>
            <p:nvPr/>
          </p:nvSpPr>
          <p:spPr>
            <a:xfrm>
              <a:off x="594360" y="793750"/>
              <a:ext cx="447294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猪只群体监测的应用案例</a:t>
              </a:r>
            </a:p>
          </p:txBody>
        </p:sp>
      </p:grpSp>
      <p:grpSp>
        <p:nvGrpSpPr>
          <p:cNvPr id="6" name="case-context"/>
          <p:cNvGrpSpPr/>
          <p:nvPr/>
        </p:nvGrpSpPr>
        <p:grpSpPr>
          <a:xfrm>
            <a:off x="598932" y="1889125"/>
            <a:ext cx="6806184" cy="410718"/>
            <a:chOff x="598932" y="1889125"/>
            <a:chExt cx="6806184" cy="410718"/>
          </a:xfrm>
        </p:grpSpPr>
        <p:sp>
          <p:nvSpPr>
            <p:cNvPr id="5" name="TextBox 5"/>
            <p:cNvSpPr txBox="1"/>
            <p:nvPr/>
          </p:nvSpPr>
          <p:spPr>
            <a:xfrm>
              <a:off x="598932" y="1889125"/>
              <a:ext cx="680618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以密集聚集、外观相似的猪只群体作为应用验证场景。</a:t>
              </a:r>
            </a:p>
          </p:txBody>
        </p:sp>
      </p:grpSp>
      <p:grpSp>
        <p:nvGrpSpPr>
          <p:cNvPr id="9" name="case-needs"/>
          <p:cNvGrpSpPr/>
          <p:nvPr/>
        </p:nvGrpSpPr>
        <p:grpSpPr>
          <a:xfrm>
            <a:off x="597408" y="2784475"/>
            <a:ext cx="2689860" cy="1934718"/>
            <a:chOff x="597408" y="2784475"/>
            <a:chExt cx="2689860" cy="1934718"/>
          </a:xfrm>
        </p:grpSpPr>
        <p:sp>
          <p:nvSpPr>
            <p:cNvPr id="7" name="TextBox 7"/>
            <p:cNvSpPr txBox="1"/>
            <p:nvPr/>
          </p:nvSpPr>
          <p:spPr>
            <a:xfrm>
              <a:off x="597408" y="2784475"/>
              <a:ext cx="2286000"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场景中需要关注</a:t>
              </a:r>
            </a:p>
          </p:txBody>
        </p:sp>
        <p:sp>
          <p:nvSpPr>
            <p:cNvPr id="8" name="TextBox 8"/>
            <p:cNvSpPr txBox="1"/>
            <p:nvPr/>
          </p:nvSpPr>
          <p:spPr>
            <a:xfrm>
              <a:off x="598932" y="3317875"/>
              <a:ext cx="2688336" cy="1401318"/>
            </a:xfrm>
            <a:prstGeom prst="rect">
              <a:avLst/>
            </a:prstGeom>
            <a:noFill/>
            <a:ln>
              <a:noFill/>
            </a:ln>
          </p:spPr>
          <p:txBody>
            <a:bodyPr wrap="none" lIns="0" tIns="0" rIns="0" bIns="0" anchor="t" anchorCtr="0">
              <a:spAutoFit/>
            </a:bodyPr>
            <a:lstStyle/>
            <a:p>
              <a:pPr algn="l">
                <a:lnSpc>
                  <a:spcPts val="3900"/>
                </a:lnSpc>
              </a:pPr>
              <a:r>
                <a:rPr lang="zh-CN" sz="2100" dirty="0">
                  <a:solidFill>
                    <a:schemeClr val="dk1"/>
                  </a:solidFill>
                  <a:latin typeface="+mn-lt"/>
                  <a:ea typeface="+mn-ea"/>
                  <a:cs typeface="+mn-cs"/>
                </a:rPr>
                <a:t>当前能看到多少个体</a:t>
              </a:r>
              <a:br>
                <a:rPr lang="zh-CN" sz="2100" dirty="0">
                  <a:solidFill>
                    <a:schemeClr val="dk1"/>
                  </a:solidFill>
                  <a:latin typeface="+mn-lt"/>
                  <a:ea typeface="+mn-ea"/>
                  <a:cs typeface="+mn-cs"/>
                </a:rPr>
              </a:br>
              <a:r>
                <a:rPr lang="zh-CN" sz="2100" dirty="0">
                  <a:solidFill>
                    <a:schemeClr val="dk1"/>
                  </a:solidFill>
                  <a:latin typeface="+mn-lt"/>
                  <a:ea typeface="+mn-ea"/>
                  <a:cs typeface="+mn-cs"/>
                </a:rPr>
                <a:t>个体在哪里、停留多久</a:t>
              </a:r>
              <a:br>
                <a:rPr lang="zh-CN" sz="2100" dirty="0">
                  <a:solidFill>
                    <a:schemeClr val="dk1"/>
                  </a:solidFill>
                  <a:latin typeface="+mn-lt"/>
                  <a:ea typeface="+mn-ea"/>
                  <a:cs typeface="+mn-cs"/>
                </a:rPr>
              </a:br>
              <a:r>
                <a:rPr lang="zh-CN" sz="2100" dirty="0">
                  <a:solidFill>
                    <a:schemeClr val="dk1"/>
                  </a:solidFill>
                  <a:latin typeface="+mn-lt"/>
                  <a:ea typeface="+mn-ea"/>
                  <a:cs typeface="+mn-cs"/>
                </a:rPr>
                <a:t>遮挡后能否接续原记录</a:t>
              </a:r>
            </a:p>
          </p:txBody>
        </p:sp>
      </p:grpSp>
      <p:grpSp>
        <p:nvGrpSpPr>
          <p:cNvPr id="12" name="case-records"/>
          <p:cNvGrpSpPr/>
          <p:nvPr/>
        </p:nvGrpSpPr>
        <p:grpSpPr>
          <a:xfrm>
            <a:off x="6655308" y="2784475"/>
            <a:ext cx="3223260" cy="1934718"/>
            <a:chOff x="6655308" y="2784475"/>
            <a:chExt cx="3223260" cy="1934718"/>
          </a:xfrm>
        </p:grpSpPr>
        <p:sp>
          <p:nvSpPr>
            <p:cNvPr id="10" name="TextBox 10"/>
            <p:cNvSpPr txBox="1"/>
            <p:nvPr/>
          </p:nvSpPr>
          <p:spPr>
            <a:xfrm>
              <a:off x="6655308" y="2784475"/>
              <a:ext cx="2286000" cy="469392"/>
            </a:xfrm>
            <a:prstGeom prst="rect">
              <a:avLst/>
            </a:prstGeom>
            <a:noFill/>
            <a:ln>
              <a:noFill/>
            </a:ln>
          </p:spPr>
          <p:txBody>
            <a:bodyPr wrap="none" lIns="0" tIns="0" rIns="0" bIns="0" anchor="t" anchorCtr="0">
              <a:spAutoFit/>
            </a:bodyPr>
            <a:lstStyle/>
            <a:p>
              <a:pPr algn="l"/>
              <a:r>
                <a:rPr lang="zh-CN" sz="2400" b="1" dirty="0">
                  <a:solidFill>
                    <a:schemeClr val="accent2"/>
                  </a:solidFill>
                  <a:latin typeface="+mn-lt"/>
                  <a:ea typeface="+mn-ea"/>
                  <a:cs typeface="+mn-cs"/>
                </a:rPr>
                <a:t>预期形成的记录</a:t>
              </a:r>
            </a:p>
          </p:txBody>
        </p:sp>
        <p:sp>
          <p:nvSpPr>
            <p:cNvPr id="11" name="TextBox 11"/>
            <p:cNvSpPr txBox="1"/>
            <p:nvPr/>
          </p:nvSpPr>
          <p:spPr>
            <a:xfrm>
              <a:off x="6656832" y="3317875"/>
              <a:ext cx="3221736" cy="1401318"/>
            </a:xfrm>
            <a:prstGeom prst="rect">
              <a:avLst/>
            </a:prstGeom>
            <a:noFill/>
            <a:ln>
              <a:noFill/>
            </a:ln>
          </p:spPr>
          <p:txBody>
            <a:bodyPr wrap="none" lIns="0" tIns="0" rIns="0" bIns="0" anchor="t" anchorCtr="0">
              <a:spAutoFit/>
            </a:bodyPr>
            <a:lstStyle/>
            <a:p>
              <a:pPr algn="l">
                <a:lnSpc>
                  <a:spcPts val="3900"/>
                </a:lnSpc>
              </a:pPr>
              <a:r>
                <a:rPr lang="zh-CN" sz="2100" dirty="0">
                  <a:solidFill>
                    <a:schemeClr val="dk1"/>
                  </a:solidFill>
                  <a:latin typeface="+mn-lt"/>
                  <a:ea typeface="+mn-ea"/>
                  <a:cs typeface="+mn-cs"/>
                </a:rPr>
                <a:t>数量变化记录</a:t>
              </a:r>
              <a:br>
                <a:rPr lang="zh-CN" sz="2100" dirty="0">
                  <a:solidFill>
                    <a:schemeClr val="dk1"/>
                  </a:solidFill>
                  <a:latin typeface="+mn-lt"/>
                  <a:ea typeface="+mn-ea"/>
                  <a:cs typeface="+mn-cs"/>
                </a:rPr>
              </a:br>
              <a:r>
                <a:rPr lang="zh-CN" sz="2100" dirty="0">
                  <a:solidFill>
                    <a:schemeClr val="dk1"/>
                  </a:solidFill>
                  <a:latin typeface="+mn-lt"/>
                  <a:ea typeface="+mn-ea"/>
                  <a:cs typeface="+mn-cs"/>
                </a:rPr>
                <a:t>个体位置与区域记录</a:t>
              </a:r>
              <a:br>
                <a:rPr lang="zh-CN" sz="2100" dirty="0">
                  <a:solidFill>
                    <a:schemeClr val="dk1"/>
                  </a:solidFill>
                  <a:latin typeface="+mn-lt"/>
                  <a:ea typeface="+mn-ea"/>
                  <a:cs typeface="+mn-cs"/>
                </a:rPr>
              </a:br>
              <a:r>
                <a:rPr lang="zh-CN" sz="2100" dirty="0">
                  <a:solidFill>
                    <a:schemeClr val="dk1"/>
                  </a:solidFill>
                  <a:latin typeface="+mn-lt"/>
                  <a:ea typeface="+mn-ea"/>
                  <a:cs typeface="+mn-cs"/>
                </a:rPr>
                <a:t>遮挡前后可回看的连续记录</a:t>
              </a:r>
            </a:p>
          </p:txBody>
        </p:sp>
      </p:grpSp>
      <p:grpSp>
        <p:nvGrpSpPr>
          <p:cNvPr id="15" name="general-scope"/>
          <p:cNvGrpSpPr/>
          <p:nvPr/>
        </p:nvGrpSpPr>
        <p:grpSpPr>
          <a:xfrm>
            <a:off x="598932" y="5438775"/>
            <a:ext cx="10983468" cy="642493"/>
            <a:chOff x="598932" y="5438775"/>
            <a:chExt cx="10983468" cy="642493"/>
          </a:xfrm>
        </p:grpSpPr>
        <p:sp>
          <p:nvSpPr>
            <p:cNvPr id="13" name="Line 13"/>
            <p:cNvSpPr/>
            <p:nvPr/>
          </p:nvSpPr>
          <p:spPr>
            <a:xfrm>
              <a:off x="609600" y="5438775"/>
              <a:ext cx="10972800" cy="9525"/>
            </a:xfrm>
            <a:custGeom>
              <a:avLst/>
              <a:gdLst/>
              <a:ahLst/>
              <a:cxnLst/>
              <a:rect l="l" t="t" r="r" b="b"/>
              <a:pathLst>
                <a:path w="10972800" h="9525">
                  <a:moveTo>
                    <a:pt x="0" y="0"/>
                  </a:moveTo>
                  <a:lnTo>
                    <a:pt x="10972800" y="0"/>
                  </a:lnTo>
                </a:path>
              </a:pathLst>
            </a:custGeom>
            <a:noFill/>
            <a:ln w="19050">
              <a:solidFill>
                <a:schemeClr val="accent6"/>
              </a:solidFill>
            </a:ln>
          </p:spPr>
        </p:sp>
        <p:sp>
          <p:nvSpPr>
            <p:cNvPr id="14" name="TextBox 14"/>
            <p:cNvSpPr txBox="1"/>
            <p:nvPr/>
          </p:nvSpPr>
          <p:spPr>
            <a:xfrm>
              <a:off x="598932" y="5670550"/>
              <a:ext cx="7936992"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系统可配置不同识别对象，具体效果在各应用场景中分别验证。</a:t>
              </a:r>
            </a:p>
          </p:txBody>
        </p:sp>
      </p:grpSp>
      <p:grpSp>
        <p:nvGrpSpPr>
          <p:cNvPr id="18" name="footer"/>
          <p:cNvGrpSpPr/>
          <p:nvPr/>
        </p:nvGrpSpPr>
        <p:grpSpPr>
          <a:xfrm>
            <a:off x="603504" y="6410325"/>
            <a:ext cx="10984992" cy="234696"/>
            <a:chOff x="603504" y="6410325"/>
            <a:chExt cx="10984992" cy="234696"/>
          </a:xfrm>
        </p:grpSpPr>
        <p:sp>
          <p:nvSpPr>
            <p:cNvPr id="16" name="TextBox 16"/>
            <p:cNvSpPr txBox="1"/>
            <p:nvPr/>
          </p:nvSpPr>
          <p:spPr>
            <a:xfrm>
              <a:off x="603504" y="6410325"/>
              <a:ext cx="981456"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应用验证方案</a:t>
              </a:r>
            </a:p>
          </p:txBody>
        </p:sp>
        <p:sp>
          <p:nvSpPr>
            <p:cNvPr id="17" name="TextBox 17"/>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21 / 22</a:t>
              </a:r>
            </a:p>
          </p:txBody>
        </p:sp>
      </p:grpSp>
    </p:spTree>
  </p:cSld>
  <p:clrMapOvr>
    <a:masterClrMapping/>
  </p:clrMapOvr>
  <p:transition xmlns:p14="http://schemas.microsoft.com/office/powerpoint/2010/main" p14:dur="400">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4472940" cy="964565"/>
            <a:chOff x="594360" y="415925"/>
            <a:chExt cx="4472940" cy="964565"/>
          </a:xfrm>
        </p:grpSpPr>
        <p:sp>
          <p:nvSpPr>
            <p:cNvPr id="2" name="TextBox 2"/>
            <p:cNvSpPr txBox="1"/>
            <p:nvPr/>
          </p:nvSpPr>
          <p:spPr>
            <a:xfrm>
              <a:off x="601218" y="415925"/>
              <a:ext cx="1216228"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04 研究安排</a:t>
              </a:r>
            </a:p>
          </p:txBody>
        </p:sp>
        <p:sp>
          <p:nvSpPr>
            <p:cNvPr id="3" name="TextBox 3"/>
            <p:cNvSpPr txBox="1"/>
            <p:nvPr/>
          </p:nvSpPr>
          <p:spPr>
            <a:xfrm>
              <a:off x="594360" y="793750"/>
              <a:ext cx="447294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现有基础与后续研究安排</a:t>
              </a:r>
            </a:p>
          </p:txBody>
        </p:sp>
      </p:grpSp>
      <p:grpSp>
        <p:nvGrpSpPr>
          <p:cNvPr id="7" name="existing-foundation"/>
          <p:cNvGrpSpPr/>
          <p:nvPr/>
        </p:nvGrpSpPr>
        <p:grpSpPr>
          <a:xfrm>
            <a:off x="597408" y="1898650"/>
            <a:ext cx="6747510" cy="1267968"/>
            <a:chOff x="597408" y="1898650"/>
            <a:chExt cx="6747510" cy="1267968"/>
          </a:xfrm>
        </p:grpSpPr>
        <p:sp>
          <p:nvSpPr>
            <p:cNvPr id="5" name="TextBox 5"/>
            <p:cNvSpPr txBox="1"/>
            <p:nvPr/>
          </p:nvSpPr>
          <p:spPr>
            <a:xfrm>
              <a:off x="597408" y="1936750"/>
              <a:ext cx="1639824"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可复用基础</a:t>
              </a:r>
            </a:p>
          </p:txBody>
        </p:sp>
        <p:sp>
          <p:nvSpPr>
            <p:cNvPr id="6" name="TextBox 6"/>
            <p:cNvSpPr txBox="1"/>
            <p:nvPr/>
          </p:nvSpPr>
          <p:spPr>
            <a:xfrm>
              <a:off x="3323082" y="1898650"/>
              <a:ext cx="4021836" cy="1267968"/>
            </a:xfrm>
            <a:prstGeom prst="rect">
              <a:avLst/>
            </a:prstGeom>
            <a:noFill/>
            <a:ln>
              <a:noFill/>
            </a:ln>
          </p:spPr>
          <p:txBody>
            <a:bodyPr wrap="none" lIns="0" tIns="0" rIns="0" bIns="0" anchor="t" anchorCtr="0">
              <a:spAutoFit/>
            </a:bodyPr>
            <a:lstStyle/>
            <a:p>
              <a:pPr algn="l">
                <a:lnSpc>
                  <a:spcPts val="3375"/>
                </a:lnSpc>
              </a:pPr>
              <a:r>
                <a:rPr lang="zh-CN" sz="2100" dirty="0">
                  <a:solidFill>
                    <a:schemeClr val="dk1"/>
                  </a:solidFill>
                  <a:latin typeface="+mn-lt"/>
                  <a:ea typeface="+mn-ea"/>
                  <a:cs typeface="+mn-cs"/>
                </a:rPr>
                <a:t>图像模型、实验数据与评价流程</a:t>
              </a:r>
              <a:br>
                <a:rPr lang="zh-CN" sz="2100" dirty="0">
                  <a:solidFill>
                    <a:schemeClr val="dk1"/>
                  </a:solidFill>
                  <a:latin typeface="+mn-lt"/>
                  <a:ea typeface="+mn-ea"/>
                  <a:cs typeface="+mn-cs"/>
                </a:rPr>
              </a:br>
              <a:r>
                <a:rPr lang="zh-CN" sz="2100" dirty="0">
                  <a:solidFill>
                    <a:schemeClr val="dk1"/>
                  </a:solidFill>
                  <a:latin typeface="+mn-lt"/>
                  <a:ea typeface="+mn-ea"/>
                  <a:cs typeface="+mn-cs"/>
                </a:rPr>
                <a:t>已有动物图像与处理经验</a:t>
              </a:r>
              <a:br>
                <a:rPr lang="zh-CN" sz="2100" dirty="0">
                  <a:solidFill>
                    <a:schemeClr val="dk1"/>
                  </a:solidFill>
                  <a:latin typeface="+mn-lt"/>
                  <a:ea typeface="+mn-ea"/>
                  <a:cs typeface="+mn-cs"/>
                </a:rPr>
              </a:br>
              <a:r>
                <a:rPr lang="zh-CN" sz="2100" dirty="0">
                  <a:solidFill>
                    <a:schemeClr val="dk1"/>
                  </a:solidFill>
                  <a:latin typeface="+mn-lt"/>
                  <a:ea typeface="+mn-ea"/>
                  <a:cs typeface="+mn-cs"/>
                </a:rPr>
                <a:t>视频身份保持与遮挡恢复尚未开展</a:t>
              </a:r>
            </a:p>
          </p:txBody>
        </p:sp>
      </p:grpSp>
      <p:grpSp>
        <p:nvGrpSpPr>
          <p:cNvPr id="15" name="next-tasks"/>
          <p:cNvGrpSpPr/>
          <p:nvPr/>
        </p:nvGrpSpPr>
        <p:grpSpPr>
          <a:xfrm>
            <a:off x="598932" y="3705225"/>
            <a:ext cx="10983468" cy="1147318"/>
            <a:chOff x="598932" y="3705225"/>
            <a:chExt cx="10983468" cy="1147318"/>
          </a:xfrm>
        </p:grpSpPr>
        <p:sp>
          <p:nvSpPr>
            <p:cNvPr id="8" name="Line 8"/>
            <p:cNvSpPr/>
            <p:nvPr/>
          </p:nvSpPr>
          <p:spPr>
            <a:xfrm>
              <a:off x="609600" y="3705225"/>
              <a:ext cx="10972800" cy="9525"/>
            </a:xfrm>
            <a:custGeom>
              <a:avLst/>
              <a:gdLst/>
              <a:ahLst/>
              <a:cxnLst/>
              <a:rect l="l" t="t" r="r" b="b"/>
              <a:pathLst>
                <a:path w="10972800" h="9525">
                  <a:moveTo>
                    <a:pt x="0" y="0"/>
                  </a:moveTo>
                  <a:lnTo>
                    <a:pt x="10972800" y="0"/>
                  </a:lnTo>
                </a:path>
              </a:pathLst>
            </a:custGeom>
            <a:noFill/>
            <a:ln w="19050">
              <a:solidFill>
                <a:schemeClr val="accent6"/>
              </a:solidFill>
            </a:ln>
          </p:spPr>
        </p:sp>
        <p:sp>
          <p:nvSpPr>
            <p:cNvPr id="9" name="TextBox 9"/>
            <p:cNvSpPr txBox="1"/>
            <p:nvPr/>
          </p:nvSpPr>
          <p:spPr>
            <a:xfrm>
              <a:off x="601218" y="3968750"/>
              <a:ext cx="683133"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第一步</a:t>
              </a:r>
            </a:p>
          </p:txBody>
        </p:sp>
        <p:sp>
          <p:nvSpPr>
            <p:cNvPr id="10" name="TextBox 10"/>
            <p:cNvSpPr txBox="1"/>
            <p:nvPr/>
          </p:nvSpPr>
          <p:spPr>
            <a:xfrm>
              <a:off x="4411218" y="3968750"/>
              <a:ext cx="683133"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第二步</a:t>
              </a:r>
            </a:p>
          </p:txBody>
        </p:sp>
        <p:sp>
          <p:nvSpPr>
            <p:cNvPr id="11" name="TextBox 11"/>
            <p:cNvSpPr txBox="1"/>
            <p:nvPr/>
          </p:nvSpPr>
          <p:spPr>
            <a:xfrm>
              <a:off x="8221218" y="3968750"/>
              <a:ext cx="683133"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第三步</a:t>
              </a:r>
            </a:p>
          </p:txBody>
        </p:sp>
        <p:sp>
          <p:nvSpPr>
            <p:cNvPr id="12" name="TextBox 12"/>
            <p:cNvSpPr txBox="1"/>
            <p:nvPr/>
          </p:nvSpPr>
          <p:spPr>
            <a:xfrm>
              <a:off x="598932" y="4441825"/>
              <a:ext cx="2282952" cy="410718"/>
            </a:xfrm>
            <a:prstGeom prst="rect">
              <a:avLst/>
            </a:prstGeom>
            <a:noFill/>
            <a:ln>
              <a:noFill/>
            </a:ln>
          </p:spPr>
          <p:txBody>
            <a:bodyPr wrap="none" lIns="0" tIns="0" rIns="0" bIns="0" anchor="t" anchorCtr="0">
              <a:spAutoFit/>
            </a:bodyPr>
            <a:lstStyle/>
            <a:p>
              <a:pPr algn="l"/>
              <a:r>
                <a:rPr lang="zh-CN" sz="2100" b="1" dirty="0">
                  <a:solidFill>
                    <a:srgbClr val="315E9D"/>
                  </a:solidFill>
                  <a:latin typeface="+mn-lt"/>
                  <a:ea typeface="+mn-ea"/>
                  <a:cs typeface="+mn-cs"/>
                </a:rPr>
                <a:t>完善图像方法验证</a:t>
              </a:r>
            </a:p>
          </p:txBody>
        </p:sp>
        <p:sp>
          <p:nvSpPr>
            <p:cNvPr id="13" name="TextBox 13"/>
            <p:cNvSpPr txBox="1"/>
            <p:nvPr/>
          </p:nvSpPr>
          <p:spPr>
            <a:xfrm>
              <a:off x="4408932" y="4441825"/>
              <a:ext cx="2848356" cy="410718"/>
            </a:xfrm>
            <a:prstGeom prst="rect">
              <a:avLst/>
            </a:prstGeom>
            <a:noFill/>
            <a:ln>
              <a:noFill/>
            </a:ln>
          </p:spPr>
          <p:txBody>
            <a:bodyPr wrap="none" lIns="0" tIns="0" rIns="0" bIns="0" anchor="t" anchorCtr="0">
              <a:spAutoFit/>
            </a:bodyPr>
            <a:lstStyle/>
            <a:p>
              <a:pPr algn="l"/>
              <a:r>
                <a:rPr lang="zh-CN" sz="2100" b="1" dirty="0">
                  <a:solidFill>
                    <a:schemeClr val="accent2"/>
                  </a:solidFill>
                  <a:latin typeface="+mn-lt"/>
                  <a:ea typeface="+mn-ea"/>
                  <a:cs typeface="+mn-cs"/>
                </a:rPr>
                <a:t>视频标注与两模块实验</a:t>
              </a:r>
            </a:p>
          </p:txBody>
        </p:sp>
        <p:sp>
          <p:nvSpPr>
            <p:cNvPr id="14" name="TextBox 14"/>
            <p:cNvSpPr txBox="1"/>
            <p:nvPr/>
          </p:nvSpPr>
          <p:spPr>
            <a:xfrm>
              <a:off x="8218932" y="4441825"/>
              <a:ext cx="2565654"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系统联调与论文整理</a:t>
              </a:r>
            </a:p>
          </p:txBody>
        </p:sp>
      </p:grpSp>
      <p:grpSp>
        <p:nvGrpSpPr>
          <p:cNvPr id="17" name="expected-delivery"/>
          <p:cNvGrpSpPr/>
          <p:nvPr/>
        </p:nvGrpSpPr>
        <p:grpSpPr>
          <a:xfrm>
            <a:off x="597408" y="5651500"/>
            <a:ext cx="7455408" cy="469392"/>
            <a:chOff x="597408" y="5651500"/>
            <a:chExt cx="7455408" cy="469392"/>
          </a:xfrm>
        </p:grpSpPr>
        <p:sp>
          <p:nvSpPr>
            <p:cNvPr id="16" name="TextBox 16"/>
            <p:cNvSpPr txBox="1"/>
            <p:nvPr/>
          </p:nvSpPr>
          <p:spPr>
            <a:xfrm>
              <a:off x="597408" y="5651500"/>
              <a:ext cx="7455408"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预期成果：方法验证结果与可演示的通用分析系统。</a:t>
              </a:r>
            </a:p>
          </p:txBody>
        </p:sp>
      </p:grpSp>
      <p:sp>
        <p:nvSpPr>
          <p:cNvPr id="18" name="TextBox 18"/>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22 / 22</a:t>
            </a: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dense_instance_thesis">
  <a:themeElements>
    <a:clrScheme name="dense_instance_thesis">
      <a:dk1>
        <a:srgbClr val="25374C"/>
      </a:dk1>
      <a:lt1>
        <a:srgbClr val="FFFFFF"/>
      </a:lt1>
      <a:dk2>
        <a:srgbClr val="1F497D"/>
      </a:dk2>
      <a:lt2>
        <a:srgbClr val="F1F5F8"/>
      </a:lt2>
      <a:accent1>
        <a:srgbClr val="172B46"/>
      </a:accent1>
      <a:accent2>
        <a:srgbClr val="007F82"/>
      </a:accent2>
      <a:accent3>
        <a:srgbClr val="C36D37"/>
      </a:accent3>
      <a:accent4>
        <a:srgbClr val="172B46"/>
      </a:accent4>
      <a:accent5>
        <a:srgbClr val="596B80"/>
      </a:accent5>
      <a:accent6>
        <a:srgbClr val="D4DEE7"/>
      </a:accent6>
      <a:hlink>
        <a:srgbClr val="007F82"/>
      </a:hlink>
      <a:folHlink>
        <a:srgbClr val="C36D37"/>
      </a:folHlink>
    </a:clrScheme>
    <a:fontScheme name="dense_instance_thesis">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nse_instance_the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dense_instance_thesis">
  <a:themeElements>
    <a:clrScheme name="dense_instance_thesis">
      <a:dk1>
        <a:srgbClr val="25374C"/>
      </a:dk1>
      <a:lt1>
        <a:srgbClr val="FFFFFF"/>
      </a:lt1>
      <a:dk2>
        <a:srgbClr val="1F497D"/>
      </a:dk2>
      <a:lt2>
        <a:srgbClr val="F1F5F8"/>
      </a:lt2>
      <a:accent1>
        <a:srgbClr val="172B46"/>
      </a:accent1>
      <a:accent2>
        <a:srgbClr val="007F82"/>
      </a:accent2>
      <a:accent3>
        <a:srgbClr val="C36D37"/>
      </a:accent3>
      <a:accent4>
        <a:srgbClr val="172B46"/>
      </a:accent4>
      <a:accent5>
        <a:srgbClr val="596B80"/>
      </a:accent5>
      <a:accent6>
        <a:srgbClr val="D4DEE7"/>
      </a:accent6>
      <a:hlink>
        <a:srgbClr val="007F82"/>
      </a:hlink>
      <a:folHlink>
        <a:srgbClr val="C36D37"/>
      </a:folHlink>
    </a:clrScheme>
    <a:fontScheme name="dense_instance_thesis">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nse_instance_the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22</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zh-CN</dc:language>
  <cp:lastModifiedBy/>
  <cp:revision>1</cp:revision>
  <dcterms:created xsi:type="dcterms:W3CDTF">2026-10-14T17:18:28Z</dcterms:created>
  <dcterms:modified xsi:type="dcterms:W3CDTF">2026-10-14T17:18:28Z</dcterms:modified>
  <cp:category/>
  <cp:contentStatus/>
</cp:coreProperties>
</file>