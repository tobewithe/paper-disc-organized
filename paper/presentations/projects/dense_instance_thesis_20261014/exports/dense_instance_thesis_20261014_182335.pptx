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各位老师好，本次汇报的题目是“面向密集场景的检测分割与持续跟踪方法及系统研究”。课题面向拥挤环境中的连续个体监测，希望把单张图像中的识别结果，进一步组织成可持续、可回查的个体记录。</a:t>
            </a:r>
          </a:p>
          <a:p>
            <a:pPr/>
            <a:endParaRPr lang="zh-CN" dirty="0"/>
          </a:p>
          <a:p>
            <a:pPr/>
            <a:r>
              <a:rPr lang="zh-CN" dirty="0"/>
              <a:t>汇报分为研究背景、研究方法、系统设计和研究安排四个部分。研究方法包括图像中的个体检测分割、视频中的身份保持，以及遮挡后的身份恢复。其中，图像部分已经有模型和实验基础，后两个模块目前是拟开展方案。</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动物群体、人员和车辆监测，都需要持续记录具体个体。实际使用时，需要了解当前能看到多少个体，每个个体出现在哪里，以及在某个区域停留了多久。</a:t>
            </a:r>
          </a:p>
          <a:p>
            <a:pPr/>
            <a:endParaRPr lang="zh-CN" dirty="0"/>
          </a:p>
          <a:p>
            <a:pPr/>
            <a:r>
              <a:rPr lang="zh-CN" dirty="0"/>
              <a:t>如果还需要分析个体的可见区域，就要进一步分开相邻个体的轮廓。数量基本正确，并不代表每个个体的区域记录也正确。只有这些记录持续稳定，后续的数量统计、位置分析和行为研究才有可靠基础。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现有技术已经能够在图像中找到目标的位置，并描出个体轮廓。在视频中，也可以给目标分配编号，连续跟随其移动。因此，检测、分割和跟踪已经提供了比较明确的技术基础。</a:t>
            </a:r>
          </a:p>
          <a:p>
            <a:pPr/>
            <a:endParaRPr lang="zh-CN" dirty="0"/>
          </a:p>
          <a:p>
            <a:pPr/>
            <a:r>
              <a:rPr lang="zh-CN" dirty="0"/>
              <a:t>但是目前，在密集场景下保持稳定的个体记录仍有困难。个体挤在一起、彼此接触，或者被遮挡较长时间时，输出可能前后不一致，连续记录也可能中断。图像识别准确，并不能直接说明视频中的每个身份都能一直保持正确。本课题关注的就是这些具体条件下的可靠性。</a:t>
            </a:r>
          </a:p>
          <a:p>
            <a:pPr/>
            <a:endParaRPr lang="zh-CN" dirty="0"/>
          </a:p>
          <a:p>
            <a:pPr/>
            <a:r>
              <a:rPr lang="zh-CN" dirty="0"/>
              <a:t>视频关联能力及低置信度观测造成轨迹断裂的问题，可参见 [ByteTrack 原论文](https://arxiv.org/abs/2110.06864)；运动与外观联合关联可参见 [BoT-SORT 原论文](https://arxiv.org/abs/2206.14651)。这里概括研究背景，不将文献成绩视为本项目结果。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这里把实际困难归纳为三种情况。第一是个体密集接触，同一个体可能被重复识别，也可能漏掉某个个体；即使检测框存在，相邻个体的轮廓仍可能混在一起。</a:t>
            </a:r>
          </a:p>
          <a:p>
            <a:pPr/>
            <a:endParaRPr lang="zh-CN" dirty="0"/>
          </a:p>
          <a:p>
            <a:pPr/>
            <a:r>
              <a:rPr lang="zh-CN" dirty="0"/>
              <a:t>第二是外观相似的个体交叉移动。每一帧都能找到它们，但前后编号可能互换，或者一段轨迹被分成几段。第三是个体被遮挡后重新出现，系统可能把它当成新个体，导致遮挡前后的记录接不上。</a:t>
            </a:r>
          </a:p>
          <a:p>
            <a:pPr/>
            <a:endParaRPr lang="zh-CN" dirty="0"/>
          </a:p>
          <a:p>
            <a:pPr/>
            <a:r>
              <a:rPr lang="zh-CN" dirty="0"/>
              <a:t>这三类问题分别对应后面的检测分割、身份保持和遮挡恢复。目标是提高个体识别、轮廓区分和连续记录的可靠性。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方法按三个任务模块组织。模块一解决单张图像中能否找到个体、能否分清轮廓的问题，目前已经完成部分图像模型和探索实验。模块二研究连续视频中的身份关联，让持续可见的个体尽量保持原来的编号。模块三处理轨迹已经丢失的情况，判断目标重新出现后能否接回原编号。</a:t>
            </a:r>
          </a:p>
          <a:p>
            <a:pPr/>
            <a:endParaRPr lang="zh-CN" dirty="0"/>
          </a:p>
          <a:p>
            <a:pPr/>
            <a:r>
              <a:rPr lang="zh-CN" dirty="0"/>
              <a:t>模块二关注身份尽量不中断，模块三关注中断之后能否正确接回。两个视频模块目前都未开展，计划先限定在单摄像头、固定视角，并沿用同一套跟踪框架，控制实现和实验规模。最终将三个模块组织为通用系统，猪只只作为其中一个应用案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模块一首先建立实例级评价口径。IoU 是预测区域和真实标注区域的交并比，越接近一表示越一致。这里将零点七五作为诊断阈值，基于已有的 IoU 和官方任务匹配定义几个研究口径，而不是重新发明 IoU 或 AP。</a:t>
            </a:r>
          </a:p>
          <a:p>
            <a:pPr/>
            <a:endParaRPr lang="zh-CN" dirty="0"/>
          </a:p>
          <a:p>
            <a:pPr/>
            <a:r>
              <a:rPr lang="zh-CN" dirty="0"/>
              <a:t>目标集合 T 包括原分割任务失败、但存在合格检测框，而且该同一条检测自身轮廓仍不合格的实例。固定同一条预测很重要，因为检测框匹配和分割匹配是独立的，不能从不同预测中各取一个好结果拼成成功。</a:t>
            </a:r>
          </a:p>
          <a:p>
            <a:pPr/>
            <a:endParaRPr lang="zh-CN" dirty="0"/>
          </a:p>
          <a:p>
            <a:pPr/>
            <a:r>
              <a:rPr lang="zh-CN" dirty="0"/>
              <a:t>轮廓增益是修正后减去原来的 IoU。先在每张图中求平均，再对图片等权平均，分别观察目标组和全部合格框配对。任务修复率统计目标组中重新获得分割任务匹配的比例；它与原固定检测自身达到阈值的比例分别报告。</a:t>
            </a:r>
          </a:p>
          <a:p>
            <a:pPr/>
            <a:endParaRPr lang="zh-CN" dirty="0"/>
          </a:p>
          <a:p>
            <a:pPr/>
            <a:r>
              <a:rPr lang="zh-CN" dirty="0"/>
              <a:t>成功损伤率则统计原来分割成功、修正后变成任务失败的比例。这样，评价既考察是否修好错误，也检查是否破坏原本正确的结果。最终完整方法效果还需要通过同配置的全量 AP 验证。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目前使用的基础模型是固定预训练权重的 YOLO26m-seg，版本为 Ultralytics 八点四点一百，研究对象为正常推理保留的一对一分支最终输出。这里展示的是与本研究相关的推理结构。</a:t>
            </a:r>
          </a:p>
          <a:p>
            <a:pPr/>
            <a:endParaRPr lang="zh-CN" dirty="0"/>
          </a:p>
          <a:p>
            <a:pPr/>
            <a:r>
              <a:rPr lang="zh-CN" dirty="0"/>
              <a:t>输入图像经过主干网络和多尺度特征融合，提供检测所需的特征。模型一方面给出检测框、类别和分数，另一方面输出三十二通道的共享分割原型，以及每个实例对应的三十二维组合系数。可以把原型理解为共享的基础图案，把系数理解为每个实例组合这些图案的方式。二者组合后，再通过原生解码和预测框裁切，还原到图像中的实例轮廓。</a:t>
            </a:r>
          </a:p>
          <a:p>
            <a:pPr/>
            <a:endParaRPr lang="zh-CN" dirty="0"/>
          </a:p>
          <a:p>
            <a:pPr/>
            <a:r>
              <a:rPr lang="zh-CN" dirty="0"/>
              <a:t>当前方法固定基础网络、分割原型和检测结果，仅研究组合系数的修正。这样可以明确观察轮廓改变带来的影响。本地原生任务账本已经核验有效，但官方发布 AP 的复现要求尚未通过，因此所有实验都以本地同协议输出为基线。</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新增模块是一个轻量系数修正器，输入全部来自模型自身的预测。上方的空间支路在预测框内，对三十二通道原型和原始轮廓响应共同进行八乘八采样，得到三十三通道输入。经过两层三乘三卷积、GELU 激活和全局平均后，得到六十四维空间描述。</a:t>
            </a:r>
          </a:p>
          <a:p>
            <a:pPr/>
            <a:endParaRPr lang="zh-CN" dirty="0"/>
          </a:p>
          <a:p>
            <a:pPr/>
            <a:r>
              <a:rPr lang="zh-CN" dirty="0"/>
              <a:t>下方是实例条件支路。原检测位置所属特征层的实际通道为二百五十六、五百一十二或五百一十二，分别投影成六十四维；原系数映射成三十二维，再加入框几何、分数和类别嵌入。两条支路拼接后一共是一百八十一维，经一百二十八维中间层，最终输出三十二维系数残差。</a:t>
            </a:r>
          </a:p>
          <a:p>
            <a:pPr/>
            <a:endParaRPr lang="zh-CN" dirty="0"/>
          </a:p>
          <a:p>
            <a:pPr/>
            <a:r>
              <a:rPr lang="zh-CN" dirty="0"/>
              <a:t>把残差加到原系数上，再与原型组合，得到修正轮廓。新增可训练参数共有十六万七千八百七十二个，输出层采用零初始化，基础网络和原预测保持冻结。训练可以使用标注作监督，但正常修正推理不读取真实标注或失败标签。模型维度和参数量来自实际代码与正式训练合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首先检查正常推理中有哪些失败值得进入轮廓修正研究。对 COCO 验证集五千张图、三万六千三百三十五个普通标注实例逐一核对后，分割任务失败共有一万三千三百七十八个。</a:t>
            </a:r>
          </a:p>
          <a:p>
            <a:pPr/>
            <a:endParaRPr lang="zh-CN" dirty="0"/>
          </a:p>
          <a:p>
            <a:pPr/>
            <a:r>
              <a:rPr lang="zh-CN" dirty="0"/>
              <a:t>其中七千一百四十八个没有达到诊断要求的检测框配对；六千二百二十九个已经有合格框，但该同一条检测的轮廓仍不合格，构成目标集合 T；另有一个案例属于匹配竞争。目标集合占分割失败的百分之四十六点五六。</a:t>
            </a:r>
          </a:p>
          <a:p>
            <a:pPr/>
            <a:endParaRPr lang="zh-CN" dirty="0"/>
          </a:p>
          <a:p>
            <a:pPr/>
            <a:r>
              <a:rPr lang="zh-CN" dirty="0"/>
              <a:t>这个结果说明，部分失败可以在固定检测框后继续研究轮廓修正。它不是 AP，也不证明剩余失败都无法改善，只是明确了当前方法的研究对象。</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确定对象之后，先检验固定模型表示是否还有可利用的修正机会。实验固定原型、检测框、类别、分数和预测身份，只在真实标注指导下有限优化组合系数。这是用于探查机会的实验，并不是可部署的自动方法。</a:t>
            </a:r>
          </a:p>
          <a:p>
            <a:pPr/>
            <a:endParaRPr lang="zh-CN" dirty="0"/>
          </a:p>
          <a:p>
            <a:pPr/>
            <a:r>
              <a:rPr lang="zh-CN" dirty="0"/>
              <a:t>按冻结规则选取二百五十六个目标，全部完成数值收敛，其中一百二十二个在同一条检测上达到了轮廓 IoU 零点七五，比例为百分之四十七点六六。按真实标注面积分组，小目标为三十八除以一百四十八，中目标为四十四除以六十四，大目标为四十除以四十四。</a:t>
            </a:r>
          </a:p>
          <a:p>
            <a:pPr/>
            <a:endParaRPr lang="zh-CN" dirty="0"/>
          </a:p>
          <a:p>
            <a:pPr/>
            <a:r>
              <a:rPr lang="zh-CN" dirty="0"/>
              <a:t>这说明原有表示中仍能找到更准确的轮廓，但只是在固定样本和有限优化预算下找到的机会，不能作为全体失败的恢复比例或自动方法收益。下一步要检验修正器能否在不读取标注的情况下学到这些改善。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探索实验按条件逐项展开。第一项将原型和原始轮廓响应的空间位置联合打乱，保留数值和通道，用来观察空间组织是否有帮助。第二项保留正常空间排列，使用原来的像素分类损失。第三项保持相同结构、初始状态和图像次序，只把真实标注监督项替换为 soft-IoU，观察损失目标的影响。</a:t>
            </a:r>
          </a:p>
          <a:p>
            <a:pPr/>
            <a:endParaRPr lang="zh-CN" dirty="0"/>
          </a:p>
          <a:p>
            <a:pPr/>
            <a:r>
              <a:rPr lang="zh-CN" dirty="0"/>
              <a:t>这三个训练配置都使用相同的两千张图、三轮训练、一千五百步，优化器为 AdamW，学习率零点零零一，有效图像批量为四，统一取最后一轮模型，没有按开发成绩挑选轮次。用于保持基线输出的损失项仍为 BCE，权重保持零点一。</a:t>
            </a:r>
          </a:p>
          <a:p>
            <a:pPr/>
            <a:endParaRPr lang="zh-CN" dirty="0"/>
          </a:p>
          <a:p>
            <a:pPr/>
            <a:r>
              <a:rPr lang="zh-CN" dirty="0"/>
              <a:t>在后续风险分析基础上，另做固定面积选择：使用同一个已训练模型，只在原生原图掩码面积至少为九十六的平方时应用已有修正。这项实验没有新增训练，并保留完整预测集合和全部原评价分母。开发目标为六百五十五个，全部合格框固定配对为二千九百二十五个。</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这张图比较三种训练配置相对原生输出的目标组轮廓变化，横线表示原协议的百分之九十五区间。空间打乱为负一点九三个百分点，正常空间加 BCE 为负零点九九六，正常空间加 soft-IoU 为正零点六八。</a:t>
            </a:r>
          </a:p>
          <a:p>
            <a:pPr/>
            <a:endParaRPr lang="zh-CN" dirty="0"/>
          </a:p>
          <a:p>
            <a:pPr/>
            <a:r>
              <a:rPr lang="zh-CN" dirty="0"/>
              <a:t>保留空间排列比打乱对照少损失约零点九三四个百分点，替换损失也比旧 BCE 配置有所改善。但优于一个失败配置，不等于方法已经有效。soft-IoU 的目标区间仍跨零，整体固定配对的 IoU 下降约零点二六二个百分点；一千零二十四个原成功实例中有五十三个受损，损伤上界为百分之六点四三，高于百分之一要求。</a:t>
            </a:r>
          </a:p>
          <a:p>
            <a:pPr/>
            <a:endParaRPr lang="zh-CN" dirty="0"/>
          </a:p>
          <a:p>
            <a:pPr/>
            <a:r>
              <a:rPr lang="zh-CN" dirty="0"/>
              <a:t>因此，当前三个无条件配置均未通过完整开发验收。这是在既定样本和预算下对这些具体配置的结论，不代表所有系数修正方法都无效。下一步需要解释损伤集中在哪些实例上。</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为了定位损伤，复用同一个 soft-IoU 模型的已有输出，按原生预测掩码面积分组。这里采用推理时直接可见的原图预测面积，区别于前面标注辅助实验使用的真实标注面积。</a:t>
            </a:r>
          </a:p>
          <a:p>
            <a:pPr/>
            <a:endParaRPr lang="zh-CN" dirty="0"/>
          </a:p>
          <a:p>
            <a:pPr/>
            <a:r>
              <a:rPr lang="zh-CN" dirty="0"/>
              <a:t>小掩码组是三十七除以二百七十，损伤率约百分之十三点七；中掩码组是十四除以四百二十四；大掩码组是二除以三百三十。小掩码仅占成功面板的百分之二十六点四，却占损伤案例的百分之六十九点八。</a:t>
            </a:r>
          </a:p>
          <a:p>
            <a:pPr/>
            <a:endParaRPr lang="zh-CN" dirty="0"/>
          </a:p>
          <a:p>
            <a:pPr/>
            <a:r>
              <a:rPr lang="zh-CN" dirty="0"/>
              <a:t>这一结果提示，当前修正器的风险并非平均分布，选择应用范围值得进一步检验。但大掩码组的低点估计不能直接替代完整策略验收，必须实际构造混合输出，重新计算任务匹配并保留原分母。面积与邻框重叠的进一步分层结果保存在实验依据中，当前证据支持面积相关的探索结论，尚不能等同于密集场景因果结论。</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最新完成的实验采用固定面积条件：原生掩码面积达到九十六的平方才应用现有修正，其余保持原结果。使用相同 checkpoint，没有新增训练，对一千三百一十四张图的完整输出重新执行任务匹配。</a:t>
            </a:r>
          </a:p>
          <a:p>
            <a:pPr/>
            <a:endParaRPr lang="zh-CN" dirty="0"/>
          </a:p>
          <a:p>
            <a:pPr/>
            <a:r>
              <a:rPr lang="zh-CN" dirty="0"/>
              <a:t>左图仍以原生输出为参照。目标组平均增益从零点六八提高到一点零零二个百分点，对应区间约为正零点二八二到正一点八四五。整体固定配对由负零点二六二变为正零点零八九，但整体区间仍跨零，只能说通过整体保护要求，不能宣称整体显著提高。</a:t>
            </a:r>
          </a:p>
          <a:p>
            <a:pPr/>
            <a:endParaRPr lang="zh-CN" dirty="0"/>
          </a:p>
          <a:p>
            <a:pPr/>
            <a:r>
              <a:rPr lang="zh-CN" dirty="0"/>
              <a:t>右图使用完全相同的一千零二十四个原成功实例面板。无条件修正损伤五十三个，固定面积策略损伤两个，比例从约百分之五点一八降到零点二零。按原公式计算的名义上界约为百分之零点六。</a:t>
            </a:r>
          </a:p>
          <a:p>
            <a:pPr/>
            <a:endParaRPr lang="zh-CN" dirty="0"/>
          </a:p>
          <a:p>
            <a:pPr/>
            <a:r>
              <a:rPr lang="zh-CN" dirty="0"/>
              <a:t>原开发要求是目标增益至少零点五个百分点且区间下界大于零，整体平均下降不超过零点一百分点，损伤上界不超过百分之一。这次三项数值均通过。但面积策略由已经看过的开发结果选出，面板也被复用，区间和上界不具有新的独立覆盖保证。未应用修正的实例仍留在分母中；全五千图的 AP 改善和独立确认尚未完成。</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一目前形成三点认识。第一，固定原有表示后仍有可利用的轮廓修正机会，标注辅助实验的一百二十二个达标案例为系数修正提供依据。第二，无条件修正会损伤原成功实例，而且小掩码风险更集中，不能只关注失败实例上的收益。第三，固定面积选择已经在复用的开发数据上兼顾目标改善和原成功保护，通过数值筛查。</a:t>
            </a:r>
          </a:p>
          <a:p>
            <a:pPr/>
            <a:endParaRPr lang="zh-CN" dirty="0"/>
          </a:p>
          <a:p>
            <a:pPr/>
            <a:r>
              <a:rPr lang="zh-CN" dirty="0"/>
              <a:t>这些结果保留了先前无条件配置的失败结论，也没有把开发筛查改写成全量 AP 或跨场景有效。该面积策略仍需完成的效用验证是：固定同一模型和面积条件，在全部五千张图上比较 AP，并对全部原成功实例统计精确损伤。</a:t>
            </a:r>
          </a:p>
          <a:p>
            <a:pPr/>
            <a:endParaRPr lang="zh-CN" dirty="0"/>
          </a:p>
          <a:p>
            <a:pPr/>
            <a:r>
              <a:rPr lang="zh-CN" dirty="0"/>
              <a:t>现有证据来自 COCO 图像开发实验，可以复用其模型、评价和探索经验。密集专项、动物场景和视频身份效果仍属于后续验证内容。</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模块二尚未开展，关注持续可见或短暂漏检时的身份保持。拟以 ByteTrack 为跟踪基线，利用当前检测和已有轨迹完成关联，再参照 BoT-SORT 的思路，引入外观与运动的联合判断。</a:t>
            </a:r>
          </a:p>
          <a:p>
            <a:pPr/>
            <a:endParaRPr lang="zh-CN" dirty="0"/>
          </a:p>
          <a:p>
            <a:pPr/>
            <a:r>
              <a:rPr lang="zh-CN" dirty="0"/>
              <a:t>当前帧提供位置、分数和个体轮廓，历史轨迹提供编号、移动位置和可靠外观。先预测个体可能的位置，再比较其外观，把当前观测关联到既有轨迹，输出连续编号。ByteTrack 本身已有运动关联，拟研究的增加项主要是外观信息如何参与，以及什么情况下应减少不可靠外观的影响。</a:t>
            </a:r>
          </a:p>
          <a:p>
            <a:pPr/>
            <a:endParaRPr lang="zh-CN" dirty="0"/>
          </a:p>
          <a:p>
            <a:pPr/>
            <a:r>
              <a:rPr lang="zh-CN" dirty="0"/>
              <a:t>模块一与模块二的连接点必须具体。只有将轮廓用于外观区域提取或显式关联，分割改变才可能影响身份结果。如果检测框和分数完全相同，纯框跟踪不会因为换了掩码就自动提升。外观编码器先考虑冻结的通用图像特征，仍需验证它在目标场景中能否区分相似个体，不能直接假定行人重识别模型适用于动物。</a:t>
            </a:r>
          </a:p>
          <a:p>
            <a:pPr/>
            <a:endParaRPr lang="zh-CN" dirty="0"/>
          </a:p>
          <a:p>
            <a:pPr/>
            <a:r>
              <a:rPr lang="zh-CN" dirty="0"/>
              <a:t>基线资料为 [ByteTrack 原论文](https://arxiv.org/abs/2110.06864)，联合关联参考 [BoT-SORT 原论文](https://arxiv.org/abs/2206.14651)。图中是本课题的拟研究框架，尚无实验结果。</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身份保持实验先固定完整视频和相同检测结果。第一组是原有检测框配合 ByteTrack，建立本场景的参考水平。第二组在基线上加入外观联合关联，观察交叉运动时是否减少换号。</a:t>
            </a:r>
          </a:p>
          <a:p>
            <a:pPr/>
            <a:endParaRPr lang="zh-CN" dirty="0"/>
          </a:p>
          <a:p>
            <a:pPr/>
            <a:r>
              <a:rPr lang="zh-CN" dirty="0"/>
              <a:t>第三组使用原生轮廓提取个体外观，检验减少邻近个体混入是否有帮助。第四组只把第三组中的轮廓换成模块一修正结果，其余关联设置保持一致，从而检验图像轮廓改善能否转化为身份收益。</a:t>
            </a:r>
          </a:p>
          <a:p>
            <a:pPr/>
            <a:endParaRPr lang="zh-CN" dirty="0"/>
          </a:p>
          <a:p>
            <a:pPr/>
            <a:r>
              <a:rPr lang="zh-CN" dirty="0"/>
              <a:t>需要补充跨帧真实编号标注，按完整场景或序列划分开发和测试，避免把相邻帧分到两侧。重点覆盖交叉运动、相似外观和短暂漏检。主要评价身份对应的准确与完整程度，也就是 IDF1，同时报告编号切换、轨迹断裂和端到端速度。以上都是设想，配置、预算和评价规则需在实际运行前固定。</a:t>
            </a:r>
          </a:p>
          <a:p>
            <a:pPr/>
            <a:endParaRPr lang="zh-CN" dirty="0"/>
          </a:p>
          <a:p>
            <a:pPr/>
            <a:r>
              <a:rPr lang="zh-CN" dirty="0"/>
              <a:t>统一评价工具参考 [TrackEval 官方仓库](https://github.com/JonathonLuiten/TrackEval)，目前尚未在本项目运行视频评价。</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模块三同样尚未开展，处理轨迹已经进入丢失状态的情形。它沿用模块二的跟踪框架，增加丢失轨迹记忆与恢复判定。遮挡前保存可靠外观、最后位置和运动历史，重新出现候选后，先筛选可能对应的旧轨迹，再通过连续观测确认。</a:t>
            </a:r>
          </a:p>
          <a:p>
            <a:pPr/>
            <a:endParaRPr lang="zh-CN" dirty="0"/>
          </a:p>
          <a:p>
            <a:pPr/>
            <a:r>
              <a:rPr lang="zh-CN" dirty="0"/>
              <a:t>证据足够时恢复原编号，把记录接回遮挡之前。如果证据不足，保留未确认状态继续观察；达到固定时限后终止旧轨迹，避免为了保持编号而强行接错。这里同时需要控制错误续接和长时间无法作出判断。</a:t>
            </a:r>
          </a:p>
          <a:p>
            <a:pPr/>
            <a:endParaRPr lang="zh-CN" dirty="0"/>
          </a:p>
          <a:p>
            <a:pPr/>
            <a:r>
              <a:rPr lang="zh-CN" dirty="0"/>
              <a:t>遮挡期间的运动预测只能表示推测位置，不能作为实际观测到的轨迹。研究重点是重新出现之后身份是否正确恢复，以同一摄像头内的临时遮挡为主要范围。</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遮挡恢复实验需要以事件为单位建立标注，记录遮挡开始、重新可见时间以及真实身份，按事前确定的遮挡时长分层分析。</a:t>
            </a:r>
          </a:p>
          <a:p>
            <a:pPr/>
            <a:endParaRPr lang="zh-CN" dirty="0"/>
          </a:p>
          <a:p>
            <a:pPr/>
            <a:r>
              <a:rPr lang="zh-CN" dirty="0"/>
              <a:t>拟比较四种配置：默认丢失保留、仅延长保留时间、在同样保留时限和候选预算下增加可靠外观记忆，以及进一步加入连续多帧确认。这样能够区分效果来自等待更久、记忆信息还是确认策略，也能观察降低误接是否增加恢复延迟。</a:t>
            </a:r>
          </a:p>
          <a:p>
            <a:pPr/>
            <a:endParaRPr lang="zh-CN" dirty="0"/>
          </a:p>
          <a:p>
            <a:pPr/>
            <a:r>
              <a:rPr lang="zh-CN" dirty="0"/>
              <a:t>对全部符合定义的重现事件共用同一个分母，报告正确恢复、错误续接和未恢复的比例。成功恢复延迟另行报告，同时给出超时率，避免只分析成功样本就声称整体更快。新目标进入和出画后重新进入作为单独干扰对照；只有身份可明确标定的重现才作为可恢复机会。阈值、时限和评价窗口均在运行前确定，目前没有任何视频实验结果。</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最终拟形成通用系统，将三个模块的输出组织成完整使用流程。用户首先选择图片或视频，并配置识别对象；随后查看个体的位置、轮廓和连续编号。</a:t>
            </a:r>
          </a:p>
          <a:p>
            <a:pPr/>
            <a:endParaRPr lang="zh-CN" dirty="0"/>
          </a:p>
          <a:p>
            <a:pPr/>
            <a:r>
              <a:rPr lang="zh-CN" dirty="0"/>
              <a:t>处理完成后，可以回看遮挡与恢复记录，并导出轨迹、数量变化和报表。对于身份尚不能确认的情况，系统应明确显示其状态，使用户能够区分已确认记录与待确认结果。</a:t>
            </a:r>
          </a:p>
          <a:p>
            <a:pPr/>
            <a:endParaRPr lang="zh-CN" dirty="0"/>
          </a:p>
          <a:p>
            <a:pPr/>
            <a:r>
              <a:rPr lang="zh-CN" dirty="0"/>
              <a:t>系统的重点是让分析结果可以查看、回看和保存，形成实际可用的个体记录。目前这里展示的是拟建功能。</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应用验证以猪只群体监测为例。密集聚集和外观相似使这个场景能够具体检验数量、个体区域以及连续身份记录。</a:t>
            </a:r>
          </a:p>
          <a:p>
            <a:pPr/>
            <a:endParaRPr lang="zh-CN" dirty="0"/>
          </a:p>
          <a:p>
            <a:pPr/>
            <a:r>
              <a:rPr lang="zh-CN" dirty="0"/>
              <a:t>使用者关心当前可见数量、每个个体的位置与停留，以及遮挡前后的记录能否接续。系统预期输出数量变化、位置与区域，以及可回查的连续记录。</a:t>
            </a:r>
          </a:p>
          <a:p>
            <a:pPr/>
            <a:endParaRPr lang="zh-CN" dirty="0"/>
          </a:p>
          <a:p>
            <a:pPr/>
            <a:r>
              <a:rPr lang="zh-CN" dirty="0"/>
              <a:t>猪只承担应用验证角色，方法和系统的组织不限定于猪只。面向其它识别对象时，可以配置相应模型与数据，但具体效果仍需在各场景分别验证，不能把一个案例的成绩直接外推。</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已有基础包括图像模型、实验数据、评价与导出流程，以及动物图像资料和处理经验。视频身份保持与遮挡恢复目前尚未开展，需要补充视频和跨帧身份标注。</a:t>
            </a:r>
          </a:p>
          <a:p>
            <a:pPr/>
            <a:endParaRPr lang="zh-CN" dirty="0"/>
          </a:p>
          <a:p>
            <a:pPr/>
            <a:r>
              <a:rPr lang="zh-CN" dirty="0"/>
              <a:t>后续先完善图像方法的验证，再围绕视频两个模块开展受控实验，随后进行系统联调与论文整理。预期形成可复查的方法验证结果和能够演示完整流程的通用分析系统。以上是本次汇报，请各位老师批评指正。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nse_instance_thesi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nse_instance_thesi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opening"/>
          <p:cNvGrpSpPr/>
          <p:nvPr/>
        </p:nvGrpSpPr>
        <p:grpSpPr>
          <a:xfrm>
            <a:off x="597408" y="631825"/>
            <a:ext cx="3255264" cy="469392"/>
            <a:chOff x="597408" y="631825"/>
            <a:chExt cx="3255264" cy="469392"/>
          </a:xfrm>
        </p:grpSpPr>
        <p:sp>
          <p:nvSpPr>
            <p:cNvPr id="2" name="TextBox 2"/>
            <p:cNvSpPr txBox="1"/>
            <p:nvPr/>
          </p:nvSpPr>
          <p:spPr>
            <a:xfrm>
              <a:off x="597408" y="631825"/>
              <a:ext cx="325526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毕业论文研究方案汇报</a:t>
              </a:r>
            </a:p>
          </p:txBody>
        </p:sp>
      </p:grpSp>
      <p:grpSp>
        <p:nvGrpSpPr>
          <p:cNvPr id="5" name="title"/>
          <p:cNvGrpSpPr/>
          <p:nvPr/>
        </p:nvGrpSpPr>
        <p:grpSpPr>
          <a:xfrm>
            <a:off x="590550" y="2203450"/>
            <a:ext cx="6438900" cy="1657350"/>
            <a:chOff x="590550" y="2203450"/>
            <a:chExt cx="6438900" cy="1657350"/>
          </a:xfrm>
        </p:grpSpPr>
        <p:sp>
          <p:nvSpPr>
            <p:cNvPr id="4" name="TextBox 4"/>
            <p:cNvSpPr txBox="1"/>
            <p:nvPr/>
          </p:nvSpPr>
          <p:spPr>
            <a:xfrm>
              <a:off x="590550" y="2203450"/>
              <a:ext cx="6438900" cy="1657350"/>
            </a:xfrm>
            <a:prstGeom prst="rect">
              <a:avLst/>
            </a:prstGeom>
            <a:noFill/>
            <a:ln>
              <a:noFill/>
            </a:ln>
          </p:spPr>
          <p:txBody>
            <a:bodyPr wrap="none" lIns="0" tIns="0" rIns="0" bIns="0" anchor="t" anchorCtr="0">
              <a:spAutoFit/>
            </a:bodyPr>
            <a:lstStyle/>
            <a:p>
              <a:pPr algn="l">
                <a:lnSpc>
                  <a:spcPts val="6600"/>
                </a:lnSpc>
              </a:pPr>
              <a:r>
                <a:rPr lang="zh-CN" sz="4200" b="1" dirty="0">
                  <a:solidFill>
                    <a:srgbClr val="FFFFFF"/>
                  </a:solidFill>
                  <a:latin typeface="+mn-lt"/>
                  <a:ea typeface="+mn-ea"/>
                  <a:cs typeface="+mn-cs"/>
                </a:rPr>
                <a:t>面向密集场景的检测分割</a:t>
              </a:r>
              <a:br>
                <a:rPr lang="zh-CN" sz="4200" b="1" dirty="0">
                  <a:solidFill>
                    <a:srgbClr val="FFFFFF"/>
                  </a:solidFill>
                  <a:latin typeface="+mn-lt"/>
                  <a:ea typeface="+mn-ea"/>
                  <a:cs typeface="+mn-cs"/>
                </a:rPr>
              </a:br>
              <a:r>
                <a:rPr lang="zh-CN" sz="4200" b="1" dirty="0">
                  <a:solidFill>
                    <a:srgbClr val="FFFFFF"/>
                  </a:solidFill>
                  <a:latin typeface="+mn-lt"/>
                  <a:ea typeface="+mn-ea"/>
                  <a:cs typeface="+mn-cs"/>
                </a:rPr>
                <a:t>与持续跟踪方法及系统研究</a:t>
              </a:r>
            </a:p>
          </p:txBody>
        </p:sp>
      </p:grpSp>
      <p:grpSp>
        <p:nvGrpSpPr>
          <p:cNvPr id="11" name="section-guide"/>
          <p:cNvGrpSpPr/>
          <p:nvPr/>
        </p:nvGrpSpPr>
        <p:grpSpPr>
          <a:xfrm>
            <a:off x="598932" y="5295900"/>
            <a:ext cx="10983468" cy="652018"/>
            <a:chOff x="598932" y="5295900"/>
            <a:chExt cx="10983468" cy="652018"/>
          </a:xfrm>
        </p:grpSpPr>
        <p:sp>
          <p:nvSpPr>
            <p:cNvPr id="6" name="Line 6"/>
            <p:cNvSpPr/>
            <p:nvPr/>
          </p:nvSpPr>
          <p:spPr>
            <a:xfrm>
              <a:off x="609600" y="5295900"/>
              <a:ext cx="10972800" cy="9525"/>
            </a:xfrm>
            <a:custGeom>
              <a:avLst/>
              <a:gdLst/>
              <a:ahLst/>
              <a:cxnLst/>
              <a:rect l="l" t="t" r="r" b="b"/>
              <a:pathLst>
                <a:path w="10972800" h="9525">
                  <a:moveTo>
                    <a:pt x="0" y="0"/>
                  </a:moveTo>
                  <a:lnTo>
                    <a:pt x="10972800" y="0"/>
                  </a:lnTo>
                </a:path>
              </a:pathLst>
            </a:custGeom>
            <a:noFill/>
            <a:ln w="9525">
              <a:solidFill>
                <a:srgbClr val="596B80"/>
              </a:solidFill>
            </a:ln>
          </p:spPr>
        </p:sp>
        <p:sp>
          <p:nvSpPr>
            <p:cNvPr id="7" name="TextBox 7"/>
            <p:cNvSpPr txBox="1"/>
            <p:nvPr/>
          </p:nvSpPr>
          <p:spPr>
            <a:xfrm>
              <a:off x="5989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研究背景</a:t>
              </a:r>
            </a:p>
          </p:txBody>
        </p:sp>
        <p:sp>
          <p:nvSpPr>
            <p:cNvPr id="8" name="TextBox 8"/>
            <p:cNvSpPr txBox="1"/>
            <p:nvPr/>
          </p:nvSpPr>
          <p:spPr>
            <a:xfrm>
              <a:off x="31135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研究方法</a:t>
              </a:r>
            </a:p>
          </p:txBody>
        </p:sp>
        <p:sp>
          <p:nvSpPr>
            <p:cNvPr id="9" name="TextBox 9"/>
            <p:cNvSpPr txBox="1"/>
            <p:nvPr/>
          </p:nvSpPr>
          <p:spPr>
            <a:xfrm>
              <a:off x="56281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系统设计</a:t>
              </a:r>
            </a:p>
          </p:txBody>
        </p:sp>
        <p:sp>
          <p:nvSpPr>
            <p:cNvPr id="10" name="TextBox 10"/>
            <p:cNvSpPr txBox="1"/>
            <p:nvPr/>
          </p:nvSpPr>
          <p:spPr>
            <a:xfrm>
              <a:off x="81427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研究安排</a:t>
              </a:r>
            </a:p>
          </p:txBody>
        </p:sp>
      </p:grpSp>
      <p:grpSp>
        <p:nvGrpSpPr>
          <p:cNvPr id="14" name="footer"/>
          <p:cNvGrpSpPr/>
          <p:nvPr/>
        </p:nvGrpSpPr>
        <p:grpSpPr>
          <a:xfrm>
            <a:off x="603504" y="6410325"/>
            <a:ext cx="10984992" cy="234696"/>
            <a:chOff x="603504" y="6410325"/>
            <a:chExt cx="10984992" cy="234696"/>
          </a:xfrm>
        </p:grpSpPr>
        <p:sp>
          <p:nvSpPr>
            <p:cNvPr id="12" name="TextBox 12"/>
            <p:cNvSpPr txBox="1"/>
            <p:nvPr/>
          </p:nvSpPr>
          <p:spPr>
            <a:xfrm>
              <a:off x="603504" y="6410325"/>
              <a:ext cx="90068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2026.10.15</a:t>
              </a:r>
            </a:p>
          </p:txBody>
        </p:sp>
        <p:sp>
          <p:nvSpPr>
            <p:cNvPr id="13" name="TextBox 1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01 / 22</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连续个体监测的应用需求</a:t>
              </a:r>
            </a:p>
          </p:txBody>
        </p:sp>
      </p:grpSp>
      <p:grpSp>
        <p:nvGrpSpPr>
          <p:cNvPr id="6" name="application-context"/>
          <p:cNvGrpSpPr/>
          <p:nvPr/>
        </p:nvGrpSpPr>
        <p:grpSpPr>
          <a:xfrm>
            <a:off x="597408" y="1831975"/>
            <a:ext cx="8101584" cy="469392"/>
            <a:chOff x="597408" y="1831975"/>
            <a:chExt cx="8101584" cy="469392"/>
          </a:xfrm>
        </p:grpSpPr>
        <p:sp>
          <p:nvSpPr>
            <p:cNvPr id="5" name="TextBox 5"/>
            <p:cNvSpPr txBox="1"/>
            <p:nvPr/>
          </p:nvSpPr>
          <p:spPr>
            <a:xfrm>
              <a:off x="597408" y="1831975"/>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动物群体、人员和车辆监测，都需要持续记录具体个体。</a:t>
              </a:r>
            </a:p>
          </p:txBody>
        </p:sp>
      </p:grpSp>
      <p:grpSp>
        <p:nvGrpSpPr>
          <p:cNvPr id="9" name="quantity"/>
          <p:cNvGrpSpPr/>
          <p:nvPr/>
        </p:nvGrpSpPr>
        <p:grpSpPr>
          <a:xfrm>
            <a:off x="597408" y="2774950"/>
            <a:ext cx="5103876" cy="469392"/>
            <a:chOff x="597408" y="2774950"/>
            <a:chExt cx="5103876" cy="469392"/>
          </a:xfrm>
        </p:grpSpPr>
        <p:sp>
          <p:nvSpPr>
            <p:cNvPr id="7" name="TextBox 7"/>
            <p:cNvSpPr txBox="1"/>
            <p:nvPr/>
          </p:nvSpPr>
          <p:spPr>
            <a:xfrm>
              <a:off x="597408" y="2774950"/>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数量</a:t>
              </a:r>
            </a:p>
          </p:txBody>
        </p:sp>
        <p:sp>
          <p:nvSpPr>
            <p:cNvPr id="8" name="TextBox 8"/>
            <p:cNvSpPr txBox="1"/>
            <p:nvPr/>
          </p:nvSpPr>
          <p:spPr>
            <a:xfrm>
              <a:off x="2769108" y="2774950"/>
              <a:ext cx="293217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当前能看到多少个体</a:t>
              </a:r>
            </a:p>
          </p:txBody>
        </p:sp>
      </p:grpSp>
      <p:grpSp>
        <p:nvGrpSpPr>
          <p:cNvPr id="13" name="location"/>
          <p:cNvGrpSpPr/>
          <p:nvPr/>
        </p:nvGrpSpPr>
        <p:grpSpPr>
          <a:xfrm>
            <a:off x="597408" y="3476625"/>
            <a:ext cx="10984992" cy="710692"/>
            <a:chOff x="597408" y="3476625"/>
            <a:chExt cx="10984992" cy="710692"/>
          </a:xfrm>
        </p:grpSpPr>
        <p:sp>
          <p:nvSpPr>
            <p:cNvPr id="10" name="Line 10"/>
            <p:cNvSpPr/>
            <p:nvPr/>
          </p:nvSpPr>
          <p:spPr>
            <a:xfrm>
              <a:off x="609600" y="3476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7408" y="3717925"/>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位置</a:t>
              </a:r>
            </a:p>
          </p:txBody>
        </p:sp>
        <p:sp>
          <p:nvSpPr>
            <p:cNvPr id="12" name="TextBox 12"/>
            <p:cNvSpPr txBox="1"/>
            <p:nvPr/>
          </p:nvSpPr>
          <p:spPr>
            <a:xfrm>
              <a:off x="2769108" y="37179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每个个体出现在哪里、停留多久</a:t>
              </a:r>
            </a:p>
          </p:txBody>
        </p:sp>
      </p:grpSp>
      <p:grpSp>
        <p:nvGrpSpPr>
          <p:cNvPr id="17" name="region"/>
          <p:cNvGrpSpPr/>
          <p:nvPr/>
        </p:nvGrpSpPr>
        <p:grpSpPr>
          <a:xfrm>
            <a:off x="597408" y="4419600"/>
            <a:ext cx="10984992" cy="710692"/>
            <a:chOff x="597408" y="4419600"/>
            <a:chExt cx="10984992" cy="710692"/>
          </a:xfrm>
        </p:grpSpPr>
        <p:sp>
          <p:nvSpPr>
            <p:cNvPr id="14" name="Line 14"/>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660900"/>
              <a:ext cx="67056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区域</a:t>
              </a:r>
            </a:p>
          </p:txBody>
        </p:sp>
        <p:sp>
          <p:nvSpPr>
            <p:cNvPr id="16" name="TextBox 16"/>
            <p:cNvSpPr txBox="1"/>
            <p:nvPr/>
          </p:nvSpPr>
          <p:spPr>
            <a:xfrm>
              <a:off x="2769108" y="4660900"/>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相邻个体的轮廓能否分开</a:t>
              </a:r>
            </a:p>
          </p:txBody>
        </p:sp>
      </p:grpSp>
      <p:grpSp>
        <p:nvGrpSpPr>
          <p:cNvPr id="19" name="purpose"/>
          <p:cNvGrpSpPr/>
          <p:nvPr/>
        </p:nvGrpSpPr>
        <p:grpSpPr>
          <a:xfrm>
            <a:off x="597408" y="5699125"/>
            <a:ext cx="6486144" cy="469392"/>
            <a:chOff x="597408" y="5699125"/>
            <a:chExt cx="6486144" cy="469392"/>
          </a:xfrm>
        </p:grpSpPr>
        <p:sp>
          <p:nvSpPr>
            <p:cNvPr id="18" name="TextBox 18"/>
            <p:cNvSpPr txBox="1"/>
            <p:nvPr/>
          </p:nvSpPr>
          <p:spPr>
            <a:xfrm>
              <a:off x="597408" y="569912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稳定的个体记录，是后续统计和分析的基础。</a:t>
              </a:r>
            </a:p>
          </p:txBody>
        </p:sp>
      </p:grpSp>
      <p:sp>
        <p:nvSpPr>
          <p:cNvPr id="20" name="TextBox 2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22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745480" cy="1459865"/>
            <a:chOff x="594360" y="415925"/>
            <a:chExt cx="5745480" cy="14598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745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accent1"/>
                  </a:solidFill>
                  <a:latin typeface="+mn-lt"/>
                  <a:ea typeface="+mn-ea"/>
                  <a:cs typeface="+mn-cs"/>
                </a:rPr>
                <a:t>现有技术已能识别和跟踪目标</a:t>
              </a:r>
              <a:br>
                <a:rPr lang="zh-CN" sz="3000" b="1" dirty="0">
                  <a:solidFill>
                    <a:schemeClr val="accent1"/>
                  </a:solidFill>
                  <a:latin typeface="+mn-lt"/>
                  <a:ea typeface="+mn-ea"/>
                  <a:cs typeface="+mn-cs"/>
                </a:rPr>
              </a:br>
              <a:r>
                <a:rPr lang="zh-CN" sz="3000" b="1" dirty="0">
                  <a:solidFill>
                    <a:schemeClr val="accent1"/>
                  </a:solidFill>
                  <a:latin typeface="+mn-lt"/>
                  <a:ea typeface="+mn-ea"/>
                  <a:cs typeface="+mn-cs"/>
                </a:rPr>
                <a:t>但目前在密集场景下仍难保持稳定</a:t>
              </a:r>
            </a:p>
          </p:txBody>
        </p:sp>
      </p:grpSp>
      <p:grpSp>
        <p:nvGrpSpPr>
          <p:cNvPr id="8" name="image-capability"/>
          <p:cNvGrpSpPr/>
          <p:nvPr/>
        </p:nvGrpSpPr>
        <p:grpSpPr>
          <a:xfrm>
            <a:off x="597408" y="2279650"/>
            <a:ext cx="5003292" cy="1736217"/>
            <a:chOff x="597408" y="2279650"/>
            <a:chExt cx="5003292" cy="1736217"/>
          </a:xfrm>
        </p:grpSpPr>
        <p:sp>
          <p:nvSpPr>
            <p:cNvPr id="5" name="TextBox 5"/>
            <p:cNvSpPr txBox="1"/>
            <p:nvPr/>
          </p:nvSpPr>
          <p:spPr>
            <a:xfrm>
              <a:off x="597408" y="2279650"/>
              <a:ext cx="260908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图像中的个体识别</a:t>
              </a:r>
            </a:p>
          </p:txBody>
        </p:sp>
        <p:sp>
          <p:nvSpPr>
            <p:cNvPr id="6" name="Line 6"/>
            <p:cNvSpPr/>
            <p:nvPr/>
          </p:nvSpPr>
          <p:spPr>
            <a:xfrm>
              <a:off x="6096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7" name="TextBox 7"/>
            <p:cNvSpPr txBox="1"/>
            <p:nvPr/>
          </p:nvSpPr>
          <p:spPr>
            <a:xfrm>
              <a:off x="5974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找到目标的位置</a:t>
              </a:r>
              <a:br>
                <a:rPr lang="zh-CN" sz="2400" dirty="0">
                  <a:solidFill>
                    <a:schemeClr val="dk1"/>
                  </a:solidFill>
                  <a:latin typeface="+mn-lt"/>
                  <a:ea typeface="+mn-ea"/>
                  <a:cs typeface="+mn-cs"/>
                </a:rPr>
              </a:br>
              <a:r>
                <a:rPr lang="zh-CN" sz="2400" dirty="0">
                  <a:solidFill>
                    <a:schemeClr val="dk1"/>
                  </a:solidFill>
                  <a:latin typeface="+mn-lt"/>
                  <a:ea typeface="+mn-ea"/>
                  <a:cs typeface="+mn-cs"/>
                </a:rPr>
                <a:t>描出每个个体的轮廓</a:t>
              </a:r>
            </a:p>
          </p:txBody>
        </p:sp>
      </p:grpSp>
      <p:grpSp>
        <p:nvGrpSpPr>
          <p:cNvPr id="12" name="video-capability"/>
          <p:cNvGrpSpPr/>
          <p:nvPr/>
        </p:nvGrpSpPr>
        <p:grpSpPr>
          <a:xfrm>
            <a:off x="6579108" y="2279650"/>
            <a:ext cx="5003292" cy="1736217"/>
            <a:chOff x="6579108" y="2279650"/>
            <a:chExt cx="5003292" cy="1736217"/>
          </a:xfrm>
        </p:grpSpPr>
        <p:sp>
          <p:nvSpPr>
            <p:cNvPr id="9" name="TextBox 9"/>
            <p:cNvSpPr txBox="1"/>
            <p:nvPr/>
          </p:nvSpPr>
          <p:spPr>
            <a:xfrm>
              <a:off x="6579108" y="2279650"/>
              <a:ext cx="260908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视频中的连续跟踪</a:t>
              </a:r>
            </a:p>
          </p:txBody>
        </p:sp>
        <p:sp>
          <p:nvSpPr>
            <p:cNvPr id="10" name="Line 10"/>
            <p:cNvSpPr/>
            <p:nvPr/>
          </p:nvSpPr>
          <p:spPr>
            <a:xfrm>
              <a:off x="65913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11" name="TextBox 11"/>
            <p:cNvSpPr txBox="1"/>
            <p:nvPr/>
          </p:nvSpPr>
          <p:spPr>
            <a:xfrm>
              <a:off x="65791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连续跟随个体移动</a:t>
              </a:r>
              <a:br>
                <a:rPr lang="zh-CN" sz="2400" dirty="0">
                  <a:solidFill>
                    <a:schemeClr val="dk1"/>
                  </a:solidFill>
                  <a:latin typeface="+mn-lt"/>
                  <a:ea typeface="+mn-ea"/>
                  <a:cs typeface="+mn-cs"/>
                </a:rPr>
              </a:br>
              <a:r>
                <a:rPr lang="zh-CN" sz="2400" dirty="0">
                  <a:solidFill>
                    <a:schemeClr val="dk1"/>
                  </a:solidFill>
                  <a:latin typeface="+mn-lt"/>
                  <a:ea typeface="+mn-ea"/>
                  <a:cs typeface="+mn-cs"/>
                </a:rPr>
                <a:t>记录它出现过的位置</a:t>
              </a:r>
            </a:p>
          </p:txBody>
        </p:sp>
      </p:grpSp>
      <p:grpSp>
        <p:nvGrpSpPr>
          <p:cNvPr id="15" name="remaining-situations"/>
          <p:cNvGrpSpPr/>
          <p:nvPr/>
        </p:nvGrpSpPr>
        <p:grpSpPr>
          <a:xfrm>
            <a:off x="597408" y="5137150"/>
            <a:ext cx="7655814" cy="925068"/>
            <a:chOff x="597408" y="5137150"/>
            <a:chExt cx="7655814" cy="925068"/>
          </a:xfrm>
        </p:grpSpPr>
        <p:sp>
          <p:nvSpPr>
            <p:cNvPr id="13" name="TextBox 13"/>
            <p:cNvSpPr txBox="1"/>
            <p:nvPr/>
          </p:nvSpPr>
          <p:spPr>
            <a:xfrm>
              <a:off x="597408" y="5137150"/>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复杂条件下，连续记录仍可能中断或不稳定。</a:t>
              </a:r>
            </a:p>
          </p:txBody>
        </p:sp>
        <p:sp>
          <p:nvSpPr>
            <p:cNvPr id="14" name="TextBox 14"/>
            <p:cNvSpPr txBox="1"/>
            <p:nvPr/>
          </p:nvSpPr>
          <p:spPr>
            <a:xfrm>
              <a:off x="598932" y="5651500"/>
              <a:ext cx="765429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困难主要集中在个体拥挤、相互接触和较长时间遮挡的场景。</a:t>
              </a:r>
            </a:p>
          </p:txBody>
        </p:sp>
      </p:grpSp>
      <p:sp>
        <p:nvSpPr>
          <p:cNvPr id="16" name="TextBox 1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22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密集场景仍然存在的主要困难</a:t>
              </a:r>
            </a:p>
          </p:txBody>
        </p:sp>
      </p:grpSp>
      <p:grpSp>
        <p:nvGrpSpPr>
          <p:cNvPr id="7" name="crowding"/>
          <p:cNvGrpSpPr/>
          <p:nvPr/>
        </p:nvGrpSpPr>
        <p:grpSpPr>
          <a:xfrm>
            <a:off x="597408" y="2184400"/>
            <a:ext cx="9108948" cy="469392"/>
            <a:chOff x="597408" y="2184400"/>
            <a:chExt cx="9108948" cy="469392"/>
          </a:xfrm>
        </p:grpSpPr>
        <p:sp>
          <p:nvSpPr>
            <p:cNvPr id="5" name="TextBox 5"/>
            <p:cNvSpPr txBox="1"/>
            <p:nvPr/>
          </p:nvSpPr>
          <p:spPr>
            <a:xfrm>
              <a:off x="597408" y="218440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个体密集接触</a:t>
              </a:r>
            </a:p>
          </p:txBody>
        </p:sp>
        <p:sp>
          <p:nvSpPr>
            <p:cNvPr id="6" name="TextBox 6"/>
            <p:cNvSpPr txBox="1"/>
            <p:nvPr/>
          </p:nvSpPr>
          <p:spPr>
            <a:xfrm>
              <a:off x="4313682" y="22225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容易漏认、重复认，轮廓也可能混在一起。</a:t>
              </a:r>
            </a:p>
          </p:txBody>
        </p:sp>
      </p:grpSp>
      <p:grpSp>
        <p:nvGrpSpPr>
          <p:cNvPr id="11" name="contact"/>
          <p:cNvGrpSpPr/>
          <p:nvPr/>
        </p:nvGrpSpPr>
        <p:grpSpPr>
          <a:xfrm>
            <a:off x="597408" y="3105150"/>
            <a:ext cx="10984992" cy="720217"/>
            <a:chOff x="597408" y="3105150"/>
            <a:chExt cx="10984992" cy="720217"/>
          </a:xfrm>
        </p:grpSpPr>
        <p:sp>
          <p:nvSpPr>
            <p:cNvPr id="8" name="Line 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3355975"/>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相似个体交叉移动</a:t>
              </a:r>
            </a:p>
          </p:txBody>
        </p:sp>
        <p:sp>
          <p:nvSpPr>
            <p:cNvPr id="10" name="TextBox 10"/>
            <p:cNvSpPr txBox="1"/>
            <p:nvPr/>
          </p:nvSpPr>
          <p:spPr>
            <a:xfrm>
              <a:off x="4313682" y="339407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编号容易互换，个体轨迹可能断裂。</a:t>
              </a:r>
            </a:p>
          </p:txBody>
        </p:sp>
      </p:grpSp>
      <p:grpSp>
        <p:nvGrpSpPr>
          <p:cNvPr id="15" name="reappearance"/>
          <p:cNvGrpSpPr/>
          <p:nvPr/>
        </p:nvGrpSpPr>
        <p:grpSpPr>
          <a:xfrm>
            <a:off x="597408" y="4276725"/>
            <a:ext cx="10984992" cy="720217"/>
            <a:chOff x="597408" y="4276725"/>
            <a:chExt cx="10984992" cy="720217"/>
          </a:xfrm>
        </p:grpSpPr>
        <p:sp>
          <p:nvSpPr>
            <p:cNvPr id="12" name="Line 12"/>
            <p:cNvSpPr/>
            <p:nvPr/>
          </p:nvSpPr>
          <p:spPr>
            <a:xfrm>
              <a:off x="609600" y="42767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4527550"/>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遮挡后重新出现</a:t>
              </a:r>
            </a:p>
          </p:txBody>
        </p:sp>
        <p:sp>
          <p:nvSpPr>
            <p:cNvPr id="14" name="TextBox 14"/>
            <p:cNvSpPr txBox="1"/>
            <p:nvPr/>
          </p:nvSpPr>
          <p:spPr>
            <a:xfrm>
              <a:off x="4313682" y="45656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可能换成新编号，原有记录难以接续。</a:t>
              </a:r>
            </a:p>
          </p:txBody>
        </p:sp>
      </p:grpSp>
      <p:grpSp>
        <p:nvGrpSpPr>
          <p:cNvPr id="17" name="research-need"/>
          <p:cNvGrpSpPr/>
          <p:nvPr/>
        </p:nvGrpSpPr>
        <p:grpSpPr>
          <a:xfrm>
            <a:off x="597408" y="5689600"/>
            <a:ext cx="8424672" cy="469392"/>
            <a:chOff x="597408" y="5689600"/>
            <a:chExt cx="8424672" cy="469392"/>
          </a:xfrm>
        </p:grpSpPr>
        <p:sp>
          <p:nvSpPr>
            <p:cNvPr id="16" name="TextBox 16"/>
            <p:cNvSpPr txBox="1"/>
            <p:nvPr/>
          </p:nvSpPr>
          <p:spPr>
            <a:xfrm>
              <a:off x="597408" y="5689600"/>
              <a:ext cx="842467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研究目标：提高个体识别、轮廓区分和连续记录的可靠性。</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22</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三个模块衔接单帧识别与连续身份记录</a:t>
              </a:r>
            </a:p>
          </p:txBody>
        </p:sp>
      </p:grpSp>
      <p:grpSp>
        <p:nvGrpSpPr>
          <p:cNvPr id="9" name="module-one"/>
          <p:cNvGrpSpPr/>
          <p:nvPr/>
        </p:nvGrpSpPr>
        <p:grpSpPr>
          <a:xfrm>
            <a:off x="594360" y="1841500"/>
            <a:ext cx="10996422" cy="953643"/>
            <a:chOff x="594360" y="1841500"/>
            <a:chExt cx="10996422" cy="953643"/>
          </a:xfrm>
        </p:grpSpPr>
        <p:sp>
          <p:nvSpPr>
            <p:cNvPr id="5" name="TextBox 5"/>
            <p:cNvSpPr txBox="1"/>
            <p:nvPr/>
          </p:nvSpPr>
          <p:spPr>
            <a:xfrm>
              <a:off x="594360" y="1851025"/>
              <a:ext cx="496938" cy="586740"/>
            </a:xfrm>
            <a:prstGeom prst="rect">
              <a:avLst/>
            </a:prstGeom>
            <a:noFill/>
            <a:ln>
              <a:noFill/>
            </a:ln>
          </p:spPr>
          <p:txBody>
            <a:bodyPr wrap="none" lIns="0" tIns="0" rIns="0" bIns="0" anchor="t" anchorCtr="0">
              <a:spAutoFit/>
            </a:bodyPr>
            <a:lstStyle/>
            <a:p>
              <a:pPr algn="l"/>
              <a:r>
                <a:rPr lang="zh-CN" sz="3000" b="1" dirty="0">
                  <a:solidFill>
                    <a:srgbClr val="315E9D"/>
                  </a:solidFill>
                  <a:latin typeface="+mn-lt"/>
                  <a:ea typeface="+mn-ea"/>
                  <a:cs typeface="+mn-cs"/>
                </a:rPr>
                <a:t>01</a:t>
              </a:r>
            </a:p>
          </p:txBody>
        </p:sp>
        <p:sp>
          <p:nvSpPr>
            <p:cNvPr id="6" name="TextBox 6"/>
            <p:cNvSpPr txBox="1"/>
            <p:nvPr/>
          </p:nvSpPr>
          <p:spPr>
            <a:xfrm>
              <a:off x="1568958" y="1841500"/>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密集场景下的个体检测与实例分割</a:t>
              </a:r>
            </a:p>
          </p:txBody>
        </p:sp>
        <p:sp>
          <p:nvSpPr>
            <p:cNvPr id="7" name="TextBox 7"/>
            <p:cNvSpPr txBox="1"/>
            <p:nvPr/>
          </p:nvSpPr>
          <p:spPr>
            <a:xfrm>
              <a:off x="1570482" y="23844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在一张图中找到个体，并分清各自轮廓。</a:t>
              </a:r>
            </a:p>
          </p:txBody>
        </p:sp>
        <p:sp>
          <p:nvSpPr>
            <p:cNvPr id="8" name="TextBox 8"/>
            <p:cNvSpPr txBox="1"/>
            <p:nvPr/>
          </p:nvSpPr>
          <p:spPr>
            <a:xfrm>
              <a:off x="10241280" y="2435225"/>
              <a:ext cx="1349502" cy="322707"/>
            </a:xfrm>
            <a:prstGeom prst="rect">
              <a:avLst/>
            </a:prstGeom>
            <a:noFill/>
            <a:ln>
              <a:noFill/>
            </a:ln>
          </p:spPr>
          <p:txBody>
            <a:bodyPr wrap="none" lIns="0" tIns="0" rIns="0" bIns="0" anchor="t" anchorCtr="0">
              <a:spAutoFit/>
            </a:bodyPr>
            <a:lstStyle/>
            <a:p>
              <a:pPr algn="r"/>
              <a:r>
                <a:rPr lang="zh-CN" sz="1650" dirty="0">
                  <a:solidFill>
                    <a:srgbClr val="315E9D"/>
                  </a:solidFill>
                  <a:latin typeface="+mn-lt"/>
                  <a:ea typeface="+mn-ea"/>
                  <a:cs typeface="+mn-cs"/>
                </a:rPr>
                <a:t>已有图像实验</a:t>
              </a:r>
            </a:p>
          </p:txBody>
        </p:sp>
      </p:grpSp>
      <p:grpSp>
        <p:nvGrpSpPr>
          <p:cNvPr id="15" name="module-two"/>
          <p:cNvGrpSpPr/>
          <p:nvPr/>
        </p:nvGrpSpPr>
        <p:grpSpPr>
          <a:xfrm>
            <a:off x="594360" y="3095625"/>
            <a:ext cx="10996422" cy="1080643"/>
            <a:chOff x="594360" y="3095625"/>
            <a:chExt cx="10996422" cy="1080643"/>
          </a:xfrm>
        </p:grpSpPr>
        <p:sp>
          <p:nvSpPr>
            <p:cNvPr id="10" name="Line 10"/>
            <p:cNvSpPr/>
            <p:nvPr/>
          </p:nvSpPr>
          <p:spPr>
            <a:xfrm>
              <a:off x="1581150" y="3095625"/>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1" name="TextBox 11"/>
            <p:cNvSpPr txBox="1"/>
            <p:nvPr/>
          </p:nvSpPr>
          <p:spPr>
            <a:xfrm>
              <a:off x="594360" y="3232150"/>
              <a:ext cx="49693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02</a:t>
              </a:r>
            </a:p>
          </p:txBody>
        </p:sp>
        <p:sp>
          <p:nvSpPr>
            <p:cNvPr id="12" name="TextBox 12"/>
            <p:cNvSpPr txBox="1"/>
            <p:nvPr/>
          </p:nvSpPr>
          <p:spPr>
            <a:xfrm>
              <a:off x="1568958" y="3222625"/>
              <a:ext cx="487070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连续视频中的身份关联与稳定保持</a:t>
              </a:r>
            </a:p>
          </p:txBody>
        </p:sp>
        <p:sp>
          <p:nvSpPr>
            <p:cNvPr id="13" name="TextBox 13"/>
            <p:cNvSpPr txBox="1"/>
            <p:nvPr/>
          </p:nvSpPr>
          <p:spPr>
            <a:xfrm>
              <a:off x="1570482" y="376555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个体持续可见时，尽量保持同一个编号。</a:t>
              </a:r>
            </a:p>
          </p:txBody>
        </p:sp>
        <p:sp>
          <p:nvSpPr>
            <p:cNvPr id="14" name="TextBox 14"/>
            <p:cNvSpPr txBox="1"/>
            <p:nvPr/>
          </p:nvSpPr>
          <p:spPr>
            <a:xfrm>
              <a:off x="10907649" y="3816350"/>
              <a:ext cx="683133" cy="322707"/>
            </a:xfrm>
            <a:prstGeom prst="rect">
              <a:avLst/>
            </a:prstGeom>
            <a:noFill/>
            <a:ln>
              <a:noFill/>
            </a:ln>
          </p:spPr>
          <p:txBody>
            <a:bodyPr wrap="none" lIns="0" tIns="0" rIns="0" bIns="0" anchor="t" anchorCtr="0">
              <a:spAutoFit/>
            </a:bodyPr>
            <a:lstStyle/>
            <a:p>
              <a:pPr algn="r"/>
              <a:r>
                <a:rPr lang="zh-CN" sz="1650" dirty="0">
                  <a:solidFill>
                    <a:schemeClr val="accent2"/>
                  </a:solidFill>
                  <a:latin typeface="+mn-lt"/>
                  <a:ea typeface="+mn-ea"/>
                  <a:cs typeface="+mn-cs"/>
                </a:rPr>
                <a:t>拟开展</a:t>
              </a:r>
            </a:p>
          </p:txBody>
        </p:sp>
      </p:grpSp>
      <p:grpSp>
        <p:nvGrpSpPr>
          <p:cNvPr id="21" name="module-three"/>
          <p:cNvGrpSpPr/>
          <p:nvPr/>
        </p:nvGrpSpPr>
        <p:grpSpPr>
          <a:xfrm>
            <a:off x="594360" y="4476750"/>
            <a:ext cx="10996422" cy="1080643"/>
            <a:chOff x="594360" y="4476750"/>
            <a:chExt cx="10996422" cy="1080643"/>
          </a:xfrm>
        </p:grpSpPr>
        <p:sp>
          <p:nvSpPr>
            <p:cNvPr id="16" name="Line 16"/>
            <p:cNvSpPr/>
            <p:nvPr/>
          </p:nvSpPr>
          <p:spPr>
            <a:xfrm>
              <a:off x="1581150" y="4476750"/>
              <a:ext cx="10001250" cy="9525"/>
            </a:xfrm>
            <a:custGeom>
              <a:avLst/>
              <a:gdLst/>
              <a:ahLst/>
              <a:cxnLst/>
              <a:rect l="l" t="t" r="r" b="b"/>
              <a:pathLst>
                <a:path w="10001250" h="9525">
                  <a:moveTo>
                    <a:pt x="0" y="0"/>
                  </a:moveTo>
                  <a:lnTo>
                    <a:pt x="10001250" y="0"/>
                  </a:lnTo>
                </a:path>
              </a:pathLst>
            </a:custGeom>
            <a:noFill/>
            <a:ln w="9525">
              <a:solidFill>
                <a:schemeClr val="accent6"/>
              </a:solidFill>
            </a:ln>
          </p:spPr>
        </p:sp>
        <p:sp>
          <p:nvSpPr>
            <p:cNvPr id="17" name="TextBox 17"/>
            <p:cNvSpPr txBox="1"/>
            <p:nvPr/>
          </p:nvSpPr>
          <p:spPr>
            <a:xfrm>
              <a:off x="594360" y="4613275"/>
              <a:ext cx="496938"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mn-lt"/>
                  <a:ea typeface="+mn-ea"/>
                  <a:cs typeface="+mn-cs"/>
                </a:rPr>
                <a:t>03</a:t>
              </a:r>
            </a:p>
          </p:txBody>
        </p:sp>
        <p:sp>
          <p:nvSpPr>
            <p:cNvPr id="18" name="TextBox 18"/>
            <p:cNvSpPr txBox="1"/>
            <p:nvPr/>
          </p:nvSpPr>
          <p:spPr>
            <a:xfrm>
              <a:off x="1568958" y="4603750"/>
              <a:ext cx="422452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遮挡后的身份恢复与轨迹续接</a:t>
              </a:r>
            </a:p>
          </p:txBody>
        </p:sp>
        <p:sp>
          <p:nvSpPr>
            <p:cNvPr id="19" name="TextBox 19"/>
            <p:cNvSpPr txBox="1"/>
            <p:nvPr/>
          </p:nvSpPr>
          <p:spPr>
            <a:xfrm>
              <a:off x="1570482" y="5146675"/>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个体丢失后重新出现，判断能否接回原编号。</a:t>
              </a:r>
            </a:p>
          </p:txBody>
        </p:sp>
        <p:sp>
          <p:nvSpPr>
            <p:cNvPr id="20" name="TextBox 20"/>
            <p:cNvSpPr txBox="1"/>
            <p:nvPr/>
          </p:nvSpPr>
          <p:spPr>
            <a:xfrm>
              <a:off x="10907649" y="5197475"/>
              <a:ext cx="683133" cy="322707"/>
            </a:xfrm>
            <a:prstGeom prst="rect">
              <a:avLst/>
            </a:prstGeom>
            <a:noFill/>
            <a:ln>
              <a:noFill/>
            </a:ln>
          </p:spPr>
          <p:txBody>
            <a:bodyPr wrap="none" lIns="0" tIns="0" rIns="0" bIns="0" anchor="t" anchorCtr="0">
              <a:spAutoFit/>
            </a:bodyPr>
            <a:lstStyle/>
            <a:p>
              <a:pPr algn="r"/>
              <a:r>
                <a:rPr lang="zh-CN" sz="1650" dirty="0">
                  <a:solidFill>
                    <a:schemeClr val="accent3"/>
                  </a:solidFill>
                  <a:latin typeface="+mn-lt"/>
                  <a:ea typeface="+mn-ea"/>
                  <a:cs typeface="+mn-cs"/>
                </a:rPr>
                <a:t>拟开展</a:t>
              </a:r>
            </a:p>
          </p:txBody>
        </p:sp>
      </p:grpSp>
      <p:grpSp>
        <p:nvGrpSpPr>
          <p:cNvPr id="23" name="scope"/>
          <p:cNvGrpSpPr/>
          <p:nvPr/>
        </p:nvGrpSpPr>
        <p:grpSpPr>
          <a:xfrm>
            <a:off x="1572768" y="5854700"/>
            <a:ext cx="7346823" cy="322707"/>
            <a:chOff x="1572768" y="5854700"/>
            <a:chExt cx="7346823" cy="322707"/>
          </a:xfrm>
        </p:grpSpPr>
        <p:sp>
          <p:nvSpPr>
            <p:cNvPr id="22" name="TextBox 22"/>
            <p:cNvSpPr txBox="1"/>
            <p:nvPr/>
          </p:nvSpPr>
          <p:spPr>
            <a:xfrm>
              <a:off x="1572768" y="5854700"/>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视频研究先限定为单摄像头、固定视角，两个视频模块沿用同一跟踪框架。</a:t>
              </a:r>
            </a:p>
          </p:txBody>
        </p:sp>
      </p:grpSp>
      <p:grpSp>
        <p:nvGrpSpPr>
          <p:cNvPr id="26" name="footer"/>
          <p:cNvGrpSpPr/>
          <p:nvPr/>
        </p:nvGrpSpPr>
        <p:grpSpPr>
          <a:xfrm>
            <a:off x="603504" y="6410325"/>
            <a:ext cx="10984992" cy="234696"/>
            <a:chOff x="603504" y="6410325"/>
            <a:chExt cx="10984992" cy="234696"/>
          </a:xfrm>
        </p:grpSpPr>
        <p:sp>
          <p:nvSpPr>
            <p:cNvPr id="24" name="TextBox 24"/>
            <p:cNvSpPr txBox="1"/>
            <p:nvPr/>
          </p:nvSpPr>
          <p:spPr>
            <a:xfrm>
              <a:off x="603504" y="6410325"/>
              <a:ext cx="388924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方法面向通用个体监测；猪只作为后续应用验证案例。</a:t>
              </a:r>
            </a:p>
          </p:txBody>
        </p:sp>
        <p:sp>
          <p:nvSpPr>
            <p:cNvPr id="25" name="TextBox 2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22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8107680" cy="964565"/>
            <a:chOff x="594360" y="415925"/>
            <a:chExt cx="81076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810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评价既看轮廓改善，也看原成功实例是否受损</a:t>
              </a:r>
            </a:p>
          </p:txBody>
        </p:sp>
      </p:grpSp>
      <p:grpSp>
        <p:nvGrpSpPr>
          <p:cNvPr id="8" name="target"/>
          <p:cNvGrpSpPr/>
          <p:nvPr/>
        </p:nvGrpSpPr>
        <p:grpSpPr>
          <a:xfrm>
            <a:off x="597408" y="1831975"/>
            <a:ext cx="9249156" cy="764032"/>
            <a:chOff x="597408" y="1831975"/>
            <a:chExt cx="9249156" cy="764032"/>
          </a:xfrm>
        </p:grpSpPr>
        <p:sp>
          <p:nvSpPr>
            <p:cNvPr id="5" name="TextBox 5"/>
            <p:cNvSpPr txBox="1"/>
            <p:nvPr/>
          </p:nvSpPr>
          <p:spPr>
            <a:xfrm>
              <a:off x="597408" y="1831975"/>
              <a:ext cx="162141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目标集合 T</a:t>
              </a:r>
            </a:p>
          </p:txBody>
        </p:sp>
        <p:sp>
          <p:nvSpPr>
            <p:cNvPr id="6" name="TextBox 6"/>
            <p:cNvSpPr txBox="1"/>
            <p:nvPr/>
          </p:nvSpPr>
          <p:spPr>
            <a:xfrm>
              <a:off x="3323082" y="1860550"/>
              <a:ext cx="65234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原分割任务失败，框达标、同一检测的轮廓未达标。</a:t>
              </a:r>
            </a:p>
          </p:txBody>
        </p:sp>
        <p:sp>
          <p:nvSpPr>
            <p:cNvPr id="7" name="TextBox 7"/>
            <p:cNvSpPr txBox="1"/>
            <p:nvPr/>
          </p:nvSpPr>
          <p:spPr>
            <a:xfrm>
              <a:off x="3325368" y="2273300"/>
              <a:ext cx="53477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锁定同一条预测，避免把不同检测的好结果拼在一起。</a:t>
              </a:r>
            </a:p>
          </p:txBody>
        </p:sp>
      </p:grpSp>
      <p:grpSp>
        <p:nvGrpSpPr>
          <p:cNvPr id="13" name="gain"/>
          <p:cNvGrpSpPr/>
          <p:nvPr/>
        </p:nvGrpSpPr>
        <p:grpSpPr>
          <a:xfrm>
            <a:off x="597408" y="2724150"/>
            <a:ext cx="10984992" cy="862457"/>
            <a:chOff x="597408" y="2724150"/>
            <a:chExt cx="10984992" cy="862457"/>
          </a:xfrm>
        </p:grpSpPr>
        <p:sp>
          <p:nvSpPr>
            <p:cNvPr id="9" name="Line 9"/>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7408" y="2813050"/>
              <a:ext cx="2112435"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轮廓增益 ΔIoU</a:t>
              </a:r>
            </a:p>
          </p:txBody>
        </p:sp>
        <p:sp>
          <p:nvSpPr>
            <p:cNvPr id="11" name="TextBox 11"/>
            <p:cNvSpPr txBox="1"/>
            <p:nvPr/>
          </p:nvSpPr>
          <p:spPr>
            <a:xfrm>
              <a:off x="3323082" y="2851150"/>
              <a:ext cx="61954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修正后的 IoU 减去原 IoU，先按图、再跨图平均。</a:t>
              </a:r>
            </a:p>
          </p:txBody>
        </p:sp>
        <p:sp>
          <p:nvSpPr>
            <p:cNvPr id="12" name="TextBox 12"/>
            <p:cNvSpPr txBox="1"/>
            <p:nvPr/>
          </p:nvSpPr>
          <p:spPr>
            <a:xfrm>
              <a:off x="3325368" y="3263900"/>
              <a:ext cx="561761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分别看目标 T 和全部合格框配对，检查收益是否局部化。</a:t>
              </a:r>
            </a:p>
          </p:txBody>
        </p:sp>
      </p:grpSp>
      <p:grpSp>
        <p:nvGrpSpPr>
          <p:cNvPr id="18" name="repair"/>
          <p:cNvGrpSpPr/>
          <p:nvPr/>
        </p:nvGrpSpPr>
        <p:grpSpPr>
          <a:xfrm>
            <a:off x="597408" y="3705225"/>
            <a:ext cx="10984992" cy="862457"/>
            <a:chOff x="597408" y="3705225"/>
            <a:chExt cx="10984992" cy="862457"/>
          </a:xfrm>
        </p:grpSpPr>
        <p:sp>
          <p:nvSpPr>
            <p:cNvPr id="14" name="Line 14"/>
            <p:cNvSpPr/>
            <p:nvPr/>
          </p:nvSpPr>
          <p:spPr>
            <a:xfrm>
              <a:off x="609600" y="37052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3794125"/>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任务修复率</a:t>
              </a:r>
            </a:p>
          </p:txBody>
        </p:sp>
        <p:sp>
          <p:nvSpPr>
            <p:cNvPr id="16" name="TextBox 16"/>
            <p:cNvSpPr txBox="1"/>
            <p:nvPr/>
          </p:nvSpPr>
          <p:spPr>
            <a:xfrm>
              <a:off x="3323082" y="3832225"/>
              <a:ext cx="630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中，修正后重新获得分割任务匹配的比例。</a:t>
              </a:r>
            </a:p>
          </p:txBody>
        </p:sp>
        <p:sp>
          <p:nvSpPr>
            <p:cNvPr id="17" name="TextBox 17"/>
            <p:cNvSpPr txBox="1"/>
            <p:nvPr/>
          </p:nvSpPr>
          <p:spPr>
            <a:xfrm>
              <a:off x="3325368" y="4244975"/>
              <a:ext cx="44982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与“原固定检测自身达到 IoU 阈值”分别统计。</a:t>
              </a:r>
            </a:p>
          </p:txBody>
        </p:sp>
      </p:grpSp>
      <p:grpSp>
        <p:nvGrpSpPr>
          <p:cNvPr id="23" name="damage"/>
          <p:cNvGrpSpPr/>
          <p:nvPr/>
        </p:nvGrpSpPr>
        <p:grpSpPr>
          <a:xfrm>
            <a:off x="597408" y="4686300"/>
            <a:ext cx="10984992" cy="862457"/>
            <a:chOff x="597408" y="4686300"/>
            <a:chExt cx="10984992" cy="862457"/>
          </a:xfrm>
        </p:grpSpPr>
        <p:sp>
          <p:nvSpPr>
            <p:cNvPr id="19" name="Line 19"/>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597408" y="4775200"/>
              <a:ext cx="1639824"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成功损伤率</a:t>
              </a:r>
            </a:p>
          </p:txBody>
        </p:sp>
        <p:sp>
          <p:nvSpPr>
            <p:cNvPr id="21" name="TextBox 21"/>
            <p:cNvSpPr txBox="1"/>
            <p:nvPr/>
          </p:nvSpPr>
          <p:spPr>
            <a:xfrm>
              <a:off x="3323082" y="481330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原成功实例中，修正后分割任务失败的比例。</a:t>
              </a:r>
            </a:p>
          </p:txBody>
        </p:sp>
        <p:sp>
          <p:nvSpPr>
            <p:cNvPr id="22" name="TextBox 22"/>
            <p:cNvSpPr txBox="1"/>
            <p:nvPr/>
          </p:nvSpPr>
          <p:spPr>
            <a:xfrm>
              <a:off x="3325368" y="5226050"/>
              <a:ext cx="512559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改善错误的同时，检查原本正确的结果是否被破坏。</a:t>
              </a:r>
            </a:p>
          </p:txBody>
        </p:sp>
      </p:grpSp>
      <p:grpSp>
        <p:nvGrpSpPr>
          <p:cNvPr id="25" name="metric-scope"/>
          <p:cNvGrpSpPr/>
          <p:nvPr/>
        </p:nvGrpSpPr>
        <p:grpSpPr>
          <a:xfrm>
            <a:off x="601218" y="5797550"/>
            <a:ext cx="8470849" cy="322707"/>
            <a:chOff x="601218" y="5797550"/>
            <a:chExt cx="8470849" cy="322707"/>
          </a:xfrm>
        </p:grpSpPr>
        <p:sp>
          <p:nvSpPr>
            <p:cNvPr id="24" name="TextBox 24"/>
            <p:cNvSpPr txBox="1"/>
            <p:nvPr/>
          </p:nvSpPr>
          <p:spPr>
            <a:xfrm>
              <a:off x="601218" y="5797550"/>
              <a:ext cx="847084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是预测与标注的交并比；本组诊断阈值为 0.75，完整方法效果仍需全量 AP 验证。</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588934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自定义的是诊断集合与统计口径；IoU、COCO 匹配和 AP 沿用已有定义。[E0—E5]</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22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已使用模型</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基础模型与轮廓生成过程</a:t>
              </a:r>
            </a:p>
          </p:txBody>
        </p:sp>
      </p:grpSp>
      <p:grpSp>
        <p:nvGrpSpPr>
          <p:cNvPr id="40" name="model-architecture"/>
          <p:cNvGrpSpPr/>
          <p:nvPr/>
        </p:nvGrpSpPr>
        <p:grpSpPr>
          <a:xfrm>
            <a:off x="609600" y="1666875"/>
            <a:ext cx="10972800" cy="3295650"/>
            <a:chOff x="609600" y="1666875"/>
            <a:chExt cx="10972800" cy="3295650"/>
          </a:xfrm>
        </p:grpSpPr>
        <p:grpSp>
          <p:nvGrpSpPr>
            <p:cNvPr id="22" name="frozen-model"/>
            <p:cNvGrpSpPr/>
            <p:nvPr/>
          </p:nvGrpSpPr>
          <p:grpSpPr>
            <a:xfrm>
              <a:off x="2019300" y="1666875"/>
              <a:ext cx="6629400" cy="3295650"/>
              <a:chOff x="2019300" y="1666875"/>
              <a:chExt cx="6629400" cy="3295650"/>
            </a:xfrm>
          </p:grpSpPr>
          <p:sp>
            <p:nvSpPr>
              <p:cNvPr id="5" name="Rectangle 5"/>
              <p:cNvSpPr/>
              <p:nvPr/>
            </p:nvSpPr>
            <p:spPr>
              <a:xfrm>
                <a:off x="2019300" y="1666875"/>
                <a:ext cx="6629400" cy="3295650"/>
              </a:xfrm>
              <a:prstGeom prst="roundRect">
                <a:avLst>
                  <a:gd name="adj" fmla="val 2312"/>
                </a:avLst>
              </a:prstGeom>
              <a:solidFill>
                <a:schemeClr val="lt2"/>
              </a:solidFill>
              <a:ln>
                <a:noFill/>
              </a:ln>
            </p:spPr>
          </p:sp>
          <p:sp>
            <p:nvSpPr>
              <p:cNvPr id="6" name="TextBox 6"/>
              <p:cNvSpPr txBox="1"/>
              <p:nvPr/>
            </p:nvSpPr>
            <p:spPr>
              <a:xfrm>
                <a:off x="2239518" y="1797050"/>
                <a:ext cx="3442299"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YOLO26m-seg · 预训练网络冻结</a:t>
                </a:r>
              </a:p>
            </p:txBody>
          </p:sp>
          <p:sp>
            <p:nvSpPr>
              <p:cNvPr id="7" name="Rectangle 7"/>
              <p:cNvSpPr/>
              <p:nvPr/>
            </p:nvSpPr>
            <p:spPr>
              <a:xfrm>
                <a:off x="2305050" y="2638425"/>
                <a:ext cx="2209800" cy="1343025"/>
              </a:xfrm>
              <a:prstGeom prst="rect">
                <a:avLst/>
              </a:prstGeom>
              <a:solidFill>
                <a:schemeClr val="lt1"/>
              </a:solidFill>
              <a:ln w="9525">
                <a:solidFill>
                  <a:schemeClr val="accent6"/>
                </a:solidFill>
              </a:ln>
            </p:spPr>
          </p:sp>
          <p:sp>
            <p:nvSpPr>
              <p:cNvPr id="8" name="TextBox 8"/>
              <p:cNvSpPr txBox="1"/>
              <p:nvPr/>
            </p:nvSpPr>
            <p:spPr>
              <a:xfrm>
                <a:off x="2551176" y="2755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主干特征提取</a:t>
                </a:r>
              </a:p>
            </p:txBody>
          </p:sp>
          <p:sp>
            <p:nvSpPr>
              <p:cNvPr id="9" name="TextBox 9"/>
              <p:cNvSpPr txBox="1"/>
              <p:nvPr/>
            </p:nvSpPr>
            <p:spPr>
              <a:xfrm>
                <a:off x="2409825" y="3165475"/>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多尺度特征融合</a:t>
                </a:r>
              </a:p>
            </p:txBody>
          </p:sp>
          <p:sp>
            <p:nvSpPr>
              <p:cNvPr id="10" name="TextBox 10"/>
              <p:cNvSpPr txBox="1"/>
              <p:nvPr/>
            </p:nvSpPr>
            <p:spPr>
              <a:xfrm>
                <a:off x="2635453" y="3587750"/>
                <a:ext cx="1548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输出各层特征 F</a:t>
                </a:r>
              </a:p>
            </p:txBody>
          </p:sp>
          <p:sp>
            <p:nvSpPr>
              <p:cNvPr id="11" name="Rectangle 11"/>
              <p:cNvSpPr/>
              <p:nvPr/>
            </p:nvSpPr>
            <p:spPr>
              <a:xfrm>
                <a:off x="5219700" y="2200275"/>
                <a:ext cx="3162300" cy="666750"/>
              </a:xfrm>
              <a:prstGeom prst="rect">
                <a:avLst/>
              </a:prstGeom>
              <a:solidFill>
                <a:schemeClr val="lt1"/>
              </a:solidFill>
              <a:ln w="9525">
                <a:solidFill>
                  <a:schemeClr val="accent6"/>
                </a:solidFill>
              </a:ln>
            </p:spPr>
          </p:sp>
          <p:sp>
            <p:nvSpPr>
              <p:cNvPr id="12" name="TextBox 12"/>
              <p:cNvSpPr txBox="1"/>
              <p:nvPr/>
            </p:nvSpPr>
            <p:spPr>
              <a:xfrm>
                <a:off x="5800725" y="2355850"/>
                <a:ext cx="200025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框、类别与分数</a:t>
                </a:r>
              </a:p>
            </p:txBody>
          </p:sp>
          <p:sp>
            <p:nvSpPr>
              <p:cNvPr id="13" name="Rectangle 13"/>
              <p:cNvSpPr/>
              <p:nvPr/>
            </p:nvSpPr>
            <p:spPr>
              <a:xfrm>
                <a:off x="5219700" y="3143250"/>
                <a:ext cx="3162300" cy="666750"/>
              </a:xfrm>
              <a:prstGeom prst="rect">
                <a:avLst/>
              </a:prstGeom>
              <a:solidFill>
                <a:schemeClr val="lt1"/>
              </a:solidFill>
              <a:ln w="9525">
                <a:solidFill>
                  <a:schemeClr val="accent6"/>
                </a:solidFill>
              </a:ln>
            </p:spPr>
          </p:sp>
          <p:sp>
            <p:nvSpPr>
              <p:cNvPr id="14" name="TextBox 14"/>
              <p:cNvSpPr txBox="1"/>
              <p:nvPr/>
            </p:nvSpPr>
            <p:spPr>
              <a:xfrm>
                <a:off x="5404942" y="3298825"/>
                <a:ext cx="2791816"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实例系数 c₀（32 维）</a:t>
                </a:r>
              </a:p>
            </p:txBody>
          </p:sp>
          <p:sp>
            <p:nvSpPr>
              <p:cNvPr id="15" name="Rectangle 15"/>
              <p:cNvSpPr/>
              <p:nvPr/>
            </p:nvSpPr>
            <p:spPr>
              <a:xfrm>
                <a:off x="5219700" y="4086225"/>
                <a:ext cx="3162300" cy="666750"/>
              </a:xfrm>
              <a:prstGeom prst="rect">
                <a:avLst/>
              </a:prstGeom>
              <a:solidFill>
                <a:schemeClr val="lt1"/>
              </a:solidFill>
              <a:ln w="9525">
                <a:solidFill>
                  <a:schemeClr val="accent6"/>
                </a:solidFill>
              </a:ln>
            </p:spPr>
          </p:sp>
          <p:sp>
            <p:nvSpPr>
              <p:cNvPr id="16" name="TextBox 16"/>
              <p:cNvSpPr txBox="1"/>
              <p:nvPr/>
            </p:nvSpPr>
            <p:spPr>
              <a:xfrm>
                <a:off x="5334533" y="4241800"/>
                <a:ext cx="2932633"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共享原型 P（32 通道）</a:t>
                </a:r>
              </a:p>
            </p:txBody>
          </p:sp>
          <p:sp>
            <p:nvSpPr>
              <p:cNvPr id="17" name="Line 17"/>
              <p:cNvSpPr/>
              <p:nvPr/>
            </p:nvSpPr>
            <p:spPr>
              <a:xfrm>
                <a:off x="4514850" y="3305175"/>
                <a:ext cx="361950" cy="9525"/>
              </a:xfrm>
              <a:custGeom>
                <a:avLst/>
                <a:gdLst/>
                <a:ahLst/>
                <a:cxnLst/>
                <a:rect l="l" t="t" r="r" b="b"/>
                <a:pathLst>
                  <a:path w="361950" h="9525">
                    <a:moveTo>
                      <a:pt x="0" y="0"/>
                    </a:moveTo>
                    <a:lnTo>
                      <a:pt x="361950" y="0"/>
                    </a:lnTo>
                  </a:path>
                </a:pathLst>
              </a:custGeom>
              <a:noFill/>
              <a:ln w="19050">
                <a:solidFill>
                  <a:srgbClr val="596B80"/>
                </a:solidFill>
              </a:ln>
            </p:spPr>
          </p:sp>
          <p:sp>
            <p:nvSpPr>
              <p:cNvPr id="18" name="Line 18"/>
              <p:cNvSpPr/>
              <p:nvPr/>
            </p:nvSpPr>
            <p:spPr>
              <a:xfrm>
                <a:off x="4876800" y="2533650"/>
                <a:ext cx="9525" cy="1885950"/>
              </a:xfrm>
              <a:custGeom>
                <a:avLst/>
                <a:gdLst/>
                <a:ahLst/>
                <a:cxnLst/>
                <a:rect l="l" t="t" r="r" b="b"/>
                <a:pathLst>
                  <a:path w="9525" h="1885950">
                    <a:moveTo>
                      <a:pt x="0" y="0"/>
                    </a:moveTo>
                    <a:lnTo>
                      <a:pt x="0" y="1885950"/>
                    </a:lnTo>
                  </a:path>
                </a:pathLst>
              </a:custGeom>
              <a:noFill/>
              <a:ln w="19050">
                <a:solidFill>
                  <a:srgbClr val="596B80"/>
                </a:solidFill>
              </a:ln>
            </p:spPr>
          </p:sp>
          <p:sp>
            <p:nvSpPr>
              <p:cNvPr id="19" name="Line 19"/>
              <p:cNvSpPr/>
              <p:nvPr/>
            </p:nvSpPr>
            <p:spPr>
              <a:xfrm>
                <a:off x="4876800" y="2533650"/>
                <a:ext cx="314325" cy="1"/>
              </a:xfrm>
              <a:prstGeom prst="line">
                <a:avLst/>
              </a:prstGeom>
              <a:noFill/>
              <a:ln w="19050">
                <a:solidFill>
                  <a:srgbClr val="596B80"/>
                </a:solidFill>
                <a:tailEnd type="triangle" w="lg" len="lg"/>
              </a:ln>
            </p:spPr>
          </p:sp>
          <p:sp>
            <p:nvSpPr>
              <p:cNvPr id="20" name="Line 20"/>
              <p:cNvSpPr/>
              <p:nvPr/>
            </p:nvSpPr>
            <p:spPr>
              <a:xfrm>
                <a:off x="4876800" y="3476625"/>
                <a:ext cx="314325" cy="1"/>
              </a:xfrm>
              <a:prstGeom prst="line">
                <a:avLst/>
              </a:prstGeom>
              <a:noFill/>
              <a:ln w="19050">
                <a:solidFill>
                  <a:srgbClr val="596B80"/>
                </a:solidFill>
                <a:tailEnd type="triangle" w="lg" len="lg"/>
              </a:ln>
            </p:spPr>
          </p:sp>
          <p:sp>
            <p:nvSpPr>
              <p:cNvPr id="21" name="Line 21"/>
              <p:cNvSpPr/>
              <p:nvPr/>
            </p:nvSpPr>
            <p:spPr>
              <a:xfrm>
                <a:off x="4876800" y="4419600"/>
                <a:ext cx="314325" cy="1"/>
              </a:xfrm>
              <a:prstGeom prst="line">
                <a:avLst/>
              </a:prstGeom>
              <a:noFill/>
              <a:ln w="19050">
                <a:solidFill>
                  <a:srgbClr val="596B80"/>
                </a:solidFill>
                <a:tailEnd type="triangle" w="lg" len="lg"/>
              </a:ln>
            </p:spPr>
          </p:sp>
        </p:grpSp>
        <p:grpSp>
          <p:nvGrpSpPr>
            <p:cNvPr id="26" name="image-input"/>
            <p:cNvGrpSpPr/>
            <p:nvPr/>
          </p:nvGrpSpPr>
          <p:grpSpPr>
            <a:xfrm>
              <a:off x="609600" y="2905125"/>
              <a:ext cx="1666875" cy="723900"/>
              <a:chOff x="609600" y="2905125"/>
              <a:chExt cx="1666875" cy="723900"/>
            </a:xfrm>
          </p:grpSpPr>
          <p:sp>
            <p:nvSpPr>
              <p:cNvPr id="23" name="Rectangle 23"/>
              <p:cNvSpPr/>
              <p:nvPr/>
            </p:nvSpPr>
            <p:spPr>
              <a:xfrm>
                <a:off x="609600" y="2905125"/>
                <a:ext cx="1133475" cy="723900"/>
              </a:xfrm>
              <a:prstGeom prst="rect">
                <a:avLst/>
              </a:prstGeom>
              <a:solidFill>
                <a:srgbClr val="F7F9FB"/>
              </a:solidFill>
              <a:ln w="9525">
                <a:solidFill>
                  <a:schemeClr val="accent6"/>
                </a:solidFill>
              </a:ln>
            </p:spPr>
          </p:sp>
          <p:sp>
            <p:nvSpPr>
              <p:cNvPr id="24" name="TextBox 24"/>
              <p:cNvSpPr txBox="1"/>
              <p:nvPr/>
            </p:nvSpPr>
            <p:spPr>
              <a:xfrm>
                <a:off x="882967" y="3089275"/>
                <a:ext cx="5867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图像</a:t>
                </a:r>
              </a:p>
            </p:txBody>
          </p:sp>
          <p:sp>
            <p:nvSpPr>
              <p:cNvPr id="25" name="Line 25"/>
              <p:cNvSpPr/>
              <p:nvPr/>
            </p:nvSpPr>
            <p:spPr>
              <a:xfrm>
                <a:off x="1743075" y="3305175"/>
                <a:ext cx="533400" cy="1"/>
              </a:xfrm>
              <a:prstGeom prst="line">
                <a:avLst/>
              </a:prstGeom>
              <a:noFill/>
              <a:ln w="19050">
                <a:solidFill>
                  <a:srgbClr val="596B80"/>
                </a:solidFill>
                <a:tailEnd type="triangle" w="lg" len="lg"/>
              </a:ln>
            </p:spPr>
          </p:sp>
        </p:grpSp>
        <p:grpSp>
          <p:nvGrpSpPr>
            <p:cNvPr id="39" name="outputs"/>
            <p:cNvGrpSpPr/>
            <p:nvPr/>
          </p:nvGrpSpPr>
          <p:grpSpPr>
            <a:xfrm>
              <a:off x="8382000" y="2200275"/>
              <a:ext cx="3200400" cy="2524125"/>
              <a:chOff x="8382000" y="2200275"/>
              <a:chExt cx="3200400" cy="2524125"/>
            </a:xfrm>
          </p:grpSpPr>
          <p:sp>
            <p:nvSpPr>
              <p:cNvPr id="27" name="Rectangle 27"/>
              <p:cNvSpPr/>
              <p:nvPr/>
            </p:nvSpPr>
            <p:spPr>
              <a:xfrm>
                <a:off x="9544050" y="2200275"/>
                <a:ext cx="2038350" cy="666750"/>
              </a:xfrm>
              <a:prstGeom prst="rect">
                <a:avLst/>
              </a:prstGeom>
              <a:solidFill>
                <a:schemeClr val="lt1"/>
              </a:solidFill>
              <a:ln w="9525">
                <a:solidFill>
                  <a:srgbClr val="315E9D"/>
                </a:solidFill>
              </a:ln>
            </p:spPr>
          </p:sp>
          <p:sp>
            <p:nvSpPr>
              <p:cNvPr id="28" name="TextBox 28"/>
              <p:cNvSpPr txBox="1"/>
              <p:nvPr/>
            </p:nvSpPr>
            <p:spPr>
              <a:xfrm>
                <a:off x="9987153" y="2355850"/>
                <a:ext cx="1152144" cy="410718"/>
              </a:xfrm>
              <a:prstGeom prst="rect">
                <a:avLst/>
              </a:prstGeom>
              <a:noFill/>
              <a:ln>
                <a:noFill/>
              </a:ln>
            </p:spPr>
            <p:txBody>
              <a:bodyPr wrap="none" lIns="0" tIns="0" rIns="0" bIns="0" anchor="t" anchorCtr="0">
                <a:spAutoFit/>
              </a:bodyPr>
              <a:lstStyle/>
              <a:p>
                <a:pPr algn="ctr"/>
                <a:r>
                  <a:rPr lang="zh-CN" sz="2100" dirty="0">
                    <a:solidFill>
                      <a:srgbClr val="315E9D"/>
                    </a:solidFill>
                    <a:latin typeface="+mn-lt"/>
                    <a:ea typeface="+mn-ea"/>
                    <a:cs typeface="+mn-cs"/>
                  </a:rPr>
                  <a:t>检测结果</a:t>
                </a:r>
              </a:p>
            </p:txBody>
          </p:sp>
          <p:sp>
            <p:nvSpPr>
              <p:cNvPr id="29" name="Line 29"/>
              <p:cNvSpPr/>
              <p:nvPr/>
            </p:nvSpPr>
            <p:spPr>
              <a:xfrm>
                <a:off x="8382000" y="2533650"/>
                <a:ext cx="1123950" cy="1"/>
              </a:xfrm>
              <a:prstGeom prst="line">
                <a:avLst/>
              </a:prstGeom>
              <a:noFill/>
              <a:ln w="19050">
                <a:solidFill>
                  <a:srgbClr val="596B80"/>
                </a:solidFill>
                <a:tailEnd type="triangle" w="lg" len="lg"/>
              </a:ln>
            </p:spPr>
          </p:sp>
          <p:sp>
            <p:nvSpPr>
              <p:cNvPr id="30" name="Rectangle 30"/>
              <p:cNvSpPr/>
              <p:nvPr/>
            </p:nvSpPr>
            <p:spPr>
              <a:xfrm>
                <a:off x="9544050" y="3629025"/>
                <a:ext cx="2038350" cy="1095375"/>
              </a:xfrm>
              <a:prstGeom prst="rect">
                <a:avLst/>
              </a:prstGeom>
              <a:solidFill>
                <a:schemeClr val="lt1"/>
              </a:solidFill>
              <a:ln w="9525">
                <a:solidFill>
                  <a:schemeClr val="accent2"/>
                </a:solidFill>
              </a:ln>
            </p:spPr>
          </p:sp>
          <p:sp>
            <p:nvSpPr>
              <p:cNvPr id="31" name="TextBox 31"/>
              <p:cNvSpPr txBox="1"/>
              <p:nvPr/>
            </p:nvSpPr>
            <p:spPr>
              <a:xfrm>
                <a:off x="9563100" y="3794125"/>
                <a:ext cx="2000250" cy="410718"/>
              </a:xfrm>
              <a:prstGeom prst="rect">
                <a:avLst/>
              </a:prstGeom>
              <a:noFill/>
              <a:ln>
                <a:noFill/>
              </a:ln>
            </p:spPr>
            <p:txBody>
              <a:bodyPr wrap="none" lIns="0" tIns="0" rIns="0" bIns="0" anchor="t" anchorCtr="0">
                <a:spAutoFit/>
              </a:bodyPr>
              <a:lstStyle/>
              <a:p>
                <a:pPr algn="ctr"/>
                <a:r>
                  <a:rPr lang="zh-CN" sz="2100" dirty="0">
                    <a:solidFill>
                      <a:schemeClr val="accent2"/>
                    </a:solidFill>
                    <a:latin typeface="+mn-lt"/>
                    <a:ea typeface="+mn-ea"/>
                    <a:cs typeface="+mn-cs"/>
                  </a:rPr>
                  <a:t>组合与原生解码</a:t>
                </a:r>
              </a:p>
            </p:txBody>
          </p:sp>
          <p:sp>
            <p:nvSpPr>
              <p:cNvPr id="32" name="TextBox 32"/>
              <p:cNvSpPr txBox="1"/>
              <p:nvPr/>
            </p:nvSpPr>
            <p:spPr>
              <a:xfrm>
                <a:off x="9987153" y="42037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实例轮廓</a:t>
                </a:r>
              </a:p>
            </p:txBody>
          </p:sp>
          <p:sp>
            <p:nvSpPr>
              <p:cNvPr id="33" name="Line 33"/>
              <p:cNvSpPr/>
              <p:nvPr/>
            </p:nvSpPr>
            <p:spPr>
              <a:xfrm>
                <a:off x="8382000" y="3476625"/>
                <a:ext cx="733425" cy="9525"/>
              </a:xfrm>
              <a:custGeom>
                <a:avLst/>
                <a:gdLst/>
                <a:ahLst/>
                <a:cxnLst/>
                <a:rect l="l" t="t" r="r" b="b"/>
                <a:pathLst>
                  <a:path w="733425" h="9525">
                    <a:moveTo>
                      <a:pt x="0" y="0"/>
                    </a:moveTo>
                    <a:lnTo>
                      <a:pt x="733425" y="0"/>
                    </a:lnTo>
                  </a:path>
                </a:pathLst>
              </a:custGeom>
              <a:noFill/>
              <a:ln w="19050">
                <a:solidFill>
                  <a:srgbClr val="596B80"/>
                </a:solidFill>
              </a:ln>
            </p:spPr>
          </p:sp>
          <p:sp>
            <p:nvSpPr>
              <p:cNvPr id="34" name="Line 34"/>
              <p:cNvSpPr/>
              <p:nvPr/>
            </p:nvSpPr>
            <p:spPr>
              <a:xfrm>
                <a:off x="9115425" y="3476625"/>
                <a:ext cx="9525" cy="466725"/>
              </a:xfrm>
              <a:custGeom>
                <a:avLst/>
                <a:gdLst/>
                <a:ahLst/>
                <a:cxnLst/>
                <a:rect l="l" t="t" r="r" b="b"/>
                <a:pathLst>
                  <a:path w="9525" h="466725">
                    <a:moveTo>
                      <a:pt x="0" y="0"/>
                    </a:moveTo>
                    <a:lnTo>
                      <a:pt x="0" y="466725"/>
                    </a:lnTo>
                  </a:path>
                </a:pathLst>
              </a:custGeom>
              <a:noFill/>
              <a:ln w="19050">
                <a:solidFill>
                  <a:srgbClr val="596B80"/>
                </a:solidFill>
              </a:ln>
            </p:spPr>
          </p:sp>
          <p:sp>
            <p:nvSpPr>
              <p:cNvPr id="35" name="Line 35"/>
              <p:cNvSpPr/>
              <p:nvPr/>
            </p:nvSpPr>
            <p:spPr>
              <a:xfrm>
                <a:off x="9115425" y="3943350"/>
                <a:ext cx="390525" cy="1"/>
              </a:xfrm>
              <a:prstGeom prst="line">
                <a:avLst/>
              </a:prstGeom>
              <a:noFill/>
              <a:ln w="19050">
                <a:solidFill>
                  <a:srgbClr val="596B80"/>
                </a:solidFill>
                <a:tailEnd type="triangle" w="lg" len="lg"/>
              </a:ln>
            </p:spPr>
          </p:sp>
          <p:sp>
            <p:nvSpPr>
              <p:cNvPr id="36" name="Line 36"/>
              <p:cNvSpPr/>
              <p:nvPr/>
            </p:nvSpPr>
            <p:spPr>
              <a:xfrm>
                <a:off x="8382000" y="4419600"/>
                <a:ext cx="1123950" cy="1"/>
              </a:xfrm>
              <a:prstGeom prst="line">
                <a:avLst/>
              </a:prstGeom>
              <a:noFill/>
              <a:ln w="19050">
                <a:solidFill>
                  <a:srgbClr val="596B80"/>
                </a:solidFill>
                <a:tailEnd type="triangle" w="lg" len="lg"/>
              </a:ln>
            </p:spPr>
          </p:sp>
          <p:sp>
            <p:nvSpPr>
              <p:cNvPr id="37" name="Line 37"/>
              <p:cNvSpPr/>
              <p:nvPr/>
            </p:nvSpPr>
            <p:spPr>
              <a:xfrm>
                <a:off x="10563225" y="2867025"/>
                <a:ext cx="1" cy="723900"/>
              </a:xfrm>
              <a:prstGeom prst="line">
                <a:avLst/>
              </a:prstGeom>
              <a:noFill/>
              <a:ln w="19050">
                <a:solidFill>
                  <a:srgbClr val="596B80"/>
                </a:solidFill>
                <a:tailEnd type="triangle" w="lg" len="lg"/>
              </a:ln>
            </p:spPr>
          </p:sp>
          <p:sp>
            <p:nvSpPr>
              <p:cNvPr id="38" name="TextBox 38"/>
              <p:cNvSpPr txBox="1"/>
              <p:nvPr/>
            </p:nvSpPr>
            <p:spPr>
              <a:xfrm>
                <a:off x="10735818" y="31305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预测框</a:t>
                </a:r>
              </a:p>
            </p:txBody>
          </p:sp>
        </p:grpSp>
      </p:grpSp>
      <p:grpSp>
        <p:nvGrpSpPr>
          <p:cNvPr id="43" name="model-meaning"/>
          <p:cNvGrpSpPr/>
          <p:nvPr/>
        </p:nvGrpSpPr>
        <p:grpSpPr>
          <a:xfrm>
            <a:off x="597408" y="5346700"/>
            <a:ext cx="8424672" cy="830707"/>
            <a:chOff x="597408" y="5346700"/>
            <a:chExt cx="8424672" cy="830707"/>
          </a:xfrm>
        </p:grpSpPr>
        <p:sp>
          <p:nvSpPr>
            <p:cNvPr id="41" name="TextBox 41"/>
            <p:cNvSpPr txBox="1"/>
            <p:nvPr/>
          </p:nvSpPr>
          <p:spPr>
            <a:xfrm>
              <a:off x="597408" y="5346700"/>
              <a:ext cx="842467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原型提供共享图案，系数决定每个实例如何组合这些图案。</a:t>
              </a:r>
            </a:p>
          </p:txBody>
        </p:sp>
        <p:sp>
          <p:nvSpPr>
            <p:cNvPr id="42" name="TextBox 42"/>
            <p:cNvSpPr txBox="1"/>
            <p:nvPr/>
          </p:nvSpPr>
          <p:spPr>
            <a:xfrm>
              <a:off x="601218" y="5854700"/>
              <a:ext cx="623620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当前研究固定原型和检测输出，只研究系数残差如何改善轮廓。</a:t>
              </a:r>
            </a:p>
          </p:txBody>
        </p:sp>
      </p:grpSp>
      <p:grpSp>
        <p:nvGrpSpPr>
          <p:cNvPr id="46" name="footer"/>
          <p:cNvGrpSpPr/>
          <p:nvPr/>
        </p:nvGrpSpPr>
        <p:grpSpPr>
          <a:xfrm>
            <a:off x="603504" y="6410325"/>
            <a:ext cx="10984992" cy="234696"/>
            <a:chOff x="603504" y="6410325"/>
            <a:chExt cx="10984992" cy="234696"/>
          </a:xfrm>
        </p:grpSpPr>
        <p:sp>
          <p:nvSpPr>
            <p:cNvPr id="44" name="TextBox 44"/>
            <p:cNvSpPr txBox="1"/>
            <p:nvPr/>
          </p:nvSpPr>
          <p:spPr>
            <a:xfrm>
              <a:off x="603504" y="6410325"/>
              <a:ext cx="694754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与本研究相关的推理支路；Ultralytics 8.4.100，O2O 最终输出；基础权重 yolo26m-seg.pt。</a:t>
              </a:r>
            </a:p>
          </p:txBody>
        </p:sp>
        <p:sp>
          <p:nvSpPr>
            <p:cNvPr id="45" name="TextBox 4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22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已实现结构</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轻量系数修正器的实际结构</a:t>
              </a:r>
            </a:p>
          </p:txBody>
        </p:sp>
      </p:grpSp>
      <p:grpSp>
        <p:nvGrpSpPr>
          <p:cNvPr id="13" name="spatial-branch"/>
          <p:cNvGrpSpPr/>
          <p:nvPr/>
        </p:nvGrpSpPr>
        <p:grpSpPr>
          <a:xfrm>
            <a:off x="601218" y="1768475"/>
            <a:ext cx="6113907" cy="1250950"/>
            <a:chOff x="601218" y="1768475"/>
            <a:chExt cx="6113907" cy="1250950"/>
          </a:xfrm>
        </p:grpSpPr>
        <p:sp>
          <p:nvSpPr>
            <p:cNvPr id="5" name="TextBox 5"/>
            <p:cNvSpPr txBox="1"/>
            <p:nvPr/>
          </p:nvSpPr>
          <p:spPr>
            <a:xfrm>
              <a:off x="601218" y="17684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空间信息支路</a:t>
              </a:r>
            </a:p>
          </p:txBody>
        </p:sp>
        <p:sp>
          <p:nvSpPr>
            <p:cNvPr id="6" name="Rectangle 6"/>
            <p:cNvSpPr/>
            <p:nvPr/>
          </p:nvSpPr>
          <p:spPr>
            <a:xfrm>
              <a:off x="609600" y="2152650"/>
              <a:ext cx="2895600" cy="866775"/>
            </a:xfrm>
            <a:prstGeom prst="rect">
              <a:avLst/>
            </a:prstGeom>
            <a:solidFill>
              <a:schemeClr val="lt2"/>
            </a:solidFill>
            <a:ln>
              <a:noFill/>
            </a:ln>
          </p:spPr>
        </p:sp>
        <p:sp>
          <p:nvSpPr>
            <p:cNvPr id="7" name="TextBox 7"/>
            <p:cNvSpPr txBox="1"/>
            <p:nvPr/>
          </p:nvSpPr>
          <p:spPr>
            <a:xfrm>
              <a:off x="828980" y="2232025"/>
              <a:ext cx="245684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预测框内的 P 与 z₀</a:t>
              </a:r>
            </a:p>
          </p:txBody>
        </p:sp>
        <p:sp>
          <p:nvSpPr>
            <p:cNvPr id="8" name="TextBox 8"/>
            <p:cNvSpPr txBox="1"/>
            <p:nvPr/>
          </p:nvSpPr>
          <p:spPr>
            <a:xfrm>
              <a:off x="977275" y="2644775"/>
              <a:ext cx="216025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8×8 采样，共 33 通道</a:t>
              </a:r>
            </a:p>
          </p:txBody>
        </p:sp>
        <p:sp>
          <p:nvSpPr>
            <p:cNvPr id="9" name="Rectangle 9"/>
            <p:cNvSpPr/>
            <p:nvPr/>
          </p:nvSpPr>
          <p:spPr>
            <a:xfrm>
              <a:off x="4095750" y="2152650"/>
              <a:ext cx="2619375" cy="866775"/>
            </a:xfrm>
            <a:prstGeom prst="rect">
              <a:avLst/>
            </a:prstGeom>
            <a:solidFill>
              <a:schemeClr val="lt2"/>
            </a:solidFill>
            <a:ln>
              <a:noFill/>
            </a:ln>
          </p:spPr>
        </p:sp>
        <p:sp>
          <p:nvSpPr>
            <p:cNvPr id="10" name="TextBox 10"/>
            <p:cNvSpPr txBox="1"/>
            <p:nvPr/>
          </p:nvSpPr>
          <p:spPr>
            <a:xfrm>
              <a:off x="4193286" y="2232025"/>
              <a:ext cx="2424303"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两层 3×3 卷积 · 64</a:t>
              </a:r>
            </a:p>
          </p:txBody>
        </p:sp>
        <p:sp>
          <p:nvSpPr>
            <p:cNvPr id="11" name="TextBox 11"/>
            <p:cNvSpPr txBox="1"/>
            <p:nvPr/>
          </p:nvSpPr>
          <p:spPr>
            <a:xfrm>
              <a:off x="4165425" y="2644775"/>
              <a:ext cx="248002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GELU + 全局平均 → 64 维</a:t>
              </a:r>
            </a:p>
          </p:txBody>
        </p:sp>
        <p:sp>
          <p:nvSpPr>
            <p:cNvPr id="12" name="Line 12"/>
            <p:cNvSpPr/>
            <p:nvPr/>
          </p:nvSpPr>
          <p:spPr>
            <a:xfrm>
              <a:off x="3505200" y="2590800"/>
              <a:ext cx="552450" cy="1"/>
            </a:xfrm>
            <a:prstGeom prst="line">
              <a:avLst/>
            </a:prstGeom>
            <a:noFill/>
            <a:ln w="19050">
              <a:solidFill>
                <a:srgbClr val="596B80"/>
              </a:solidFill>
              <a:tailEnd type="triangle" w="lg" len="lg"/>
            </a:ln>
          </p:spPr>
        </p:sp>
      </p:grpSp>
      <p:grpSp>
        <p:nvGrpSpPr>
          <p:cNvPr id="18" name="condition-branch"/>
          <p:cNvGrpSpPr/>
          <p:nvPr/>
        </p:nvGrpSpPr>
        <p:grpSpPr>
          <a:xfrm>
            <a:off x="601218" y="3406775"/>
            <a:ext cx="6113907" cy="1298575"/>
            <a:chOff x="601218" y="3406775"/>
            <a:chExt cx="6113907" cy="1298575"/>
          </a:xfrm>
        </p:grpSpPr>
        <p:sp>
          <p:nvSpPr>
            <p:cNvPr id="14" name="TextBox 14"/>
            <p:cNvSpPr txBox="1"/>
            <p:nvPr/>
          </p:nvSpPr>
          <p:spPr>
            <a:xfrm>
              <a:off x="601218" y="3406775"/>
              <a:ext cx="1349502"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实例条件支路</a:t>
              </a:r>
            </a:p>
          </p:txBody>
        </p:sp>
        <p:sp>
          <p:nvSpPr>
            <p:cNvPr id="15" name="Rectangle 15"/>
            <p:cNvSpPr/>
            <p:nvPr/>
          </p:nvSpPr>
          <p:spPr>
            <a:xfrm>
              <a:off x="609600" y="3790950"/>
              <a:ext cx="6105525" cy="914400"/>
            </a:xfrm>
            <a:prstGeom prst="rect">
              <a:avLst/>
            </a:prstGeom>
            <a:solidFill>
              <a:schemeClr val="lt2"/>
            </a:solidFill>
            <a:ln>
              <a:noFill/>
            </a:ln>
          </p:spPr>
        </p:sp>
        <p:sp>
          <p:nvSpPr>
            <p:cNvPr id="16" name="TextBox 16"/>
            <p:cNvSpPr txBox="1"/>
            <p:nvPr/>
          </p:nvSpPr>
          <p:spPr>
            <a:xfrm>
              <a:off x="827532" y="3889375"/>
              <a:ext cx="4697921"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特征 F → 64 维　　原系数 c₀ → 32 维</a:t>
              </a:r>
            </a:p>
          </p:txBody>
        </p:sp>
        <p:sp>
          <p:nvSpPr>
            <p:cNvPr id="17" name="TextBox 17"/>
            <p:cNvSpPr txBox="1"/>
            <p:nvPr/>
          </p:nvSpPr>
          <p:spPr>
            <a:xfrm>
              <a:off x="829818" y="4311650"/>
              <a:ext cx="40816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框几何 4 维 + 分数 1 维 + 类别嵌入 16 维</a:t>
              </a:r>
            </a:p>
          </p:txBody>
        </p:sp>
      </p:grpSp>
      <p:grpSp>
        <p:nvGrpSpPr>
          <p:cNvPr id="30" name="fusion"/>
          <p:cNvGrpSpPr/>
          <p:nvPr/>
        </p:nvGrpSpPr>
        <p:grpSpPr>
          <a:xfrm>
            <a:off x="6715125" y="2371725"/>
            <a:ext cx="4867275" cy="2076450"/>
            <a:chOff x="6715125" y="2371725"/>
            <a:chExt cx="4867275" cy="2076450"/>
          </a:xfrm>
        </p:grpSpPr>
        <p:sp>
          <p:nvSpPr>
            <p:cNvPr id="19" name="Rectangle 19"/>
            <p:cNvSpPr/>
            <p:nvPr/>
          </p:nvSpPr>
          <p:spPr>
            <a:xfrm>
              <a:off x="7334250" y="2371725"/>
              <a:ext cx="1857375" cy="2076450"/>
            </a:xfrm>
            <a:prstGeom prst="rect">
              <a:avLst/>
            </a:prstGeom>
            <a:solidFill>
              <a:schemeClr val="lt1"/>
            </a:solidFill>
            <a:ln w="19050">
              <a:solidFill>
                <a:schemeClr val="accent2"/>
              </a:solidFill>
            </a:ln>
          </p:spPr>
        </p:sp>
        <p:sp>
          <p:nvSpPr>
            <p:cNvPr id="20" name="TextBox 20"/>
            <p:cNvSpPr txBox="1"/>
            <p:nvPr/>
          </p:nvSpPr>
          <p:spPr>
            <a:xfrm>
              <a:off x="7494275" y="2536825"/>
              <a:ext cx="1537325"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拼接 181 维</a:t>
              </a:r>
            </a:p>
          </p:txBody>
        </p:sp>
        <p:sp>
          <p:nvSpPr>
            <p:cNvPr id="21" name="TextBox 21"/>
            <p:cNvSpPr txBox="1"/>
            <p:nvPr/>
          </p:nvSpPr>
          <p:spPr>
            <a:xfrm>
              <a:off x="7552582" y="3041650"/>
              <a:ext cx="1420711"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128</a:t>
              </a:r>
            </a:p>
          </p:txBody>
        </p:sp>
        <p:sp>
          <p:nvSpPr>
            <p:cNvPr id="22" name="TextBox 22"/>
            <p:cNvSpPr txBox="1"/>
            <p:nvPr/>
          </p:nvSpPr>
          <p:spPr>
            <a:xfrm>
              <a:off x="7923695" y="3460750"/>
              <a:ext cx="678485" cy="410718"/>
            </a:xfrm>
            <a:prstGeom prst="rect">
              <a:avLst/>
            </a:prstGeom>
            <a:noFill/>
            <a:ln>
              <a:noFill/>
            </a:ln>
          </p:spPr>
          <p:txBody>
            <a:bodyPr wrap="none" lIns="0" tIns="0" rIns="0" bIns="0" anchor="t" anchorCtr="0">
              <a:spAutoFit/>
            </a:bodyPr>
            <a:lstStyle/>
            <a:p>
              <a:pPr algn="ctr"/>
              <a:r>
                <a:rPr lang="en-US" sz="2100" dirty="0">
                  <a:solidFill>
                    <a:schemeClr val="accent1"/>
                  </a:solidFill>
                  <a:latin typeface="+mn-lt"/>
                  <a:ea typeface="+mn-ea"/>
                  <a:cs typeface="+mn-cs"/>
                </a:rPr>
                <a:t>GELU</a:t>
              </a:r>
            </a:p>
          </p:txBody>
        </p:sp>
        <p:sp>
          <p:nvSpPr>
            <p:cNvPr id="23" name="TextBox 23"/>
            <p:cNvSpPr txBox="1"/>
            <p:nvPr/>
          </p:nvSpPr>
          <p:spPr>
            <a:xfrm>
              <a:off x="7630325" y="3879850"/>
              <a:ext cx="1265225"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全连接 32</a:t>
              </a:r>
            </a:p>
          </p:txBody>
        </p:sp>
        <p:sp>
          <p:nvSpPr>
            <p:cNvPr id="24" name="Line 24"/>
            <p:cNvSpPr/>
            <p:nvPr/>
          </p:nvSpPr>
          <p:spPr>
            <a:xfrm>
              <a:off x="6715125" y="2590800"/>
              <a:ext cx="581025" cy="1"/>
            </a:xfrm>
            <a:prstGeom prst="line">
              <a:avLst/>
            </a:prstGeom>
            <a:noFill/>
            <a:ln w="19050">
              <a:solidFill>
                <a:srgbClr val="596B80"/>
              </a:solidFill>
              <a:tailEnd type="triangle" w="lg" len="lg"/>
            </a:ln>
          </p:spPr>
        </p:sp>
        <p:sp>
          <p:nvSpPr>
            <p:cNvPr id="25" name="Line 25"/>
            <p:cNvSpPr/>
            <p:nvPr/>
          </p:nvSpPr>
          <p:spPr>
            <a:xfrm>
              <a:off x="6715125" y="4257675"/>
              <a:ext cx="581025" cy="1"/>
            </a:xfrm>
            <a:prstGeom prst="line">
              <a:avLst/>
            </a:prstGeom>
            <a:noFill/>
            <a:ln w="19050">
              <a:solidFill>
                <a:srgbClr val="596B80"/>
              </a:solidFill>
              <a:tailEnd type="triangle" w="lg" len="lg"/>
            </a:ln>
          </p:spPr>
        </p:sp>
        <p:sp>
          <p:nvSpPr>
            <p:cNvPr id="26" name="Rectangle 26"/>
            <p:cNvSpPr/>
            <p:nvPr/>
          </p:nvSpPr>
          <p:spPr>
            <a:xfrm>
              <a:off x="9753600" y="2990850"/>
              <a:ext cx="1828800" cy="952500"/>
            </a:xfrm>
            <a:prstGeom prst="rect">
              <a:avLst/>
            </a:prstGeom>
            <a:solidFill>
              <a:schemeClr val="accent2"/>
            </a:solidFill>
            <a:ln>
              <a:noFill/>
            </a:ln>
          </p:spPr>
        </p:sp>
        <p:sp>
          <p:nvSpPr>
            <p:cNvPr id="27" name="TextBox 27"/>
            <p:cNvSpPr txBox="1"/>
            <p:nvPr/>
          </p:nvSpPr>
          <p:spPr>
            <a:xfrm>
              <a:off x="9888436" y="3108325"/>
              <a:ext cx="1559128"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系数残差 Δc</a:t>
              </a:r>
            </a:p>
          </p:txBody>
        </p:sp>
        <p:sp>
          <p:nvSpPr>
            <p:cNvPr id="28" name="TextBox 28"/>
            <p:cNvSpPr txBox="1"/>
            <p:nvPr/>
          </p:nvSpPr>
          <p:spPr>
            <a:xfrm>
              <a:off x="10170947" y="3521075"/>
              <a:ext cx="99410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32 维输出</a:t>
              </a:r>
            </a:p>
          </p:txBody>
        </p:sp>
        <p:sp>
          <p:nvSpPr>
            <p:cNvPr id="29" name="Line 29"/>
            <p:cNvSpPr/>
            <p:nvPr/>
          </p:nvSpPr>
          <p:spPr>
            <a:xfrm>
              <a:off x="9191625" y="3467100"/>
              <a:ext cx="523875" cy="1"/>
            </a:xfrm>
            <a:prstGeom prst="line">
              <a:avLst/>
            </a:prstGeom>
            <a:noFill/>
            <a:ln w="19050">
              <a:solidFill>
                <a:srgbClr val="596B80"/>
              </a:solidFill>
              <a:tailEnd type="triangle" w="lg" len="lg"/>
            </a:ln>
          </p:spPr>
        </p:sp>
      </p:grpSp>
      <p:grpSp>
        <p:nvGrpSpPr>
          <p:cNvPr id="33" name="residual-output"/>
          <p:cNvGrpSpPr/>
          <p:nvPr/>
        </p:nvGrpSpPr>
        <p:grpSpPr>
          <a:xfrm>
            <a:off x="597408" y="5165725"/>
            <a:ext cx="7855732" cy="859282"/>
            <a:chOff x="597408" y="5165725"/>
            <a:chExt cx="7855732" cy="859282"/>
          </a:xfrm>
        </p:grpSpPr>
        <p:sp>
          <p:nvSpPr>
            <p:cNvPr id="31" name="TextBox 31"/>
            <p:cNvSpPr txBox="1"/>
            <p:nvPr/>
          </p:nvSpPr>
          <p:spPr>
            <a:xfrm>
              <a:off x="597408" y="5165725"/>
              <a:ext cx="785573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c′ = c₀ + Δc，再与原型 P 组合，得到修正后的轮廓。</a:t>
              </a:r>
            </a:p>
          </p:txBody>
        </p:sp>
        <p:sp>
          <p:nvSpPr>
            <p:cNvPr id="32" name="TextBox 32"/>
            <p:cNvSpPr txBox="1"/>
            <p:nvPr/>
          </p:nvSpPr>
          <p:spPr>
            <a:xfrm>
              <a:off x="601218" y="5702300"/>
              <a:ext cx="72246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只训练新增的 167,872 个参数；输出层零初始化；推理不读取真实标注。</a:t>
              </a:r>
            </a:p>
          </p:txBody>
        </p:sp>
      </p:grpSp>
      <p:grpSp>
        <p:nvGrpSpPr>
          <p:cNvPr id="36" name="footer"/>
          <p:cNvGrpSpPr/>
          <p:nvPr/>
        </p:nvGrpSpPr>
        <p:grpSpPr>
          <a:xfrm>
            <a:off x="603504" y="6410325"/>
            <a:ext cx="10984992" cy="234696"/>
            <a:chOff x="603504" y="6410325"/>
            <a:chExt cx="10984992" cy="234696"/>
          </a:xfrm>
        </p:grpSpPr>
        <p:sp>
          <p:nvSpPr>
            <p:cNvPr id="34" name="TextBox 34"/>
            <p:cNvSpPr txBox="1"/>
            <p:nvPr/>
          </p:nvSpPr>
          <p:spPr>
            <a:xfrm>
              <a:off x="603504" y="6410325"/>
              <a:ext cx="720755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实际代码与训练合同：CoefficientAdapter；F 按所属层 256/512/512 通道分别投影；z₀ = c₀·P。</a:t>
              </a:r>
            </a:p>
          </p:txBody>
        </p:sp>
        <p:sp>
          <p:nvSpPr>
            <p:cNvPr id="35" name="TextBox 35"/>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22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170162" cy="964565"/>
            <a:chOff x="594360" y="415925"/>
            <a:chExt cx="6170162"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17016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6,229 个失败实例仍有合格检测框</a:t>
              </a:r>
            </a:p>
          </p:txBody>
        </p:sp>
      </p:grpSp>
      <p:grpSp>
        <p:nvGrpSpPr>
          <p:cNvPr id="6" name="experiment-scope"/>
          <p:cNvGrpSpPr/>
          <p:nvPr/>
        </p:nvGrpSpPr>
        <p:grpSpPr>
          <a:xfrm>
            <a:off x="601218" y="1682750"/>
            <a:ext cx="6458331" cy="322707"/>
            <a:chOff x="601218" y="1682750"/>
            <a:chExt cx="6458331" cy="322707"/>
          </a:xfrm>
        </p:grpSpPr>
        <p:sp>
          <p:nvSpPr>
            <p:cNvPr id="5" name="TextBox 5"/>
            <p:cNvSpPr txBox="1"/>
            <p:nvPr/>
          </p:nvSpPr>
          <p:spPr>
            <a:xfrm>
              <a:off x="601218" y="168275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对正常推理输出逐实例核对：分割失败究竟发生在哪一类目标上？</a:t>
              </a:r>
            </a:p>
          </p:txBody>
        </p:sp>
      </p:grpSp>
      <p:grpSp>
        <p:nvGrpSpPr>
          <p:cNvPr id="26" name="failure-split"/>
          <p:cNvGrpSpPr/>
          <p:nvPr/>
        </p:nvGrpSpPr>
        <p:grpSpPr>
          <a:xfrm>
            <a:off x="601218" y="2476500"/>
            <a:ext cx="7723251" cy="2606421"/>
            <a:chOff x="601218" y="2476500"/>
            <a:chExt cx="7723251" cy="2606421"/>
          </a:xfrm>
        </p:grpSpPr>
        <p:grpSp>
          <p:nvGrpSpPr>
            <p:cNvPr id="11" name="failure-split-chartArea"/>
            <p:cNvGrpSpPr/>
            <p:nvPr/>
          </p:nvGrpSpPr>
          <p:grpSpPr>
            <a:xfrm>
              <a:off x="2952750" y="2476500"/>
              <a:ext cx="5143500" cy="2295525"/>
              <a:chOff x="2952750" y="2476500"/>
              <a:chExt cx="5143500" cy="2295525"/>
            </a:xfrm>
          </p:grpSpPr>
          <p:sp>
            <p:nvSpPr>
              <p:cNvPr id="7" name="Line 7"/>
              <p:cNvSpPr/>
              <p:nvPr/>
            </p:nvSpPr>
            <p:spPr>
              <a:xfrm>
                <a:off x="2952750" y="4762500"/>
                <a:ext cx="5143500" cy="9525"/>
              </a:xfrm>
              <a:custGeom>
                <a:avLst/>
                <a:gdLst/>
                <a:ahLst/>
                <a:cxnLst/>
                <a:rect l="l" t="t" r="r" b="b"/>
                <a:pathLst>
                  <a:path w="5143500" h="9525">
                    <a:moveTo>
                      <a:pt x="0" y="0"/>
                    </a:moveTo>
                    <a:lnTo>
                      <a:pt x="5143500" y="0"/>
                    </a:lnTo>
                  </a:path>
                </a:pathLst>
              </a:custGeom>
              <a:noFill/>
              <a:ln w="9525">
                <a:solidFill>
                  <a:srgbClr val="596B80"/>
                </a:solidFill>
              </a:ln>
            </p:spPr>
          </p:sp>
          <p:sp>
            <p:nvSpPr>
              <p:cNvPr id="8" name="Rectangle 8"/>
              <p:cNvSpPr/>
              <p:nvPr/>
            </p:nvSpPr>
            <p:spPr>
              <a:xfrm>
                <a:off x="2952750" y="2476500"/>
                <a:ext cx="4595717" cy="285750"/>
              </a:xfrm>
              <a:prstGeom prst="rect">
                <a:avLst/>
              </a:prstGeom>
              <a:solidFill>
                <a:srgbClr val="596B80"/>
              </a:solidFill>
              <a:ln>
                <a:noFill/>
              </a:ln>
            </p:spPr>
          </p:sp>
          <p:sp>
            <p:nvSpPr>
              <p:cNvPr id="9" name="Rectangle 9"/>
              <p:cNvSpPr/>
              <p:nvPr/>
            </p:nvSpPr>
            <p:spPr>
              <a:xfrm>
                <a:off x="2952750" y="3333750"/>
                <a:ext cx="4004862" cy="285750"/>
              </a:xfrm>
              <a:prstGeom prst="rect">
                <a:avLst/>
              </a:prstGeom>
              <a:solidFill>
                <a:schemeClr val="accent2"/>
              </a:solidFill>
              <a:ln>
                <a:noFill/>
              </a:ln>
            </p:spPr>
          </p:sp>
          <p:sp>
            <p:nvSpPr>
              <p:cNvPr id="10" name="Rectangle 10"/>
              <p:cNvSpPr/>
              <p:nvPr/>
            </p:nvSpPr>
            <p:spPr>
              <a:xfrm>
                <a:off x="2952750" y="4191000"/>
                <a:ext cx="643" cy="285750"/>
              </a:xfrm>
              <a:prstGeom prst="rect">
                <a:avLst/>
              </a:prstGeom>
              <a:solidFill>
                <a:schemeClr val="accent3"/>
              </a:solidFill>
              <a:ln>
                <a:noFill/>
              </a:ln>
            </p:spPr>
          </p:sp>
        </p:grpSp>
        <p:grpSp>
          <p:nvGrpSpPr>
            <p:cNvPr id="19" name="Group 19"/>
            <p:cNvGrpSpPr/>
            <p:nvPr/>
          </p:nvGrpSpPr>
          <p:grpSpPr>
            <a:xfrm>
              <a:off x="601218" y="2482850"/>
              <a:ext cx="7685627" cy="2046732"/>
              <a:chOff x="601218" y="2482850"/>
              <a:chExt cx="7685627" cy="2046732"/>
            </a:xfrm>
          </p:grpSpPr>
          <p:sp>
            <p:nvSpPr>
              <p:cNvPr id="12" name="TextBox 12"/>
              <p:cNvSpPr txBox="1"/>
              <p:nvPr/>
            </p:nvSpPr>
            <p:spPr>
              <a:xfrm>
                <a:off x="601218" y="24828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无合格框配对</a:t>
                </a:r>
              </a:p>
            </p:txBody>
          </p:sp>
          <p:sp>
            <p:nvSpPr>
              <p:cNvPr id="13" name="TextBox 13"/>
              <p:cNvSpPr txBox="1"/>
              <p:nvPr/>
            </p:nvSpPr>
            <p:spPr>
              <a:xfrm>
                <a:off x="601218" y="3206750"/>
                <a:ext cx="68313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框合格</a:t>
                </a:r>
              </a:p>
            </p:txBody>
          </p:sp>
          <p:sp>
            <p:nvSpPr>
              <p:cNvPr id="14" name="TextBox 14"/>
              <p:cNvSpPr txBox="1"/>
              <p:nvPr/>
            </p:nvSpPr>
            <p:spPr>
              <a:xfrm>
                <a:off x="601218" y="3492500"/>
                <a:ext cx="1326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轮廓不合格 T</a:t>
                </a:r>
              </a:p>
            </p:txBody>
          </p:sp>
          <p:sp>
            <p:nvSpPr>
              <p:cNvPr id="15" name="TextBox 15"/>
              <p:cNvSpPr txBox="1"/>
              <p:nvPr/>
            </p:nvSpPr>
            <p:spPr>
              <a:xfrm>
                <a:off x="601218" y="41973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匹配竞争案例</a:t>
                </a:r>
              </a:p>
            </p:txBody>
          </p:sp>
          <p:sp>
            <p:nvSpPr>
              <p:cNvPr id="16" name="TextBox 16"/>
              <p:cNvSpPr txBox="1"/>
              <p:nvPr/>
            </p:nvSpPr>
            <p:spPr>
              <a:xfrm>
                <a:off x="7659243" y="2492375"/>
                <a:ext cx="6276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7,148</a:t>
                </a:r>
              </a:p>
            </p:txBody>
          </p:sp>
          <p:sp>
            <p:nvSpPr>
              <p:cNvPr id="17" name="TextBox 17"/>
              <p:cNvSpPr txBox="1"/>
              <p:nvPr/>
            </p:nvSpPr>
            <p:spPr>
              <a:xfrm>
                <a:off x="7068693" y="3349625"/>
                <a:ext cx="658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6,229</a:t>
                </a:r>
              </a:p>
            </p:txBody>
          </p:sp>
          <p:sp>
            <p:nvSpPr>
              <p:cNvPr id="18" name="TextBox 18"/>
              <p:cNvSpPr txBox="1"/>
              <p:nvPr/>
            </p:nvSpPr>
            <p:spPr>
              <a:xfrm>
                <a:off x="3077718" y="4206875"/>
                <a:ext cx="1389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1</a:t>
                </a:r>
              </a:p>
            </p:txBody>
          </p:sp>
        </p:grpSp>
        <p:grpSp>
          <p:nvGrpSpPr>
            <p:cNvPr id="25" name="Group 25"/>
            <p:cNvGrpSpPr/>
            <p:nvPr/>
          </p:nvGrpSpPr>
          <p:grpSpPr>
            <a:xfrm>
              <a:off x="2902229" y="4848225"/>
              <a:ext cx="5422240" cy="234696"/>
              <a:chOff x="2902229" y="4848225"/>
              <a:chExt cx="5422240" cy="234696"/>
            </a:xfrm>
          </p:grpSpPr>
          <p:sp>
            <p:nvSpPr>
              <p:cNvPr id="20" name="TextBox 20"/>
              <p:cNvSpPr txBox="1"/>
              <p:nvPr/>
            </p:nvSpPr>
            <p:spPr>
              <a:xfrm>
                <a:off x="2902229" y="48482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401040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2,000</a:t>
                </a:r>
              </a:p>
            </p:txBody>
          </p:sp>
          <p:sp>
            <p:nvSpPr>
              <p:cNvPr id="22" name="TextBox 22"/>
              <p:cNvSpPr txBox="1"/>
              <p:nvPr/>
            </p:nvSpPr>
            <p:spPr>
              <a:xfrm>
                <a:off x="529628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4,000</a:t>
                </a:r>
              </a:p>
            </p:txBody>
          </p:sp>
          <p:sp>
            <p:nvSpPr>
              <p:cNvPr id="23" name="TextBox 23"/>
              <p:cNvSpPr txBox="1"/>
              <p:nvPr/>
            </p:nvSpPr>
            <p:spPr>
              <a:xfrm>
                <a:off x="658215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6,000</a:t>
                </a:r>
              </a:p>
            </p:txBody>
          </p:sp>
          <p:sp>
            <p:nvSpPr>
              <p:cNvPr id="24" name="TextBox 24"/>
              <p:cNvSpPr txBox="1"/>
              <p:nvPr/>
            </p:nvSpPr>
            <p:spPr>
              <a:xfrm>
                <a:off x="786803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8,000</a:t>
                </a:r>
              </a:p>
            </p:txBody>
          </p:sp>
        </p:grpSp>
      </p:grpSp>
      <p:grpSp>
        <p:nvGrpSpPr>
          <p:cNvPr id="31" name="target-share"/>
          <p:cNvGrpSpPr/>
          <p:nvPr/>
        </p:nvGrpSpPr>
        <p:grpSpPr>
          <a:xfrm>
            <a:off x="8686800" y="2355850"/>
            <a:ext cx="2709634" cy="2392807"/>
            <a:chOff x="8686800" y="2355850"/>
            <a:chExt cx="2709634" cy="2392807"/>
          </a:xfrm>
        </p:grpSpPr>
        <p:sp>
          <p:nvSpPr>
            <p:cNvPr id="27" name="TextBox 27"/>
            <p:cNvSpPr txBox="1"/>
            <p:nvPr/>
          </p:nvSpPr>
          <p:spPr>
            <a:xfrm>
              <a:off x="8686800" y="2355850"/>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46.56%</a:t>
              </a:r>
            </a:p>
          </p:txBody>
        </p:sp>
        <p:sp>
          <p:nvSpPr>
            <p:cNvPr id="28" name="TextBox 28"/>
            <p:cNvSpPr txBox="1"/>
            <p:nvPr/>
          </p:nvSpPr>
          <p:spPr>
            <a:xfrm>
              <a:off x="8695182" y="333692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分割失败中的</a:t>
              </a:r>
            </a:p>
          </p:txBody>
        </p:sp>
        <p:sp>
          <p:nvSpPr>
            <p:cNvPr id="29" name="TextBox 29"/>
            <p:cNvSpPr txBox="1"/>
            <p:nvPr/>
          </p:nvSpPr>
          <p:spPr>
            <a:xfrm>
              <a:off x="8695182" y="3775075"/>
              <a:ext cx="149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占比</a:t>
              </a:r>
            </a:p>
          </p:txBody>
        </p:sp>
        <p:sp>
          <p:nvSpPr>
            <p:cNvPr id="30" name="TextBox 30"/>
            <p:cNvSpPr txBox="1"/>
            <p:nvPr/>
          </p:nvSpPr>
          <p:spPr>
            <a:xfrm>
              <a:off x="8697468" y="4425950"/>
              <a:ext cx="161605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6,229 / 13,378</a:t>
              </a:r>
            </a:p>
          </p:txBody>
        </p:sp>
      </p:grpSp>
      <p:grpSp>
        <p:nvGrpSpPr>
          <p:cNvPr id="34" name="finding"/>
          <p:cNvGrpSpPr/>
          <p:nvPr/>
        </p:nvGrpSpPr>
        <p:grpSpPr>
          <a:xfrm>
            <a:off x="597408" y="5403850"/>
            <a:ext cx="7778496" cy="802132"/>
            <a:chOff x="597408" y="5403850"/>
            <a:chExt cx="7778496" cy="802132"/>
          </a:xfrm>
        </p:grpSpPr>
        <p:sp>
          <p:nvSpPr>
            <p:cNvPr id="32" name="TextBox 32"/>
            <p:cNvSpPr txBox="1"/>
            <p:nvPr/>
          </p:nvSpPr>
          <p:spPr>
            <a:xfrm>
              <a:off x="597408" y="5403850"/>
              <a:ext cx="77784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这部分错误可以在固定检测框后，继续研究轮廓修正。</a:t>
              </a:r>
            </a:p>
          </p:txBody>
        </p:sp>
        <p:sp>
          <p:nvSpPr>
            <p:cNvPr id="33" name="TextBox 33"/>
            <p:cNvSpPr txBox="1"/>
            <p:nvPr/>
          </p:nvSpPr>
          <p:spPr>
            <a:xfrm>
              <a:off x="601218" y="5883275"/>
              <a:ext cx="490347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其余错误尚未纳入这一修正对象，需要分别研究。</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64980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 COCO val2017 5,000 图；普通 GT 36,335，分割失败 13,378；比例不等同于 AP。</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22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模块一</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固定检测后，仍存在轮廓修正空间</a:t>
              </a:r>
            </a:p>
          </p:txBody>
        </p:sp>
      </p:grpSp>
      <p:grpSp>
        <p:nvGrpSpPr>
          <p:cNvPr id="6" name="oracle-procedure"/>
          <p:cNvGrpSpPr/>
          <p:nvPr/>
        </p:nvGrpSpPr>
        <p:grpSpPr>
          <a:xfrm>
            <a:off x="601218" y="1654175"/>
            <a:ext cx="8013192" cy="322707"/>
            <a:chOff x="601218" y="1654175"/>
            <a:chExt cx="8013192" cy="322707"/>
          </a:xfrm>
        </p:grpSpPr>
        <p:sp>
          <p:nvSpPr>
            <p:cNvPr id="5" name="TextBox 5"/>
            <p:cNvSpPr txBox="1"/>
            <p:nvPr/>
          </p:nvSpPr>
          <p:spPr>
            <a:xfrm>
              <a:off x="601218" y="1654175"/>
              <a:ext cx="80131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固定原型与检测框，只优化组合系数；使用真实标注指导优化，测量可改进空间。</a:t>
              </a:r>
            </a:p>
          </p:txBody>
        </p:sp>
      </p:grpSp>
      <p:grpSp>
        <p:nvGrpSpPr>
          <p:cNvPr id="27" name="oracle-area"/>
          <p:cNvGrpSpPr/>
          <p:nvPr/>
        </p:nvGrpSpPr>
        <p:grpSpPr>
          <a:xfrm>
            <a:off x="598932" y="2063750"/>
            <a:ext cx="7316267" cy="3057271"/>
            <a:chOff x="598932" y="2063750"/>
            <a:chExt cx="7316267" cy="3057271"/>
          </a:xfrm>
        </p:grpSpPr>
        <p:grpSp>
          <p:nvGrpSpPr>
            <p:cNvPr id="11" name="oracle-area-chartArea"/>
            <p:cNvGrpSpPr/>
            <p:nvPr/>
          </p:nvGrpSpPr>
          <p:grpSpPr>
            <a:xfrm>
              <a:off x="2190750" y="2400300"/>
              <a:ext cx="5524500" cy="2047875"/>
              <a:chOff x="2190750" y="2400300"/>
              <a:chExt cx="5524500" cy="2047875"/>
            </a:xfrm>
          </p:grpSpPr>
          <p:sp>
            <p:nvSpPr>
              <p:cNvPr id="7" name="Line 7"/>
              <p:cNvSpPr/>
              <p:nvPr/>
            </p:nvSpPr>
            <p:spPr>
              <a:xfrm>
                <a:off x="2190750" y="4438650"/>
                <a:ext cx="5524500" cy="9525"/>
              </a:xfrm>
              <a:custGeom>
                <a:avLst/>
                <a:gdLst/>
                <a:ahLst/>
                <a:cxnLst/>
                <a:rect l="l" t="t" r="r" b="b"/>
                <a:pathLst>
                  <a:path w="5524500" h="9525">
                    <a:moveTo>
                      <a:pt x="0" y="0"/>
                    </a:moveTo>
                    <a:lnTo>
                      <a:pt x="5524500" y="0"/>
                    </a:lnTo>
                  </a:path>
                </a:pathLst>
              </a:custGeom>
              <a:noFill/>
              <a:ln w="9525">
                <a:solidFill>
                  <a:srgbClr val="596B80"/>
                </a:solidFill>
              </a:ln>
            </p:spPr>
          </p:sp>
          <p:sp>
            <p:nvSpPr>
              <p:cNvPr id="8" name="Rectangle 8"/>
              <p:cNvSpPr/>
              <p:nvPr/>
            </p:nvSpPr>
            <p:spPr>
              <a:xfrm>
                <a:off x="2190750" y="2400300"/>
                <a:ext cx="1418453" cy="266700"/>
              </a:xfrm>
              <a:prstGeom prst="rect">
                <a:avLst/>
              </a:prstGeom>
              <a:solidFill>
                <a:schemeClr val="accent2"/>
              </a:solidFill>
              <a:ln>
                <a:noFill/>
              </a:ln>
            </p:spPr>
          </p:sp>
          <p:sp>
            <p:nvSpPr>
              <p:cNvPr id="9" name="Rectangle 9"/>
              <p:cNvSpPr/>
              <p:nvPr/>
            </p:nvSpPr>
            <p:spPr>
              <a:xfrm>
                <a:off x="2190750" y="3162300"/>
                <a:ext cx="3798094" cy="266700"/>
              </a:xfrm>
              <a:prstGeom prst="rect">
                <a:avLst/>
              </a:prstGeom>
              <a:solidFill>
                <a:schemeClr val="accent2"/>
              </a:solidFill>
              <a:ln>
                <a:noFill/>
              </a:ln>
            </p:spPr>
          </p:sp>
          <p:sp>
            <p:nvSpPr>
              <p:cNvPr id="10" name="Rectangle 10"/>
              <p:cNvSpPr/>
              <p:nvPr/>
            </p:nvSpPr>
            <p:spPr>
              <a:xfrm>
                <a:off x="2190750" y="3924300"/>
                <a:ext cx="5022275" cy="266700"/>
              </a:xfrm>
              <a:prstGeom prst="rect">
                <a:avLst/>
              </a:prstGeom>
              <a:solidFill>
                <a:schemeClr val="accent2"/>
              </a:solidFill>
              <a:ln>
                <a:noFill/>
              </a:ln>
            </p:spPr>
          </p:sp>
        </p:grpSp>
        <p:grpSp>
          <p:nvGrpSpPr>
            <p:cNvPr id="15" name="Group 15"/>
            <p:cNvGrpSpPr/>
            <p:nvPr/>
          </p:nvGrpSpPr>
          <p:grpSpPr>
            <a:xfrm>
              <a:off x="598932" y="2365375"/>
              <a:ext cx="869442" cy="1934718"/>
              <a:chOff x="598932" y="2365375"/>
              <a:chExt cx="869442" cy="1934718"/>
            </a:xfrm>
          </p:grpSpPr>
          <p:sp>
            <p:nvSpPr>
              <p:cNvPr id="12" name="TextBox 12"/>
              <p:cNvSpPr txBox="1"/>
              <p:nvPr/>
            </p:nvSpPr>
            <p:spPr>
              <a:xfrm>
                <a:off x="598932" y="2365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小目标</a:t>
                </a:r>
              </a:p>
            </p:txBody>
          </p:sp>
          <p:sp>
            <p:nvSpPr>
              <p:cNvPr id="13" name="TextBox 13"/>
              <p:cNvSpPr txBox="1"/>
              <p:nvPr/>
            </p:nvSpPr>
            <p:spPr>
              <a:xfrm>
                <a:off x="598932" y="3127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中目标</a:t>
                </a:r>
              </a:p>
            </p:txBody>
          </p:sp>
          <p:sp>
            <p:nvSpPr>
              <p:cNvPr id="14" name="TextBox 14"/>
              <p:cNvSpPr txBox="1"/>
              <p:nvPr/>
            </p:nvSpPr>
            <p:spPr>
              <a:xfrm>
                <a:off x="598932" y="3889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大目标</a:t>
                </a:r>
              </a:p>
            </p:txBody>
          </p:sp>
        </p:grpSp>
        <p:grpSp>
          <p:nvGrpSpPr>
            <p:cNvPr id="19" name="Group 19"/>
            <p:cNvGrpSpPr/>
            <p:nvPr/>
          </p:nvGrpSpPr>
          <p:grpSpPr>
            <a:xfrm>
              <a:off x="2182368" y="2063750"/>
              <a:ext cx="2104720" cy="1846707"/>
              <a:chOff x="2182368" y="2063750"/>
              <a:chExt cx="2104720" cy="1846707"/>
            </a:xfrm>
          </p:grpSpPr>
          <p:sp>
            <p:nvSpPr>
              <p:cNvPr id="16" name="TextBox 16"/>
              <p:cNvSpPr txBox="1"/>
              <p:nvPr/>
            </p:nvSpPr>
            <p:spPr>
              <a:xfrm>
                <a:off x="2182368" y="2063750"/>
                <a:ext cx="210472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25.68%（38 / 148）</a:t>
                </a:r>
              </a:p>
            </p:txBody>
          </p:sp>
          <p:sp>
            <p:nvSpPr>
              <p:cNvPr id="17" name="TextBox 17"/>
              <p:cNvSpPr txBox="1"/>
              <p:nvPr/>
            </p:nvSpPr>
            <p:spPr>
              <a:xfrm>
                <a:off x="2182368" y="2825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68.75%（44 / 64）</a:t>
                </a:r>
              </a:p>
            </p:txBody>
          </p:sp>
          <p:sp>
            <p:nvSpPr>
              <p:cNvPr id="18" name="TextBox 18"/>
              <p:cNvSpPr txBox="1"/>
              <p:nvPr/>
            </p:nvSpPr>
            <p:spPr>
              <a:xfrm>
                <a:off x="2182368" y="3587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90.91%（40 / 44）</a:t>
                </a:r>
              </a:p>
            </p:txBody>
          </p:sp>
        </p:grpSp>
        <p:grpSp>
          <p:nvGrpSpPr>
            <p:cNvPr id="25" name="Group 25"/>
            <p:cNvGrpSpPr/>
            <p:nvPr/>
          </p:nvGrpSpPr>
          <p:grpSpPr>
            <a:xfrm>
              <a:off x="2140229" y="4619625"/>
              <a:ext cx="5774970" cy="234696"/>
              <a:chOff x="2140229" y="4619625"/>
              <a:chExt cx="5774970" cy="234696"/>
            </a:xfrm>
          </p:grpSpPr>
          <p:sp>
            <p:nvSpPr>
              <p:cNvPr id="20" name="TextBox 20"/>
              <p:cNvSpPr txBox="1"/>
              <p:nvPr/>
            </p:nvSpPr>
            <p:spPr>
              <a:xfrm>
                <a:off x="2140229" y="46196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347693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25</a:t>
                </a:r>
              </a:p>
            </p:txBody>
          </p:sp>
          <p:sp>
            <p:nvSpPr>
              <p:cNvPr id="22" name="TextBox 22"/>
              <p:cNvSpPr txBox="1"/>
              <p:nvPr/>
            </p:nvSpPr>
            <p:spPr>
              <a:xfrm>
                <a:off x="4858055"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50</a:t>
                </a:r>
              </a:p>
            </p:txBody>
          </p:sp>
          <p:sp>
            <p:nvSpPr>
              <p:cNvPr id="23" name="TextBox 23"/>
              <p:cNvSpPr txBox="1"/>
              <p:nvPr/>
            </p:nvSpPr>
            <p:spPr>
              <a:xfrm>
                <a:off x="623918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75</a:t>
                </a:r>
              </a:p>
            </p:txBody>
          </p:sp>
          <p:sp>
            <p:nvSpPr>
              <p:cNvPr id="24" name="TextBox 24"/>
              <p:cNvSpPr txBox="1"/>
              <p:nvPr/>
            </p:nvSpPr>
            <p:spPr>
              <a:xfrm>
                <a:off x="7515301" y="4619625"/>
                <a:ext cx="39989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100%</a:t>
                </a:r>
              </a:p>
            </p:txBody>
          </p:sp>
        </p:grpSp>
        <p:sp>
          <p:nvSpPr>
            <p:cNvPr id="26" name="TextBox 26"/>
            <p:cNvSpPr txBox="1"/>
            <p:nvPr/>
          </p:nvSpPr>
          <p:spPr>
            <a:xfrm>
              <a:off x="2184654" y="4886325"/>
              <a:ext cx="28475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同一检测的轮廓达到 IoU ≥ 0.75 的比例</a:t>
              </a:r>
            </a:p>
          </p:txBody>
        </p:sp>
      </p:grpSp>
      <p:grpSp>
        <p:nvGrpSpPr>
          <p:cNvPr id="31" name="oracle-total"/>
          <p:cNvGrpSpPr/>
          <p:nvPr/>
        </p:nvGrpSpPr>
        <p:grpSpPr>
          <a:xfrm>
            <a:off x="8553450" y="2251075"/>
            <a:ext cx="2709634" cy="2732532"/>
            <a:chOff x="8553450" y="2251075"/>
            <a:chExt cx="2709634" cy="2732532"/>
          </a:xfrm>
        </p:grpSpPr>
        <p:sp>
          <p:nvSpPr>
            <p:cNvPr id="28" name="TextBox 28"/>
            <p:cNvSpPr txBox="1"/>
            <p:nvPr/>
          </p:nvSpPr>
          <p:spPr>
            <a:xfrm>
              <a:off x="8553450" y="2251075"/>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47.66%</a:t>
              </a:r>
            </a:p>
          </p:txBody>
        </p:sp>
        <p:sp>
          <p:nvSpPr>
            <p:cNvPr id="29" name="TextBox 29"/>
            <p:cNvSpPr txBox="1"/>
            <p:nvPr/>
          </p:nvSpPr>
          <p:spPr>
            <a:xfrm>
              <a:off x="8561832" y="3184525"/>
              <a:ext cx="2488311" cy="858393"/>
            </a:xfrm>
            <a:prstGeom prst="rect">
              <a:avLst/>
            </a:prstGeom>
            <a:noFill/>
            <a:ln>
              <a:noFill/>
            </a:ln>
          </p:spPr>
          <p:txBody>
            <a:bodyPr wrap="none" lIns="0" tIns="0" rIns="0" bIns="0" anchor="t" anchorCtr="0">
              <a:spAutoFit/>
            </a:bodyPr>
            <a:lstStyle/>
            <a:p>
              <a:pPr algn="l">
                <a:lnSpc>
                  <a:spcPts val="3525"/>
                </a:lnSpc>
              </a:pPr>
              <a:r>
                <a:rPr lang="zh-CN" sz="2100" dirty="0">
                  <a:solidFill>
                    <a:schemeClr val="dk1"/>
                  </a:solidFill>
                  <a:latin typeface="+mn-lt"/>
                  <a:ea typeface="+mn-ea"/>
                  <a:cs typeface="+mn-cs"/>
                </a:rPr>
                <a:t>256 个固定目标中</a:t>
              </a:r>
              <a:br>
                <a:rPr lang="zh-CN" sz="2100" dirty="0">
                  <a:solidFill>
                    <a:schemeClr val="dk1"/>
                  </a:solidFill>
                  <a:latin typeface="+mn-lt"/>
                  <a:ea typeface="+mn-ea"/>
                  <a:cs typeface="+mn-cs"/>
                </a:rPr>
              </a:br>
              <a:r>
                <a:rPr lang="zh-CN" sz="2100" dirty="0">
                  <a:solidFill>
                    <a:schemeClr val="dk1"/>
                  </a:solidFill>
                  <a:latin typeface="+mn-lt"/>
                  <a:ea typeface="+mn-ea"/>
                  <a:cs typeface="+mn-cs"/>
                </a:rPr>
                <a:t>找到 122 个达标结果</a:t>
              </a:r>
            </a:p>
          </p:txBody>
        </p:sp>
        <p:sp>
          <p:nvSpPr>
            <p:cNvPr id="30" name="TextBox 30"/>
            <p:cNvSpPr txBox="1"/>
            <p:nvPr/>
          </p:nvSpPr>
          <p:spPr>
            <a:xfrm>
              <a:off x="8564118" y="4318000"/>
              <a:ext cx="1902714" cy="665607"/>
            </a:xfrm>
            <a:prstGeom prst="rect">
              <a:avLst/>
            </a:prstGeom>
            <a:noFill/>
            <a:ln>
              <a:noFill/>
            </a:ln>
          </p:spPr>
          <p:txBody>
            <a:bodyPr wrap="none" lIns="0" tIns="0" rIns="0" bIns="0" anchor="t" anchorCtr="0">
              <a:spAutoFit/>
            </a:bodyPr>
            <a:lstStyle/>
            <a:p>
              <a:pPr algn="l">
                <a:lnSpc>
                  <a:spcPts val="2700"/>
                </a:lnSpc>
              </a:pPr>
              <a:r>
                <a:rPr lang="zh-CN" sz="1650" dirty="0">
                  <a:solidFill>
                    <a:schemeClr val="accent3"/>
                  </a:solidFill>
                  <a:latin typeface="+mn-lt"/>
                  <a:ea typeface="+mn-ea"/>
                  <a:cs typeface="+mn-cs"/>
                </a:rPr>
                <a:t>标注辅助的修正机会</a:t>
              </a:r>
              <a:br>
                <a:rPr lang="zh-CN" sz="1650" dirty="0">
                  <a:solidFill>
                    <a:schemeClr val="accent3"/>
                  </a:solidFill>
                  <a:latin typeface="+mn-lt"/>
                  <a:ea typeface="+mn-ea"/>
                  <a:cs typeface="+mn-cs"/>
                </a:rPr>
              </a:br>
              <a:r>
                <a:rPr lang="zh-CN" sz="1650" dirty="0">
                  <a:solidFill>
                    <a:schemeClr val="accent3"/>
                  </a:solidFill>
                  <a:latin typeface="+mn-lt"/>
                  <a:ea typeface="+mn-ea"/>
                  <a:cs typeface="+mn-cs"/>
                </a:rPr>
                <a:t>不代表自动方法收益</a:t>
              </a:r>
            </a:p>
          </p:txBody>
        </p:sp>
      </p:grpSp>
      <p:grpSp>
        <p:nvGrpSpPr>
          <p:cNvPr id="34" name="finding"/>
          <p:cNvGrpSpPr/>
          <p:nvPr/>
        </p:nvGrpSpPr>
        <p:grpSpPr>
          <a:xfrm>
            <a:off x="597408" y="5413375"/>
            <a:ext cx="7455408" cy="783082"/>
            <a:chOff x="597408" y="5413375"/>
            <a:chExt cx="7455408" cy="783082"/>
          </a:xfrm>
        </p:grpSpPr>
        <p:sp>
          <p:nvSpPr>
            <p:cNvPr id="32" name="TextBox 32"/>
            <p:cNvSpPr txBox="1"/>
            <p:nvPr/>
          </p:nvSpPr>
          <p:spPr>
            <a:xfrm>
              <a:off x="597408" y="5413375"/>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现有表示还有修正机会，下一步检验能否自动学到。</a:t>
              </a:r>
            </a:p>
          </p:txBody>
        </p:sp>
        <p:sp>
          <p:nvSpPr>
            <p:cNvPr id="33" name="TextBox 33"/>
            <p:cNvSpPr txBox="1"/>
            <p:nvPr/>
          </p:nvSpPr>
          <p:spPr>
            <a:xfrm>
              <a:off x="601218" y="5873750"/>
              <a:ext cx="601408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面积分组使用真实标注面积；这是固定样本的有限求解结果。</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71560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[E1] 从 T=6,229 中按冻结规则选取 256 个 GT；256/256 收敛；不外推为全体失败实例的修复率。</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22</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504095"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已完成探索</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探索实验逐项检验修正条件</a:t>
              </a:r>
            </a:p>
          </p:txBody>
        </p:sp>
      </p:grpSp>
      <p:grpSp>
        <p:nvGrpSpPr>
          <p:cNvPr id="6" name="common-budget"/>
          <p:cNvGrpSpPr/>
          <p:nvPr/>
        </p:nvGrpSpPr>
        <p:grpSpPr>
          <a:xfrm>
            <a:off x="601218" y="1711325"/>
            <a:ext cx="8068723" cy="322707"/>
            <a:chOff x="601218" y="1711325"/>
            <a:chExt cx="8068723" cy="322707"/>
          </a:xfrm>
        </p:grpSpPr>
        <p:sp>
          <p:nvSpPr>
            <p:cNvPr id="5" name="TextBox 5"/>
            <p:cNvSpPr txBox="1"/>
            <p:nvPr/>
          </p:nvSpPr>
          <p:spPr>
            <a:xfrm>
              <a:off x="601218" y="1711325"/>
              <a:ext cx="80687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三个训练配置均用 2,000 张图、3 轮、1,500 步；以冻结的原生输出为共同基线。</a:t>
              </a:r>
            </a:p>
          </p:txBody>
        </p:sp>
      </p:grpSp>
      <p:grpSp>
        <p:nvGrpSpPr>
          <p:cNvPr id="26" name="experiment-comparison"/>
          <p:cNvGrpSpPr/>
          <p:nvPr/>
        </p:nvGrpSpPr>
        <p:grpSpPr>
          <a:xfrm>
            <a:off x="598932" y="2270125"/>
            <a:ext cx="10983468" cy="2972943"/>
            <a:chOff x="598932" y="2270125"/>
            <a:chExt cx="10983468" cy="2972943"/>
          </a:xfrm>
        </p:grpSpPr>
        <p:sp>
          <p:nvSpPr>
            <p:cNvPr id="7" name="Line 7"/>
            <p:cNvSpPr/>
            <p:nvPr/>
          </p:nvSpPr>
          <p:spPr>
            <a:xfrm>
              <a:off x="609600" y="26765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8" name="TextBox 8"/>
            <p:cNvSpPr txBox="1"/>
            <p:nvPr/>
          </p:nvSpPr>
          <p:spPr>
            <a:xfrm>
              <a:off x="598932" y="2270125"/>
              <a:ext cx="115214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实验配置</a:t>
              </a:r>
            </a:p>
          </p:txBody>
        </p:sp>
        <p:sp>
          <p:nvSpPr>
            <p:cNvPr id="9" name="TextBox 9"/>
            <p:cNvSpPr txBox="1"/>
            <p:nvPr/>
          </p:nvSpPr>
          <p:spPr>
            <a:xfrm>
              <a:off x="30849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改变的条件</a:t>
              </a:r>
            </a:p>
          </p:txBody>
        </p:sp>
        <p:sp>
          <p:nvSpPr>
            <p:cNvPr id="10" name="TextBox 10"/>
            <p:cNvSpPr txBox="1"/>
            <p:nvPr/>
          </p:nvSpPr>
          <p:spPr>
            <a:xfrm>
              <a:off x="7809357" y="2270125"/>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检验的问题</a:t>
              </a:r>
            </a:p>
          </p:txBody>
        </p:sp>
        <p:sp>
          <p:nvSpPr>
            <p:cNvPr id="11" name="TextBox 11"/>
            <p:cNvSpPr txBox="1"/>
            <p:nvPr/>
          </p:nvSpPr>
          <p:spPr>
            <a:xfrm>
              <a:off x="598932" y="286067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空间打乱对照</a:t>
              </a:r>
            </a:p>
          </p:txBody>
        </p:sp>
        <p:sp>
          <p:nvSpPr>
            <p:cNvPr id="12" name="TextBox 12"/>
            <p:cNvSpPr txBox="1"/>
            <p:nvPr/>
          </p:nvSpPr>
          <p:spPr>
            <a:xfrm>
              <a:off x="3084957" y="2860675"/>
              <a:ext cx="35540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联合打乱 P / z₀ 的空间排列</a:t>
              </a:r>
            </a:p>
          </p:txBody>
        </p:sp>
        <p:sp>
          <p:nvSpPr>
            <p:cNvPr id="13" name="TextBox 13"/>
            <p:cNvSpPr txBox="1"/>
            <p:nvPr/>
          </p:nvSpPr>
          <p:spPr>
            <a:xfrm>
              <a:off x="7809357" y="2860675"/>
              <a:ext cx="256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空间组织是否有帮助</a:t>
              </a:r>
            </a:p>
          </p:txBody>
        </p:sp>
        <p:sp>
          <p:nvSpPr>
            <p:cNvPr id="14" name="Line 14"/>
            <p:cNvSpPr/>
            <p:nvPr/>
          </p:nvSpPr>
          <p:spPr>
            <a:xfrm>
              <a:off x="609600" y="3333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8932" y="3517900"/>
              <a:ext cx="19885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BCE</a:t>
              </a:r>
            </a:p>
          </p:txBody>
        </p:sp>
        <p:sp>
          <p:nvSpPr>
            <p:cNvPr id="16" name="TextBox 16"/>
            <p:cNvSpPr txBox="1"/>
            <p:nvPr/>
          </p:nvSpPr>
          <p:spPr>
            <a:xfrm>
              <a:off x="3084957" y="35179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保留空间，使用像素分类损失</a:t>
              </a:r>
            </a:p>
          </p:txBody>
        </p:sp>
        <p:sp>
          <p:nvSpPr>
            <p:cNvPr id="17" name="TextBox 17"/>
            <p:cNvSpPr txBox="1"/>
            <p:nvPr/>
          </p:nvSpPr>
          <p:spPr>
            <a:xfrm>
              <a:off x="7809357" y="351790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能否自动改善轮廓</a:t>
              </a:r>
            </a:p>
          </p:txBody>
        </p:sp>
        <p:sp>
          <p:nvSpPr>
            <p:cNvPr id="18" name="Line 18"/>
            <p:cNvSpPr/>
            <p:nvPr/>
          </p:nvSpPr>
          <p:spPr>
            <a:xfrm>
              <a:off x="609600" y="39909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175125"/>
              <a:ext cx="190023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正常空间 + IoU</a:t>
              </a:r>
            </a:p>
          </p:txBody>
        </p:sp>
        <p:sp>
          <p:nvSpPr>
            <p:cNvPr id="20" name="TextBox 20"/>
            <p:cNvSpPr txBox="1"/>
            <p:nvPr/>
          </p:nvSpPr>
          <p:spPr>
            <a:xfrm>
              <a:off x="3084957" y="4175125"/>
              <a:ext cx="322101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仅把 GT 项换为 soft-IoU</a:t>
              </a:r>
            </a:p>
          </p:txBody>
        </p:sp>
        <p:sp>
          <p:nvSpPr>
            <p:cNvPr id="21" name="TextBox 21"/>
            <p:cNvSpPr txBox="1"/>
            <p:nvPr/>
          </p:nvSpPr>
          <p:spPr>
            <a:xfrm>
              <a:off x="7809357" y="4175125"/>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换损失是否更有效</a:t>
              </a:r>
            </a:p>
          </p:txBody>
        </p:sp>
        <p:sp>
          <p:nvSpPr>
            <p:cNvPr id="22" name="Line 22"/>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598932" y="4832350"/>
              <a:ext cx="171754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固定面积选择</a:t>
              </a:r>
            </a:p>
          </p:txBody>
        </p:sp>
        <p:sp>
          <p:nvSpPr>
            <p:cNvPr id="24" name="TextBox 24"/>
            <p:cNvSpPr txBox="1"/>
            <p:nvPr/>
          </p:nvSpPr>
          <p:spPr>
            <a:xfrm>
              <a:off x="3084957" y="4832350"/>
              <a:ext cx="38519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 checkpoint，仅大掩码应用</a:t>
              </a:r>
            </a:p>
          </p:txBody>
        </p:sp>
        <p:sp>
          <p:nvSpPr>
            <p:cNvPr id="25" name="TextBox 25"/>
            <p:cNvSpPr txBox="1"/>
            <p:nvPr/>
          </p:nvSpPr>
          <p:spPr>
            <a:xfrm>
              <a:off x="7809357" y="483235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能否减少修正损伤</a:t>
              </a:r>
            </a:p>
          </p:txBody>
        </p:sp>
      </p:grpSp>
      <p:grpSp>
        <p:nvGrpSpPr>
          <p:cNvPr id="29" name="training-details"/>
          <p:cNvGrpSpPr/>
          <p:nvPr/>
        </p:nvGrpSpPr>
        <p:grpSpPr>
          <a:xfrm>
            <a:off x="601218" y="5530850"/>
            <a:ext cx="8601818" cy="665607"/>
            <a:chOff x="601218" y="5530850"/>
            <a:chExt cx="8601818" cy="665607"/>
          </a:xfrm>
        </p:grpSpPr>
        <p:sp>
          <p:nvSpPr>
            <p:cNvPr id="27" name="TextBox 27"/>
            <p:cNvSpPr txBox="1"/>
            <p:nvPr/>
          </p:nvSpPr>
          <p:spPr>
            <a:xfrm>
              <a:off x="601218" y="5530850"/>
              <a:ext cx="853991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训练：AdamW，学习率 0.001，有效 batch=4，固定最后一轮；基线保持项权重 0.1。</a:t>
              </a:r>
            </a:p>
          </p:txBody>
        </p:sp>
        <p:sp>
          <p:nvSpPr>
            <p:cNvPr id="28" name="TextBox 28"/>
            <p:cNvSpPr txBox="1"/>
            <p:nvPr/>
          </p:nvSpPr>
          <p:spPr>
            <a:xfrm>
              <a:off x="601218" y="5873750"/>
              <a:ext cx="860181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面积选择使用修正前原图掩码面积 ≥ 96²，新增训练为 0；保留完整输出和原评价分母。</a:t>
              </a:r>
            </a:p>
          </p:txBody>
        </p:sp>
      </p:grpSp>
      <p:grpSp>
        <p:nvGrpSpPr>
          <p:cNvPr id="32" name="footer"/>
          <p:cNvGrpSpPr/>
          <p:nvPr/>
        </p:nvGrpSpPr>
        <p:grpSpPr>
          <a:xfrm>
            <a:off x="603504" y="6410325"/>
            <a:ext cx="10984992" cy="234696"/>
            <a:chOff x="603504" y="6410325"/>
            <a:chExt cx="10984992" cy="234696"/>
          </a:xfrm>
        </p:grpSpPr>
        <p:sp>
          <p:nvSpPr>
            <p:cNvPr id="30" name="TextBox 30"/>
            <p:cNvSpPr txBox="1"/>
            <p:nvPr/>
          </p:nvSpPr>
          <p:spPr>
            <a:xfrm>
              <a:off x="603504" y="6410325"/>
              <a:ext cx="64175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[E2/E3/E5] 开发目标 T=655；整体固定配对=2,925；面积策略由已观察开发结果选定。</a:t>
              </a:r>
            </a:p>
          </p:txBody>
        </p:sp>
        <p:sp>
          <p:nvSpPr>
            <p:cNvPr id="31" name="TextBox 3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22</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492240" cy="964565"/>
            <a:chOff x="594360" y="415925"/>
            <a:chExt cx="64922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4922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无条件自动修正尚未兼顾收益与保护</a:t>
              </a:r>
            </a:p>
          </p:txBody>
        </p:sp>
      </p:grpSp>
      <p:grpSp>
        <p:nvGrpSpPr>
          <p:cNvPr id="6" name="training-setup"/>
          <p:cNvGrpSpPr/>
          <p:nvPr/>
        </p:nvGrpSpPr>
        <p:grpSpPr>
          <a:xfrm>
            <a:off x="601218" y="1654175"/>
            <a:ext cx="9390355" cy="322707"/>
            <a:chOff x="601218" y="1654175"/>
            <a:chExt cx="9390355" cy="322707"/>
          </a:xfrm>
        </p:grpSpPr>
        <p:sp>
          <p:nvSpPr>
            <p:cNvPr id="5" name="TextBox 5"/>
            <p:cNvSpPr txBox="1"/>
            <p:nvPr/>
          </p:nvSpPr>
          <p:spPr>
            <a:xfrm>
              <a:off x="601218" y="1654175"/>
              <a:ext cx="93903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冻结基础模型，只训练轻量系数修正器；同 2,000 张训练图、3 轮，比较空间信息与损失函数。</a:t>
              </a:r>
            </a:p>
          </p:txBody>
        </p:sp>
      </p:grpSp>
      <p:grpSp>
        <p:nvGrpSpPr>
          <p:cNvPr id="34" name="pilot-effects"/>
          <p:cNvGrpSpPr/>
          <p:nvPr/>
        </p:nvGrpSpPr>
        <p:grpSpPr>
          <a:xfrm>
            <a:off x="598932" y="2120900"/>
            <a:ext cx="10500588" cy="2884932"/>
            <a:chOff x="598932" y="2120900"/>
            <a:chExt cx="10500588" cy="2884932"/>
          </a:xfrm>
        </p:grpSpPr>
        <p:grpSp>
          <p:nvGrpSpPr>
            <p:cNvPr id="16" name="pilot-effects-chartArea"/>
            <p:cNvGrpSpPr/>
            <p:nvPr/>
          </p:nvGrpSpPr>
          <p:grpSpPr>
            <a:xfrm>
              <a:off x="4000500" y="2257425"/>
              <a:ext cx="7048500" cy="2085975"/>
              <a:chOff x="4000500" y="2257425"/>
              <a:chExt cx="7048500" cy="2085975"/>
            </a:xfrm>
          </p:grpSpPr>
          <p:sp>
            <p:nvSpPr>
              <p:cNvPr id="7" name="Line 7"/>
              <p:cNvSpPr/>
              <p:nvPr/>
            </p:nvSpPr>
            <p:spPr>
              <a:xfrm>
                <a:off x="8699497" y="2257425"/>
                <a:ext cx="9525" cy="2076450"/>
              </a:xfrm>
              <a:custGeom>
                <a:avLst/>
                <a:gdLst/>
                <a:ahLst/>
                <a:cxnLst/>
                <a:rect l="l" t="t" r="r" b="b"/>
                <a:pathLst>
                  <a:path w="9525" h="2076450">
                    <a:moveTo>
                      <a:pt x="0" y="0"/>
                    </a:moveTo>
                    <a:lnTo>
                      <a:pt x="0" y="2076450"/>
                    </a:lnTo>
                  </a:path>
                </a:pathLst>
              </a:custGeom>
              <a:noFill/>
              <a:ln w="9525">
                <a:solidFill>
                  <a:srgbClr val="596B80"/>
                </a:solidFill>
                <a:custDash>
                  <a:ds d="500000" sp="500000"/>
                </a:custDash>
              </a:ln>
            </p:spPr>
          </p:sp>
          <p:sp>
            <p:nvSpPr>
              <p:cNvPr id="8" name="Line 8"/>
              <p:cNvSpPr/>
              <p:nvPr/>
            </p:nvSpPr>
            <p:spPr>
              <a:xfrm>
                <a:off x="4000500" y="4333875"/>
                <a:ext cx="7048500" cy="9525"/>
              </a:xfrm>
              <a:custGeom>
                <a:avLst/>
                <a:gdLst/>
                <a:ahLst/>
                <a:cxnLst/>
                <a:rect l="l" t="t" r="r" b="b"/>
                <a:pathLst>
                  <a:path w="7048500" h="9525">
                    <a:moveTo>
                      <a:pt x="0" y="0"/>
                    </a:moveTo>
                    <a:lnTo>
                      <a:pt x="7048500" y="0"/>
                    </a:lnTo>
                  </a:path>
                </a:pathLst>
              </a:custGeom>
              <a:noFill/>
              <a:ln w="9525">
                <a:solidFill>
                  <a:srgbClr val="596B80"/>
                </a:solidFill>
              </a:ln>
            </p:spPr>
          </p:sp>
          <p:grpSp>
            <p:nvGrpSpPr>
              <p:cNvPr id="12" name="Group 12"/>
              <p:cNvGrpSpPr/>
              <p:nvPr/>
            </p:nvGrpSpPr>
            <p:grpSpPr>
              <a:xfrm>
                <a:off x="5135937" y="2438400"/>
                <a:ext cx="5489296" cy="1676400"/>
                <a:chOff x="5135937" y="2438400"/>
                <a:chExt cx="5489296" cy="1676400"/>
              </a:xfrm>
            </p:grpSpPr>
            <p:sp>
              <p:nvSpPr>
                <p:cNvPr id="9" name="Freeform 9"/>
                <p:cNvSpPr/>
                <p:nvPr/>
              </p:nvSpPr>
              <p:spPr>
                <a:xfrm>
                  <a:off x="5135937" y="2438400"/>
                  <a:ext cx="2518181" cy="152400"/>
                </a:xfrm>
                <a:custGeom>
                  <a:avLst/>
                  <a:gdLst/>
                  <a:ahLst/>
                  <a:cxnLst/>
                  <a:rect l="l" t="t" r="r" b="b"/>
                  <a:pathLst>
                    <a:path w="2518181" h="152400">
                      <a:moveTo>
                        <a:pt x="0" y="76200"/>
                      </a:moveTo>
                      <a:lnTo>
                        <a:pt x="2518181" y="76200"/>
                      </a:lnTo>
                      <a:moveTo>
                        <a:pt x="0" y="0"/>
                      </a:moveTo>
                      <a:lnTo>
                        <a:pt x="0" y="152400"/>
                      </a:lnTo>
                      <a:moveTo>
                        <a:pt x="2518181" y="0"/>
                      </a:moveTo>
                      <a:lnTo>
                        <a:pt x="2518181" y="152400"/>
                      </a:lnTo>
                    </a:path>
                  </a:pathLst>
                </a:custGeom>
                <a:noFill/>
                <a:ln w="38100">
                  <a:solidFill>
                    <a:srgbClr val="596B80"/>
                  </a:solidFill>
                </a:ln>
              </p:spPr>
            </p:sp>
            <p:sp>
              <p:nvSpPr>
                <p:cNvPr id="10" name="Freeform 10"/>
                <p:cNvSpPr/>
                <p:nvPr/>
              </p:nvSpPr>
              <p:spPr>
                <a:xfrm>
                  <a:off x="6337144" y="3200400"/>
                  <a:ext cx="2375802" cy="152400"/>
                </a:xfrm>
                <a:custGeom>
                  <a:avLst/>
                  <a:gdLst/>
                  <a:ahLst/>
                  <a:cxnLst/>
                  <a:rect l="l" t="t" r="r" b="b"/>
                  <a:pathLst>
                    <a:path w="2375802" h="152400">
                      <a:moveTo>
                        <a:pt x="0" y="76200"/>
                      </a:moveTo>
                      <a:lnTo>
                        <a:pt x="2375802" y="76200"/>
                      </a:lnTo>
                      <a:moveTo>
                        <a:pt x="0" y="0"/>
                      </a:moveTo>
                      <a:lnTo>
                        <a:pt x="0" y="152400"/>
                      </a:lnTo>
                      <a:moveTo>
                        <a:pt x="2375802" y="0"/>
                      </a:moveTo>
                      <a:lnTo>
                        <a:pt x="2375802" y="152400"/>
                      </a:lnTo>
                    </a:path>
                  </a:pathLst>
                </a:custGeom>
                <a:noFill/>
                <a:ln w="38100">
                  <a:solidFill>
                    <a:srgbClr val="315E9D"/>
                  </a:solidFill>
                </a:ln>
              </p:spPr>
            </p:sp>
            <p:sp>
              <p:nvSpPr>
                <p:cNvPr id="11" name="Freeform 11"/>
                <p:cNvSpPr/>
                <p:nvPr/>
              </p:nvSpPr>
              <p:spPr>
                <a:xfrm>
                  <a:off x="8550707" y="3962400"/>
                  <a:ext cx="2074526" cy="152400"/>
                </a:xfrm>
                <a:custGeom>
                  <a:avLst/>
                  <a:gdLst/>
                  <a:ahLst/>
                  <a:cxnLst/>
                  <a:rect l="l" t="t" r="r" b="b"/>
                  <a:pathLst>
                    <a:path w="2074526" h="152400">
                      <a:moveTo>
                        <a:pt x="0" y="76200"/>
                      </a:moveTo>
                      <a:lnTo>
                        <a:pt x="2074526" y="76200"/>
                      </a:lnTo>
                      <a:moveTo>
                        <a:pt x="0" y="0"/>
                      </a:moveTo>
                      <a:lnTo>
                        <a:pt x="0" y="152400"/>
                      </a:lnTo>
                      <a:moveTo>
                        <a:pt x="2074526" y="0"/>
                      </a:moveTo>
                      <a:lnTo>
                        <a:pt x="2074526" y="152400"/>
                      </a:lnTo>
                    </a:path>
                  </a:pathLst>
                </a:custGeom>
                <a:noFill/>
                <a:ln w="38100">
                  <a:solidFill>
                    <a:schemeClr val="accent2"/>
                  </a:solidFill>
                </a:ln>
              </p:spPr>
            </p:sp>
          </p:grpSp>
          <p:sp>
            <p:nvSpPr>
              <p:cNvPr id="13" name="Ellipse 13"/>
              <p:cNvSpPr/>
              <p:nvPr/>
            </p:nvSpPr>
            <p:spPr>
              <a:xfrm>
                <a:off x="6365767" y="2447925"/>
                <a:ext cx="133350" cy="133350"/>
              </a:xfrm>
              <a:prstGeom prst="ellipse">
                <a:avLst/>
              </a:prstGeom>
              <a:solidFill>
                <a:srgbClr val="596B80"/>
              </a:solidFill>
              <a:ln>
                <a:noFill/>
              </a:ln>
            </p:spPr>
          </p:sp>
          <p:sp>
            <p:nvSpPr>
              <p:cNvPr id="14" name="Ellipse 14"/>
              <p:cNvSpPr/>
              <p:nvPr/>
            </p:nvSpPr>
            <p:spPr>
              <a:xfrm>
                <a:off x="7463209" y="3209925"/>
                <a:ext cx="133350" cy="133350"/>
              </a:xfrm>
              <a:prstGeom prst="ellipse">
                <a:avLst/>
              </a:prstGeom>
              <a:solidFill>
                <a:srgbClr val="315E9D"/>
              </a:solidFill>
              <a:ln>
                <a:noFill/>
              </a:ln>
            </p:spPr>
          </p:sp>
          <p:sp>
            <p:nvSpPr>
              <p:cNvPr id="15" name="Ellipse 15"/>
              <p:cNvSpPr/>
              <p:nvPr/>
            </p:nvSpPr>
            <p:spPr>
              <a:xfrm>
                <a:off x="9431531" y="3971925"/>
                <a:ext cx="133350" cy="133350"/>
              </a:xfrm>
              <a:prstGeom prst="ellipse">
                <a:avLst/>
              </a:prstGeom>
              <a:solidFill>
                <a:schemeClr val="accent2"/>
              </a:solidFill>
              <a:ln>
                <a:noFill/>
              </a:ln>
            </p:spPr>
          </p:sp>
        </p:grpSp>
        <p:grpSp>
          <p:nvGrpSpPr>
            <p:cNvPr id="20" name="Group 20"/>
            <p:cNvGrpSpPr/>
            <p:nvPr/>
          </p:nvGrpSpPr>
          <p:grpSpPr>
            <a:xfrm>
              <a:off x="598932" y="2346325"/>
              <a:ext cx="2909735" cy="1934718"/>
              <a:chOff x="598932" y="2346325"/>
              <a:chExt cx="2909735" cy="1934718"/>
            </a:xfrm>
          </p:grpSpPr>
          <p:sp>
            <p:nvSpPr>
              <p:cNvPr id="17" name="TextBox 17"/>
              <p:cNvSpPr txBox="1"/>
              <p:nvPr/>
            </p:nvSpPr>
            <p:spPr>
              <a:xfrm>
                <a:off x="598932" y="2346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空间打乱（BCE）</a:t>
                </a:r>
              </a:p>
            </p:txBody>
          </p:sp>
          <p:sp>
            <p:nvSpPr>
              <p:cNvPr id="18" name="TextBox 18"/>
              <p:cNvSpPr txBox="1"/>
              <p:nvPr/>
            </p:nvSpPr>
            <p:spPr>
              <a:xfrm>
                <a:off x="598932" y="3108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保留空间（BCE）</a:t>
                </a:r>
              </a:p>
            </p:txBody>
          </p:sp>
          <p:sp>
            <p:nvSpPr>
              <p:cNvPr id="19" name="TextBox 19"/>
              <p:cNvSpPr txBox="1"/>
              <p:nvPr/>
            </p:nvSpPr>
            <p:spPr>
              <a:xfrm>
                <a:off x="598932" y="3870325"/>
                <a:ext cx="29097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保留空间（soft-IoU）</a:t>
                </a:r>
              </a:p>
            </p:txBody>
          </p:sp>
        </p:grpSp>
        <p:grpSp>
          <p:nvGrpSpPr>
            <p:cNvPr id="24" name="Group 24"/>
            <p:cNvGrpSpPr/>
            <p:nvPr/>
          </p:nvGrpSpPr>
          <p:grpSpPr>
            <a:xfrm>
              <a:off x="6039232" y="2120900"/>
              <a:ext cx="3852184" cy="1846707"/>
              <a:chOff x="6039232" y="2120900"/>
              <a:chExt cx="3852184" cy="1846707"/>
            </a:xfrm>
          </p:grpSpPr>
          <p:sp>
            <p:nvSpPr>
              <p:cNvPr id="21" name="TextBox 21"/>
              <p:cNvSpPr txBox="1"/>
              <p:nvPr/>
            </p:nvSpPr>
            <p:spPr>
              <a:xfrm>
                <a:off x="6039232" y="2120900"/>
                <a:ext cx="786420" cy="322707"/>
              </a:xfrm>
              <a:prstGeom prst="rect">
                <a:avLst/>
              </a:prstGeom>
              <a:noFill/>
              <a:ln>
                <a:noFill/>
              </a:ln>
            </p:spPr>
            <p:txBody>
              <a:bodyPr wrap="none" lIns="0" tIns="0" rIns="0" bIns="0" anchor="t" anchorCtr="0">
                <a:spAutoFit/>
              </a:bodyPr>
              <a:lstStyle/>
              <a:p>
                <a:pPr algn="ctr"/>
                <a:r>
                  <a:rPr lang="zh-CN" sz="1650" b="1" dirty="0">
                    <a:solidFill>
                      <a:schemeClr val="accent5"/>
                    </a:solidFill>
                    <a:latin typeface="+mn-lt"/>
                    <a:ea typeface="+mn-ea"/>
                    <a:cs typeface="+mn-cs"/>
                  </a:rPr>
                  <a:t>−1.930</a:t>
                </a:r>
              </a:p>
            </p:txBody>
          </p:sp>
          <p:sp>
            <p:nvSpPr>
              <p:cNvPr id="22" name="TextBox 22"/>
              <p:cNvSpPr txBox="1"/>
              <p:nvPr/>
            </p:nvSpPr>
            <p:spPr>
              <a:xfrm>
                <a:off x="7136674" y="288290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−0.996</a:t>
                </a:r>
              </a:p>
            </p:txBody>
          </p:sp>
          <p:sp>
            <p:nvSpPr>
              <p:cNvPr id="23" name="TextBox 23"/>
              <p:cNvSpPr txBox="1"/>
              <p:nvPr/>
            </p:nvSpPr>
            <p:spPr>
              <a:xfrm>
                <a:off x="9104996" y="36449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+0.680</a:t>
                </a:r>
              </a:p>
            </p:txBody>
          </p:sp>
        </p:grpSp>
        <p:grpSp>
          <p:nvGrpSpPr>
            <p:cNvPr id="32" name="Group 32"/>
            <p:cNvGrpSpPr/>
            <p:nvPr/>
          </p:nvGrpSpPr>
          <p:grpSpPr>
            <a:xfrm>
              <a:off x="3905555" y="4419600"/>
              <a:ext cx="7193965" cy="234696"/>
              <a:chOff x="3905555" y="4419600"/>
              <a:chExt cx="7193965" cy="234696"/>
            </a:xfrm>
          </p:grpSpPr>
          <p:sp>
            <p:nvSpPr>
              <p:cNvPr id="25" name="TextBox 25"/>
              <p:cNvSpPr txBox="1"/>
              <p:nvPr/>
            </p:nvSpPr>
            <p:spPr>
              <a:xfrm>
                <a:off x="390555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6" name="TextBox 26"/>
              <p:cNvSpPr txBox="1"/>
              <p:nvPr/>
            </p:nvSpPr>
            <p:spPr>
              <a:xfrm>
                <a:off x="5080302"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−3</a:t>
                </a:r>
              </a:p>
            </p:txBody>
          </p:sp>
          <p:sp>
            <p:nvSpPr>
              <p:cNvPr id="27" name="TextBox 27"/>
              <p:cNvSpPr txBox="1"/>
              <p:nvPr/>
            </p:nvSpPr>
            <p:spPr>
              <a:xfrm>
                <a:off x="6255058"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sp>
            <p:nvSpPr>
              <p:cNvPr id="28" name="TextBox 28"/>
              <p:cNvSpPr txBox="1"/>
              <p:nvPr/>
            </p:nvSpPr>
            <p:spPr>
              <a:xfrm>
                <a:off x="742980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29" name="TextBox 29"/>
              <p:cNvSpPr txBox="1"/>
              <p:nvPr/>
            </p:nvSpPr>
            <p:spPr>
              <a:xfrm>
                <a:off x="8648976"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30" name="TextBox 30"/>
              <p:cNvSpPr txBox="1"/>
              <p:nvPr/>
            </p:nvSpPr>
            <p:spPr>
              <a:xfrm>
                <a:off x="9823733"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31" name="TextBox 31"/>
              <p:cNvSpPr txBox="1"/>
              <p:nvPr/>
            </p:nvSpPr>
            <p:spPr>
              <a:xfrm>
                <a:off x="10998479"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grpSp>
        <p:sp>
          <p:nvSpPr>
            <p:cNvPr id="33" name="TextBox 33"/>
            <p:cNvSpPr txBox="1"/>
            <p:nvPr/>
          </p:nvSpPr>
          <p:spPr>
            <a:xfrm>
              <a:off x="3992118" y="4683125"/>
              <a:ext cx="47327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目标组 ΔMaskIoU（百分点），横线为 95% 区间</a:t>
              </a:r>
            </a:p>
          </p:txBody>
        </p:sp>
      </p:grpSp>
      <p:grpSp>
        <p:nvGrpSpPr>
          <p:cNvPr id="37" name="acceptance-finding"/>
          <p:cNvGrpSpPr/>
          <p:nvPr/>
        </p:nvGrpSpPr>
        <p:grpSpPr>
          <a:xfrm>
            <a:off x="598932" y="5299075"/>
            <a:ext cx="7852181" cy="858393"/>
            <a:chOff x="598932" y="5299075"/>
            <a:chExt cx="7852181" cy="858393"/>
          </a:xfrm>
        </p:grpSpPr>
        <p:sp>
          <p:nvSpPr>
            <p:cNvPr id="35" name="TextBox 35"/>
            <p:cNvSpPr txBox="1"/>
            <p:nvPr/>
          </p:nvSpPr>
          <p:spPr>
            <a:xfrm>
              <a:off x="598932" y="5299075"/>
              <a:ext cx="775336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soft-IoU：目标均值 +0.680 pp，但总体仍下降 0.262 pp。</a:t>
              </a:r>
            </a:p>
          </p:txBody>
        </p:sp>
        <p:sp>
          <p:nvSpPr>
            <p:cNvPr id="36" name="TextBox 36"/>
            <p:cNvSpPr txBox="1"/>
            <p:nvPr/>
          </p:nvSpPr>
          <p:spPr>
            <a:xfrm>
              <a:off x="598932" y="5746750"/>
              <a:ext cx="7852181"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原成功实例损伤 53 / 1,024，损伤上界 6.43%（要求 ≤1%）。</a:t>
              </a:r>
            </a:p>
          </p:txBody>
        </p:sp>
      </p:grpSp>
      <p:grpSp>
        <p:nvGrpSpPr>
          <p:cNvPr id="40" name="footer"/>
          <p:cNvGrpSpPr/>
          <p:nvPr/>
        </p:nvGrpSpPr>
        <p:grpSpPr>
          <a:xfrm>
            <a:off x="603504" y="6410325"/>
            <a:ext cx="10984992" cy="234696"/>
            <a:chOff x="603504" y="6410325"/>
            <a:chExt cx="10984992" cy="234696"/>
          </a:xfrm>
        </p:grpSpPr>
        <p:sp>
          <p:nvSpPr>
            <p:cNvPr id="38" name="TextBox 38"/>
            <p:cNvSpPr txBox="1"/>
            <p:nvPr/>
          </p:nvSpPr>
          <p:spPr>
            <a:xfrm>
              <a:off x="603504" y="6410325"/>
              <a:ext cx="62893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 同 512 张开发图，目标 T=655；按图平均；三种配置均未通过全部验收门槛。</a:t>
              </a:r>
            </a:p>
          </p:txBody>
        </p:sp>
        <p:sp>
          <p:nvSpPr>
            <p:cNvPr id="39" name="TextBox 39"/>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22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模块一</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小掩码的修正损伤更集中</a:t>
              </a:r>
            </a:p>
          </p:txBody>
        </p:sp>
      </p:grpSp>
      <p:grpSp>
        <p:nvGrpSpPr>
          <p:cNvPr id="6" name="stratification-setup"/>
          <p:cNvGrpSpPr/>
          <p:nvPr/>
        </p:nvGrpSpPr>
        <p:grpSpPr>
          <a:xfrm>
            <a:off x="601218" y="1654175"/>
            <a:ext cx="6641987" cy="322707"/>
            <a:chOff x="601218" y="1654175"/>
            <a:chExt cx="6641987" cy="322707"/>
          </a:xfrm>
        </p:grpSpPr>
        <p:sp>
          <p:nvSpPr>
            <p:cNvPr id="5" name="TextBox 5"/>
            <p:cNvSpPr txBox="1"/>
            <p:nvPr/>
          </p:nvSpPr>
          <p:spPr>
            <a:xfrm>
              <a:off x="601218" y="1654175"/>
              <a:ext cx="664198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复用同一 soft-IoU 修正结果，按推理时可见的原生掩码面积分组。</a:t>
              </a:r>
            </a:p>
          </p:txBody>
        </p:sp>
      </p:grpSp>
      <p:grpSp>
        <p:nvGrpSpPr>
          <p:cNvPr id="32" name="area-damage"/>
          <p:cNvGrpSpPr/>
          <p:nvPr/>
        </p:nvGrpSpPr>
        <p:grpSpPr>
          <a:xfrm>
            <a:off x="598932" y="2082800"/>
            <a:ext cx="10991850" cy="3142996"/>
            <a:chOff x="598932" y="2082800"/>
            <a:chExt cx="10991850" cy="3142996"/>
          </a:xfrm>
        </p:grpSpPr>
        <p:grpSp>
          <p:nvGrpSpPr>
            <p:cNvPr id="11" name="area-damage-chartArea"/>
            <p:cNvGrpSpPr/>
            <p:nvPr/>
          </p:nvGrpSpPr>
          <p:grpSpPr>
            <a:xfrm>
              <a:off x="2381250" y="2362200"/>
              <a:ext cx="7143750" cy="2314575"/>
              <a:chOff x="2381250" y="2362200"/>
              <a:chExt cx="7143750" cy="2314575"/>
            </a:xfrm>
          </p:grpSpPr>
          <p:sp>
            <p:nvSpPr>
              <p:cNvPr id="7" name="Line 7"/>
              <p:cNvSpPr/>
              <p:nvPr/>
            </p:nvSpPr>
            <p:spPr>
              <a:xfrm>
                <a:off x="2381250" y="4667250"/>
                <a:ext cx="7143750" cy="9525"/>
              </a:xfrm>
              <a:custGeom>
                <a:avLst/>
                <a:gdLst/>
                <a:ahLst/>
                <a:cxnLst/>
                <a:rect l="l" t="t" r="r" b="b"/>
                <a:pathLst>
                  <a:path w="7143750" h="9525">
                    <a:moveTo>
                      <a:pt x="0" y="0"/>
                    </a:moveTo>
                    <a:lnTo>
                      <a:pt x="7143750" y="0"/>
                    </a:lnTo>
                  </a:path>
                </a:pathLst>
              </a:custGeom>
              <a:noFill/>
              <a:ln w="9525">
                <a:solidFill>
                  <a:srgbClr val="596B80"/>
                </a:solidFill>
              </a:ln>
            </p:spPr>
          </p:sp>
          <p:sp>
            <p:nvSpPr>
              <p:cNvPr id="8" name="Rectangle 8"/>
              <p:cNvSpPr/>
              <p:nvPr/>
            </p:nvSpPr>
            <p:spPr>
              <a:xfrm>
                <a:off x="2381250" y="2362200"/>
                <a:ext cx="6118489" cy="323850"/>
              </a:xfrm>
              <a:prstGeom prst="rect">
                <a:avLst/>
              </a:prstGeom>
              <a:solidFill>
                <a:schemeClr val="accent3"/>
              </a:solidFill>
              <a:ln>
                <a:noFill/>
              </a:ln>
            </p:spPr>
          </p:sp>
          <p:sp>
            <p:nvSpPr>
              <p:cNvPr id="9" name="Rectangle 9"/>
              <p:cNvSpPr/>
              <p:nvPr/>
            </p:nvSpPr>
            <p:spPr>
              <a:xfrm>
                <a:off x="2381250" y="3219450"/>
                <a:ext cx="1474241" cy="323850"/>
              </a:xfrm>
              <a:prstGeom prst="rect">
                <a:avLst/>
              </a:prstGeom>
              <a:solidFill>
                <a:srgbClr val="315E9D"/>
              </a:solidFill>
              <a:ln>
                <a:noFill/>
              </a:ln>
            </p:spPr>
          </p:sp>
          <p:sp>
            <p:nvSpPr>
              <p:cNvPr id="10" name="Rectangle 10"/>
              <p:cNvSpPr/>
              <p:nvPr/>
            </p:nvSpPr>
            <p:spPr>
              <a:xfrm>
                <a:off x="2381250" y="4076700"/>
                <a:ext cx="270596" cy="323850"/>
              </a:xfrm>
              <a:prstGeom prst="rect">
                <a:avLst/>
              </a:prstGeom>
              <a:solidFill>
                <a:schemeClr val="accent2"/>
              </a:solidFill>
              <a:ln>
                <a:noFill/>
              </a:ln>
            </p:spPr>
          </p:sp>
        </p:grpSp>
        <p:grpSp>
          <p:nvGrpSpPr>
            <p:cNvPr id="15" name="Group 15"/>
            <p:cNvGrpSpPr/>
            <p:nvPr/>
          </p:nvGrpSpPr>
          <p:grpSpPr>
            <a:xfrm>
              <a:off x="598932" y="2355850"/>
              <a:ext cx="869442" cy="2125218"/>
              <a:chOff x="598932" y="2355850"/>
              <a:chExt cx="869442" cy="2125218"/>
            </a:xfrm>
          </p:grpSpPr>
          <p:sp>
            <p:nvSpPr>
              <p:cNvPr id="12" name="TextBox 12"/>
              <p:cNvSpPr txBox="1"/>
              <p:nvPr/>
            </p:nvSpPr>
            <p:spPr>
              <a:xfrm>
                <a:off x="598932" y="23558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a:t>
                </a:r>
              </a:p>
            </p:txBody>
          </p:sp>
          <p:sp>
            <p:nvSpPr>
              <p:cNvPr id="13" name="TextBox 13"/>
              <p:cNvSpPr txBox="1"/>
              <p:nvPr/>
            </p:nvSpPr>
            <p:spPr>
              <a:xfrm>
                <a:off x="598932" y="32131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中掩码</a:t>
                </a:r>
              </a:p>
            </p:txBody>
          </p:sp>
          <p:sp>
            <p:nvSpPr>
              <p:cNvPr id="14" name="TextBox 14"/>
              <p:cNvSpPr txBox="1"/>
              <p:nvPr/>
            </p:nvSpPr>
            <p:spPr>
              <a:xfrm>
                <a:off x="598932" y="40703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a:t>
                </a:r>
              </a:p>
            </p:txBody>
          </p:sp>
        </p:grpSp>
        <p:grpSp>
          <p:nvGrpSpPr>
            <p:cNvPr id="19" name="Group 19"/>
            <p:cNvGrpSpPr/>
            <p:nvPr/>
          </p:nvGrpSpPr>
          <p:grpSpPr>
            <a:xfrm>
              <a:off x="2791968" y="2406650"/>
              <a:ext cx="6671891" cy="2037207"/>
              <a:chOff x="2791968" y="2406650"/>
              <a:chExt cx="6671891" cy="2037207"/>
            </a:xfrm>
          </p:grpSpPr>
          <p:sp>
            <p:nvSpPr>
              <p:cNvPr id="16" name="TextBox 16"/>
              <p:cNvSpPr txBox="1"/>
              <p:nvPr/>
            </p:nvSpPr>
            <p:spPr>
              <a:xfrm>
                <a:off x="8630793" y="2406650"/>
                <a:ext cx="833066"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13.70%</a:t>
                </a:r>
              </a:p>
            </p:txBody>
          </p:sp>
          <p:sp>
            <p:nvSpPr>
              <p:cNvPr id="17" name="TextBox 17"/>
              <p:cNvSpPr txBox="1"/>
              <p:nvPr/>
            </p:nvSpPr>
            <p:spPr>
              <a:xfrm>
                <a:off x="3992118" y="3263900"/>
                <a:ext cx="704790"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3.30%</a:t>
                </a:r>
              </a:p>
            </p:txBody>
          </p:sp>
          <p:sp>
            <p:nvSpPr>
              <p:cNvPr id="18" name="TextBox 18"/>
              <p:cNvSpPr txBox="1"/>
              <p:nvPr/>
            </p:nvSpPr>
            <p:spPr>
              <a:xfrm>
                <a:off x="2791968" y="4121150"/>
                <a:ext cx="704790"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0.61%</a:t>
                </a:r>
              </a:p>
            </p:txBody>
          </p:sp>
        </p:grpSp>
        <p:grpSp>
          <p:nvGrpSpPr>
            <p:cNvPr id="24" name="Group 24"/>
            <p:cNvGrpSpPr/>
            <p:nvPr/>
          </p:nvGrpSpPr>
          <p:grpSpPr>
            <a:xfrm>
              <a:off x="9763716" y="2082800"/>
              <a:ext cx="1827066" cy="2361057"/>
              <a:chOff x="9763716" y="2082800"/>
              <a:chExt cx="1827066" cy="2361057"/>
            </a:xfrm>
          </p:grpSpPr>
          <p:sp>
            <p:nvSpPr>
              <p:cNvPr id="20" name="TextBox 20"/>
              <p:cNvSpPr txBox="1"/>
              <p:nvPr/>
            </p:nvSpPr>
            <p:spPr>
              <a:xfrm>
                <a:off x="9763716" y="2082800"/>
                <a:ext cx="182706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损伤数 / 原成功数</a:t>
                </a:r>
              </a:p>
            </p:txBody>
          </p:sp>
          <p:sp>
            <p:nvSpPr>
              <p:cNvPr id="21" name="TextBox 21"/>
              <p:cNvSpPr txBox="1"/>
              <p:nvPr/>
            </p:nvSpPr>
            <p:spPr>
              <a:xfrm>
                <a:off x="10707738" y="240665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37 / 270</a:t>
                </a:r>
              </a:p>
            </p:txBody>
          </p:sp>
          <p:sp>
            <p:nvSpPr>
              <p:cNvPr id="22" name="TextBox 22"/>
              <p:cNvSpPr txBox="1"/>
              <p:nvPr/>
            </p:nvSpPr>
            <p:spPr>
              <a:xfrm>
                <a:off x="10707738" y="326390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14 / 424</a:t>
                </a:r>
              </a:p>
            </p:txBody>
          </p:sp>
          <p:sp>
            <p:nvSpPr>
              <p:cNvPr id="23" name="TextBox 23"/>
              <p:cNvSpPr txBox="1"/>
              <p:nvPr/>
            </p:nvSpPr>
            <p:spPr>
              <a:xfrm>
                <a:off x="10829906" y="4121150"/>
                <a:ext cx="76087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2 / 330</a:t>
                </a:r>
              </a:p>
            </p:txBody>
          </p:sp>
        </p:grpSp>
        <p:grpSp>
          <p:nvGrpSpPr>
            <p:cNvPr id="30" name="Group 30"/>
            <p:cNvGrpSpPr/>
            <p:nvPr/>
          </p:nvGrpSpPr>
          <p:grpSpPr>
            <a:xfrm>
              <a:off x="2330729" y="4752975"/>
              <a:ext cx="7349795" cy="234696"/>
              <a:chOff x="2330729" y="4752975"/>
              <a:chExt cx="7349795" cy="234696"/>
            </a:xfrm>
          </p:grpSpPr>
          <p:sp>
            <p:nvSpPr>
              <p:cNvPr id="25" name="TextBox 25"/>
              <p:cNvSpPr txBox="1"/>
              <p:nvPr/>
            </p:nvSpPr>
            <p:spPr>
              <a:xfrm>
                <a:off x="2330729"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4116667"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7" name="TextBox 27"/>
              <p:cNvSpPr txBox="1"/>
              <p:nvPr/>
            </p:nvSpPr>
            <p:spPr>
              <a:xfrm>
                <a:off x="5902604"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a:t>
                </a:r>
              </a:p>
            </p:txBody>
          </p:sp>
          <p:sp>
            <p:nvSpPr>
              <p:cNvPr id="28" name="TextBox 28"/>
              <p:cNvSpPr txBox="1"/>
              <p:nvPr/>
            </p:nvSpPr>
            <p:spPr>
              <a:xfrm>
                <a:off x="7644117" y="475297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12</a:t>
                </a:r>
              </a:p>
            </p:txBody>
          </p:sp>
          <p:sp>
            <p:nvSpPr>
              <p:cNvPr id="29" name="TextBox 29"/>
              <p:cNvSpPr txBox="1"/>
              <p:nvPr/>
            </p:nvSpPr>
            <p:spPr>
              <a:xfrm>
                <a:off x="9369476" y="4752975"/>
                <a:ext cx="31104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16%</a:t>
                </a:r>
              </a:p>
            </p:txBody>
          </p:sp>
        </p:grpSp>
        <p:sp>
          <p:nvSpPr>
            <p:cNvPr id="31" name="TextBox 31"/>
            <p:cNvSpPr txBox="1"/>
            <p:nvPr/>
          </p:nvSpPr>
          <p:spPr>
            <a:xfrm>
              <a:off x="2375154" y="4991100"/>
              <a:ext cx="30815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原成功实例修正后失去分割任务匹配的比例</a:t>
              </a:r>
            </a:p>
          </p:txBody>
        </p:sp>
      </p:grpSp>
      <p:grpSp>
        <p:nvGrpSpPr>
          <p:cNvPr id="35" name="stratum-finding"/>
          <p:cNvGrpSpPr/>
          <p:nvPr/>
        </p:nvGrpSpPr>
        <p:grpSpPr>
          <a:xfrm>
            <a:off x="597408" y="5394325"/>
            <a:ext cx="8045044" cy="802132"/>
            <a:chOff x="597408" y="5394325"/>
            <a:chExt cx="8045044" cy="802132"/>
          </a:xfrm>
        </p:grpSpPr>
        <p:sp>
          <p:nvSpPr>
            <p:cNvPr id="33" name="TextBox 33"/>
            <p:cNvSpPr txBox="1"/>
            <p:nvPr/>
          </p:nvSpPr>
          <p:spPr>
            <a:xfrm>
              <a:off x="597408" y="5394325"/>
              <a:ext cx="80450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小掩码占成功面板的 26.4%，却占损伤案例的 69.8%。</a:t>
              </a:r>
            </a:p>
          </p:txBody>
        </p:sp>
        <p:sp>
          <p:nvSpPr>
            <p:cNvPr id="34" name="TextBox 34"/>
            <p:cNvSpPr txBox="1"/>
            <p:nvPr/>
          </p:nvSpPr>
          <p:spPr>
            <a:xfrm>
              <a:off x="601218" y="5873750"/>
              <a:ext cx="636948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大掩码组点估计较低，仍不能据此宣布其损伤上界已经低于 1%。</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8199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原成功面板 n=1,024；面积按原图像素：小&lt;32²，中[32²,96²)，大≥96²；描述性比例。</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22</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876800" cy="964565"/>
            <a:chOff x="594360" y="415925"/>
            <a:chExt cx="4876800" cy="964565"/>
          </a:xfrm>
        </p:grpSpPr>
        <p:sp>
          <p:nvSpPr>
            <p:cNvPr id="2" name="TextBox 2"/>
            <p:cNvSpPr txBox="1"/>
            <p:nvPr/>
          </p:nvSpPr>
          <p:spPr>
            <a:xfrm>
              <a:off x="601218" y="415925"/>
              <a:ext cx="3948341"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 · 已完成开发筛查</a:t>
              </a:r>
            </a:p>
          </p:txBody>
        </p:sp>
        <p:sp>
          <p:nvSpPr>
            <p:cNvPr id="3" name="TextBox 3"/>
            <p:cNvSpPr txBox="1"/>
            <p:nvPr/>
          </p:nvSpPr>
          <p:spPr>
            <a:xfrm>
              <a:off x="594360" y="793750"/>
              <a:ext cx="48768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固定面积选择通过开发筛查</a:t>
              </a:r>
            </a:p>
          </p:txBody>
        </p:sp>
      </p:grpSp>
      <p:grpSp>
        <p:nvGrpSpPr>
          <p:cNvPr id="6" name="selection-rule"/>
          <p:cNvGrpSpPr/>
          <p:nvPr/>
        </p:nvGrpSpPr>
        <p:grpSpPr>
          <a:xfrm>
            <a:off x="601218" y="1654175"/>
            <a:ext cx="8257527" cy="322707"/>
            <a:chOff x="601218" y="1654175"/>
            <a:chExt cx="8257527" cy="322707"/>
          </a:xfrm>
        </p:grpSpPr>
        <p:sp>
          <p:nvSpPr>
            <p:cNvPr id="5" name="TextBox 5"/>
            <p:cNvSpPr txBox="1"/>
            <p:nvPr/>
          </p:nvSpPr>
          <p:spPr>
            <a:xfrm>
              <a:off x="601218" y="1654175"/>
              <a:ext cx="82575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同一修正器，仅在原生掩码面积 ≥ 96² 时应用修正；其余保留原结果，不增加训练。</a:t>
              </a:r>
            </a:p>
          </p:txBody>
        </p:sp>
      </p:grpSp>
      <p:grpSp>
        <p:nvGrpSpPr>
          <p:cNvPr id="47" name="selective-effects"/>
          <p:cNvGrpSpPr/>
          <p:nvPr/>
        </p:nvGrpSpPr>
        <p:grpSpPr>
          <a:xfrm>
            <a:off x="601218" y="2035175"/>
            <a:ext cx="6586652" cy="3390646"/>
            <a:chOff x="601218" y="2035175"/>
            <a:chExt cx="6586652" cy="3390646"/>
          </a:xfrm>
        </p:grpSpPr>
        <p:sp>
          <p:nvSpPr>
            <p:cNvPr id="7" name="TextBox 7"/>
            <p:cNvSpPr txBox="1"/>
            <p:nvPr/>
          </p:nvSpPr>
          <p:spPr>
            <a:xfrm>
              <a:off x="601218" y="2035175"/>
              <a:ext cx="2460117"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轮廓质量变化（百分点）</a:t>
              </a:r>
            </a:p>
          </p:txBody>
        </p:sp>
        <p:grpSp>
          <p:nvGrpSpPr>
            <p:cNvPr id="28" name="selective-effects-chartArea"/>
            <p:cNvGrpSpPr/>
            <p:nvPr/>
          </p:nvGrpSpPr>
          <p:grpSpPr>
            <a:xfrm>
              <a:off x="2952750" y="2343150"/>
              <a:ext cx="4095750" cy="2524125"/>
              <a:chOff x="2952750" y="2343150"/>
              <a:chExt cx="4095750" cy="2524125"/>
            </a:xfrm>
          </p:grpSpPr>
          <p:sp>
            <p:nvSpPr>
              <p:cNvPr id="8" name="Line 8"/>
              <p:cNvSpPr/>
              <p:nvPr/>
            </p:nvSpPr>
            <p:spPr>
              <a:xfrm>
                <a:off x="2952750" y="4857750"/>
                <a:ext cx="4095750" cy="9525"/>
              </a:xfrm>
              <a:custGeom>
                <a:avLst/>
                <a:gdLst/>
                <a:ahLst/>
                <a:cxnLst/>
                <a:rect l="l" t="t" r="r" b="b"/>
                <a:pathLst>
                  <a:path w="4095750" h="9525">
                    <a:moveTo>
                      <a:pt x="0" y="0"/>
                    </a:moveTo>
                    <a:lnTo>
                      <a:pt x="4095750" y="0"/>
                    </a:lnTo>
                  </a:path>
                </a:pathLst>
              </a:custGeom>
              <a:noFill/>
              <a:ln w="9525">
                <a:solidFill>
                  <a:srgbClr val="596B80"/>
                </a:solidFill>
              </a:ln>
            </p:spPr>
          </p:sp>
          <p:sp>
            <p:nvSpPr>
              <p:cNvPr id="9" name="Line 9"/>
              <p:cNvSpPr/>
              <p:nvPr/>
            </p:nvSpPr>
            <p:spPr>
              <a:xfrm>
                <a:off x="3771900" y="2343150"/>
                <a:ext cx="9525" cy="2514600"/>
              </a:xfrm>
              <a:custGeom>
                <a:avLst/>
                <a:gdLst/>
                <a:ahLst/>
                <a:cxnLst/>
                <a:rect l="l" t="t" r="r" b="b"/>
                <a:pathLst>
                  <a:path w="9525" h="2514600">
                    <a:moveTo>
                      <a:pt x="0" y="0"/>
                    </a:moveTo>
                    <a:lnTo>
                      <a:pt x="0" y="2514600"/>
                    </a:lnTo>
                  </a:path>
                </a:pathLst>
              </a:custGeom>
              <a:noFill/>
              <a:ln w="9525">
                <a:solidFill>
                  <a:srgbClr val="596B80"/>
                </a:solidFill>
                <a:custDash>
                  <a:ds d="500000" sp="500000"/>
                </a:custDash>
              </a:ln>
            </p:spPr>
          </p:sp>
          <p:grpSp>
            <p:nvGrpSpPr>
              <p:cNvPr id="16" name="Group 16"/>
              <p:cNvGrpSpPr/>
              <p:nvPr/>
            </p:nvGrpSpPr>
            <p:grpSpPr>
              <a:xfrm>
                <a:off x="3111265" y="2562225"/>
                <a:ext cx="3355772" cy="1504950"/>
                <a:chOff x="3111265" y="2562225"/>
                <a:chExt cx="3355772" cy="1504950"/>
              </a:xfrm>
            </p:grpSpPr>
            <p:sp>
              <p:nvSpPr>
                <p:cNvPr id="10" name="Line 10"/>
                <p:cNvSpPr/>
                <p:nvPr/>
              </p:nvSpPr>
              <p:spPr>
                <a:xfrm>
                  <a:off x="3564398" y="2619375"/>
                  <a:ext cx="2893114" cy="9525"/>
                </a:xfrm>
                <a:custGeom>
                  <a:avLst/>
                  <a:gdLst/>
                  <a:ahLst/>
                  <a:cxnLst/>
                  <a:rect l="l" t="t" r="r" b="b"/>
                  <a:pathLst>
                    <a:path w="2893114" h="9525">
                      <a:moveTo>
                        <a:pt x="0" y="0"/>
                      </a:moveTo>
                      <a:lnTo>
                        <a:pt x="2893114" y="0"/>
                      </a:lnTo>
                    </a:path>
                  </a:pathLst>
                </a:custGeom>
                <a:noFill/>
                <a:ln w="28575">
                  <a:solidFill>
                    <a:schemeClr val="accent3"/>
                  </a:solidFill>
                </a:ln>
              </p:spPr>
            </p:sp>
            <p:sp>
              <p:nvSpPr>
                <p:cNvPr id="11" name="Line 11"/>
                <p:cNvSpPr/>
                <p:nvPr/>
              </p:nvSpPr>
              <p:spPr>
                <a:xfrm>
                  <a:off x="3564398"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2" name="Line 12"/>
                <p:cNvSpPr/>
                <p:nvPr/>
              </p:nvSpPr>
              <p:spPr>
                <a:xfrm>
                  <a:off x="6457512" y="256222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3" name="Line 13"/>
                <p:cNvSpPr/>
                <p:nvPr/>
              </p:nvSpPr>
              <p:spPr>
                <a:xfrm>
                  <a:off x="3111265" y="4010025"/>
                  <a:ext cx="474183" cy="9525"/>
                </a:xfrm>
                <a:custGeom>
                  <a:avLst/>
                  <a:gdLst/>
                  <a:ahLst/>
                  <a:cxnLst/>
                  <a:rect l="l" t="t" r="r" b="b"/>
                  <a:pathLst>
                    <a:path w="474183" h="9525">
                      <a:moveTo>
                        <a:pt x="0" y="0"/>
                      </a:moveTo>
                      <a:lnTo>
                        <a:pt x="474183" y="0"/>
                      </a:lnTo>
                    </a:path>
                  </a:pathLst>
                </a:custGeom>
                <a:noFill/>
                <a:ln w="28575">
                  <a:solidFill>
                    <a:schemeClr val="accent3"/>
                  </a:solidFill>
                </a:ln>
              </p:spPr>
            </p:sp>
            <p:sp>
              <p:nvSpPr>
                <p:cNvPr id="14" name="Line 14"/>
                <p:cNvSpPr/>
                <p:nvPr/>
              </p:nvSpPr>
              <p:spPr>
                <a:xfrm>
                  <a:off x="3111265" y="3952875"/>
                  <a:ext cx="9525" cy="114300"/>
                </a:xfrm>
                <a:custGeom>
                  <a:avLst/>
                  <a:gdLst/>
                  <a:ahLst/>
                  <a:cxnLst/>
                  <a:rect l="l" t="t" r="r" b="b"/>
                  <a:pathLst>
                    <a:path w="9525" h="114300">
                      <a:moveTo>
                        <a:pt x="0" y="0"/>
                      </a:moveTo>
                      <a:lnTo>
                        <a:pt x="0" y="114300"/>
                      </a:lnTo>
                    </a:path>
                  </a:pathLst>
                </a:custGeom>
                <a:noFill/>
                <a:ln w="28575">
                  <a:solidFill>
                    <a:schemeClr val="accent3"/>
                  </a:solidFill>
                </a:ln>
              </p:spPr>
            </p:sp>
            <p:sp>
              <p:nvSpPr>
                <p:cNvPr id="15" name="Line 15"/>
                <p:cNvSpPr/>
                <p:nvPr/>
              </p:nvSpPr>
              <p:spPr>
                <a:xfrm>
                  <a:off x="3585448" y="3952875"/>
                  <a:ext cx="9525" cy="114300"/>
                </a:xfrm>
                <a:custGeom>
                  <a:avLst/>
                  <a:gdLst/>
                  <a:ahLst/>
                  <a:cxnLst/>
                  <a:rect l="l" t="t" r="r" b="b"/>
                  <a:pathLst>
                    <a:path w="9525" h="114300">
                      <a:moveTo>
                        <a:pt x="0" y="0"/>
                      </a:moveTo>
                      <a:lnTo>
                        <a:pt x="0" y="114300"/>
                      </a:lnTo>
                    </a:path>
                  </a:pathLst>
                </a:custGeom>
                <a:noFill/>
                <a:ln w="28575">
                  <a:solidFill>
                    <a:schemeClr val="accent3"/>
                  </a:solidFill>
                </a:ln>
              </p:spPr>
            </p:sp>
          </p:grpSp>
          <p:grpSp>
            <p:nvGrpSpPr>
              <p:cNvPr id="23" name="Group 23"/>
              <p:cNvGrpSpPr/>
              <p:nvPr/>
            </p:nvGrpSpPr>
            <p:grpSpPr>
              <a:xfrm>
                <a:off x="3737696" y="3133725"/>
                <a:ext cx="3066554" cy="1504950"/>
                <a:chOff x="3737696" y="3133725"/>
                <a:chExt cx="3066554" cy="1504950"/>
              </a:xfrm>
            </p:grpSpPr>
            <p:sp>
              <p:nvSpPr>
                <p:cNvPr id="17" name="Line 17"/>
                <p:cNvSpPr/>
                <p:nvPr/>
              </p:nvSpPr>
              <p:spPr>
                <a:xfrm>
                  <a:off x="4234301" y="3190875"/>
                  <a:ext cx="2560425" cy="9525"/>
                </a:xfrm>
                <a:custGeom>
                  <a:avLst/>
                  <a:gdLst/>
                  <a:ahLst/>
                  <a:cxnLst/>
                  <a:rect l="l" t="t" r="r" b="b"/>
                  <a:pathLst>
                    <a:path w="2560425" h="9525">
                      <a:moveTo>
                        <a:pt x="0" y="0"/>
                      </a:moveTo>
                      <a:lnTo>
                        <a:pt x="2560425" y="0"/>
                      </a:lnTo>
                    </a:path>
                  </a:pathLst>
                </a:custGeom>
                <a:noFill/>
                <a:ln w="28575">
                  <a:solidFill>
                    <a:schemeClr val="accent2"/>
                  </a:solidFill>
                </a:ln>
              </p:spPr>
            </p:sp>
            <p:sp>
              <p:nvSpPr>
                <p:cNvPr id="18" name="Line 18"/>
                <p:cNvSpPr/>
                <p:nvPr/>
              </p:nvSpPr>
              <p:spPr>
                <a:xfrm>
                  <a:off x="4234301"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19" name="Line 19"/>
                <p:cNvSpPr/>
                <p:nvPr/>
              </p:nvSpPr>
              <p:spPr>
                <a:xfrm>
                  <a:off x="6794725" y="313372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0" name="Line 20"/>
                <p:cNvSpPr/>
                <p:nvPr/>
              </p:nvSpPr>
              <p:spPr>
                <a:xfrm>
                  <a:off x="3737696" y="4581525"/>
                  <a:ext cx="369560" cy="9525"/>
                </a:xfrm>
                <a:custGeom>
                  <a:avLst/>
                  <a:gdLst/>
                  <a:ahLst/>
                  <a:cxnLst/>
                  <a:rect l="l" t="t" r="r" b="b"/>
                  <a:pathLst>
                    <a:path w="369560" h="9525">
                      <a:moveTo>
                        <a:pt x="0" y="0"/>
                      </a:moveTo>
                      <a:lnTo>
                        <a:pt x="369560" y="0"/>
                      </a:lnTo>
                    </a:path>
                  </a:pathLst>
                </a:custGeom>
                <a:noFill/>
                <a:ln w="28575">
                  <a:solidFill>
                    <a:schemeClr val="accent2"/>
                  </a:solidFill>
                </a:ln>
              </p:spPr>
            </p:sp>
            <p:sp>
              <p:nvSpPr>
                <p:cNvPr id="21" name="Line 21"/>
                <p:cNvSpPr/>
                <p:nvPr/>
              </p:nvSpPr>
              <p:spPr>
                <a:xfrm>
                  <a:off x="373769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sp>
              <p:nvSpPr>
                <p:cNvPr id="22" name="Line 22"/>
                <p:cNvSpPr/>
                <p:nvPr/>
              </p:nvSpPr>
              <p:spPr>
                <a:xfrm>
                  <a:off x="4107256" y="4524375"/>
                  <a:ext cx="9525" cy="114300"/>
                </a:xfrm>
                <a:custGeom>
                  <a:avLst/>
                  <a:gdLst/>
                  <a:ahLst/>
                  <a:cxnLst/>
                  <a:rect l="l" t="t" r="r" b="b"/>
                  <a:pathLst>
                    <a:path w="9525" h="114300">
                      <a:moveTo>
                        <a:pt x="0" y="0"/>
                      </a:moveTo>
                      <a:lnTo>
                        <a:pt x="0" y="114300"/>
                      </a:lnTo>
                    </a:path>
                  </a:pathLst>
                </a:custGeom>
                <a:noFill/>
                <a:ln w="28575">
                  <a:solidFill>
                    <a:schemeClr val="accent2"/>
                  </a:solidFill>
                </a:ln>
              </p:spPr>
            </p:sp>
          </p:grpSp>
          <p:sp>
            <p:nvSpPr>
              <p:cNvPr id="24" name="Ellipse 24"/>
              <p:cNvSpPr/>
              <p:nvPr/>
            </p:nvSpPr>
            <p:spPr>
              <a:xfrm>
                <a:off x="4828623" y="2562225"/>
                <a:ext cx="114300" cy="114300"/>
              </a:xfrm>
              <a:prstGeom prst="ellipse">
                <a:avLst/>
              </a:prstGeom>
              <a:solidFill>
                <a:schemeClr val="accent3"/>
              </a:solidFill>
              <a:ln>
                <a:noFill/>
              </a:ln>
            </p:spPr>
          </p:sp>
          <p:sp>
            <p:nvSpPr>
              <p:cNvPr id="25" name="Ellipse 25"/>
              <p:cNvSpPr/>
              <p:nvPr/>
            </p:nvSpPr>
            <p:spPr>
              <a:xfrm>
                <a:off x="5357060" y="3133725"/>
                <a:ext cx="114300" cy="114300"/>
              </a:xfrm>
              <a:prstGeom prst="ellipse">
                <a:avLst/>
              </a:prstGeom>
              <a:solidFill>
                <a:schemeClr val="accent2"/>
              </a:solidFill>
              <a:ln>
                <a:noFill/>
              </a:ln>
            </p:spPr>
          </p:sp>
          <p:sp>
            <p:nvSpPr>
              <p:cNvPr id="26" name="Ellipse 26"/>
              <p:cNvSpPr/>
              <p:nvPr/>
            </p:nvSpPr>
            <p:spPr>
              <a:xfrm>
                <a:off x="3285782" y="3952875"/>
                <a:ext cx="114300" cy="114300"/>
              </a:xfrm>
              <a:prstGeom prst="ellipse">
                <a:avLst/>
              </a:prstGeom>
              <a:solidFill>
                <a:schemeClr val="accent3"/>
              </a:solidFill>
              <a:ln>
                <a:noFill/>
              </a:ln>
            </p:spPr>
          </p:sp>
          <p:sp>
            <p:nvSpPr>
              <p:cNvPr id="27" name="Ellipse 27"/>
              <p:cNvSpPr/>
              <p:nvPr/>
            </p:nvSpPr>
            <p:spPr>
              <a:xfrm>
                <a:off x="3860721" y="4524375"/>
                <a:ext cx="114300" cy="114300"/>
              </a:xfrm>
              <a:prstGeom prst="ellipse">
                <a:avLst/>
              </a:prstGeom>
              <a:solidFill>
                <a:schemeClr val="accent2"/>
              </a:solidFill>
              <a:ln>
                <a:noFill/>
              </a:ln>
            </p:spPr>
          </p:sp>
        </p:grpSp>
        <p:grpSp>
          <p:nvGrpSpPr>
            <p:cNvPr id="33" name="Group 33"/>
            <p:cNvGrpSpPr/>
            <p:nvPr/>
          </p:nvGrpSpPr>
          <p:grpSpPr>
            <a:xfrm>
              <a:off x="601218" y="2492375"/>
              <a:ext cx="1827066" cy="2284857"/>
              <a:chOff x="601218" y="2492375"/>
              <a:chExt cx="1827066" cy="2284857"/>
            </a:xfrm>
          </p:grpSpPr>
          <p:sp>
            <p:nvSpPr>
              <p:cNvPr id="29" name="TextBox 29"/>
              <p:cNvSpPr txBox="1"/>
              <p:nvPr/>
            </p:nvSpPr>
            <p:spPr>
              <a:xfrm>
                <a:off x="601218" y="249237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无条件修正</a:t>
                </a:r>
              </a:p>
            </p:txBody>
          </p:sp>
          <p:sp>
            <p:nvSpPr>
              <p:cNvPr id="30" name="TextBox 30"/>
              <p:cNvSpPr txBox="1"/>
              <p:nvPr/>
            </p:nvSpPr>
            <p:spPr>
              <a:xfrm>
                <a:off x="601218" y="306387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目标 · 面积选择</a:t>
                </a:r>
              </a:p>
            </p:txBody>
          </p:sp>
          <p:sp>
            <p:nvSpPr>
              <p:cNvPr id="31" name="TextBox 31"/>
              <p:cNvSpPr txBox="1"/>
              <p:nvPr/>
            </p:nvSpPr>
            <p:spPr>
              <a:xfrm>
                <a:off x="601218" y="3883025"/>
                <a:ext cx="18270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无条件修正</a:t>
                </a:r>
              </a:p>
            </p:txBody>
          </p:sp>
          <p:sp>
            <p:nvSpPr>
              <p:cNvPr id="32" name="TextBox 32"/>
              <p:cNvSpPr txBox="1"/>
              <p:nvPr/>
            </p:nvSpPr>
            <p:spPr>
              <a:xfrm>
                <a:off x="601218" y="4454525"/>
                <a:ext cx="160494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整体 · 面积选择</a:t>
                </a:r>
              </a:p>
            </p:txBody>
          </p:sp>
        </p:grpSp>
        <p:grpSp>
          <p:nvGrpSpPr>
            <p:cNvPr id="38" name="Group 38"/>
            <p:cNvGrpSpPr/>
            <p:nvPr/>
          </p:nvGrpSpPr>
          <p:grpSpPr>
            <a:xfrm>
              <a:off x="2949722" y="2263775"/>
              <a:ext cx="2857698" cy="2275332"/>
              <a:chOff x="2949722" y="2263775"/>
              <a:chExt cx="2857698" cy="2275332"/>
            </a:xfrm>
          </p:grpSpPr>
          <p:sp>
            <p:nvSpPr>
              <p:cNvPr id="34" name="TextBox 34"/>
              <p:cNvSpPr txBox="1"/>
              <p:nvPr/>
            </p:nvSpPr>
            <p:spPr>
              <a:xfrm>
                <a:off x="4492562" y="226377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+0.680</a:t>
                </a:r>
              </a:p>
            </p:txBody>
          </p:sp>
          <p:sp>
            <p:nvSpPr>
              <p:cNvPr id="35" name="TextBox 35"/>
              <p:cNvSpPr txBox="1"/>
              <p:nvPr/>
            </p:nvSpPr>
            <p:spPr>
              <a:xfrm>
                <a:off x="5021000" y="2835275"/>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+1.002</a:t>
                </a:r>
              </a:p>
            </p:txBody>
          </p:sp>
          <p:sp>
            <p:nvSpPr>
              <p:cNvPr id="36" name="TextBox 36"/>
              <p:cNvSpPr txBox="1"/>
              <p:nvPr/>
            </p:nvSpPr>
            <p:spPr>
              <a:xfrm>
                <a:off x="2949722" y="3654425"/>
                <a:ext cx="78642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−0.262</a:t>
                </a:r>
              </a:p>
            </p:txBody>
          </p:sp>
          <p:sp>
            <p:nvSpPr>
              <p:cNvPr id="37" name="TextBox 37"/>
              <p:cNvSpPr txBox="1"/>
              <p:nvPr/>
            </p:nvSpPr>
            <p:spPr>
              <a:xfrm>
                <a:off x="3912090" y="42164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+0.089</a:t>
                </a:r>
              </a:p>
            </p:txBody>
          </p:sp>
        </p:grpSp>
        <p:grpSp>
          <p:nvGrpSpPr>
            <p:cNvPr id="45" name="Group 45"/>
            <p:cNvGrpSpPr/>
            <p:nvPr/>
          </p:nvGrpSpPr>
          <p:grpSpPr>
            <a:xfrm>
              <a:off x="2768956" y="4943475"/>
              <a:ext cx="4418914" cy="234696"/>
              <a:chOff x="2768956" y="4943475"/>
              <a:chExt cx="4418914" cy="234696"/>
            </a:xfrm>
          </p:grpSpPr>
          <p:sp>
            <p:nvSpPr>
              <p:cNvPr id="39" name="TextBox 39"/>
              <p:cNvSpPr txBox="1"/>
              <p:nvPr/>
            </p:nvSpPr>
            <p:spPr>
              <a:xfrm>
                <a:off x="2768956" y="4943475"/>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0" name="TextBox 40"/>
              <p:cNvSpPr txBox="1"/>
              <p:nvPr/>
            </p:nvSpPr>
            <p:spPr>
              <a:xfrm>
                <a:off x="3721379" y="49434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41" name="TextBox 41"/>
              <p:cNvSpPr txBox="1"/>
              <p:nvPr/>
            </p:nvSpPr>
            <p:spPr>
              <a:xfrm>
                <a:off x="44516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0.5</a:t>
                </a:r>
              </a:p>
            </p:txBody>
          </p:sp>
          <p:sp>
            <p:nvSpPr>
              <p:cNvPr id="42" name="TextBox 42"/>
              <p:cNvSpPr txBox="1"/>
              <p:nvPr/>
            </p:nvSpPr>
            <p:spPr>
              <a:xfrm>
                <a:off x="52708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a:t>
                </a:r>
              </a:p>
            </p:txBody>
          </p:sp>
          <p:sp>
            <p:nvSpPr>
              <p:cNvPr id="43" name="TextBox 43"/>
              <p:cNvSpPr txBox="1"/>
              <p:nvPr/>
            </p:nvSpPr>
            <p:spPr>
              <a:xfrm>
                <a:off x="608998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1.5</a:t>
                </a:r>
              </a:p>
            </p:txBody>
          </p:sp>
          <p:sp>
            <p:nvSpPr>
              <p:cNvPr id="44" name="TextBox 44"/>
              <p:cNvSpPr txBox="1"/>
              <p:nvPr/>
            </p:nvSpPr>
            <p:spPr>
              <a:xfrm>
                <a:off x="6909130" y="4943475"/>
                <a:ext cx="27874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a:t>
                </a:r>
              </a:p>
            </p:txBody>
          </p:sp>
        </p:grpSp>
        <p:sp>
          <p:nvSpPr>
            <p:cNvPr id="46" name="TextBox 46"/>
            <p:cNvSpPr txBox="1"/>
            <p:nvPr/>
          </p:nvSpPr>
          <p:spPr>
            <a:xfrm>
              <a:off x="2946654" y="5191125"/>
              <a:ext cx="36210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目标 655 GT；整体 2,925 配对；原公式 95% 区间</a:t>
              </a:r>
            </a:p>
          </p:txBody>
        </p:sp>
      </p:grpSp>
      <p:grpSp>
        <p:nvGrpSpPr>
          <p:cNvPr id="67" name="selective-damage"/>
          <p:cNvGrpSpPr/>
          <p:nvPr/>
        </p:nvGrpSpPr>
        <p:grpSpPr>
          <a:xfrm>
            <a:off x="8020355" y="2035175"/>
            <a:ext cx="3314395" cy="3419221"/>
            <a:chOff x="8020355" y="2035175"/>
            <a:chExt cx="3314395" cy="3419221"/>
          </a:xfrm>
        </p:grpSpPr>
        <p:sp>
          <p:nvSpPr>
            <p:cNvPr id="48" name="TextBox 48"/>
            <p:cNvSpPr txBox="1"/>
            <p:nvPr/>
          </p:nvSpPr>
          <p:spPr>
            <a:xfrm>
              <a:off x="8325993" y="2035175"/>
              <a:ext cx="241291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原成功实例损伤率（%）</a:t>
              </a:r>
            </a:p>
          </p:txBody>
        </p:sp>
        <p:grpSp>
          <p:nvGrpSpPr>
            <p:cNvPr id="52" name="selective-damage-chartArea"/>
            <p:cNvGrpSpPr/>
            <p:nvPr/>
          </p:nvGrpSpPr>
          <p:grpSpPr>
            <a:xfrm>
              <a:off x="8239125" y="2639282"/>
              <a:ext cx="3095625" cy="2227993"/>
              <a:chOff x="8239125" y="2639282"/>
              <a:chExt cx="3095625" cy="2227993"/>
            </a:xfrm>
          </p:grpSpPr>
          <p:sp>
            <p:nvSpPr>
              <p:cNvPr id="49" name="Line 49"/>
              <p:cNvSpPr/>
              <p:nvPr/>
            </p:nvSpPr>
            <p:spPr>
              <a:xfrm>
                <a:off x="8239125" y="4857750"/>
                <a:ext cx="3095625" cy="9525"/>
              </a:xfrm>
              <a:custGeom>
                <a:avLst/>
                <a:gdLst/>
                <a:ahLst/>
                <a:cxnLst/>
                <a:rect l="l" t="t" r="r" b="b"/>
                <a:pathLst>
                  <a:path w="3095625" h="9525">
                    <a:moveTo>
                      <a:pt x="0" y="0"/>
                    </a:moveTo>
                    <a:lnTo>
                      <a:pt x="3095625" y="0"/>
                    </a:lnTo>
                  </a:path>
                </a:pathLst>
              </a:custGeom>
              <a:noFill/>
              <a:ln w="9525">
                <a:solidFill>
                  <a:srgbClr val="596B80"/>
                </a:solidFill>
              </a:ln>
            </p:spPr>
          </p:sp>
          <p:sp>
            <p:nvSpPr>
              <p:cNvPr id="50" name="Rectangle 50"/>
              <p:cNvSpPr/>
              <p:nvPr/>
            </p:nvSpPr>
            <p:spPr>
              <a:xfrm>
                <a:off x="8679656" y="2639282"/>
                <a:ext cx="666750" cy="2218468"/>
              </a:xfrm>
              <a:prstGeom prst="rect">
                <a:avLst/>
              </a:prstGeom>
              <a:solidFill>
                <a:schemeClr val="accent3"/>
              </a:solidFill>
              <a:ln>
                <a:noFill/>
              </a:ln>
            </p:spPr>
          </p:sp>
          <p:sp>
            <p:nvSpPr>
              <p:cNvPr id="51" name="Rectangle 51"/>
              <p:cNvSpPr/>
              <p:nvPr/>
            </p:nvSpPr>
            <p:spPr>
              <a:xfrm>
                <a:off x="10227469" y="4774035"/>
                <a:ext cx="666750" cy="83715"/>
              </a:xfrm>
              <a:prstGeom prst="rect">
                <a:avLst/>
              </a:prstGeom>
              <a:solidFill>
                <a:schemeClr val="accent2"/>
              </a:solidFill>
              <a:ln>
                <a:noFill/>
              </a:ln>
            </p:spPr>
          </p:sp>
        </p:grpSp>
        <p:grpSp>
          <p:nvGrpSpPr>
            <p:cNvPr id="57" name="Group 57"/>
            <p:cNvGrpSpPr/>
            <p:nvPr/>
          </p:nvGrpSpPr>
          <p:grpSpPr>
            <a:xfrm>
              <a:off x="8020355" y="2190750"/>
              <a:ext cx="101041" cy="2806446"/>
              <a:chOff x="8020355" y="2190750"/>
              <a:chExt cx="101041" cy="2806446"/>
            </a:xfrm>
          </p:grpSpPr>
          <p:sp>
            <p:nvSpPr>
              <p:cNvPr id="53" name="TextBox 53"/>
              <p:cNvSpPr txBox="1"/>
              <p:nvPr/>
            </p:nvSpPr>
            <p:spPr>
              <a:xfrm>
                <a:off x="8020355" y="47625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a:t>
                </a:r>
              </a:p>
            </p:txBody>
          </p:sp>
          <p:sp>
            <p:nvSpPr>
              <p:cNvPr id="54" name="TextBox 54"/>
              <p:cNvSpPr txBox="1"/>
              <p:nvPr/>
            </p:nvSpPr>
            <p:spPr>
              <a:xfrm>
                <a:off x="8020355" y="39052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a:t>
                </a:r>
              </a:p>
            </p:txBody>
          </p:sp>
          <p:sp>
            <p:nvSpPr>
              <p:cNvPr id="55" name="TextBox 55"/>
              <p:cNvSpPr txBox="1"/>
              <p:nvPr/>
            </p:nvSpPr>
            <p:spPr>
              <a:xfrm>
                <a:off x="8020355" y="304800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4</a:t>
                </a:r>
              </a:p>
            </p:txBody>
          </p:sp>
          <p:sp>
            <p:nvSpPr>
              <p:cNvPr id="56" name="TextBox 56"/>
              <p:cNvSpPr txBox="1"/>
              <p:nvPr/>
            </p:nvSpPr>
            <p:spPr>
              <a:xfrm>
                <a:off x="8020355" y="2190750"/>
                <a:ext cx="101041"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6</a:t>
                </a:r>
              </a:p>
            </p:txBody>
          </p:sp>
        </p:grpSp>
        <p:grpSp>
          <p:nvGrpSpPr>
            <p:cNvPr id="60" name="Group 60"/>
            <p:cNvGrpSpPr/>
            <p:nvPr/>
          </p:nvGrpSpPr>
          <p:grpSpPr>
            <a:xfrm>
              <a:off x="8660636" y="2349500"/>
              <a:ext cx="2252603" cy="2437257"/>
              <a:chOff x="8660636" y="2349500"/>
              <a:chExt cx="2252603" cy="2437257"/>
            </a:xfrm>
          </p:grpSpPr>
          <p:sp>
            <p:nvSpPr>
              <p:cNvPr id="58" name="TextBox 58"/>
              <p:cNvSpPr txBox="1"/>
              <p:nvPr/>
            </p:nvSpPr>
            <p:spPr>
              <a:xfrm>
                <a:off x="8660636" y="2349500"/>
                <a:ext cx="704790"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5.18%</a:t>
                </a:r>
              </a:p>
            </p:txBody>
          </p:sp>
          <p:sp>
            <p:nvSpPr>
              <p:cNvPr id="59" name="TextBox 59"/>
              <p:cNvSpPr txBox="1"/>
              <p:nvPr/>
            </p:nvSpPr>
            <p:spPr>
              <a:xfrm>
                <a:off x="10208449" y="4464050"/>
                <a:ext cx="70479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0.20%</a:t>
                </a:r>
              </a:p>
            </p:txBody>
          </p:sp>
        </p:grpSp>
        <p:grpSp>
          <p:nvGrpSpPr>
            <p:cNvPr id="63" name="Group 63"/>
            <p:cNvGrpSpPr/>
            <p:nvPr/>
          </p:nvGrpSpPr>
          <p:grpSpPr>
            <a:xfrm>
              <a:off x="8449342" y="4930775"/>
              <a:ext cx="2564130" cy="322707"/>
              <a:chOff x="8449342" y="4930775"/>
              <a:chExt cx="2564130" cy="322707"/>
            </a:xfrm>
          </p:grpSpPr>
          <p:sp>
            <p:nvSpPr>
              <p:cNvPr id="61" name="TextBox 61"/>
              <p:cNvSpPr txBox="1"/>
              <p:nvPr/>
            </p:nvSpPr>
            <p:spPr>
              <a:xfrm>
                <a:off x="8449342" y="4930775"/>
                <a:ext cx="1127379"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无条件修正</a:t>
                </a:r>
              </a:p>
            </p:txBody>
          </p:sp>
          <p:sp>
            <p:nvSpPr>
              <p:cNvPr id="62" name="TextBox 62"/>
              <p:cNvSpPr txBox="1"/>
              <p:nvPr/>
            </p:nvSpPr>
            <p:spPr>
              <a:xfrm>
                <a:off x="10108216" y="4930775"/>
                <a:ext cx="905256" cy="322707"/>
              </a:xfrm>
              <a:prstGeom prst="rect">
                <a:avLst/>
              </a:prstGeom>
              <a:noFill/>
              <a:ln>
                <a:noFill/>
              </a:ln>
            </p:spPr>
            <p:txBody>
              <a:bodyPr wrap="none" lIns="0" tIns="0" rIns="0" bIns="0" anchor="t" anchorCtr="0">
                <a:spAutoFit/>
              </a:bodyPr>
              <a:lstStyle/>
              <a:p>
                <a:pPr algn="ctr"/>
                <a:r>
                  <a:rPr lang="zh-CN" sz="1650" dirty="0">
                    <a:solidFill>
                      <a:schemeClr val="dk1"/>
                    </a:solidFill>
                    <a:latin typeface="+mn-lt"/>
                    <a:ea typeface="+mn-ea"/>
                    <a:cs typeface="+mn-cs"/>
                  </a:rPr>
                  <a:t>面积选择</a:t>
                </a:r>
              </a:p>
            </p:txBody>
          </p:sp>
        </p:grpSp>
        <p:grpSp>
          <p:nvGrpSpPr>
            <p:cNvPr id="66" name="Group 66"/>
            <p:cNvGrpSpPr/>
            <p:nvPr/>
          </p:nvGrpSpPr>
          <p:grpSpPr>
            <a:xfrm>
              <a:off x="8603075" y="5219700"/>
              <a:ext cx="2323300" cy="234696"/>
              <a:chOff x="8603075" y="5219700"/>
              <a:chExt cx="2323300" cy="234696"/>
            </a:xfrm>
          </p:grpSpPr>
          <p:sp>
            <p:nvSpPr>
              <p:cNvPr id="64" name="TextBox 64"/>
              <p:cNvSpPr txBox="1"/>
              <p:nvPr/>
            </p:nvSpPr>
            <p:spPr>
              <a:xfrm>
                <a:off x="8603075" y="5219700"/>
                <a:ext cx="819912"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53 / 1,024</a:t>
                </a:r>
              </a:p>
            </p:txBody>
          </p:sp>
          <p:sp>
            <p:nvSpPr>
              <p:cNvPr id="65" name="TextBox 65"/>
              <p:cNvSpPr txBox="1"/>
              <p:nvPr/>
            </p:nvSpPr>
            <p:spPr>
              <a:xfrm>
                <a:off x="10195312" y="5219700"/>
                <a:ext cx="731063"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 / 1,024</a:t>
                </a:r>
              </a:p>
            </p:txBody>
          </p:sp>
        </p:grpSp>
      </p:grpSp>
      <p:grpSp>
        <p:nvGrpSpPr>
          <p:cNvPr id="70" name="development-conclusion"/>
          <p:cNvGrpSpPr/>
          <p:nvPr/>
        </p:nvGrpSpPr>
        <p:grpSpPr>
          <a:xfrm>
            <a:off x="598932" y="5594350"/>
            <a:ext cx="7848886" cy="687832"/>
            <a:chOff x="598932" y="5594350"/>
            <a:chExt cx="7848886" cy="687832"/>
          </a:xfrm>
        </p:grpSpPr>
        <p:sp>
          <p:nvSpPr>
            <p:cNvPr id="68" name="TextBox 68"/>
            <p:cNvSpPr txBox="1"/>
            <p:nvPr/>
          </p:nvSpPr>
          <p:spPr>
            <a:xfrm>
              <a:off x="598932" y="5594350"/>
              <a:ext cx="677396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原三项数值门槛通过；全量 AP 与独立确认尚未完成。</a:t>
              </a:r>
            </a:p>
          </p:txBody>
        </p:sp>
        <p:sp>
          <p:nvSpPr>
            <p:cNvPr id="69" name="TextBox 69"/>
            <p:cNvSpPr txBox="1"/>
            <p:nvPr/>
          </p:nvSpPr>
          <p:spPr>
            <a:xfrm>
              <a:off x="601218" y="5959475"/>
              <a:ext cx="78466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总体区间跨零；损伤名义上界 0.60%，复用开发面板不具有新的独立覆盖保证。</a:t>
              </a:r>
            </a:p>
          </p:txBody>
        </p:sp>
      </p:grpSp>
      <p:grpSp>
        <p:nvGrpSpPr>
          <p:cNvPr id="73" name="footer"/>
          <p:cNvGrpSpPr/>
          <p:nvPr/>
        </p:nvGrpSpPr>
        <p:grpSpPr>
          <a:xfrm>
            <a:off x="603504" y="6410325"/>
            <a:ext cx="10984992" cy="234696"/>
            <a:chOff x="603504" y="6410325"/>
            <a:chExt cx="10984992" cy="234696"/>
          </a:xfrm>
        </p:grpSpPr>
        <p:sp>
          <p:nvSpPr>
            <p:cNvPr id="71" name="TextBox 71"/>
            <p:cNvSpPr txBox="1"/>
            <p:nvPr/>
          </p:nvSpPr>
          <p:spPr>
            <a:xfrm>
              <a:off x="603504" y="6410325"/>
              <a:ext cx="721827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[E3/E5] 1,314 图完整输出重新匹配；未应用修正的实例仍计入原分母；面积策略由开发结果选定。</a:t>
              </a:r>
            </a:p>
          </p:txBody>
        </p:sp>
        <p:sp>
          <p:nvSpPr>
            <p:cNvPr id="72" name="TextBox 72"/>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22</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模块一的重要结论与验证边界</a:t>
              </a:r>
            </a:p>
          </p:txBody>
        </p:sp>
      </p:grpSp>
      <p:grpSp>
        <p:nvGrpSpPr>
          <p:cNvPr id="7" name="opportunity"/>
          <p:cNvGrpSpPr/>
          <p:nvPr/>
        </p:nvGrpSpPr>
        <p:grpSpPr>
          <a:xfrm>
            <a:off x="597408" y="1803400"/>
            <a:ext cx="7669949" cy="867918"/>
            <a:chOff x="597408" y="1803400"/>
            <a:chExt cx="7669949" cy="867918"/>
          </a:xfrm>
        </p:grpSpPr>
        <p:sp>
          <p:nvSpPr>
            <p:cNvPr id="5" name="TextBox 5"/>
            <p:cNvSpPr txBox="1"/>
            <p:nvPr/>
          </p:nvSpPr>
          <p:spPr>
            <a:xfrm>
              <a:off x="597408" y="1803400"/>
              <a:ext cx="487070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固定原有表示，仍有轮廓修正机会</a:t>
              </a:r>
            </a:p>
          </p:txBody>
        </p:sp>
        <p:sp>
          <p:nvSpPr>
            <p:cNvPr id="6" name="TextBox 6"/>
            <p:cNvSpPr txBox="1"/>
            <p:nvPr/>
          </p:nvSpPr>
          <p:spPr>
            <a:xfrm>
              <a:off x="598932" y="2260600"/>
              <a:ext cx="766842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标注辅助实验中 122 / 256 达标，为研究系数修正提供依据。</a:t>
              </a:r>
            </a:p>
          </p:txBody>
        </p:sp>
      </p:grpSp>
      <p:grpSp>
        <p:nvGrpSpPr>
          <p:cNvPr id="11" name="risk"/>
          <p:cNvGrpSpPr/>
          <p:nvPr/>
        </p:nvGrpSpPr>
        <p:grpSpPr>
          <a:xfrm>
            <a:off x="597408" y="2819400"/>
            <a:ext cx="10984992" cy="937768"/>
            <a:chOff x="597408" y="2819400"/>
            <a:chExt cx="10984992" cy="937768"/>
          </a:xfrm>
        </p:grpSpPr>
        <p:sp>
          <p:nvSpPr>
            <p:cNvPr id="8" name="Line 8"/>
            <p:cNvSpPr/>
            <p:nvPr/>
          </p:nvSpPr>
          <p:spPr>
            <a:xfrm>
              <a:off x="609600" y="2819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2889250"/>
              <a:ext cx="4224528"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修正不能对所有实例一视同仁</a:t>
              </a:r>
            </a:p>
          </p:txBody>
        </p:sp>
        <p:sp>
          <p:nvSpPr>
            <p:cNvPr id="10" name="TextBox 10"/>
            <p:cNvSpPr txBox="1"/>
            <p:nvPr/>
          </p:nvSpPr>
          <p:spPr>
            <a:xfrm>
              <a:off x="598932" y="3346450"/>
              <a:ext cx="793699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无条件修正存在损伤，小掩码风险更集中；需要选择适用范围。</a:t>
              </a:r>
            </a:p>
          </p:txBody>
        </p:sp>
      </p:grpSp>
      <p:grpSp>
        <p:nvGrpSpPr>
          <p:cNvPr id="15" name="development-result"/>
          <p:cNvGrpSpPr/>
          <p:nvPr/>
        </p:nvGrpSpPr>
        <p:grpSpPr>
          <a:xfrm>
            <a:off x="597408" y="3905250"/>
            <a:ext cx="10984992" cy="937768"/>
            <a:chOff x="597408" y="3905250"/>
            <a:chExt cx="10984992" cy="937768"/>
          </a:xfrm>
        </p:grpSpPr>
        <p:sp>
          <p:nvSpPr>
            <p:cNvPr id="12" name="Line 12"/>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3975100"/>
              <a:ext cx="519379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固定面积选择，已通过开发数值筛查</a:t>
              </a:r>
            </a:p>
          </p:txBody>
        </p:sp>
        <p:sp>
          <p:nvSpPr>
            <p:cNvPr id="14" name="TextBox 14"/>
            <p:cNvSpPr txBox="1"/>
            <p:nvPr/>
          </p:nvSpPr>
          <p:spPr>
            <a:xfrm>
              <a:off x="598932" y="4432300"/>
              <a:ext cx="787938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目标质量改善、损伤减少；尚不能推出全量 AP 或跨场景有效。</a:t>
              </a:r>
            </a:p>
          </p:txBody>
        </p:sp>
      </p:grpSp>
      <p:grpSp>
        <p:nvGrpSpPr>
          <p:cNvPr id="19" name="next-validation"/>
          <p:cNvGrpSpPr/>
          <p:nvPr/>
        </p:nvGrpSpPr>
        <p:grpSpPr>
          <a:xfrm>
            <a:off x="609600" y="5124450"/>
            <a:ext cx="10972800" cy="1047750"/>
            <a:chOff x="609600" y="5124450"/>
            <a:chExt cx="10972800" cy="1047750"/>
          </a:xfrm>
        </p:grpSpPr>
        <p:sp>
          <p:nvSpPr>
            <p:cNvPr id="16" name="Rectangle 16"/>
            <p:cNvSpPr/>
            <p:nvPr/>
          </p:nvSpPr>
          <p:spPr>
            <a:xfrm>
              <a:off x="609600" y="5124450"/>
              <a:ext cx="10972800" cy="1047750"/>
            </a:xfrm>
            <a:prstGeom prst="rect">
              <a:avLst/>
            </a:prstGeom>
            <a:solidFill>
              <a:schemeClr val="lt2"/>
            </a:solidFill>
            <a:ln>
              <a:noFill/>
            </a:ln>
          </p:spPr>
        </p:sp>
        <p:sp>
          <p:nvSpPr>
            <p:cNvPr id="17" name="TextBox 17"/>
            <p:cNvSpPr txBox="1"/>
            <p:nvPr/>
          </p:nvSpPr>
          <p:spPr>
            <a:xfrm>
              <a:off x="827532" y="5251450"/>
              <a:ext cx="1031268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待完成验证：固定同一模型和面积条件，验证全 5,000 图 AP 与原成功总体损伤。</a:t>
              </a:r>
            </a:p>
          </p:txBody>
        </p:sp>
        <p:sp>
          <p:nvSpPr>
            <p:cNvPr id="18" name="TextBox 18"/>
            <p:cNvSpPr txBox="1"/>
            <p:nvPr/>
          </p:nvSpPr>
          <p:spPr>
            <a:xfrm>
              <a:off x="829818" y="5711825"/>
              <a:ext cx="787572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当前证据来自 COCO 图像开发实验；密集专项、动物场景和视频仍需后续验证。</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601332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[E0—E5] 无条件 BCE / soft-IoU 配置的失败结论保留；新策略仅为开发筛查通过。</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22</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连续视频中的身份关联与稳定保持</a:t>
              </a:r>
            </a:p>
          </p:txBody>
        </p:sp>
      </p:grpSp>
      <p:grpSp>
        <p:nvGrpSpPr>
          <p:cNvPr id="6" name="research-question"/>
          <p:cNvGrpSpPr/>
          <p:nvPr/>
        </p:nvGrpSpPr>
        <p:grpSpPr>
          <a:xfrm>
            <a:off x="601218" y="1654175"/>
            <a:ext cx="7124700" cy="322707"/>
            <a:chOff x="601218" y="1654175"/>
            <a:chExt cx="7124700" cy="322707"/>
          </a:xfrm>
        </p:grpSpPr>
        <p:sp>
          <p:nvSpPr>
            <p:cNvPr id="5" name="TextBox 5"/>
            <p:cNvSpPr txBox="1"/>
            <p:nvPr/>
          </p:nvSpPr>
          <p:spPr>
            <a:xfrm>
              <a:off x="601218" y="1654175"/>
              <a:ext cx="71247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研究个体交叉、外观相似和短暂漏检时，如何减少编号切换与轨迹断裂。</a:t>
              </a:r>
            </a:p>
          </p:txBody>
        </p:sp>
      </p:grpSp>
      <p:grpSp>
        <p:nvGrpSpPr>
          <p:cNvPr id="35" name="proposed-tracker"/>
          <p:cNvGrpSpPr/>
          <p:nvPr/>
        </p:nvGrpSpPr>
        <p:grpSpPr>
          <a:xfrm>
            <a:off x="609600" y="2352675"/>
            <a:ext cx="10972800" cy="2314575"/>
            <a:chOff x="609600" y="2352675"/>
            <a:chExt cx="10972800" cy="2314575"/>
          </a:xfrm>
        </p:grpSpPr>
        <p:sp>
          <p:nvSpPr>
            <p:cNvPr id="7" name="Rectangle 7"/>
            <p:cNvSpPr/>
            <p:nvPr/>
          </p:nvSpPr>
          <p:spPr>
            <a:xfrm>
              <a:off x="609600" y="2352675"/>
              <a:ext cx="2466975" cy="857250"/>
            </a:xfrm>
            <a:prstGeom prst="rect">
              <a:avLst/>
            </a:prstGeom>
            <a:solidFill>
              <a:schemeClr val="lt2"/>
            </a:solidFill>
            <a:ln>
              <a:noFill/>
            </a:ln>
          </p:spPr>
        </p:sp>
        <p:sp>
          <p:nvSpPr>
            <p:cNvPr id="8" name="TextBox 8"/>
            <p:cNvSpPr txBox="1"/>
            <p:nvPr/>
          </p:nvSpPr>
          <p:spPr>
            <a:xfrm>
              <a:off x="984313"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当前帧的观测</a:t>
              </a:r>
            </a:p>
          </p:txBody>
        </p:sp>
        <p:sp>
          <p:nvSpPr>
            <p:cNvPr id="9" name="TextBox 9"/>
            <p:cNvSpPr txBox="1"/>
            <p:nvPr/>
          </p:nvSpPr>
          <p:spPr>
            <a:xfrm>
              <a:off x="835152" y="2835275"/>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框、分数、个体轮廓</a:t>
              </a:r>
            </a:p>
          </p:txBody>
        </p:sp>
        <p:sp>
          <p:nvSpPr>
            <p:cNvPr id="10" name="Rectangle 10"/>
            <p:cNvSpPr/>
            <p:nvPr/>
          </p:nvSpPr>
          <p:spPr>
            <a:xfrm>
              <a:off x="609600" y="3810000"/>
              <a:ext cx="2466975" cy="857250"/>
            </a:xfrm>
            <a:prstGeom prst="rect">
              <a:avLst/>
            </a:prstGeom>
            <a:solidFill>
              <a:schemeClr val="lt2"/>
            </a:solidFill>
            <a:ln>
              <a:noFill/>
            </a:ln>
          </p:spPr>
        </p:sp>
        <p:sp>
          <p:nvSpPr>
            <p:cNvPr id="11" name="TextBox 11"/>
            <p:cNvSpPr txBox="1"/>
            <p:nvPr/>
          </p:nvSpPr>
          <p:spPr>
            <a:xfrm>
              <a:off x="984313"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已有个体轨迹</a:t>
              </a:r>
            </a:p>
          </p:txBody>
        </p:sp>
        <p:sp>
          <p:nvSpPr>
            <p:cNvPr id="12" name="TextBox 12"/>
            <p:cNvSpPr txBox="1"/>
            <p:nvPr/>
          </p:nvSpPr>
          <p:spPr>
            <a:xfrm>
              <a:off x="724090" y="429260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历史编号、位置、外观</a:t>
              </a:r>
            </a:p>
          </p:txBody>
        </p:sp>
        <p:sp>
          <p:nvSpPr>
            <p:cNvPr id="13" name="Rectangle 13"/>
            <p:cNvSpPr/>
            <p:nvPr/>
          </p:nvSpPr>
          <p:spPr>
            <a:xfrm>
              <a:off x="3771900" y="2352675"/>
              <a:ext cx="2819400" cy="857250"/>
            </a:xfrm>
            <a:prstGeom prst="rect">
              <a:avLst/>
            </a:prstGeom>
            <a:solidFill>
              <a:schemeClr val="lt1"/>
            </a:solidFill>
            <a:ln w="9525">
              <a:solidFill>
                <a:schemeClr val="accent6"/>
              </a:solidFill>
            </a:ln>
          </p:spPr>
        </p:sp>
        <p:sp>
          <p:nvSpPr>
            <p:cNvPr id="14" name="TextBox 14"/>
            <p:cNvSpPr txBox="1"/>
            <p:nvPr/>
          </p:nvSpPr>
          <p:spPr>
            <a:xfrm>
              <a:off x="4322826" y="2441575"/>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提取个体外观</a:t>
              </a:r>
            </a:p>
          </p:txBody>
        </p:sp>
        <p:sp>
          <p:nvSpPr>
            <p:cNvPr id="15" name="TextBox 15"/>
            <p:cNvSpPr txBox="1"/>
            <p:nvPr/>
          </p:nvSpPr>
          <p:spPr>
            <a:xfrm>
              <a:off x="4062603" y="2835275"/>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比较框区域与轮廓区域</a:t>
              </a:r>
            </a:p>
          </p:txBody>
        </p:sp>
        <p:sp>
          <p:nvSpPr>
            <p:cNvPr id="16" name="Rectangle 16"/>
            <p:cNvSpPr/>
            <p:nvPr/>
          </p:nvSpPr>
          <p:spPr>
            <a:xfrm>
              <a:off x="3771900" y="3810000"/>
              <a:ext cx="2819400" cy="857250"/>
            </a:xfrm>
            <a:prstGeom prst="rect">
              <a:avLst/>
            </a:prstGeom>
            <a:solidFill>
              <a:schemeClr val="lt1"/>
            </a:solidFill>
            <a:ln w="9525">
              <a:solidFill>
                <a:schemeClr val="accent6"/>
              </a:solidFill>
            </a:ln>
          </p:spPr>
        </p:sp>
        <p:sp>
          <p:nvSpPr>
            <p:cNvPr id="17" name="TextBox 17"/>
            <p:cNvSpPr txBox="1"/>
            <p:nvPr/>
          </p:nvSpPr>
          <p:spPr>
            <a:xfrm>
              <a:off x="4322826" y="3898900"/>
              <a:ext cx="1717548"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预测移动位置</a:t>
              </a:r>
            </a:p>
          </p:txBody>
        </p:sp>
        <p:sp>
          <p:nvSpPr>
            <p:cNvPr id="18" name="TextBox 18"/>
            <p:cNvSpPr txBox="1"/>
            <p:nvPr/>
          </p:nvSpPr>
          <p:spPr>
            <a:xfrm>
              <a:off x="4173664" y="429260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保留可靠的外观历史</a:t>
              </a:r>
            </a:p>
          </p:txBody>
        </p:sp>
        <p:sp>
          <p:nvSpPr>
            <p:cNvPr id="19" name="Rectangle 19"/>
            <p:cNvSpPr/>
            <p:nvPr/>
          </p:nvSpPr>
          <p:spPr>
            <a:xfrm>
              <a:off x="7267575" y="2943225"/>
              <a:ext cx="2200275" cy="1181100"/>
            </a:xfrm>
            <a:prstGeom prst="rect">
              <a:avLst/>
            </a:prstGeom>
            <a:solidFill>
              <a:schemeClr val="lt1"/>
            </a:solidFill>
            <a:ln w="19050">
              <a:solidFill>
                <a:schemeClr val="accent2"/>
              </a:solidFill>
            </a:ln>
          </p:spPr>
        </p:sp>
        <p:sp>
          <p:nvSpPr>
            <p:cNvPr id="20" name="TextBox 20"/>
            <p:cNvSpPr txBox="1"/>
            <p:nvPr/>
          </p:nvSpPr>
          <p:spPr>
            <a:xfrm>
              <a:off x="7367588" y="3108325"/>
              <a:ext cx="2000250" cy="410718"/>
            </a:xfrm>
            <a:prstGeom prst="rect">
              <a:avLst/>
            </a:prstGeom>
            <a:noFill/>
            <a:ln>
              <a:noFill/>
            </a:ln>
          </p:spPr>
          <p:txBody>
            <a:bodyPr wrap="none" lIns="0" tIns="0" rIns="0" bIns="0" anchor="t" anchorCtr="0">
              <a:spAutoFit/>
            </a:bodyPr>
            <a:lstStyle/>
            <a:p>
              <a:pPr algn="ctr"/>
              <a:r>
                <a:rPr lang="zh-CN" sz="2100" b="1" dirty="0">
                  <a:solidFill>
                    <a:schemeClr val="accent2"/>
                  </a:solidFill>
                  <a:latin typeface="+mn-lt"/>
                  <a:ea typeface="+mn-ea"/>
                  <a:cs typeface="+mn-cs"/>
                </a:rPr>
                <a:t>运动与外观关联</a:t>
              </a:r>
            </a:p>
          </p:txBody>
        </p:sp>
        <p:sp>
          <p:nvSpPr>
            <p:cNvPr id="21" name="TextBox 21"/>
            <p:cNvSpPr txBox="1"/>
            <p:nvPr/>
          </p:nvSpPr>
          <p:spPr>
            <a:xfrm>
              <a:off x="7692962" y="3578225"/>
              <a:ext cx="1349502"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匹配同一个体</a:t>
              </a:r>
            </a:p>
          </p:txBody>
        </p:sp>
        <p:sp>
          <p:nvSpPr>
            <p:cNvPr id="22" name="Rectangle 22"/>
            <p:cNvSpPr/>
            <p:nvPr/>
          </p:nvSpPr>
          <p:spPr>
            <a:xfrm>
              <a:off x="10096500" y="3124200"/>
              <a:ext cx="1485900" cy="819150"/>
            </a:xfrm>
            <a:prstGeom prst="rect">
              <a:avLst/>
            </a:prstGeom>
            <a:solidFill>
              <a:schemeClr val="accent2"/>
            </a:solidFill>
            <a:ln>
              <a:noFill/>
            </a:ln>
          </p:spPr>
        </p:sp>
        <p:sp>
          <p:nvSpPr>
            <p:cNvPr id="23" name="TextBox 23"/>
            <p:cNvSpPr txBox="1"/>
            <p:nvPr/>
          </p:nvSpPr>
          <p:spPr>
            <a:xfrm>
              <a:off x="10374325" y="3213100"/>
              <a:ext cx="930250"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持续 ID</a:t>
              </a:r>
            </a:p>
          </p:txBody>
        </p:sp>
        <p:sp>
          <p:nvSpPr>
            <p:cNvPr id="24" name="TextBox 24"/>
            <p:cNvSpPr txBox="1"/>
            <p:nvPr/>
          </p:nvSpPr>
          <p:spPr>
            <a:xfrm>
              <a:off x="10386822" y="3597275"/>
              <a:ext cx="905256"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更新轨迹</a:t>
              </a:r>
            </a:p>
          </p:txBody>
        </p:sp>
        <p:grpSp>
          <p:nvGrpSpPr>
            <p:cNvPr id="34" name="Group 34"/>
            <p:cNvGrpSpPr/>
            <p:nvPr/>
          </p:nvGrpSpPr>
          <p:grpSpPr>
            <a:xfrm>
              <a:off x="3076575" y="2781300"/>
              <a:ext cx="6981825" cy="1466850"/>
              <a:chOff x="3076575" y="2781300"/>
              <a:chExt cx="6981825" cy="1466850"/>
            </a:xfrm>
          </p:grpSpPr>
          <p:sp>
            <p:nvSpPr>
              <p:cNvPr id="25" name="Line 25"/>
              <p:cNvSpPr/>
              <p:nvPr/>
            </p:nvSpPr>
            <p:spPr>
              <a:xfrm>
                <a:off x="3076575" y="2781300"/>
                <a:ext cx="657225" cy="1"/>
              </a:xfrm>
              <a:prstGeom prst="line">
                <a:avLst/>
              </a:prstGeom>
              <a:noFill/>
              <a:ln w="19050">
                <a:solidFill>
                  <a:srgbClr val="596B80"/>
                </a:solidFill>
                <a:tailEnd type="triangle" w="lg" len="lg"/>
              </a:ln>
            </p:spPr>
          </p:sp>
          <p:sp>
            <p:nvSpPr>
              <p:cNvPr id="26" name="Line 26"/>
              <p:cNvSpPr/>
              <p:nvPr/>
            </p:nvSpPr>
            <p:spPr>
              <a:xfrm>
                <a:off x="3076575" y="4238625"/>
                <a:ext cx="657225" cy="1"/>
              </a:xfrm>
              <a:prstGeom prst="line">
                <a:avLst/>
              </a:prstGeom>
              <a:noFill/>
              <a:ln w="19050">
                <a:solidFill>
                  <a:srgbClr val="596B80"/>
                </a:solidFill>
                <a:tailEnd type="triangle" w="lg" len="lg"/>
              </a:ln>
            </p:spPr>
          </p:sp>
          <p:sp>
            <p:nvSpPr>
              <p:cNvPr id="27" name="Line 27"/>
              <p:cNvSpPr/>
              <p:nvPr/>
            </p:nvSpPr>
            <p:spPr>
              <a:xfrm>
                <a:off x="6591300" y="2781300"/>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28" name="Line 28"/>
              <p:cNvSpPr/>
              <p:nvPr/>
            </p:nvSpPr>
            <p:spPr>
              <a:xfrm>
                <a:off x="6962775" y="2781300"/>
                <a:ext cx="9525" cy="447675"/>
              </a:xfrm>
              <a:custGeom>
                <a:avLst/>
                <a:gdLst/>
                <a:ahLst/>
                <a:cxnLst/>
                <a:rect l="l" t="t" r="r" b="b"/>
                <a:pathLst>
                  <a:path w="9525" h="447675">
                    <a:moveTo>
                      <a:pt x="0" y="0"/>
                    </a:moveTo>
                    <a:lnTo>
                      <a:pt x="0" y="447675"/>
                    </a:lnTo>
                  </a:path>
                </a:pathLst>
              </a:custGeom>
              <a:noFill/>
              <a:ln w="19050">
                <a:solidFill>
                  <a:srgbClr val="596B80"/>
                </a:solidFill>
              </a:ln>
            </p:spPr>
          </p:sp>
          <p:sp>
            <p:nvSpPr>
              <p:cNvPr id="29" name="Line 29"/>
              <p:cNvSpPr/>
              <p:nvPr/>
            </p:nvSpPr>
            <p:spPr>
              <a:xfrm>
                <a:off x="6962775" y="3228975"/>
                <a:ext cx="266700" cy="1"/>
              </a:xfrm>
              <a:prstGeom prst="line">
                <a:avLst/>
              </a:prstGeom>
              <a:noFill/>
              <a:ln w="19050">
                <a:solidFill>
                  <a:srgbClr val="596B80"/>
                </a:solidFill>
                <a:tailEnd type="triangle" w="lg" len="lg"/>
              </a:ln>
            </p:spPr>
          </p:sp>
          <p:sp>
            <p:nvSpPr>
              <p:cNvPr id="30" name="Line 30"/>
              <p:cNvSpPr/>
              <p:nvPr/>
            </p:nvSpPr>
            <p:spPr>
              <a:xfrm>
                <a:off x="6591300" y="4238625"/>
                <a:ext cx="371475" cy="9525"/>
              </a:xfrm>
              <a:custGeom>
                <a:avLst/>
                <a:gdLst/>
                <a:ahLst/>
                <a:cxnLst/>
                <a:rect l="l" t="t" r="r" b="b"/>
                <a:pathLst>
                  <a:path w="371475" h="9525">
                    <a:moveTo>
                      <a:pt x="0" y="0"/>
                    </a:moveTo>
                    <a:lnTo>
                      <a:pt x="371475" y="0"/>
                    </a:lnTo>
                  </a:path>
                </a:pathLst>
              </a:custGeom>
              <a:noFill/>
              <a:ln w="19050">
                <a:solidFill>
                  <a:srgbClr val="596B80"/>
                </a:solidFill>
              </a:ln>
            </p:spPr>
          </p:sp>
          <p:sp>
            <p:nvSpPr>
              <p:cNvPr id="31" name="Line 31"/>
              <p:cNvSpPr/>
              <p:nvPr/>
            </p:nvSpPr>
            <p:spPr>
              <a:xfrm>
                <a:off x="6962775" y="3838575"/>
                <a:ext cx="9525" cy="400050"/>
              </a:xfrm>
              <a:custGeom>
                <a:avLst/>
                <a:gdLst/>
                <a:ahLst/>
                <a:cxnLst/>
                <a:rect l="l" t="t" r="r" b="b"/>
                <a:pathLst>
                  <a:path w="9525" h="400050">
                    <a:moveTo>
                      <a:pt x="0" y="400050"/>
                    </a:moveTo>
                    <a:lnTo>
                      <a:pt x="0" y="0"/>
                    </a:lnTo>
                  </a:path>
                </a:pathLst>
              </a:custGeom>
              <a:noFill/>
              <a:ln w="19050">
                <a:solidFill>
                  <a:srgbClr val="596B80"/>
                </a:solidFill>
              </a:ln>
            </p:spPr>
          </p:sp>
          <p:sp>
            <p:nvSpPr>
              <p:cNvPr id="32" name="Line 32"/>
              <p:cNvSpPr/>
              <p:nvPr/>
            </p:nvSpPr>
            <p:spPr>
              <a:xfrm>
                <a:off x="6962775" y="3838575"/>
                <a:ext cx="266700" cy="1"/>
              </a:xfrm>
              <a:prstGeom prst="line">
                <a:avLst/>
              </a:prstGeom>
              <a:noFill/>
              <a:ln w="19050">
                <a:solidFill>
                  <a:srgbClr val="596B80"/>
                </a:solidFill>
                <a:tailEnd type="triangle" w="lg" len="lg"/>
              </a:ln>
            </p:spPr>
          </p:sp>
          <p:sp>
            <p:nvSpPr>
              <p:cNvPr id="33" name="Line 33"/>
              <p:cNvSpPr/>
              <p:nvPr/>
            </p:nvSpPr>
            <p:spPr>
              <a:xfrm>
                <a:off x="9467850" y="3533775"/>
                <a:ext cx="590550" cy="1"/>
              </a:xfrm>
              <a:prstGeom prst="line">
                <a:avLst/>
              </a:prstGeom>
              <a:noFill/>
              <a:ln w="19050">
                <a:solidFill>
                  <a:srgbClr val="596B80"/>
                </a:solidFill>
                <a:tailEnd type="triangle" w="lg" len="lg"/>
              </a:ln>
            </p:spPr>
          </p:sp>
        </p:grpSp>
      </p:grpSp>
      <p:grpSp>
        <p:nvGrpSpPr>
          <p:cNvPr id="38" name="model-plan"/>
          <p:cNvGrpSpPr/>
          <p:nvPr/>
        </p:nvGrpSpPr>
        <p:grpSpPr>
          <a:xfrm>
            <a:off x="598932" y="5308600"/>
            <a:ext cx="8871816" cy="811657"/>
            <a:chOff x="598932" y="5308600"/>
            <a:chExt cx="8871816" cy="811657"/>
          </a:xfrm>
        </p:grpSpPr>
        <p:sp>
          <p:nvSpPr>
            <p:cNvPr id="36" name="TextBox 36"/>
            <p:cNvSpPr txBox="1"/>
            <p:nvPr/>
          </p:nvSpPr>
          <p:spPr>
            <a:xfrm>
              <a:off x="598932" y="5308600"/>
              <a:ext cx="887181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基线采用 ByteTrack，参照 BoT-SORT 研究运动与外观的联合关联。</a:t>
              </a:r>
            </a:p>
          </p:txBody>
        </p:sp>
        <p:sp>
          <p:nvSpPr>
            <p:cNvPr id="37" name="TextBox 37"/>
            <p:cNvSpPr txBox="1"/>
            <p:nvPr/>
          </p:nvSpPr>
          <p:spPr>
            <a:xfrm>
              <a:off x="601218" y="5797550"/>
              <a:ext cx="7568946"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轮廓需明确用于外观提取或关联；仅替换掩码，不会自动改善纯检测框跟踪。</a:t>
              </a:r>
            </a:p>
          </p:txBody>
        </p:sp>
      </p:grpSp>
      <p:grpSp>
        <p:nvGrpSpPr>
          <p:cNvPr id="41" name="footer"/>
          <p:cNvGrpSpPr/>
          <p:nvPr/>
        </p:nvGrpSpPr>
        <p:grpSpPr>
          <a:xfrm>
            <a:off x="603504" y="6410325"/>
            <a:ext cx="10984992" cy="234696"/>
            <a:chOff x="603504" y="6410325"/>
            <a:chExt cx="10984992" cy="234696"/>
          </a:xfrm>
        </p:grpSpPr>
        <p:sp>
          <p:nvSpPr>
            <p:cNvPr id="39" name="TextBox 39"/>
            <p:cNvSpPr txBox="1"/>
            <p:nvPr/>
          </p:nvSpPr>
          <p:spPr>
            <a:xfrm>
              <a:off x="603504" y="6410325"/>
              <a:ext cx="607642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拟研究框架，尚无视频实验结果；参考 ByteTrack（2022）、BoT-SORT（2022）。</a:t>
              </a:r>
            </a:p>
          </p:txBody>
        </p:sp>
        <p:sp>
          <p:nvSpPr>
            <p:cNvPr id="40" name="TextBox 4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 / 22</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身份保持的实验设想</a:t>
              </a:r>
            </a:p>
          </p:txBody>
        </p:sp>
      </p:grpSp>
      <p:grpSp>
        <p:nvGrpSpPr>
          <p:cNvPr id="6" name="video-scope"/>
          <p:cNvGrpSpPr/>
          <p:nvPr/>
        </p:nvGrpSpPr>
        <p:grpSpPr>
          <a:xfrm>
            <a:off x="601218" y="1663700"/>
            <a:ext cx="6458331" cy="322707"/>
            <a:chOff x="601218" y="1663700"/>
            <a:chExt cx="6458331" cy="322707"/>
          </a:xfrm>
        </p:grpSpPr>
        <p:sp>
          <p:nvSpPr>
            <p:cNvPr id="5" name="TextBox 5"/>
            <p:cNvSpPr txBox="1"/>
            <p:nvPr/>
          </p:nvSpPr>
          <p:spPr>
            <a:xfrm>
              <a:off x="601218" y="166370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先固定视频与检测结果，再分别检验关联方法和轮廓信息的作用。</a:t>
              </a:r>
            </a:p>
          </p:txBody>
        </p:sp>
      </p:grpSp>
      <p:grpSp>
        <p:nvGrpSpPr>
          <p:cNvPr id="22" name="planned-comparison"/>
          <p:cNvGrpSpPr/>
          <p:nvPr/>
        </p:nvGrpSpPr>
        <p:grpSpPr>
          <a:xfrm>
            <a:off x="598932" y="2222500"/>
            <a:ext cx="10983468" cy="2877693"/>
            <a:chOff x="598932" y="2222500"/>
            <a:chExt cx="10983468" cy="2877693"/>
          </a:xfrm>
        </p:grpSpPr>
        <p:sp>
          <p:nvSpPr>
            <p:cNvPr id="7" name="TextBox 7"/>
            <p:cNvSpPr txBox="1"/>
            <p:nvPr/>
          </p:nvSpPr>
          <p:spPr>
            <a:xfrm>
              <a:off x="598932" y="22225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2225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希望回答的问题</a:t>
              </a:r>
            </a:p>
          </p:txBody>
        </p:sp>
        <p:sp>
          <p:nvSpPr>
            <p:cNvPr id="9" name="Line 9"/>
            <p:cNvSpPr/>
            <p:nvPr/>
          </p:nvSpPr>
          <p:spPr>
            <a:xfrm>
              <a:off x="609600" y="26670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832100"/>
              <a:ext cx="10983468" cy="2268093"/>
              <a:chOff x="598932" y="2832100"/>
              <a:chExt cx="10983468" cy="2268093"/>
            </a:xfrm>
          </p:grpSpPr>
          <p:sp>
            <p:nvSpPr>
              <p:cNvPr id="10" name="TextBox 10"/>
              <p:cNvSpPr txBox="1"/>
              <p:nvPr/>
            </p:nvSpPr>
            <p:spPr>
              <a:xfrm>
                <a:off x="598932" y="2832100"/>
                <a:ext cx="342131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相同检测框 + ByteTrack</a:t>
                </a:r>
              </a:p>
            </p:txBody>
          </p:sp>
          <p:sp>
            <p:nvSpPr>
              <p:cNvPr id="11" name="TextBox 11"/>
              <p:cNvSpPr txBox="1"/>
              <p:nvPr/>
            </p:nvSpPr>
            <p:spPr>
              <a:xfrm>
                <a:off x="6409182" y="283210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现有跟踪基线在本场景表现如何</a:t>
                </a:r>
              </a:p>
            </p:txBody>
          </p:sp>
          <p:sp>
            <p:nvSpPr>
              <p:cNvPr id="12" name="Line 12"/>
              <p:cNvSpPr/>
              <p:nvPr/>
            </p:nvSpPr>
            <p:spPr>
              <a:xfrm>
                <a:off x="609600" y="32861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51225"/>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在基线上加入外观联合关联</a:t>
                </a:r>
              </a:p>
            </p:txBody>
          </p:sp>
          <p:sp>
            <p:nvSpPr>
              <p:cNvPr id="14" name="TextBox 14"/>
              <p:cNvSpPr txBox="1"/>
              <p:nvPr/>
            </p:nvSpPr>
            <p:spPr>
              <a:xfrm>
                <a:off x="6409182" y="345122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交叉运动时，外观能否减少换号</a:t>
                </a:r>
              </a:p>
            </p:txBody>
          </p:sp>
          <p:sp>
            <p:nvSpPr>
              <p:cNvPr id="15" name="Line 15"/>
              <p:cNvSpPr/>
              <p:nvPr/>
            </p:nvSpPr>
            <p:spPr>
              <a:xfrm>
                <a:off x="609600" y="39052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7035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用原生轮廓提取个体外观</a:t>
                </a:r>
              </a:p>
            </p:txBody>
          </p:sp>
          <p:sp>
            <p:nvSpPr>
              <p:cNvPr id="17" name="TextBox 17"/>
              <p:cNvSpPr txBox="1"/>
              <p:nvPr/>
            </p:nvSpPr>
            <p:spPr>
              <a:xfrm>
                <a:off x="6409182" y="407035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减少邻近个体混入是否有帮助</a:t>
                </a:r>
              </a:p>
            </p:txBody>
          </p:sp>
          <p:sp>
            <p:nvSpPr>
              <p:cNvPr id="18" name="Line 18"/>
              <p:cNvSpPr/>
              <p:nvPr/>
            </p:nvSpPr>
            <p:spPr>
              <a:xfrm>
                <a:off x="609600" y="45243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89475"/>
                <a:ext cx="352684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仅将③的轮廓换成修正结果</a:t>
                </a:r>
              </a:p>
            </p:txBody>
          </p:sp>
          <p:sp>
            <p:nvSpPr>
              <p:cNvPr id="20" name="TextBox 20"/>
              <p:cNvSpPr txBox="1"/>
              <p:nvPr/>
            </p:nvSpPr>
            <p:spPr>
              <a:xfrm>
                <a:off x="6409182" y="468947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模块一的改善能否转化为身份收益</a:t>
                </a:r>
              </a:p>
            </p:txBody>
          </p:sp>
        </p:grpSp>
      </p:grpSp>
      <p:grpSp>
        <p:nvGrpSpPr>
          <p:cNvPr id="25" name="evaluation-plan"/>
          <p:cNvGrpSpPr/>
          <p:nvPr/>
        </p:nvGrpSpPr>
        <p:grpSpPr>
          <a:xfrm>
            <a:off x="598932" y="5308600"/>
            <a:ext cx="8507501" cy="802132"/>
            <a:chOff x="598932" y="5308600"/>
            <a:chExt cx="8507501" cy="802132"/>
          </a:xfrm>
        </p:grpSpPr>
        <p:sp>
          <p:nvSpPr>
            <p:cNvPr id="23" name="TextBox 23"/>
            <p:cNvSpPr txBox="1"/>
            <p:nvPr/>
          </p:nvSpPr>
          <p:spPr>
            <a:xfrm>
              <a:off x="598932" y="5308600"/>
              <a:ext cx="741778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评价：IDF1、编号切换次数、轨迹断裂、端到端处理速度。</a:t>
              </a:r>
            </a:p>
          </p:txBody>
        </p:sp>
        <p:sp>
          <p:nvSpPr>
            <p:cNvPr id="24" name="TextBox 24"/>
            <p:cNvSpPr txBox="1"/>
            <p:nvPr/>
          </p:nvSpPr>
          <p:spPr>
            <a:xfrm>
              <a:off x="601218" y="5788025"/>
              <a:ext cx="850521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按完整场景或序列划分数据；标注跨帧真实 ID；重点覆盖交叉、相似外观与短暂漏检。</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9472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外观特征需验证目标场景适用性；可用 TrackEval 统一评价；实验配置和预算在运行前固定。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 / 22</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遮挡后的身份恢复与轨迹续接</a:t>
              </a:r>
            </a:p>
          </p:txBody>
        </p:sp>
      </p:grpSp>
      <p:grpSp>
        <p:nvGrpSpPr>
          <p:cNvPr id="6" name="recovery-ques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重点处理已丢失的轨迹：目标重新出现时，判断能否可靠地接回原 ID。</a:t>
              </a:r>
            </a:p>
          </p:txBody>
        </p:sp>
      </p:grpSp>
      <p:grpSp>
        <p:nvGrpSpPr>
          <p:cNvPr id="32" name="proposed-recovery"/>
          <p:cNvGrpSpPr/>
          <p:nvPr/>
        </p:nvGrpSpPr>
        <p:grpSpPr>
          <a:xfrm>
            <a:off x="601218" y="2187575"/>
            <a:ext cx="10981182" cy="2717800"/>
            <a:chOff x="601218" y="2187575"/>
            <a:chExt cx="10981182" cy="2717800"/>
          </a:xfrm>
        </p:grpSpPr>
        <p:sp>
          <p:nvSpPr>
            <p:cNvPr id="7" name="Rectangle 7"/>
            <p:cNvSpPr/>
            <p:nvPr/>
          </p:nvSpPr>
          <p:spPr>
            <a:xfrm>
              <a:off x="609600" y="2486025"/>
              <a:ext cx="1895475" cy="914400"/>
            </a:xfrm>
            <a:prstGeom prst="rect">
              <a:avLst/>
            </a:prstGeom>
            <a:solidFill>
              <a:schemeClr val="lt2"/>
            </a:solidFill>
            <a:ln>
              <a:noFill/>
            </a:ln>
          </p:spPr>
        </p:sp>
        <p:sp>
          <p:nvSpPr>
            <p:cNvPr id="8" name="TextBox 8"/>
            <p:cNvSpPr txBox="1"/>
            <p:nvPr/>
          </p:nvSpPr>
          <p:spPr>
            <a:xfrm>
              <a:off x="981266" y="2603500"/>
              <a:ext cx="1152144"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正在跟踪</a:t>
              </a:r>
            </a:p>
          </p:txBody>
        </p:sp>
        <p:sp>
          <p:nvSpPr>
            <p:cNvPr id="9" name="TextBox 9"/>
            <p:cNvSpPr txBox="1"/>
            <p:nvPr/>
          </p:nvSpPr>
          <p:spPr>
            <a:xfrm>
              <a:off x="858698" y="3016250"/>
              <a:ext cx="1397279"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持续更新原 ID</a:t>
              </a:r>
            </a:p>
          </p:txBody>
        </p:sp>
        <p:sp>
          <p:nvSpPr>
            <p:cNvPr id="10" name="Rectangle 10"/>
            <p:cNvSpPr/>
            <p:nvPr/>
          </p:nvSpPr>
          <p:spPr>
            <a:xfrm>
              <a:off x="3248025" y="2486025"/>
              <a:ext cx="2333625" cy="914400"/>
            </a:xfrm>
            <a:prstGeom prst="rect">
              <a:avLst/>
            </a:prstGeom>
            <a:solidFill>
              <a:schemeClr val="lt2"/>
            </a:solidFill>
            <a:ln>
              <a:noFill/>
            </a:ln>
          </p:spPr>
        </p:sp>
        <p:sp>
          <p:nvSpPr>
            <p:cNvPr id="11" name="TextBox 11"/>
            <p:cNvSpPr txBox="1"/>
            <p:nvPr/>
          </p:nvSpPr>
          <p:spPr>
            <a:xfrm>
              <a:off x="3414712"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遮挡后保留记忆</a:t>
              </a:r>
            </a:p>
          </p:txBody>
        </p:sp>
        <p:sp>
          <p:nvSpPr>
            <p:cNvPr id="12" name="TextBox 12"/>
            <p:cNvSpPr txBox="1"/>
            <p:nvPr/>
          </p:nvSpPr>
          <p:spPr>
            <a:xfrm>
              <a:off x="3295840" y="3016250"/>
              <a:ext cx="2237994"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外观、位置与运动历史</a:t>
              </a:r>
            </a:p>
          </p:txBody>
        </p:sp>
        <p:sp>
          <p:nvSpPr>
            <p:cNvPr id="13" name="Rectangle 13"/>
            <p:cNvSpPr/>
            <p:nvPr/>
          </p:nvSpPr>
          <p:spPr>
            <a:xfrm>
              <a:off x="6334125" y="2486025"/>
              <a:ext cx="2466975" cy="914400"/>
            </a:xfrm>
            <a:prstGeom prst="rect">
              <a:avLst/>
            </a:prstGeom>
            <a:solidFill>
              <a:schemeClr val="lt1"/>
            </a:solidFill>
            <a:ln w="19050">
              <a:solidFill>
                <a:schemeClr val="accent3"/>
              </a:solidFill>
            </a:ln>
          </p:spPr>
        </p:sp>
        <p:sp>
          <p:nvSpPr>
            <p:cNvPr id="14" name="TextBox 14"/>
            <p:cNvSpPr txBox="1"/>
            <p:nvPr/>
          </p:nvSpPr>
          <p:spPr>
            <a:xfrm>
              <a:off x="6567488" y="2603500"/>
              <a:ext cx="2000250" cy="410718"/>
            </a:xfrm>
            <a:prstGeom prst="rect">
              <a:avLst/>
            </a:prstGeom>
            <a:noFill/>
            <a:ln>
              <a:noFill/>
            </a:ln>
          </p:spPr>
          <p:txBody>
            <a:bodyPr wrap="none" lIns="0" tIns="0" rIns="0" bIns="0" anchor="t" anchorCtr="0">
              <a:spAutoFit/>
            </a:bodyPr>
            <a:lstStyle/>
            <a:p>
              <a:pPr algn="ctr"/>
              <a:r>
                <a:rPr lang="zh-CN" sz="2100" dirty="0">
                  <a:solidFill>
                    <a:schemeClr val="accent1"/>
                  </a:solidFill>
                  <a:latin typeface="+mn-lt"/>
                  <a:ea typeface="+mn-ea"/>
                  <a:cs typeface="+mn-cs"/>
                </a:rPr>
                <a:t>重现候选待确认</a:t>
              </a:r>
            </a:p>
          </p:txBody>
        </p:sp>
        <p:sp>
          <p:nvSpPr>
            <p:cNvPr id="15" name="TextBox 15"/>
            <p:cNvSpPr txBox="1"/>
            <p:nvPr/>
          </p:nvSpPr>
          <p:spPr>
            <a:xfrm>
              <a:off x="6559677" y="3016250"/>
              <a:ext cx="2015871"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筛选候选，连续观测</a:t>
              </a:r>
            </a:p>
          </p:txBody>
        </p:sp>
        <p:sp>
          <p:nvSpPr>
            <p:cNvPr id="16" name="Rectangle 16"/>
            <p:cNvSpPr/>
            <p:nvPr/>
          </p:nvSpPr>
          <p:spPr>
            <a:xfrm>
              <a:off x="9563100" y="2486025"/>
              <a:ext cx="2019300" cy="914400"/>
            </a:xfrm>
            <a:prstGeom prst="rect">
              <a:avLst/>
            </a:prstGeom>
            <a:solidFill>
              <a:schemeClr val="accent2"/>
            </a:solidFill>
            <a:ln>
              <a:noFill/>
            </a:ln>
          </p:spPr>
        </p:sp>
        <p:sp>
          <p:nvSpPr>
            <p:cNvPr id="17" name="TextBox 17"/>
            <p:cNvSpPr txBox="1"/>
            <p:nvPr/>
          </p:nvSpPr>
          <p:spPr>
            <a:xfrm>
              <a:off x="9966274" y="2603500"/>
              <a:ext cx="121295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恢复原 ID</a:t>
              </a:r>
            </a:p>
          </p:txBody>
        </p:sp>
        <p:sp>
          <p:nvSpPr>
            <p:cNvPr id="18" name="TextBox 18"/>
            <p:cNvSpPr txBox="1"/>
            <p:nvPr/>
          </p:nvSpPr>
          <p:spPr>
            <a:xfrm>
              <a:off x="9786938" y="3016250"/>
              <a:ext cx="1571625" cy="322707"/>
            </a:xfrm>
            <a:prstGeom prst="rect">
              <a:avLst/>
            </a:prstGeom>
            <a:noFill/>
            <a:ln>
              <a:noFill/>
            </a:ln>
          </p:spPr>
          <p:txBody>
            <a:bodyPr wrap="none" lIns="0" tIns="0" rIns="0" bIns="0" anchor="t" anchorCtr="0">
              <a:spAutoFit/>
            </a:bodyPr>
            <a:lstStyle/>
            <a:p>
              <a:pPr algn="ctr"/>
              <a:r>
                <a:rPr lang="zh-CN" sz="1650" dirty="0">
                  <a:solidFill>
                    <a:srgbClr val="FFFFFF"/>
                  </a:solidFill>
                  <a:latin typeface="+mn-lt"/>
                  <a:ea typeface="+mn-ea"/>
                  <a:cs typeface="+mn-cs"/>
                </a:rPr>
                <a:t>续接遮挡前记录</a:t>
              </a:r>
            </a:p>
          </p:txBody>
        </p:sp>
        <p:grpSp>
          <p:nvGrpSpPr>
            <p:cNvPr id="23" name="Group 23"/>
            <p:cNvGrpSpPr/>
            <p:nvPr/>
          </p:nvGrpSpPr>
          <p:grpSpPr>
            <a:xfrm>
              <a:off x="2505075" y="2943225"/>
              <a:ext cx="7019925" cy="1085850"/>
              <a:chOff x="2505075" y="2943225"/>
              <a:chExt cx="7019925" cy="1085850"/>
            </a:xfrm>
          </p:grpSpPr>
          <p:sp>
            <p:nvSpPr>
              <p:cNvPr id="19" name="Line 19"/>
              <p:cNvSpPr/>
              <p:nvPr/>
            </p:nvSpPr>
            <p:spPr>
              <a:xfrm>
                <a:off x="2505075" y="2943225"/>
                <a:ext cx="704850" cy="1"/>
              </a:xfrm>
              <a:prstGeom prst="line">
                <a:avLst/>
              </a:prstGeom>
              <a:noFill/>
              <a:ln w="19050">
                <a:solidFill>
                  <a:srgbClr val="596B80"/>
                </a:solidFill>
                <a:tailEnd type="triangle" w="lg" len="lg"/>
              </a:ln>
            </p:spPr>
          </p:sp>
          <p:sp>
            <p:nvSpPr>
              <p:cNvPr id="20" name="Line 20"/>
              <p:cNvSpPr/>
              <p:nvPr/>
            </p:nvSpPr>
            <p:spPr>
              <a:xfrm>
                <a:off x="5581650" y="2943225"/>
                <a:ext cx="714375" cy="1"/>
              </a:xfrm>
              <a:prstGeom prst="line">
                <a:avLst/>
              </a:prstGeom>
              <a:noFill/>
              <a:ln w="19050">
                <a:solidFill>
                  <a:srgbClr val="596B80"/>
                </a:solidFill>
                <a:tailEnd type="triangle" w="lg" len="lg"/>
              </a:ln>
            </p:spPr>
          </p:sp>
          <p:sp>
            <p:nvSpPr>
              <p:cNvPr id="21" name="Line 21"/>
              <p:cNvSpPr/>
              <p:nvPr/>
            </p:nvSpPr>
            <p:spPr>
              <a:xfrm>
                <a:off x="8801100" y="2943225"/>
                <a:ext cx="723900" cy="1"/>
              </a:xfrm>
              <a:prstGeom prst="line">
                <a:avLst/>
              </a:prstGeom>
              <a:noFill/>
              <a:ln w="19050">
                <a:solidFill>
                  <a:srgbClr val="596B80"/>
                </a:solidFill>
                <a:tailEnd type="triangle" w="lg" len="lg"/>
              </a:ln>
            </p:spPr>
          </p:sp>
          <p:sp>
            <p:nvSpPr>
              <p:cNvPr id="22" name="Line 22"/>
              <p:cNvSpPr/>
              <p:nvPr/>
            </p:nvSpPr>
            <p:spPr>
              <a:xfrm>
                <a:off x="7567612" y="3400425"/>
                <a:ext cx="1" cy="628650"/>
              </a:xfrm>
              <a:prstGeom prst="line">
                <a:avLst/>
              </a:prstGeom>
              <a:noFill/>
              <a:ln w="19050">
                <a:solidFill>
                  <a:srgbClr val="596B80"/>
                </a:solidFill>
                <a:tailEnd type="triangle" w="lg" len="lg"/>
              </a:ln>
            </p:spPr>
          </p:sp>
        </p:grpSp>
        <p:sp>
          <p:nvSpPr>
            <p:cNvPr id="24" name="TextBox 24"/>
            <p:cNvSpPr txBox="1"/>
            <p:nvPr/>
          </p:nvSpPr>
          <p:spPr>
            <a:xfrm>
              <a:off x="265557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丢失</a:t>
              </a:r>
            </a:p>
          </p:txBody>
        </p:sp>
        <p:sp>
          <p:nvSpPr>
            <p:cNvPr id="25" name="TextBox 25"/>
            <p:cNvSpPr txBox="1"/>
            <p:nvPr/>
          </p:nvSpPr>
          <p:spPr>
            <a:xfrm>
              <a:off x="5722620"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5"/>
                  </a:solidFill>
                  <a:latin typeface="+mn-lt"/>
                  <a:ea typeface="+mn-ea"/>
                  <a:cs typeface="+mn-cs"/>
                </a:rPr>
                <a:t>重现</a:t>
              </a:r>
            </a:p>
          </p:txBody>
        </p:sp>
        <p:sp>
          <p:nvSpPr>
            <p:cNvPr id="26" name="TextBox 26"/>
            <p:cNvSpPr txBox="1"/>
            <p:nvPr/>
          </p:nvSpPr>
          <p:spPr>
            <a:xfrm>
              <a:off x="8951595" y="2187575"/>
              <a:ext cx="461010" cy="322707"/>
            </a:xfrm>
            <a:prstGeom prst="rect">
              <a:avLst/>
            </a:prstGeom>
            <a:noFill/>
            <a:ln>
              <a:noFill/>
            </a:ln>
          </p:spPr>
          <p:txBody>
            <a:bodyPr wrap="none" lIns="0" tIns="0" rIns="0" bIns="0" anchor="t" anchorCtr="0">
              <a:spAutoFit/>
            </a:bodyPr>
            <a:lstStyle/>
            <a:p>
              <a:pPr algn="ctr"/>
              <a:r>
                <a:rPr lang="zh-CN" sz="1650" dirty="0">
                  <a:solidFill>
                    <a:schemeClr val="accent2"/>
                  </a:solidFill>
                  <a:latin typeface="+mn-lt"/>
                  <a:ea typeface="+mn-ea"/>
                  <a:cs typeface="+mn-cs"/>
                </a:rPr>
                <a:t>可信</a:t>
              </a:r>
            </a:p>
          </p:txBody>
        </p:sp>
        <p:sp>
          <p:nvSpPr>
            <p:cNvPr id="27" name="Rectangle 27"/>
            <p:cNvSpPr/>
            <p:nvPr/>
          </p:nvSpPr>
          <p:spPr>
            <a:xfrm>
              <a:off x="6334125" y="4076700"/>
              <a:ext cx="5248275" cy="828675"/>
            </a:xfrm>
            <a:prstGeom prst="rect">
              <a:avLst/>
            </a:prstGeom>
            <a:solidFill>
              <a:srgbClr val="F7F9FB"/>
            </a:solidFill>
            <a:ln>
              <a:noFill/>
            </a:ln>
          </p:spPr>
        </p:sp>
        <p:sp>
          <p:nvSpPr>
            <p:cNvPr id="28" name="TextBox 28"/>
            <p:cNvSpPr txBox="1"/>
            <p:nvPr/>
          </p:nvSpPr>
          <p:spPr>
            <a:xfrm>
              <a:off x="6554343" y="4216400"/>
              <a:ext cx="4014978"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证据不足：保留未确认状态，继续观察。</a:t>
              </a:r>
            </a:p>
          </p:txBody>
        </p:sp>
        <p:sp>
          <p:nvSpPr>
            <p:cNvPr id="29" name="TextBox 29"/>
            <p:cNvSpPr txBox="1"/>
            <p:nvPr/>
          </p:nvSpPr>
          <p:spPr>
            <a:xfrm>
              <a:off x="6554343" y="4559300"/>
              <a:ext cx="445922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到达固定时限后终止旧轨迹，避免强行接错。</a:t>
              </a:r>
            </a:p>
          </p:txBody>
        </p:sp>
        <p:sp>
          <p:nvSpPr>
            <p:cNvPr id="30" name="TextBox 30"/>
            <p:cNvSpPr txBox="1"/>
            <p:nvPr/>
          </p:nvSpPr>
          <p:spPr>
            <a:xfrm>
              <a:off x="601218" y="3978275"/>
              <a:ext cx="223799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沿用模块二的跟踪框架</a:t>
              </a:r>
            </a:p>
          </p:txBody>
        </p:sp>
        <p:sp>
          <p:nvSpPr>
            <p:cNvPr id="31" name="TextBox 31"/>
            <p:cNvSpPr txBox="1"/>
            <p:nvPr/>
          </p:nvSpPr>
          <p:spPr>
            <a:xfrm>
              <a:off x="601218" y="4368800"/>
              <a:ext cx="290436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增加丢失轨迹记忆与恢复判定</a:t>
              </a:r>
            </a:p>
          </p:txBody>
        </p:sp>
      </p:grpSp>
      <p:grpSp>
        <p:nvGrpSpPr>
          <p:cNvPr id="35" name="recovery-principle"/>
          <p:cNvGrpSpPr/>
          <p:nvPr/>
        </p:nvGrpSpPr>
        <p:grpSpPr>
          <a:xfrm>
            <a:off x="598932" y="5318125"/>
            <a:ext cx="7793355" cy="802132"/>
            <a:chOff x="598932" y="5318125"/>
            <a:chExt cx="7793355" cy="802132"/>
          </a:xfrm>
        </p:grpSpPr>
        <p:sp>
          <p:nvSpPr>
            <p:cNvPr id="33" name="TextBox 33"/>
            <p:cNvSpPr txBox="1"/>
            <p:nvPr/>
          </p:nvSpPr>
          <p:spPr>
            <a:xfrm>
              <a:off x="598932" y="5318125"/>
              <a:ext cx="769810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关键问题是“接回正确个体”，同时控制误接和长期悬而未决。</a:t>
              </a:r>
            </a:p>
          </p:txBody>
        </p:sp>
        <p:sp>
          <p:nvSpPr>
            <p:cNvPr id="34" name="TextBox 34"/>
            <p:cNvSpPr txBox="1"/>
            <p:nvPr/>
          </p:nvSpPr>
          <p:spPr>
            <a:xfrm>
              <a:off x="601218" y="5797550"/>
              <a:ext cx="779106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遮挡期间的位置预测应标为推测；只有重新观测后，才能确认身份与轨迹续接。</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50200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拟研究框架，尚未实现或验证；以单摄像头内的临时遮挡与重现为主。</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18 / 22</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305984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 · 拟开展</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遮挡恢复的实验设想</a:t>
              </a:r>
            </a:p>
          </p:txBody>
        </p:sp>
      </p:grpSp>
      <p:grpSp>
        <p:nvGrpSpPr>
          <p:cNvPr id="6" name="event-definition"/>
          <p:cNvGrpSpPr/>
          <p:nvPr/>
        </p:nvGrpSpPr>
        <p:grpSpPr>
          <a:xfrm>
            <a:off x="601218" y="1654175"/>
            <a:ext cx="6950354" cy="322707"/>
            <a:chOff x="601218" y="1654175"/>
            <a:chExt cx="6950354" cy="322707"/>
          </a:xfrm>
        </p:grpSpPr>
        <p:sp>
          <p:nvSpPr>
            <p:cNvPr id="5" name="TextBox 5"/>
            <p:cNvSpPr txBox="1"/>
            <p:nvPr/>
          </p:nvSpPr>
          <p:spPr>
            <a:xfrm>
              <a:off x="601218" y="1654175"/>
              <a:ext cx="69503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标注遮挡开始、重新可见与真实 ID；按事前固定的遮挡时长分层比较。</a:t>
              </a:r>
            </a:p>
          </p:txBody>
        </p:sp>
      </p:grpSp>
      <p:grpSp>
        <p:nvGrpSpPr>
          <p:cNvPr id="22" name="recovery-ablations"/>
          <p:cNvGrpSpPr/>
          <p:nvPr/>
        </p:nvGrpSpPr>
        <p:grpSpPr>
          <a:xfrm>
            <a:off x="598932" y="2184400"/>
            <a:ext cx="10983468" cy="2877693"/>
            <a:chOff x="598932" y="2184400"/>
            <a:chExt cx="10983468" cy="2877693"/>
          </a:xfrm>
        </p:grpSpPr>
        <p:sp>
          <p:nvSpPr>
            <p:cNvPr id="7" name="TextBox 7"/>
            <p:cNvSpPr txBox="1"/>
            <p:nvPr/>
          </p:nvSpPr>
          <p:spPr>
            <a:xfrm>
              <a:off x="598932" y="2184400"/>
              <a:ext cx="17175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拟比较的配置</a:t>
              </a:r>
            </a:p>
          </p:txBody>
        </p:sp>
        <p:sp>
          <p:nvSpPr>
            <p:cNvPr id="8" name="TextBox 8"/>
            <p:cNvSpPr txBox="1"/>
            <p:nvPr/>
          </p:nvSpPr>
          <p:spPr>
            <a:xfrm>
              <a:off x="6409182" y="2184400"/>
              <a:ext cx="200025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分离的影响因素</a:t>
              </a:r>
            </a:p>
          </p:txBody>
        </p:sp>
        <p:sp>
          <p:nvSpPr>
            <p:cNvPr id="9" name="Line 9"/>
            <p:cNvSpPr/>
            <p:nvPr/>
          </p:nvSpPr>
          <p:spPr>
            <a:xfrm>
              <a:off x="609600" y="2628900"/>
              <a:ext cx="10972800" cy="9525"/>
            </a:xfrm>
            <a:custGeom>
              <a:avLst/>
              <a:gdLst/>
              <a:ahLst/>
              <a:cxnLst/>
              <a:rect l="l" t="t" r="r" b="b"/>
              <a:pathLst>
                <a:path w="10972800" h="9525">
                  <a:moveTo>
                    <a:pt x="0" y="0"/>
                  </a:moveTo>
                  <a:lnTo>
                    <a:pt x="10972800" y="0"/>
                  </a:lnTo>
                </a:path>
              </a:pathLst>
            </a:custGeom>
            <a:noFill/>
            <a:ln w="19050">
              <a:solidFill>
                <a:schemeClr val="accent6"/>
              </a:solidFill>
            </a:ln>
          </p:spPr>
        </p:sp>
        <p:grpSp>
          <p:nvGrpSpPr>
            <p:cNvPr id="21" name="Group 21"/>
            <p:cNvGrpSpPr/>
            <p:nvPr/>
          </p:nvGrpSpPr>
          <p:grpSpPr>
            <a:xfrm>
              <a:off x="598932" y="2794000"/>
              <a:ext cx="10983468" cy="2268093"/>
              <a:chOff x="598932" y="2794000"/>
              <a:chExt cx="10983468" cy="2268093"/>
            </a:xfrm>
          </p:grpSpPr>
          <p:sp>
            <p:nvSpPr>
              <p:cNvPr id="10" name="TextBox 10"/>
              <p:cNvSpPr txBox="1"/>
              <p:nvPr/>
            </p:nvSpPr>
            <p:spPr>
              <a:xfrm>
                <a:off x="598932" y="2794000"/>
                <a:ext cx="33713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① 原跟踪器的默认丢失保留</a:t>
                </a:r>
              </a:p>
            </p:txBody>
          </p:sp>
          <p:sp>
            <p:nvSpPr>
              <p:cNvPr id="11" name="TextBox 11"/>
              <p:cNvSpPr txBox="1"/>
              <p:nvPr/>
            </p:nvSpPr>
            <p:spPr>
              <a:xfrm>
                <a:off x="6409182" y="2794000"/>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当前框架本身的恢复能力</a:t>
                </a:r>
              </a:p>
            </p:txBody>
          </p:sp>
          <p:sp>
            <p:nvSpPr>
              <p:cNvPr id="12" name="Line 12"/>
              <p:cNvSpPr/>
              <p:nvPr/>
            </p:nvSpPr>
            <p:spPr>
              <a:xfrm>
                <a:off x="609600" y="32480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8932" y="341312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② 仅延长轨迹保留时间</a:t>
                </a:r>
              </a:p>
            </p:txBody>
          </p:sp>
          <p:sp>
            <p:nvSpPr>
              <p:cNvPr id="14" name="TextBox 14"/>
              <p:cNvSpPr txBox="1"/>
              <p:nvPr/>
            </p:nvSpPr>
            <p:spPr>
              <a:xfrm>
                <a:off x="6409182" y="341312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单纯等待更久能改善多少</a:t>
                </a:r>
              </a:p>
            </p:txBody>
          </p:sp>
          <p:sp>
            <p:nvSpPr>
              <p:cNvPr id="15" name="Line 15"/>
              <p:cNvSpPr/>
              <p:nvPr/>
            </p:nvSpPr>
            <p:spPr>
              <a:xfrm>
                <a:off x="609600" y="3867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598932" y="4032250"/>
                <a:ext cx="36540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③ 同预算下加入可靠外观记忆</a:t>
                </a:r>
              </a:p>
            </p:txBody>
          </p:sp>
          <p:sp>
            <p:nvSpPr>
              <p:cNvPr id="17" name="TextBox 17"/>
              <p:cNvSpPr txBox="1"/>
              <p:nvPr/>
            </p:nvSpPr>
            <p:spPr>
              <a:xfrm>
                <a:off x="6409182" y="4032250"/>
                <a:ext cx="341376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记忆能否减少认错与漏恢复</a:t>
                </a:r>
              </a:p>
            </p:txBody>
          </p:sp>
          <p:sp>
            <p:nvSpPr>
              <p:cNvPr id="18" name="Line 18"/>
              <p:cNvSpPr/>
              <p:nvPr/>
            </p:nvSpPr>
            <p:spPr>
              <a:xfrm>
                <a:off x="609600" y="44862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598932" y="4651375"/>
                <a:ext cx="280595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④ 再加入连续多帧确认</a:t>
                </a:r>
              </a:p>
            </p:txBody>
          </p:sp>
          <p:sp>
            <p:nvSpPr>
              <p:cNvPr id="20" name="TextBox 20"/>
              <p:cNvSpPr txBox="1"/>
              <p:nvPr/>
            </p:nvSpPr>
            <p:spPr>
              <a:xfrm>
                <a:off x="6409182" y="4651375"/>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降低误接是否会增加恢复延迟</a:t>
                </a:r>
              </a:p>
            </p:txBody>
          </p:sp>
        </p:grpSp>
      </p:grpSp>
      <p:grpSp>
        <p:nvGrpSpPr>
          <p:cNvPr id="25" name="event-metrics"/>
          <p:cNvGrpSpPr/>
          <p:nvPr/>
        </p:nvGrpSpPr>
        <p:grpSpPr>
          <a:xfrm>
            <a:off x="598932" y="5270500"/>
            <a:ext cx="8502396" cy="783082"/>
            <a:chOff x="598932" y="5270500"/>
            <a:chExt cx="8502396" cy="783082"/>
          </a:xfrm>
        </p:grpSpPr>
        <p:sp>
          <p:nvSpPr>
            <p:cNvPr id="23" name="TextBox 23"/>
            <p:cNvSpPr txBox="1"/>
            <p:nvPr/>
          </p:nvSpPr>
          <p:spPr>
            <a:xfrm>
              <a:off x="598932" y="5270500"/>
              <a:ext cx="850239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同一批重现事件：正确恢复、错误续接、未恢复；另报延迟与超时。</a:t>
              </a:r>
            </a:p>
          </p:txBody>
        </p:sp>
        <p:sp>
          <p:nvSpPr>
            <p:cNvPr id="24" name="TextBox 24"/>
            <p:cNvSpPr txBox="1"/>
            <p:nvPr/>
          </p:nvSpPr>
          <p:spPr>
            <a:xfrm>
              <a:off x="601218" y="5730875"/>
              <a:ext cx="734682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三类结果共用全部合格事件分母；加入新目标进入、出画重入等干扰对照。</a:t>
              </a:r>
            </a:p>
          </p:txBody>
        </p:sp>
      </p:grpSp>
      <p:grpSp>
        <p:nvGrpSpPr>
          <p:cNvPr id="28" name="footer"/>
          <p:cNvGrpSpPr/>
          <p:nvPr/>
        </p:nvGrpSpPr>
        <p:grpSpPr>
          <a:xfrm>
            <a:off x="603504" y="6410325"/>
            <a:ext cx="10984992" cy="234696"/>
            <a:chOff x="603504" y="6410325"/>
            <a:chExt cx="10984992" cy="234696"/>
          </a:xfrm>
        </p:grpSpPr>
        <p:sp>
          <p:nvSpPr>
            <p:cNvPr id="26" name="TextBox 26"/>
            <p:cNvSpPr txBox="1"/>
            <p:nvPr/>
          </p:nvSpPr>
          <p:spPr>
            <a:xfrm>
              <a:off x="603504" y="6410325"/>
              <a:ext cx="66354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实验尚未开展；只把身份可标定的重现计入恢复机会；阈值、时限和评价窗口在运行前固定。</a:t>
              </a:r>
            </a:p>
          </p:txBody>
        </p:sp>
        <p:sp>
          <p:nvSpPr>
            <p:cNvPr id="27" name="TextBox 2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19 / 22</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通用系统的使用流程</a:t>
              </a:r>
            </a:p>
          </p:txBody>
        </p:sp>
      </p:grpSp>
      <p:grpSp>
        <p:nvGrpSpPr>
          <p:cNvPr id="8" name="choose-task"/>
          <p:cNvGrpSpPr/>
          <p:nvPr/>
        </p:nvGrpSpPr>
        <p:grpSpPr>
          <a:xfrm>
            <a:off x="590550" y="1870075"/>
            <a:ext cx="1896618" cy="2483993"/>
            <a:chOff x="590550" y="1870075"/>
            <a:chExt cx="1896618" cy="2483993"/>
          </a:xfrm>
        </p:grpSpPr>
        <p:sp>
          <p:nvSpPr>
            <p:cNvPr id="5" name="TextBox 5"/>
            <p:cNvSpPr txBox="1"/>
            <p:nvPr/>
          </p:nvSpPr>
          <p:spPr>
            <a:xfrm>
              <a:off x="590550" y="1870075"/>
              <a:ext cx="877725" cy="1047750"/>
            </a:xfrm>
            <a:prstGeom prst="rect">
              <a:avLst/>
            </a:prstGeom>
            <a:noFill/>
            <a:ln>
              <a:noFill/>
            </a:ln>
          </p:spPr>
          <p:txBody>
            <a:bodyPr wrap="none" lIns="0" tIns="0" rIns="0" bIns="0" anchor="t" anchorCtr="0">
              <a:spAutoFit/>
            </a:bodyPr>
            <a:lstStyle/>
            <a:p>
              <a:pPr algn="l"/>
              <a:r>
                <a:rPr lang="zh-CN" sz="5400" b="1" dirty="0">
                  <a:solidFill>
                    <a:srgbClr val="315E9D"/>
                  </a:solidFill>
                  <a:latin typeface="+mn-lt"/>
                  <a:ea typeface="+mn-ea"/>
                  <a:cs typeface="+mn-cs"/>
                </a:rPr>
                <a:t>01</a:t>
              </a:r>
            </a:p>
          </p:txBody>
        </p:sp>
        <p:sp>
          <p:nvSpPr>
            <p:cNvPr id="6" name="TextBox 6"/>
            <p:cNvSpPr txBox="1"/>
            <p:nvPr/>
          </p:nvSpPr>
          <p:spPr>
            <a:xfrm>
              <a:off x="59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选择任务</a:t>
              </a:r>
            </a:p>
          </p:txBody>
        </p:sp>
        <p:sp>
          <p:nvSpPr>
            <p:cNvPr id="7" name="TextBox 7"/>
            <p:cNvSpPr txBox="1"/>
            <p:nvPr/>
          </p:nvSpPr>
          <p:spPr>
            <a:xfrm>
              <a:off x="598932" y="3486150"/>
              <a:ext cx="18882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选择图片或视频</a:t>
              </a:r>
              <a:br>
                <a:rPr lang="zh-CN" sz="2100" dirty="0">
                  <a:solidFill>
                    <a:schemeClr val="dk1"/>
                  </a:solidFill>
                  <a:latin typeface="+mn-lt"/>
                  <a:ea typeface="+mn-ea"/>
                  <a:cs typeface="+mn-cs"/>
                </a:rPr>
              </a:br>
              <a:r>
                <a:rPr lang="zh-CN" sz="2100" dirty="0">
                  <a:solidFill>
                    <a:schemeClr val="dk1"/>
                  </a:solidFill>
                  <a:latin typeface="+mn-lt"/>
                  <a:ea typeface="+mn-ea"/>
                  <a:cs typeface="+mn-cs"/>
                </a:rPr>
                <a:t>设置识别对象</a:t>
              </a:r>
            </a:p>
          </p:txBody>
        </p:sp>
      </p:grpSp>
      <p:grpSp>
        <p:nvGrpSpPr>
          <p:cNvPr id="12" name="view-analysis"/>
          <p:cNvGrpSpPr/>
          <p:nvPr/>
        </p:nvGrpSpPr>
        <p:grpSpPr>
          <a:xfrm>
            <a:off x="4400550" y="1870075"/>
            <a:ext cx="2430018" cy="2483993"/>
            <a:chOff x="4400550" y="1870075"/>
            <a:chExt cx="2430018" cy="2483993"/>
          </a:xfrm>
        </p:grpSpPr>
        <p:sp>
          <p:nvSpPr>
            <p:cNvPr id="9" name="TextBox 9"/>
            <p:cNvSpPr txBox="1"/>
            <p:nvPr/>
          </p:nvSpPr>
          <p:spPr>
            <a:xfrm>
              <a:off x="440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02</a:t>
              </a:r>
            </a:p>
          </p:txBody>
        </p:sp>
        <p:sp>
          <p:nvSpPr>
            <p:cNvPr id="10" name="TextBox 10"/>
            <p:cNvSpPr txBox="1"/>
            <p:nvPr/>
          </p:nvSpPr>
          <p:spPr>
            <a:xfrm>
              <a:off x="440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查看分析</a:t>
              </a:r>
            </a:p>
          </p:txBody>
        </p:sp>
        <p:sp>
          <p:nvSpPr>
            <p:cNvPr id="11" name="TextBox 11"/>
            <p:cNvSpPr txBox="1"/>
            <p:nvPr/>
          </p:nvSpPr>
          <p:spPr>
            <a:xfrm>
              <a:off x="440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查看个体位置、轮廓</a:t>
              </a:r>
              <a:br>
                <a:rPr lang="zh-CN" sz="2100" dirty="0">
                  <a:solidFill>
                    <a:schemeClr val="dk1"/>
                  </a:solidFill>
                  <a:latin typeface="+mn-lt"/>
                  <a:ea typeface="+mn-ea"/>
                  <a:cs typeface="+mn-cs"/>
                </a:rPr>
              </a:br>
              <a:r>
                <a:rPr lang="zh-CN" sz="2100" dirty="0">
                  <a:solidFill>
                    <a:schemeClr val="dk1"/>
                  </a:solidFill>
                  <a:latin typeface="+mn-lt"/>
                  <a:ea typeface="+mn-ea"/>
                  <a:cs typeface="+mn-cs"/>
                </a:rPr>
                <a:t>与连续编号</a:t>
              </a:r>
            </a:p>
          </p:txBody>
        </p:sp>
      </p:grpSp>
      <p:grpSp>
        <p:nvGrpSpPr>
          <p:cNvPr id="16" name="save-records"/>
          <p:cNvGrpSpPr/>
          <p:nvPr/>
        </p:nvGrpSpPr>
        <p:grpSpPr>
          <a:xfrm>
            <a:off x="8210550" y="1870075"/>
            <a:ext cx="2696718" cy="2483993"/>
            <a:chOff x="8210550" y="1870075"/>
            <a:chExt cx="2696718" cy="2483993"/>
          </a:xfrm>
        </p:grpSpPr>
        <p:sp>
          <p:nvSpPr>
            <p:cNvPr id="13" name="TextBox 13"/>
            <p:cNvSpPr txBox="1"/>
            <p:nvPr/>
          </p:nvSpPr>
          <p:spPr>
            <a:xfrm>
              <a:off x="821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03</a:t>
              </a:r>
            </a:p>
          </p:txBody>
        </p:sp>
        <p:sp>
          <p:nvSpPr>
            <p:cNvPr id="14" name="TextBox 14"/>
            <p:cNvSpPr txBox="1"/>
            <p:nvPr/>
          </p:nvSpPr>
          <p:spPr>
            <a:xfrm>
              <a:off x="821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保存记录</a:t>
              </a:r>
            </a:p>
          </p:txBody>
        </p:sp>
        <p:sp>
          <p:nvSpPr>
            <p:cNvPr id="15" name="TextBox 15"/>
            <p:cNvSpPr txBox="1"/>
            <p:nvPr/>
          </p:nvSpPr>
          <p:spPr>
            <a:xfrm>
              <a:off x="8218932" y="348615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回看遮挡与恢复记录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导出轨迹、数量与报表</a:t>
              </a:r>
            </a:p>
          </p:txBody>
        </p:sp>
      </p:grpSp>
      <p:grpSp>
        <p:nvGrpSpPr>
          <p:cNvPr id="19" name="usable-output"/>
          <p:cNvGrpSpPr/>
          <p:nvPr/>
        </p:nvGrpSpPr>
        <p:grpSpPr>
          <a:xfrm>
            <a:off x="597408" y="5334000"/>
            <a:ext cx="10984992" cy="729742"/>
            <a:chOff x="597408" y="5334000"/>
            <a:chExt cx="10984992" cy="729742"/>
          </a:xfrm>
        </p:grpSpPr>
        <p:sp>
          <p:nvSpPr>
            <p:cNvPr id="17" name="Line 17"/>
            <p:cNvSpPr/>
            <p:nvPr/>
          </p:nvSpPr>
          <p:spPr>
            <a:xfrm>
              <a:off x="609600" y="53340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8" name="TextBox 18"/>
            <p:cNvSpPr txBox="1"/>
            <p:nvPr/>
          </p:nvSpPr>
          <p:spPr>
            <a:xfrm>
              <a:off x="597408" y="5594350"/>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让分析结果可以查看、回看和保存。</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14660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拟建系统的主要功能</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20 / 22</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猪只群体监测的应用案例</a:t>
              </a:r>
            </a:p>
          </p:txBody>
        </p:sp>
      </p:grpSp>
      <p:grpSp>
        <p:nvGrpSpPr>
          <p:cNvPr id="6" name="case-context"/>
          <p:cNvGrpSpPr/>
          <p:nvPr/>
        </p:nvGrpSpPr>
        <p:grpSpPr>
          <a:xfrm>
            <a:off x="598932" y="1889125"/>
            <a:ext cx="6806184" cy="410718"/>
            <a:chOff x="598932" y="1889125"/>
            <a:chExt cx="6806184" cy="410718"/>
          </a:xfrm>
        </p:grpSpPr>
        <p:sp>
          <p:nvSpPr>
            <p:cNvPr id="5" name="TextBox 5"/>
            <p:cNvSpPr txBox="1"/>
            <p:nvPr/>
          </p:nvSpPr>
          <p:spPr>
            <a:xfrm>
              <a:off x="598932" y="188912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以密集聚集、外观相似的猪只群体作为应用验证场景。</a:t>
              </a:r>
            </a:p>
          </p:txBody>
        </p:sp>
      </p:grpSp>
      <p:grpSp>
        <p:nvGrpSpPr>
          <p:cNvPr id="9" name="case-needs"/>
          <p:cNvGrpSpPr/>
          <p:nvPr/>
        </p:nvGrpSpPr>
        <p:grpSpPr>
          <a:xfrm>
            <a:off x="597408" y="2784475"/>
            <a:ext cx="2689860" cy="1934718"/>
            <a:chOff x="597408" y="2784475"/>
            <a:chExt cx="2689860" cy="1934718"/>
          </a:xfrm>
        </p:grpSpPr>
        <p:sp>
          <p:nvSpPr>
            <p:cNvPr id="7" name="TextBox 7"/>
            <p:cNvSpPr txBox="1"/>
            <p:nvPr/>
          </p:nvSpPr>
          <p:spPr>
            <a:xfrm>
              <a:off x="5974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场景中需要关注</a:t>
              </a:r>
            </a:p>
          </p:txBody>
        </p:sp>
        <p:sp>
          <p:nvSpPr>
            <p:cNvPr id="8" name="TextBox 8"/>
            <p:cNvSpPr txBox="1"/>
            <p:nvPr/>
          </p:nvSpPr>
          <p:spPr>
            <a:xfrm>
              <a:off x="598932" y="3317875"/>
              <a:ext cx="26883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当前能看到多少个体</a:t>
              </a:r>
              <a:br>
                <a:rPr lang="zh-CN" sz="2100" dirty="0">
                  <a:solidFill>
                    <a:schemeClr val="dk1"/>
                  </a:solidFill>
                  <a:latin typeface="+mn-lt"/>
                  <a:ea typeface="+mn-ea"/>
                  <a:cs typeface="+mn-cs"/>
                </a:rPr>
              </a:br>
              <a:r>
                <a:rPr lang="zh-CN" sz="2100" dirty="0">
                  <a:solidFill>
                    <a:schemeClr val="dk1"/>
                  </a:solidFill>
                  <a:latin typeface="+mn-lt"/>
                  <a:ea typeface="+mn-ea"/>
                  <a:cs typeface="+mn-cs"/>
                </a:rPr>
                <a:t>个体在哪里、停留多久</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遮挡后能否接续原记录</a:t>
              </a:r>
            </a:p>
          </p:txBody>
        </p:sp>
      </p:grpSp>
      <p:grpSp>
        <p:nvGrpSpPr>
          <p:cNvPr id="12" name="case-records"/>
          <p:cNvGrpSpPr/>
          <p:nvPr/>
        </p:nvGrpSpPr>
        <p:grpSpPr>
          <a:xfrm>
            <a:off x="6655308" y="2784475"/>
            <a:ext cx="3223260" cy="1934718"/>
            <a:chOff x="6655308" y="2784475"/>
            <a:chExt cx="3223260" cy="1934718"/>
          </a:xfrm>
        </p:grpSpPr>
        <p:sp>
          <p:nvSpPr>
            <p:cNvPr id="10" name="TextBox 10"/>
            <p:cNvSpPr txBox="1"/>
            <p:nvPr/>
          </p:nvSpPr>
          <p:spPr>
            <a:xfrm>
              <a:off x="66553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预期形成的记录</a:t>
              </a:r>
            </a:p>
          </p:txBody>
        </p:sp>
        <p:sp>
          <p:nvSpPr>
            <p:cNvPr id="11" name="TextBox 11"/>
            <p:cNvSpPr txBox="1"/>
            <p:nvPr/>
          </p:nvSpPr>
          <p:spPr>
            <a:xfrm>
              <a:off x="6656832" y="3317875"/>
              <a:ext cx="32217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数量变化记录</a:t>
              </a:r>
              <a:br>
                <a:rPr lang="zh-CN" sz="2100" dirty="0">
                  <a:solidFill>
                    <a:schemeClr val="dk1"/>
                  </a:solidFill>
                  <a:latin typeface="+mn-lt"/>
                  <a:ea typeface="+mn-ea"/>
                  <a:cs typeface="+mn-cs"/>
                </a:rPr>
              </a:br>
              <a:r>
                <a:rPr lang="zh-CN" sz="2100" dirty="0">
                  <a:solidFill>
                    <a:schemeClr val="dk1"/>
                  </a:solidFill>
                  <a:latin typeface="+mn-lt"/>
                  <a:ea typeface="+mn-ea"/>
                  <a:cs typeface="+mn-cs"/>
                </a:rPr>
                <a:t>个体位置与区域记录</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遮挡前后可回看的连续记录</a:t>
              </a:r>
            </a:p>
          </p:txBody>
        </p:sp>
      </p:grpSp>
      <p:grpSp>
        <p:nvGrpSpPr>
          <p:cNvPr id="15" name="general-scope"/>
          <p:cNvGrpSpPr/>
          <p:nvPr/>
        </p:nvGrpSpPr>
        <p:grpSpPr>
          <a:xfrm>
            <a:off x="598932" y="5438775"/>
            <a:ext cx="10983468" cy="642493"/>
            <a:chOff x="598932" y="5438775"/>
            <a:chExt cx="10983468" cy="642493"/>
          </a:xfrm>
        </p:grpSpPr>
        <p:sp>
          <p:nvSpPr>
            <p:cNvPr id="13" name="Line 13"/>
            <p:cNvSpPr/>
            <p:nvPr/>
          </p:nvSpPr>
          <p:spPr>
            <a:xfrm>
              <a:off x="609600" y="543877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4" name="TextBox 14"/>
            <p:cNvSpPr txBox="1"/>
            <p:nvPr/>
          </p:nvSpPr>
          <p:spPr>
            <a:xfrm>
              <a:off x="598932" y="567055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系统可配置不同识别对象，具体效果在各应用场景中分别验证。</a:t>
              </a:r>
            </a:p>
          </p:txBody>
        </p:sp>
      </p:grpSp>
      <p:grpSp>
        <p:nvGrpSpPr>
          <p:cNvPr id="18" name="footer"/>
          <p:cNvGrpSpPr/>
          <p:nvPr/>
        </p:nvGrpSpPr>
        <p:grpSpPr>
          <a:xfrm>
            <a:off x="603504" y="6410325"/>
            <a:ext cx="10984992" cy="234696"/>
            <a:chOff x="603504" y="6410325"/>
            <a:chExt cx="10984992" cy="234696"/>
          </a:xfrm>
        </p:grpSpPr>
        <p:sp>
          <p:nvSpPr>
            <p:cNvPr id="16" name="TextBox 16"/>
            <p:cNvSpPr txBox="1"/>
            <p:nvPr/>
          </p:nvSpPr>
          <p:spPr>
            <a:xfrm>
              <a:off x="603504" y="6410325"/>
              <a:ext cx="9814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应用验证方案</a:t>
              </a:r>
            </a:p>
          </p:txBody>
        </p:sp>
        <p:sp>
          <p:nvSpPr>
            <p:cNvPr id="17" name="TextBox 1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21 / 22</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04 研究安排</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现有基础与后续研究安排</a:t>
              </a:r>
            </a:p>
          </p:txBody>
        </p:sp>
      </p:grpSp>
      <p:grpSp>
        <p:nvGrpSpPr>
          <p:cNvPr id="7" name="existing-foundation"/>
          <p:cNvGrpSpPr/>
          <p:nvPr/>
        </p:nvGrpSpPr>
        <p:grpSpPr>
          <a:xfrm>
            <a:off x="597408" y="1898650"/>
            <a:ext cx="6747510" cy="1267968"/>
            <a:chOff x="597408" y="1898650"/>
            <a:chExt cx="6747510" cy="1267968"/>
          </a:xfrm>
        </p:grpSpPr>
        <p:sp>
          <p:nvSpPr>
            <p:cNvPr id="5" name="TextBox 5"/>
            <p:cNvSpPr txBox="1"/>
            <p:nvPr/>
          </p:nvSpPr>
          <p:spPr>
            <a:xfrm>
              <a:off x="597408" y="193675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可复用基础</a:t>
              </a:r>
            </a:p>
          </p:txBody>
        </p:sp>
        <p:sp>
          <p:nvSpPr>
            <p:cNvPr id="6" name="TextBox 6"/>
            <p:cNvSpPr txBox="1"/>
            <p:nvPr/>
          </p:nvSpPr>
          <p:spPr>
            <a:xfrm>
              <a:off x="3323082" y="1898650"/>
              <a:ext cx="4021836" cy="126796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图像模型、实验数据与评价流程</a:t>
              </a:r>
              <a:br>
                <a:rPr lang="zh-CN" sz="2100" dirty="0">
                  <a:solidFill>
                    <a:schemeClr val="dk1"/>
                  </a:solidFill>
                  <a:latin typeface="+mn-lt"/>
                  <a:ea typeface="+mn-ea"/>
                  <a:cs typeface="+mn-cs"/>
                </a:rPr>
              </a:br>
              <a:r>
                <a:rPr lang="zh-CN" sz="2100" dirty="0">
                  <a:solidFill>
                    <a:schemeClr val="dk1"/>
                  </a:solidFill>
                  <a:latin typeface="+mn-lt"/>
                  <a:ea typeface="+mn-ea"/>
                  <a:cs typeface="+mn-cs"/>
                </a:rPr>
                <a:t>已有动物图像与处理经验</a:t>
              </a:r>
              <a:br>
                <a:rPr lang="zh-CN" sz="2100" dirty="0">
                  <a:solidFill>
                    <a:schemeClr val="dk1"/>
                  </a:solidFill>
                  <a:latin typeface="+mn-lt"/>
                  <a:ea typeface="+mn-ea"/>
                  <a:cs typeface="+mn-cs"/>
                </a:rPr>
              </a:br>
              <a:r>
                <a:rPr lang="zh-CN" sz="2100" dirty="0">
                  <a:solidFill>
                    <a:schemeClr val="dk1"/>
                  </a:solidFill>
                  <a:latin typeface="+mn-lt"/>
                  <a:ea typeface="+mn-ea"/>
                  <a:cs typeface="+mn-cs"/>
                </a:rPr>
                <a:t>视频身份保持与遮挡恢复尚未开展</a:t>
              </a:r>
            </a:p>
          </p:txBody>
        </p:sp>
      </p:grpSp>
      <p:grpSp>
        <p:nvGrpSpPr>
          <p:cNvPr id="15" name="next-tasks"/>
          <p:cNvGrpSpPr/>
          <p:nvPr/>
        </p:nvGrpSpPr>
        <p:grpSpPr>
          <a:xfrm>
            <a:off x="598932" y="3705225"/>
            <a:ext cx="10983468" cy="1147318"/>
            <a:chOff x="598932" y="3705225"/>
            <a:chExt cx="10983468" cy="1147318"/>
          </a:xfrm>
        </p:grpSpPr>
        <p:sp>
          <p:nvSpPr>
            <p:cNvPr id="8" name="Line 8"/>
            <p:cNvSpPr/>
            <p:nvPr/>
          </p:nvSpPr>
          <p:spPr>
            <a:xfrm>
              <a:off x="609600" y="37052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9" name="TextBox 9"/>
            <p:cNvSpPr txBox="1"/>
            <p:nvPr/>
          </p:nvSpPr>
          <p:spPr>
            <a:xfrm>
              <a:off x="60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第一步</a:t>
              </a:r>
            </a:p>
          </p:txBody>
        </p:sp>
        <p:sp>
          <p:nvSpPr>
            <p:cNvPr id="10" name="TextBox 10"/>
            <p:cNvSpPr txBox="1"/>
            <p:nvPr/>
          </p:nvSpPr>
          <p:spPr>
            <a:xfrm>
              <a:off x="441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第二步</a:t>
              </a:r>
            </a:p>
          </p:txBody>
        </p:sp>
        <p:sp>
          <p:nvSpPr>
            <p:cNvPr id="11" name="TextBox 11"/>
            <p:cNvSpPr txBox="1"/>
            <p:nvPr/>
          </p:nvSpPr>
          <p:spPr>
            <a:xfrm>
              <a:off x="822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第三步</a:t>
              </a:r>
            </a:p>
          </p:txBody>
        </p:sp>
        <p:sp>
          <p:nvSpPr>
            <p:cNvPr id="12" name="TextBox 12"/>
            <p:cNvSpPr txBox="1"/>
            <p:nvPr/>
          </p:nvSpPr>
          <p:spPr>
            <a:xfrm>
              <a:off x="598932" y="4441825"/>
              <a:ext cx="2282952"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完善图像方法验证</a:t>
              </a:r>
            </a:p>
          </p:txBody>
        </p:sp>
        <p:sp>
          <p:nvSpPr>
            <p:cNvPr id="13" name="TextBox 13"/>
            <p:cNvSpPr txBox="1"/>
            <p:nvPr/>
          </p:nvSpPr>
          <p:spPr>
            <a:xfrm>
              <a:off x="4408932" y="4441825"/>
              <a:ext cx="284835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视频标注与两模块实验</a:t>
              </a:r>
            </a:p>
          </p:txBody>
        </p:sp>
        <p:sp>
          <p:nvSpPr>
            <p:cNvPr id="14" name="TextBox 14"/>
            <p:cNvSpPr txBox="1"/>
            <p:nvPr/>
          </p:nvSpPr>
          <p:spPr>
            <a:xfrm>
              <a:off x="8218932" y="4441825"/>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系统联调与论文整理</a:t>
              </a:r>
            </a:p>
          </p:txBody>
        </p:sp>
      </p:grpSp>
      <p:grpSp>
        <p:nvGrpSpPr>
          <p:cNvPr id="17" name="expected-delivery"/>
          <p:cNvGrpSpPr/>
          <p:nvPr/>
        </p:nvGrpSpPr>
        <p:grpSpPr>
          <a:xfrm>
            <a:off x="597408" y="5651500"/>
            <a:ext cx="7455408" cy="469392"/>
            <a:chOff x="597408" y="5651500"/>
            <a:chExt cx="7455408" cy="469392"/>
          </a:xfrm>
        </p:grpSpPr>
        <p:sp>
          <p:nvSpPr>
            <p:cNvPr id="16" name="TextBox 16"/>
            <p:cNvSpPr txBox="1"/>
            <p:nvPr/>
          </p:nvSpPr>
          <p:spPr>
            <a:xfrm>
              <a:off x="597408" y="5651500"/>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预期成果：方法验证结果与可演示的通用分析系统。</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22 / 22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2026-10-14T17:23:36Z</dcterms:created>
  <dcterms:modified xsi:type="dcterms:W3CDTF">2026-10-14T17:23:36Z</dcterms:modified>
  <cp:category/>
  <cp:contentStatus/>
</cp:coreProperties>
</file>