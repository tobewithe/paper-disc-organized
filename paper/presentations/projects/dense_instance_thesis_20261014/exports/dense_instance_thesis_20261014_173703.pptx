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16x9"/>
  <p:notesSz cx="6858000" cy="9144000"/>
  <p:defaultTextStyle>
    <a:defPPr>
      <a:defRPr lang="zh-CN"/>
    </a:defPPr>
    <a:lvl1pPr marL="0" algn="l" defTabSz="457200" rtl="0" eaLnBrk="1" latinLnBrk="0" hangingPunct="1">
      <a:defRPr sz="1800" kern="1200" lang="zh-CN">
        <a:solidFill>
          <a:schemeClr val="tx1"/>
        </a:solidFill>
        <a:latin typeface="+mn-lt"/>
        <a:ea typeface="+mn-ea"/>
        <a:cs typeface="+mn-cs"/>
      </a:defRPr>
    </a:lvl1pPr>
    <a:lvl2pPr marL="457200" algn="l" defTabSz="457200" rtl="0" eaLnBrk="1" latinLnBrk="0" hangingPunct="1">
      <a:defRPr sz="1800" kern="1200" lang="zh-CN">
        <a:solidFill>
          <a:schemeClr val="tx1"/>
        </a:solidFill>
        <a:latin typeface="+mn-lt"/>
        <a:ea typeface="+mn-ea"/>
        <a:cs typeface="+mn-cs"/>
      </a:defRPr>
    </a:lvl2pPr>
    <a:lvl3pPr marL="914400" algn="l" defTabSz="457200" rtl="0" eaLnBrk="1" latinLnBrk="0" hangingPunct="1">
      <a:defRPr sz="1800" kern="1200" lang="zh-CN">
        <a:solidFill>
          <a:schemeClr val="tx1"/>
        </a:solidFill>
        <a:latin typeface="+mn-lt"/>
        <a:ea typeface="+mn-ea"/>
        <a:cs typeface="+mn-cs"/>
      </a:defRPr>
    </a:lvl3pPr>
    <a:lvl4pPr marL="1371600" algn="l" defTabSz="457200" rtl="0" eaLnBrk="1" latinLnBrk="0" hangingPunct="1">
      <a:defRPr sz="1800" kern="1200" lang="zh-CN">
        <a:solidFill>
          <a:schemeClr val="tx1"/>
        </a:solidFill>
        <a:latin typeface="+mn-lt"/>
        <a:ea typeface="+mn-ea"/>
        <a:cs typeface="+mn-cs"/>
      </a:defRPr>
    </a:lvl4pPr>
    <a:lvl5pPr marL="1828800" algn="l" defTabSz="457200" rtl="0" eaLnBrk="1" latinLnBrk="0" hangingPunct="1">
      <a:defRPr sz="1800" kern="1200" lang="zh-CN">
        <a:solidFill>
          <a:schemeClr val="tx1"/>
        </a:solidFill>
        <a:latin typeface="+mn-lt"/>
        <a:ea typeface="+mn-ea"/>
        <a:cs typeface="+mn-cs"/>
      </a:defRPr>
    </a:lvl5pPr>
    <a:lvl6pPr marL="2286000" algn="l" defTabSz="457200" rtl="0" eaLnBrk="1" latinLnBrk="0" hangingPunct="1">
      <a:defRPr sz="1800" kern="1200" lang="zh-CN">
        <a:solidFill>
          <a:schemeClr val="tx1"/>
        </a:solidFill>
        <a:latin typeface="+mn-lt"/>
        <a:ea typeface="+mn-ea"/>
        <a:cs typeface="+mn-cs"/>
      </a:defRPr>
    </a:lvl6pPr>
    <a:lvl7pPr marL="2743200" algn="l" defTabSz="457200" rtl="0" eaLnBrk="1" latinLnBrk="0" hangingPunct="1">
      <a:defRPr sz="1800" kern="1200" lang="zh-CN">
        <a:solidFill>
          <a:schemeClr val="tx1"/>
        </a:solidFill>
        <a:latin typeface="+mn-lt"/>
        <a:ea typeface="+mn-ea"/>
        <a:cs typeface="+mn-cs"/>
      </a:defRPr>
    </a:lvl7pPr>
    <a:lvl8pPr marL="3200400" algn="l" defTabSz="457200" rtl="0" eaLnBrk="1" latinLnBrk="0" hangingPunct="1">
      <a:defRPr sz="1800" kern="1200" lang="zh-CN">
        <a:solidFill>
          <a:schemeClr val="tx1"/>
        </a:solidFill>
        <a:latin typeface="+mn-lt"/>
        <a:ea typeface="+mn-ea"/>
        <a:cs typeface="+mn-cs"/>
      </a:defRPr>
    </a:lvl8pPr>
    <a:lvl9pPr marL="3657600" algn="l" defTabSz="457200" rtl="0" eaLnBrk="1" latinLnBrk="0" hangingPunct="1">
      <a:defRPr sz="1800" kern="1200" lang="zh-CN">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各位老师好，本次汇报的题目是“面向密集场景的目标检测与实例分割方法及系统研究”。课题希望改善拥挤环境中的个体识别和连续记录，并形成可以实际使用的分析系统。</a:t>
            </a:r>
          </a:p>
          <a:p>
            <a:pPr/>
            <a:endParaRPr lang="zh-CN" dirty="0"/>
          </a:p>
          <a:p>
            <a:pPr/>
            <a:r>
              <a:rPr lang="zh-CN" dirty="0"/>
              <a:t>汇报分为四个部分：先说明应用需要和目前的困难，再介绍研究方法，随后说明系统能提供哪些功能，最后介绍已有基础和后续安排。</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动物群体、人员和车辆监测，都需要持续记录具体个体。实际使用时，通常需要了解当前能看到多少个体、每个个体在哪里，以及它在某个位置停留了多久。</a:t>
            </a:r>
          </a:p>
          <a:p>
            <a:pPr/>
            <a:endParaRPr lang="zh-CN" dirty="0"/>
          </a:p>
          <a:p>
            <a:pPr/>
            <a:r>
              <a:rPr lang="zh-CN" dirty="0"/>
              <a:t>如果还需要分析个体的可见区域，就要进一步分开相邻个体的轮廓。否则，数量虽然基本正确，每个个体的区域记录仍可能不准确。</a:t>
            </a:r>
          </a:p>
          <a:p>
            <a:pPr/>
            <a:endParaRPr lang="zh-CN" dirty="0"/>
          </a:p>
          <a:p>
            <a:pPr/>
            <a:r>
              <a:rPr lang="zh-CN" dirty="0"/>
              <a:t>这些需求都依赖稳定、可回查的个体记录。本课题希望围绕这类共同需求开展研究，最终让识别结果能够支持后续统计和分析。</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现有技术已经能够在图像中找到目标的位置，并描出每个个体的轮廓。在视频中，也可以连续跟随个体移动，记录它出现过的位置。因此，这项研究已经有比较明确的技术基础。</a:t>
            </a:r>
          </a:p>
          <a:p>
            <a:pPr/>
            <a:endParaRPr lang="zh-CN" dirty="0"/>
          </a:p>
          <a:p>
            <a:pPr/>
            <a:r>
              <a:rPr lang="zh-CN" dirty="0"/>
              <a:t>但是目前，在密集场景下保持稳定的识别和跟踪仍有困难。目标挤在一起、彼此接触，或者被遮挡较长时间时，记录可能中断，也可能前后不一致。能够处理一张图像，并不能直接说明一段视频中的每个个体都能持续记录正确。</a:t>
            </a:r>
          </a:p>
          <a:p>
            <a:pPr/>
            <a:endParaRPr lang="zh-CN" dirty="0"/>
          </a:p>
          <a:p>
            <a:pPr/>
            <a:r>
              <a:rPr lang="zh-CN" dirty="0"/>
              <a:t>本课题进一步关注的，就是这些复杂条件下的使用效果。</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密集场景中的困难可以归纳为三个具体问题。第一，个体挤在一起时，系统容易少认一个，或者把同一个体重复认成多个，造成数量偏差。</a:t>
            </a:r>
          </a:p>
          <a:p>
            <a:pPr/>
            <a:endParaRPr lang="zh-CN" dirty="0"/>
          </a:p>
          <a:p>
            <a:pPr/>
            <a:r>
              <a:rPr lang="zh-CN" dirty="0"/>
              <a:t>第二，相邻个体接触时，轮廓容易混在一起。这样虽然知道画面里有几个目标，却难以准确说明每个个体占据哪一片区域。</a:t>
            </a:r>
          </a:p>
          <a:p>
            <a:pPr/>
            <a:endParaRPr lang="zh-CN" dirty="0"/>
          </a:p>
          <a:p>
            <a:pPr/>
            <a:r>
              <a:rPr lang="zh-CN" dirty="0"/>
              <a:t>第三，个体被遮挡后重新出现，系统可能给它一个新编号，也可能认成另一个个体，导致之前的记录接不上。</a:t>
            </a:r>
          </a:p>
          <a:p>
            <a:pPr/>
            <a:endParaRPr lang="zh-CN" dirty="0"/>
          </a:p>
          <a:p>
            <a:pPr/>
            <a:r>
              <a:rPr lang="zh-CN" dirty="0"/>
              <a:t>因此，研究目标是提高个体识别、轮廓区分和连续记录的可靠性。下面结合已有实验，说明如何评价这些问题、探索修正办法，并分析适用范围。</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研究方法分为三个模块。第一个模块是实例级评价与失败定位，先把问题测量清楚，区分检测框的问题和轮廓的问题。第二个模块是轮廓修正的探索实验，先检查固定模型是否还有可改进空间，再检验轻量修正器能不能自动获得这些收益。第三个模块是修正风险与适用范围，分析哪些个体容易受损，并据此提出下一步验证方案。</a:t>
            </a:r>
          </a:p>
          <a:p>
            <a:pPr/>
            <a:endParaRPr lang="zh-CN" dirty="0"/>
          </a:p>
          <a:p>
            <a:pPr/>
            <a:r>
              <a:rPr lang="zh-CN" dirty="0"/>
              <a:t>下面使用的数字都来自已经完成的实验。它们采用 YOLO26m-seg 和 COCO 图像数据，可以作为毕业论文的方法基础；密集专项数据、动物应用和视频身份恢复还需要后续补充验证。</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为了把整体分数进一步落实到具体实例，本研究在已有 IoU 和任务匹配结果上，定义了几个诊断口径。IoU 是预测区域与真实标注区域的交并比，越接近一，二者越一致；这里统一采用零点七五作为诊断阈值。</a:t>
            </a:r>
          </a:p>
          <a:p>
            <a:pPr/>
            <a:endParaRPr lang="zh-CN" dirty="0"/>
          </a:p>
          <a:p>
            <a:pPr/>
            <a:r>
              <a:rPr lang="zh-CN" dirty="0"/>
              <a:t>首先定义目标集合 T：原来的分割任务失败，但存在合格的检测框，而且这同一条检测自身的轮廓仍不合格。这使后续研究能够固定目标身份，只考察轮廓修正。框匹配和分割匹配原本是独立进行的，不能从不同检测中各取一个好结果，拼成同一个体的成功。</a:t>
            </a:r>
          </a:p>
          <a:p>
            <a:pPr/>
            <a:endParaRPr lang="zh-CN" dirty="0"/>
          </a:p>
          <a:p>
            <a:pPr/>
            <a:r>
              <a:rPr lang="zh-CN" dirty="0"/>
              <a:t>第二个指标是修正增益，也就是修正后减去修正前的轮廓 IoU。正式比较先在每张有合法配对的图中求平均，再对图片等权平均，避免目标较多的图完全主导结果。第三个指标是成功损伤率：原来分割成功的实例中，有多少在修正后失去了任务匹配。既要看错误能否变好，也要保护原本正确的结果。</a:t>
            </a:r>
          </a:p>
          <a:p>
            <a:pPr/>
            <a:endParaRPr lang="zh-CN" dirty="0"/>
          </a:p>
          <a:p>
            <a:pPr/>
            <a:r>
              <a:rPr lang="zh-CN" dirty="0"/>
              <a:t>第四个指标是邻框重叠度，取当前框和其它最终输出框的最大 IoU。邻框不限类别，并排除同一个原始候选展开出的类别副本。它可以描述预测结果之间的重叠，但也可能包含重复检测或误检，因此不能直接等同于真实场景的拥挤程度。完整方法是否有效，最终仍需同配置的全量分割 AP 验收。</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先看正常推理输出中的失败实例。对 COCO 验证集五千张图的三万六千三百三十五个普通标注实例逐一核对后，分割任务失败的共有一万三千三百七十八个。左图将这些失败实例划分成三个互斥类别。</a:t>
            </a:r>
          </a:p>
          <a:p>
            <a:pPr/>
            <a:endParaRPr lang="zh-CN" dirty="0"/>
          </a:p>
          <a:p>
            <a:pPr/>
            <a:r>
              <a:rPr lang="zh-CN" dirty="0"/>
              <a:t>其中，七千一百四十八个没有达到零点七五要求的检测框配对；六千二百二十九个已经有合格框，但这同一条检测的轮廓仍未达标，构成目标集合 T；另有一个案例属于最终匹配竞争。目标集合约占分割失败的百分之四十六点五六，这个比例有明确分母，并不等于分割 AP。</a:t>
            </a:r>
          </a:p>
          <a:p>
            <a:pPr/>
            <a:endParaRPr lang="zh-CN" dirty="0"/>
          </a:p>
          <a:p>
            <a:pPr/>
            <a:r>
              <a:rPr lang="zh-CN" dirty="0"/>
              <a:t>因此，有相当一部分错误可以在保持检测框不变的条件下，继续研究轮廓修正。这里的结论是明确一个研究对象，其余类型的错误需要分别分析。这次原生输出账本核验有效，但尚未达到官方公布 AP 的复现要求，所以后续比较统一使用本地同协议基线。</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确定研究对象后，首先检查现有模型是否还有可修正的空间。实验固定基础模型、分割原型、检测框、类别和分数，只优化构成当前轮廓的组合系数。这里利用真实标注指导优化，目的是测量可以找到多少改善机会。</a:t>
            </a:r>
          </a:p>
          <a:p>
            <a:pPr/>
            <a:endParaRPr lang="zh-CN" dirty="0"/>
          </a:p>
          <a:p>
            <a:pPr/>
            <a:r>
              <a:rPr lang="zh-CN" dirty="0"/>
              <a:t>从六千二百二十九个目标中按冻结规则选取二百五十六个进行有限求解，全部完成数值收敛，最终有一百二十二个在同一条检测上达到轮廓 IoU 零点七五，比例约为百分之四十七点六六。按真实标注面积分组，小目标为三十八除以一百四十八，中目标为四十四除以六十四，大目标为四十除以四十四。</a:t>
            </a:r>
          </a:p>
          <a:p>
            <a:pPr/>
            <a:endParaRPr lang="zh-CN" dirty="0"/>
          </a:p>
          <a:p>
            <a:pPr/>
            <a:r>
              <a:rPr lang="zh-CN" dirty="0"/>
              <a:t>这说明固定原有表示后，确实能够找到更准确的轮廓，同时不同大小的目标表现有明显差异。但这一实验使用了真实标注，不能作为自动方法的修复率，也不是全体失败实例的恢复比例或 AP 提升。接下来需要检验，自动修正器能否学到这些机会。</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下来把标注辅助求解换成实际推理时不读取标注的轻量修正器。基础模型保持冻结，只训练新增的系数修正模块。三种配置使用同样的两千张训练图、三轮训练和固定预算，分别观察空间信息与训练损失的影响。</a:t>
            </a:r>
          </a:p>
          <a:p>
            <a:pPr/>
            <a:endParaRPr lang="zh-CN" dirty="0"/>
          </a:p>
          <a:p>
            <a:pPr/>
            <a:r>
              <a:rPr lang="zh-CN" dirty="0"/>
              <a:t>第一种将空间排列打乱，作为机制对照。第二种保留空间排列，采用原来的 BCE 损失。第三种继续保留空间信息，仅把目标损失替换为 soft-IoU。它们在同一组开发目标上的平均 IoU 变化分别约为负一点九三、负零点九九六和正零点六八个百分点，横线是原协议下的百分之九十五置信区间。</a:t>
            </a:r>
          </a:p>
          <a:p>
            <a:pPr/>
            <a:endParaRPr lang="zh-CN" dirty="0"/>
          </a:p>
          <a:p>
            <a:pPr/>
            <a:r>
              <a:rPr lang="zh-CN" dirty="0"/>
              <a:t>保留空间信息比打乱对照少损失约零点九三四个百分点；替换损失后，相比原 BCE 目标效果也有改善。不过，soft-IoU 的区间下界仍低于零，总体固定配对 IoU 下降约零点二六二个百分点，原成功实例中有五十三个受到损伤，抽样分母为一千零二十四，损伤的单侧百分之九十五上界为百分之六点四三，高于百分之一要求。</a:t>
            </a:r>
          </a:p>
          <a:p>
            <a:pPr/>
            <a:endParaRPr lang="zh-CN" dirty="0"/>
          </a:p>
          <a:p>
            <a:pPr/>
            <a:r>
              <a:rPr lang="zh-CN" dirty="0"/>
              <a:t>所以当前配置没有通过完整验收，也没有进入全量方法 AP 验证。这个结果把下一步的问题具体化了：不仅要让部分失败实例变好，还要找出原成功实例为什么受损、哪些条件下更容易受损。</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为了分析损伤来自哪些实例，接下来复用同一 soft-IoU 模型的已有结果，按原生预测掩码面积分组，不进行新训练。这里使用推理阶段直接可见的预测面积，与前面求解实验中的真实标注面积区分开。面积在原图像素坐标下计算，小于三十二的平方为小掩码，三十二的平方到九十六的平方之间为中掩码，其余为大掩码。</a:t>
            </a:r>
          </a:p>
          <a:p>
            <a:pPr/>
            <a:endParaRPr lang="zh-CN" dirty="0"/>
          </a:p>
          <a:p>
            <a:pPr/>
            <a:r>
              <a:rPr lang="zh-CN" dirty="0"/>
              <a:t>小掩码组有二百七十个原成功实例，其中三十七个受损，损伤率约为百分之十三点七。中掩码组为十四除以四百二十四，大掩码组为二除以三百三十。小掩码只占整个成功面板的百分之二十六点四，却占到了所有损伤案例的百分之六十九点八。</a:t>
            </a:r>
          </a:p>
          <a:p>
            <a:pPr/>
            <a:endParaRPr lang="zh-CN" dirty="0"/>
          </a:p>
          <a:p>
            <a:pPr/>
            <a:r>
              <a:rPr lang="zh-CN" dirty="0"/>
              <a:t>这个结果提示，当前修正器的风险并不是平均分布的，小掩码更值得重点保护。不过，大掩码组零点六一的百分比只是点估计，其不确定性仍然存在，不能直接宣布损伤上界已经低于百分之一，更不能把这个分组结果当成尚未执行的选择性修正结果。</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面积较小的目标也可能更容易与其它框重叠，所以还需要检查面积和邻框重叠是否混在一起。这里在相同重叠程度内比较面积，在相同面积层内比较重叠，再按预先固定的权重汇总。</a:t>
            </a:r>
          </a:p>
          <a:p>
            <a:pPr/>
            <a:endParaRPr lang="zh-CN" dirty="0"/>
          </a:p>
          <a:p>
            <a:pPr/>
            <a:r>
              <a:rPr lang="zh-CN" dirty="0"/>
              <a:t>控制邻框重叠后，小掩码相对于中大掩码的损伤率差约为十一点七六五个百分点，校正区间仍全部大于零。反过来，控制原生掩码面积后，高重叠相对于低重叠的差约为三点二八七个百分点，校正区间从负二点七到正七点一六八，仍然跨越零。这里高重叠表示邻框最大 IoU 至少零点五，低重叠表示小于零点一，区间对八项比较进行了校正。</a:t>
            </a:r>
          </a:p>
          <a:p>
            <a:pPr/>
            <a:endParaRPr lang="zh-CN" dirty="0"/>
          </a:p>
          <a:p>
            <a:pPr/>
            <a:r>
              <a:rPr lang="zh-CN" dirty="0"/>
              <a:t>因此，在目前的开发数据和预设分析下，面积与损伤的关联更稳定。当前证据更支持先验证面积选择策略，还不足以优先投入邻域交互模块。这是探索性关联，不是因果证明，也不能推出所有邻域方法都无效。</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组实验得到两个比较明确的认识：一部分分割失败实例在固定检测后仍有可修正空间；目前的自动修正会对原成功实例造成损伤，而且损伤在小掩码中更集中。它们构成后续方法研究的依据，但当前自动修正还没有通过完整验收，尚无全量提升结论。</a:t>
            </a:r>
          </a:p>
          <a:p>
            <a:pPr/>
            <a:endParaRPr lang="zh-CN" dirty="0"/>
          </a:p>
          <a:p>
            <a:pPr/>
            <a:r>
              <a:rPr lang="zh-CN" dirty="0"/>
              <a:t>因此，下一步拟验证一个明确的选择性应用方案：原生预测掩码面积达到九十六的平方原图像素时，才应用现有系数修正，其余保持原结果。这个面积量由预测输出直接取得，实际使用时不读取真实标注。这个方案尚待验证，面积阈值来自本次预先定义的分组边界，选择大目标优先是探索结果驱动的后续设计。</a:t>
            </a:r>
          </a:p>
          <a:p>
            <a:pPr/>
            <a:endParaRPr lang="zh-CN" dirty="0"/>
          </a:p>
          <a:p>
            <a:pPr/>
            <a:r>
              <a:rPr lang="zh-CN" dirty="0"/>
              <a:t>验证时需要保留完整输出和全部原评价分母，重新检查目标增益、总体变化以及原成功实例的损伤，不能只汇报大目标组的结果。当前结论来自 COCO 图像开发实验；密集专项和视频中的身份恢复仍需独立验证，再将经过验证的功能接入通用检测分割系统。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系统面向使用者提供三个主要步骤。首先选择需要处理的图片或视频，并设置识别对象。随后查看分析结果，包括个体的位置、轮廓，以及视频中的连续编号。</a:t>
            </a:r>
          </a:p>
          <a:p>
            <a:pPr/>
            <a:endParaRPr lang="zh-CN" dirty="0"/>
          </a:p>
          <a:p>
            <a:pPr/>
            <a:r>
              <a:rPr lang="zh-CN" dirty="0"/>
              <a:t>处理完成后，可以回看数量变化和个体记录，也可以保存结果并导出报表。这样，分析结果既能在画面上查看，也能用于后续整理和比较。</a:t>
            </a:r>
          </a:p>
          <a:p>
            <a:pPr/>
            <a:endParaRPr lang="zh-CN" dirty="0"/>
          </a:p>
          <a:p>
            <a:pPr/>
            <a:r>
              <a:rPr lang="zh-CN" dirty="0"/>
              <a:t>系统拟支持不同识别对象和不同场景的配置。这里重点是把研究成果组织成可使用、可回查的完整流程。</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应用验证以猪只群体监测为例。猪只密集聚集、外观相似，能够提供一个具体的使用场景。</a:t>
            </a:r>
          </a:p>
          <a:p>
            <a:pPr/>
            <a:endParaRPr lang="zh-CN" dirty="0"/>
          </a:p>
          <a:p>
            <a:pPr/>
            <a:r>
              <a:rPr lang="zh-CN" dirty="0"/>
              <a:t>使用者关心的是当前能看到多少个体、它们在哪里停留，以及遮挡前后的记录能否接起来。系统预期形成数量变化、个体位置与区域，以及可回看的连续记录。</a:t>
            </a:r>
          </a:p>
          <a:p>
            <a:pPr/>
            <a:endParaRPr lang="zh-CN" dirty="0"/>
          </a:p>
          <a:p>
            <a:pPr/>
            <a:r>
              <a:rPr lang="zh-CN" dirty="0"/>
              <a:t>猪只承担的是应用验证角色。系统的识别对象可以配置，面向其它群体监测任务时，需要继续检验相应场景中的效果。</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现有基础包括动物图像资料、已有处理与导出流程，以及前期实验和问题分析经验。这些工作可以继续复用，支持后续的方法研究和系统开发。</a:t>
            </a:r>
          </a:p>
          <a:p>
            <a:pPr/>
            <a:endParaRPr lang="zh-CN" dirty="0"/>
          </a:p>
          <a:p>
            <a:pPr/>
            <a:r>
              <a:rPr lang="zh-CN" dirty="0"/>
              <a:t>接下来在已有实验基础上完善方法验证，同时补充连续视频资料，随后开展系统联调和论文整理。图像研究基础可以直接利用，连续视频中的个体记录仍需要补充准备。</a:t>
            </a:r>
          </a:p>
          <a:p>
            <a:pPr/>
            <a:endParaRPr lang="zh-CN" dirty="0"/>
          </a:p>
          <a:p>
            <a:pPr/>
            <a:r>
              <a:rPr lang="zh-CN" dirty="0"/>
              <a:t>预期形成可复查的方法验证结果，以及一个能够演示完整处理流程的通用分析系统。以上是本次研究方案汇报，请各位老师批评指正。</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nse_instance_thesis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zh-CN" smtClean="0"/>
              <a:t>1/27/13</a:t>
            </a:fld>
            <a:endParaRPr lang="zh-CN"/>
          </a:p>
        </p:txBody>
      </p:sp>
      <p:sp>
        <p:nvSpPr>
          <p:cNvPr id="3" name="Footer Placeholder 2"/>
          <p:cNvSpPr>
            <a:spLocks noGrp="1"/>
          </p:cNvSpPr>
          <p:nvPr>
            <p:ph type="ftr" sz="quarter" idx="11"/>
          </p:nvPr>
        </p:nvSpPr>
        <p:spPr/>
        <p:txBody>
          <a:bodyPr/>
          <a:lstStyle/>
          <a:p>
            <a:endParaRPr lang="zh-CN"/>
          </a:p>
        </p:txBody>
      </p:sp>
      <p:sp>
        <p:nvSpPr>
          <p:cNvPr id="4" name="Slide Number Placeholder 3"/>
          <p:cNvSpPr>
            <a:spLocks noGrp="1"/>
          </p:cNvSpPr>
          <p:nvPr>
            <p:ph type="sldNum" sz="quarter" idx="12"/>
          </p:nvPr>
        </p:nvSpPr>
        <p:spPr/>
        <p:txBody>
          <a:bodyPr/>
          <a:lstStyle/>
          <a:p>
            <a:fld id="{C1FF6DA9-008F-8B48-92A6-B652298478BF}" type="slidenum">
              <a:rPr lang="zh-CN" smtClean="0"/>
              <a:t>‹#›</a:t>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nse_instance_thesis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zh-CN">
                <a:solidFill>
                  <a:schemeClr val="tx1">
                    <a:tint val="75000"/>
                  </a:schemeClr>
                </a:solidFill>
              </a:defRPr>
            </a:lvl1pPr>
          </a:lstStyle>
          <a:p>
            <a:fld id="{5BCAD085-E8A6-8845-BD4E-CB4CCA059FC4}" type="datetimeFigureOut">
              <a:rPr lang="zh-CN" smtClean="0"/>
              <a:t>1/27/13</a:t>
            </a:fld>
            <a:endParaRPr lang="zh-C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zh-CN">
                <a:solidFill>
                  <a:schemeClr val="tx1">
                    <a:tint val="75000"/>
                  </a:schemeClr>
                </a:solidFill>
              </a:defRPr>
            </a:lvl1pPr>
          </a:lstStyle>
          <a:p>
            <a:endParaRPr lang="zh-C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zh-CN">
                <a:solidFill>
                  <a:schemeClr val="tx1">
                    <a:tint val="75000"/>
                  </a:schemeClr>
                </a:solidFill>
              </a:defRPr>
            </a:lvl1pPr>
          </a:lstStyle>
          <a:p>
            <a:fld id="{C1FF6DA9-008F-8B48-92A6-B652298478BF}" type="slidenum">
              <a:rPr lang="zh-CN" smtClean="0"/>
              <a:t>‹#›</a:t>
            </a:fld>
            <a:endParaRPr lang="zh-CN"/>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000" kern="1200" lang="zh-CN">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100" kern="1200" lang="zh-CN">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950" kern="1200" lang="zh-CN">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850" kern="1200" lang="zh-CN">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700" kern="1200" lang="zh-CN">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lang="zh-CN">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450" kern="1200" lang="zh-CN">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300" kern="1200" lang="zh-CN">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200" kern="1200" lang="zh-CN">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050" kern="1200" lang="zh-CN">
          <a:solidFill>
            <a:schemeClr val="tx1"/>
          </a:solidFill>
          <a:latin typeface="+mn-lt"/>
          <a:ea typeface="+mn-ea"/>
          <a:cs typeface="+mn-cs"/>
        </a:defRPr>
      </a:lvl9pPr>
    </p:bodyStyle>
    <p:otherStyle>
      <a:defPPr>
        <a:defRPr lang="zh-CN"/>
      </a:defPPr>
      <a:lvl1pPr marL="0" algn="l" defTabSz="457200" rtl="0" eaLnBrk="1" latinLnBrk="0" hangingPunct="1">
        <a:defRPr sz="2100" kern="1200" lang="zh-CN">
          <a:solidFill>
            <a:schemeClr val="tx1"/>
          </a:solidFill>
          <a:latin typeface="+mn-lt"/>
          <a:ea typeface="+mn-ea"/>
          <a:cs typeface="+mn-cs"/>
        </a:defRPr>
      </a:lvl1pPr>
      <a:lvl2pPr marL="457200" algn="l" defTabSz="457200" rtl="0" eaLnBrk="1" latinLnBrk="0" hangingPunct="1">
        <a:defRPr sz="1950" kern="1200" lang="zh-CN">
          <a:solidFill>
            <a:schemeClr val="tx1"/>
          </a:solidFill>
          <a:latin typeface="+mn-lt"/>
          <a:ea typeface="+mn-ea"/>
          <a:cs typeface="+mn-cs"/>
        </a:defRPr>
      </a:lvl2pPr>
      <a:lvl3pPr marL="914400" algn="l" defTabSz="457200" rtl="0" eaLnBrk="1" latinLnBrk="0" hangingPunct="1">
        <a:defRPr sz="1850" kern="1200" lang="zh-CN">
          <a:solidFill>
            <a:schemeClr val="tx1"/>
          </a:solidFill>
          <a:latin typeface="+mn-lt"/>
          <a:ea typeface="+mn-ea"/>
          <a:cs typeface="+mn-cs"/>
        </a:defRPr>
      </a:lvl3pPr>
      <a:lvl4pPr marL="1371600" algn="l" defTabSz="457200" rtl="0" eaLnBrk="1" latinLnBrk="0" hangingPunct="1">
        <a:defRPr sz="1700" kern="1200" lang="zh-CN">
          <a:solidFill>
            <a:schemeClr val="tx1"/>
          </a:solidFill>
          <a:latin typeface="+mn-lt"/>
          <a:ea typeface="+mn-ea"/>
          <a:cs typeface="+mn-cs"/>
        </a:defRPr>
      </a:lvl4pPr>
      <a:lvl5pPr marL="1828800" algn="l" defTabSz="457200" rtl="0" eaLnBrk="1" latinLnBrk="0" hangingPunct="1">
        <a:defRPr sz="1600" kern="1200" lang="zh-CN">
          <a:solidFill>
            <a:schemeClr val="tx1"/>
          </a:solidFill>
          <a:latin typeface="+mn-lt"/>
          <a:ea typeface="+mn-ea"/>
          <a:cs typeface="+mn-cs"/>
        </a:defRPr>
      </a:lvl5pPr>
      <a:lvl6pPr marL="2286000" algn="l" defTabSz="457200" rtl="0" eaLnBrk="1" latinLnBrk="0" hangingPunct="1">
        <a:defRPr sz="1450" kern="1200" lang="zh-CN">
          <a:solidFill>
            <a:schemeClr val="tx1"/>
          </a:solidFill>
          <a:latin typeface="+mn-lt"/>
          <a:ea typeface="+mn-ea"/>
          <a:cs typeface="+mn-cs"/>
        </a:defRPr>
      </a:lvl6pPr>
      <a:lvl7pPr marL="2743200" algn="l" defTabSz="457200" rtl="0" eaLnBrk="1" latinLnBrk="0" hangingPunct="1">
        <a:defRPr sz="1300" kern="1200" lang="zh-CN">
          <a:solidFill>
            <a:schemeClr val="tx1"/>
          </a:solidFill>
          <a:latin typeface="+mn-lt"/>
          <a:ea typeface="+mn-ea"/>
          <a:cs typeface="+mn-cs"/>
        </a:defRPr>
      </a:lvl7pPr>
      <a:lvl8pPr marL="3200400" algn="l" defTabSz="457200" rtl="0" eaLnBrk="1" latinLnBrk="0" hangingPunct="1">
        <a:defRPr sz="1200" kern="1200" lang="zh-CN">
          <a:solidFill>
            <a:schemeClr val="tx1"/>
          </a:solidFill>
          <a:latin typeface="+mn-lt"/>
          <a:ea typeface="+mn-ea"/>
          <a:cs typeface="+mn-cs"/>
        </a:defRPr>
      </a:lvl8pPr>
      <a:lvl9pPr marL="3657600" algn="l" defTabSz="457200" rtl="0" eaLnBrk="1" latinLnBrk="0" hangingPunct="1">
        <a:defRPr sz="1050" kern="1200" lang="zh-CN">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3" name="opening"/>
          <p:cNvGrpSpPr/>
          <p:nvPr/>
        </p:nvGrpSpPr>
        <p:grpSpPr>
          <a:xfrm>
            <a:off x="597408" y="631825"/>
            <a:ext cx="3255264" cy="469392"/>
            <a:chOff x="597408" y="631825"/>
            <a:chExt cx="3255264" cy="469392"/>
          </a:xfrm>
        </p:grpSpPr>
        <p:sp>
          <p:nvSpPr>
            <p:cNvPr id="2" name="TextBox 2"/>
            <p:cNvSpPr txBox="1"/>
            <p:nvPr/>
          </p:nvSpPr>
          <p:spPr>
            <a:xfrm>
              <a:off x="597408" y="631825"/>
              <a:ext cx="3255264" cy="469392"/>
            </a:xfrm>
            <a:prstGeom prst="rect">
              <a:avLst/>
            </a:prstGeom>
            <a:noFill/>
            <a:ln>
              <a:noFill/>
            </a:ln>
          </p:spPr>
          <p:txBody>
            <a:bodyPr wrap="none" lIns="0" tIns="0" rIns="0" bIns="0" anchor="t" anchorCtr="0">
              <a:spAutoFit/>
            </a:bodyPr>
            <a:lstStyle/>
            <a:p>
              <a:pPr algn="l"/>
              <a:r>
                <a:rPr lang="zh-CN" sz="2400" dirty="0">
                  <a:solidFill>
                    <a:srgbClr val="FFFFFF"/>
                  </a:solidFill>
                  <a:latin typeface="+mn-lt"/>
                  <a:ea typeface="+mn-ea"/>
                  <a:cs typeface="+mn-cs"/>
                </a:rPr>
                <a:t>毕业论文研究方案汇报</a:t>
              </a:r>
            </a:p>
          </p:txBody>
        </p:sp>
      </p:grpSp>
      <p:grpSp>
        <p:nvGrpSpPr>
          <p:cNvPr id="5" name="title"/>
          <p:cNvGrpSpPr/>
          <p:nvPr/>
        </p:nvGrpSpPr>
        <p:grpSpPr>
          <a:xfrm>
            <a:off x="590550" y="2203450"/>
            <a:ext cx="6438900" cy="1657350"/>
            <a:chOff x="590550" y="2203450"/>
            <a:chExt cx="6438900" cy="1657350"/>
          </a:xfrm>
        </p:grpSpPr>
        <p:sp>
          <p:nvSpPr>
            <p:cNvPr id="4" name="TextBox 4"/>
            <p:cNvSpPr txBox="1"/>
            <p:nvPr/>
          </p:nvSpPr>
          <p:spPr>
            <a:xfrm>
              <a:off x="590550" y="2203450"/>
              <a:ext cx="6438900" cy="1657350"/>
            </a:xfrm>
            <a:prstGeom prst="rect">
              <a:avLst/>
            </a:prstGeom>
            <a:noFill/>
            <a:ln>
              <a:noFill/>
            </a:ln>
          </p:spPr>
          <p:txBody>
            <a:bodyPr wrap="none" lIns="0" tIns="0" rIns="0" bIns="0" anchor="t" anchorCtr="0">
              <a:spAutoFit/>
            </a:bodyPr>
            <a:lstStyle/>
            <a:p>
              <a:pPr algn="l">
                <a:lnSpc>
                  <a:spcPts val="6600"/>
                </a:lnSpc>
              </a:pPr>
              <a:r>
                <a:rPr lang="zh-CN" sz="4200" b="1" dirty="0">
                  <a:solidFill>
                    <a:srgbClr val="FFFFFF"/>
                  </a:solidFill>
                  <a:latin typeface="+mn-lt"/>
                  <a:ea typeface="+mn-ea"/>
                  <a:cs typeface="+mn-cs"/>
                </a:rPr>
                <a:t>面向密集场景的目标检测</a:t>
              </a:r>
              <a:br>
                <a:rPr lang="zh-CN" sz="4200" b="1" dirty="0">
                  <a:solidFill>
                    <a:srgbClr val="FFFFFF"/>
                  </a:solidFill>
                  <a:latin typeface="+mn-lt"/>
                  <a:ea typeface="+mn-ea"/>
                  <a:cs typeface="+mn-cs"/>
                </a:rPr>
              </a:br>
              <a:r>
                <a:rPr lang="zh-CN" sz="4200" b="1" dirty="0">
                  <a:solidFill>
                    <a:srgbClr val="FFFFFF"/>
                  </a:solidFill>
                  <a:latin typeface="+mn-lt"/>
                  <a:ea typeface="+mn-ea"/>
                  <a:cs typeface="+mn-cs"/>
                </a:rPr>
                <a:t>与实例分割方法及系统研究</a:t>
              </a:r>
            </a:p>
          </p:txBody>
        </p:sp>
      </p:grpSp>
      <p:grpSp>
        <p:nvGrpSpPr>
          <p:cNvPr id="11" name="section-guide"/>
          <p:cNvGrpSpPr/>
          <p:nvPr/>
        </p:nvGrpSpPr>
        <p:grpSpPr>
          <a:xfrm>
            <a:off x="598932" y="5295900"/>
            <a:ext cx="10983468" cy="652018"/>
            <a:chOff x="598932" y="5295900"/>
            <a:chExt cx="10983468" cy="652018"/>
          </a:xfrm>
        </p:grpSpPr>
        <p:sp>
          <p:nvSpPr>
            <p:cNvPr id="6" name="Line 6"/>
            <p:cNvSpPr/>
            <p:nvPr/>
          </p:nvSpPr>
          <p:spPr>
            <a:xfrm>
              <a:off x="609600" y="5295900"/>
              <a:ext cx="10972800" cy="9525"/>
            </a:xfrm>
            <a:custGeom>
              <a:avLst/>
              <a:gdLst/>
              <a:ahLst/>
              <a:cxnLst/>
              <a:rect l="l" t="t" r="r" b="b"/>
              <a:pathLst>
                <a:path w="10972800" h="9525">
                  <a:moveTo>
                    <a:pt x="0" y="0"/>
                  </a:moveTo>
                  <a:lnTo>
                    <a:pt x="10972800" y="0"/>
                  </a:lnTo>
                </a:path>
              </a:pathLst>
            </a:custGeom>
            <a:noFill/>
            <a:ln w="9525">
              <a:solidFill>
                <a:srgbClr val="596B80"/>
              </a:solidFill>
            </a:ln>
          </p:spPr>
        </p:sp>
        <p:sp>
          <p:nvSpPr>
            <p:cNvPr id="7" name="TextBox 7"/>
            <p:cNvSpPr txBox="1"/>
            <p:nvPr/>
          </p:nvSpPr>
          <p:spPr>
            <a:xfrm>
              <a:off x="5989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研究背景</a:t>
              </a:r>
            </a:p>
          </p:txBody>
        </p:sp>
        <p:sp>
          <p:nvSpPr>
            <p:cNvPr id="8" name="TextBox 8"/>
            <p:cNvSpPr txBox="1"/>
            <p:nvPr/>
          </p:nvSpPr>
          <p:spPr>
            <a:xfrm>
              <a:off x="31135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研究方法</a:t>
              </a:r>
            </a:p>
          </p:txBody>
        </p:sp>
        <p:sp>
          <p:nvSpPr>
            <p:cNvPr id="9" name="TextBox 9"/>
            <p:cNvSpPr txBox="1"/>
            <p:nvPr/>
          </p:nvSpPr>
          <p:spPr>
            <a:xfrm>
              <a:off x="56281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系统设计</a:t>
              </a:r>
            </a:p>
          </p:txBody>
        </p:sp>
        <p:sp>
          <p:nvSpPr>
            <p:cNvPr id="10" name="TextBox 10"/>
            <p:cNvSpPr txBox="1"/>
            <p:nvPr/>
          </p:nvSpPr>
          <p:spPr>
            <a:xfrm>
              <a:off x="8142732" y="5537200"/>
              <a:ext cx="1152144" cy="410718"/>
            </a:xfrm>
            <a:prstGeom prst="rect">
              <a:avLst/>
            </a:prstGeom>
            <a:noFill/>
            <a:ln>
              <a:noFill/>
            </a:ln>
          </p:spPr>
          <p:txBody>
            <a:bodyPr wrap="none" lIns="0" tIns="0" rIns="0" bIns="0" anchor="t" anchorCtr="0">
              <a:spAutoFit/>
            </a:bodyPr>
            <a:lstStyle/>
            <a:p>
              <a:pPr algn="l"/>
              <a:r>
                <a:rPr lang="zh-CN" sz="2100" dirty="0">
                  <a:solidFill>
                    <a:srgbClr val="FFFFFF"/>
                  </a:solidFill>
                  <a:latin typeface="+mn-lt"/>
                  <a:ea typeface="+mn-ea"/>
                  <a:cs typeface="+mn-cs"/>
                </a:rPr>
                <a:t>研究安排</a:t>
              </a:r>
            </a:p>
          </p:txBody>
        </p:sp>
      </p:grpSp>
      <p:grpSp>
        <p:nvGrpSpPr>
          <p:cNvPr id="14" name="footer"/>
          <p:cNvGrpSpPr/>
          <p:nvPr/>
        </p:nvGrpSpPr>
        <p:grpSpPr>
          <a:xfrm>
            <a:off x="603504" y="6410325"/>
            <a:ext cx="10984992" cy="234696"/>
            <a:chOff x="603504" y="6410325"/>
            <a:chExt cx="10984992" cy="234696"/>
          </a:xfrm>
        </p:grpSpPr>
        <p:sp>
          <p:nvSpPr>
            <p:cNvPr id="12" name="TextBox 12"/>
            <p:cNvSpPr txBox="1"/>
            <p:nvPr/>
          </p:nvSpPr>
          <p:spPr>
            <a:xfrm>
              <a:off x="603504" y="6410325"/>
              <a:ext cx="900684" cy="234696"/>
            </a:xfrm>
            <a:prstGeom prst="rect">
              <a:avLst/>
            </a:prstGeom>
            <a:noFill/>
            <a:ln>
              <a:noFill/>
            </a:ln>
          </p:spPr>
          <p:txBody>
            <a:bodyPr wrap="none" lIns="0" tIns="0" rIns="0" bIns="0" anchor="t" anchorCtr="0">
              <a:spAutoFit/>
            </a:bodyPr>
            <a:lstStyle/>
            <a:p>
              <a:pPr algn="l"/>
              <a:r>
                <a:rPr lang="zh-CN" sz="1200" dirty="0">
                  <a:solidFill>
                    <a:schemeClr val="accent6"/>
                  </a:solidFill>
                  <a:latin typeface="+mn-lt"/>
                  <a:ea typeface="+mn-ea"/>
                  <a:cs typeface="+mn-cs"/>
                </a:rPr>
                <a:t>2026.10.15</a:t>
              </a:r>
            </a:p>
          </p:txBody>
        </p:sp>
        <p:sp>
          <p:nvSpPr>
            <p:cNvPr id="13" name="TextBox 1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6"/>
                  </a:solidFill>
                  <a:latin typeface="+mn-lt"/>
                  <a:ea typeface="+mn-ea"/>
                  <a:cs typeface="+mn-cs"/>
                </a:rPr>
                <a:t>01 / 15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连续个体监测的应用需求</a:t>
              </a:r>
            </a:p>
          </p:txBody>
        </p:sp>
      </p:grpSp>
      <p:grpSp>
        <p:nvGrpSpPr>
          <p:cNvPr id="6" name="application-context"/>
          <p:cNvGrpSpPr/>
          <p:nvPr/>
        </p:nvGrpSpPr>
        <p:grpSpPr>
          <a:xfrm>
            <a:off x="597408" y="1831975"/>
            <a:ext cx="8101584" cy="469392"/>
            <a:chOff x="597408" y="1831975"/>
            <a:chExt cx="8101584" cy="469392"/>
          </a:xfrm>
        </p:grpSpPr>
        <p:sp>
          <p:nvSpPr>
            <p:cNvPr id="5" name="TextBox 5"/>
            <p:cNvSpPr txBox="1"/>
            <p:nvPr/>
          </p:nvSpPr>
          <p:spPr>
            <a:xfrm>
              <a:off x="597408" y="1831975"/>
              <a:ext cx="8101584"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动物群体、人员和车辆监测，都需要持续记录具体个体。</a:t>
              </a:r>
            </a:p>
          </p:txBody>
        </p:sp>
      </p:grpSp>
      <p:grpSp>
        <p:nvGrpSpPr>
          <p:cNvPr id="9" name="quantity"/>
          <p:cNvGrpSpPr/>
          <p:nvPr/>
        </p:nvGrpSpPr>
        <p:grpSpPr>
          <a:xfrm>
            <a:off x="597408" y="2774950"/>
            <a:ext cx="5103876" cy="469392"/>
            <a:chOff x="597408" y="2774950"/>
            <a:chExt cx="5103876" cy="469392"/>
          </a:xfrm>
        </p:grpSpPr>
        <p:sp>
          <p:nvSpPr>
            <p:cNvPr id="7" name="TextBox 7"/>
            <p:cNvSpPr txBox="1"/>
            <p:nvPr/>
          </p:nvSpPr>
          <p:spPr>
            <a:xfrm>
              <a:off x="597408" y="2774950"/>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数量</a:t>
              </a:r>
            </a:p>
          </p:txBody>
        </p:sp>
        <p:sp>
          <p:nvSpPr>
            <p:cNvPr id="8" name="TextBox 8"/>
            <p:cNvSpPr txBox="1"/>
            <p:nvPr/>
          </p:nvSpPr>
          <p:spPr>
            <a:xfrm>
              <a:off x="2769108" y="2774950"/>
              <a:ext cx="293217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当前能看到多少个体</a:t>
              </a:r>
            </a:p>
          </p:txBody>
        </p:sp>
      </p:grpSp>
      <p:grpSp>
        <p:nvGrpSpPr>
          <p:cNvPr id="13" name="location"/>
          <p:cNvGrpSpPr/>
          <p:nvPr/>
        </p:nvGrpSpPr>
        <p:grpSpPr>
          <a:xfrm>
            <a:off x="597408" y="3476625"/>
            <a:ext cx="10984992" cy="710692"/>
            <a:chOff x="597408" y="3476625"/>
            <a:chExt cx="10984992" cy="710692"/>
          </a:xfrm>
        </p:grpSpPr>
        <p:sp>
          <p:nvSpPr>
            <p:cNvPr id="10" name="Line 10"/>
            <p:cNvSpPr/>
            <p:nvPr/>
          </p:nvSpPr>
          <p:spPr>
            <a:xfrm>
              <a:off x="609600" y="3476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597408" y="3717925"/>
              <a:ext cx="670560"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位置</a:t>
              </a:r>
            </a:p>
          </p:txBody>
        </p:sp>
        <p:sp>
          <p:nvSpPr>
            <p:cNvPr id="12" name="TextBox 12"/>
            <p:cNvSpPr txBox="1"/>
            <p:nvPr/>
          </p:nvSpPr>
          <p:spPr>
            <a:xfrm>
              <a:off x="2769108" y="3717925"/>
              <a:ext cx="4547616"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每个个体出现在哪里、停留多久</a:t>
              </a:r>
            </a:p>
          </p:txBody>
        </p:sp>
      </p:grpSp>
      <p:grpSp>
        <p:nvGrpSpPr>
          <p:cNvPr id="17" name="region"/>
          <p:cNvGrpSpPr/>
          <p:nvPr/>
        </p:nvGrpSpPr>
        <p:grpSpPr>
          <a:xfrm>
            <a:off x="597408" y="4419600"/>
            <a:ext cx="10984992" cy="710692"/>
            <a:chOff x="597408" y="4419600"/>
            <a:chExt cx="10984992" cy="710692"/>
          </a:xfrm>
        </p:grpSpPr>
        <p:sp>
          <p:nvSpPr>
            <p:cNvPr id="14" name="Line 14"/>
            <p:cNvSpPr/>
            <p:nvPr/>
          </p:nvSpPr>
          <p:spPr>
            <a:xfrm>
              <a:off x="609600" y="44196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660900"/>
              <a:ext cx="67056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区域</a:t>
              </a:r>
            </a:p>
          </p:txBody>
        </p:sp>
        <p:sp>
          <p:nvSpPr>
            <p:cNvPr id="16" name="TextBox 16"/>
            <p:cNvSpPr txBox="1"/>
            <p:nvPr/>
          </p:nvSpPr>
          <p:spPr>
            <a:xfrm>
              <a:off x="2769108" y="4660900"/>
              <a:ext cx="3578352" cy="469392"/>
            </a:xfrm>
            <a:prstGeom prst="rect">
              <a:avLst/>
            </a:prstGeom>
            <a:noFill/>
            <a:ln>
              <a:noFill/>
            </a:ln>
          </p:spPr>
          <p:txBody>
            <a:bodyPr wrap="none" lIns="0" tIns="0" rIns="0" bIns="0" anchor="t" anchorCtr="0">
              <a:spAutoFit/>
            </a:bodyPr>
            <a:lstStyle/>
            <a:p>
              <a:pPr algn="l"/>
              <a:r>
                <a:rPr lang="zh-CN" sz="2400" dirty="0">
                  <a:solidFill>
                    <a:schemeClr val="dk1"/>
                  </a:solidFill>
                  <a:latin typeface="+mn-lt"/>
                  <a:ea typeface="+mn-ea"/>
                  <a:cs typeface="+mn-cs"/>
                </a:rPr>
                <a:t>相邻个体的轮廓能否分开</a:t>
              </a:r>
            </a:p>
          </p:txBody>
        </p:sp>
      </p:grpSp>
      <p:grpSp>
        <p:nvGrpSpPr>
          <p:cNvPr id="19" name="purpose"/>
          <p:cNvGrpSpPr/>
          <p:nvPr/>
        </p:nvGrpSpPr>
        <p:grpSpPr>
          <a:xfrm>
            <a:off x="597408" y="5699125"/>
            <a:ext cx="6486144" cy="469392"/>
            <a:chOff x="597408" y="5699125"/>
            <a:chExt cx="6486144" cy="469392"/>
          </a:xfrm>
        </p:grpSpPr>
        <p:sp>
          <p:nvSpPr>
            <p:cNvPr id="18" name="TextBox 18"/>
            <p:cNvSpPr txBox="1"/>
            <p:nvPr/>
          </p:nvSpPr>
          <p:spPr>
            <a:xfrm>
              <a:off x="597408" y="5699125"/>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稳定的个体记录，是后续统计和分析的基础。</a:t>
              </a:r>
            </a:p>
          </p:txBody>
        </p:sp>
      </p:grpSp>
      <p:sp>
        <p:nvSpPr>
          <p:cNvPr id="20" name="TextBox 20"/>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02 / 15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745480" cy="1459865"/>
            <a:chOff x="594360" y="415925"/>
            <a:chExt cx="5745480" cy="14598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745480" cy="1082040"/>
            </a:xfrm>
            <a:prstGeom prst="rect">
              <a:avLst/>
            </a:prstGeom>
            <a:noFill/>
            <a:ln>
              <a:noFill/>
            </a:ln>
          </p:spPr>
          <p:txBody>
            <a:bodyPr wrap="none" lIns="0" tIns="0" rIns="0" bIns="0" anchor="t" anchorCtr="0">
              <a:spAutoFit/>
            </a:bodyPr>
            <a:lstStyle/>
            <a:p>
              <a:pPr algn="l">
                <a:lnSpc>
                  <a:spcPts val="3900"/>
                </a:lnSpc>
              </a:pPr>
              <a:r>
                <a:rPr lang="zh-CN" sz="3000" b="1" dirty="0">
                  <a:solidFill>
                    <a:schemeClr val="accent1"/>
                  </a:solidFill>
                  <a:latin typeface="+mn-lt"/>
                  <a:ea typeface="+mn-ea"/>
                  <a:cs typeface="+mn-cs"/>
                </a:rPr>
                <a:t>现有技术已能识别和跟踪目标</a:t>
              </a:r>
              <a:br>
                <a:rPr lang="zh-CN" sz="3000" b="1" dirty="0">
                  <a:solidFill>
                    <a:schemeClr val="accent1"/>
                  </a:solidFill>
                  <a:latin typeface="+mn-lt"/>
                  <a:ea typeface="+mn-ea"/>
                  <a:cs typeface="+mn-cs"/>
                </a:rPr>
              </a:br>
              <a:r>
                <a:rPr lang="zh-CN" sz="3000" b="1" dirty="0">
                  <a:solidFill>
                    <a:schemeClr val="accent1"/>
                  </a:solidFill>
                  <a:latin typeface="+mn-lt"/>
                  <a:ea typeface="+mn-ea"/>
                  <a:cs typeface="+mn-cs"/>
                </a:rPr>
                <a:t>但目前在密集场景下仍难保持稳定</a:t>
              </a:r>
            </a:p>
          </p:txBody>
        </p:sp>
      </p:grpSp>
      <p:grpSp>
        <p:nvGrpSpPr>
          <p:cNvPr id="8" name="image-capability"/>
          <p:cNvGrpSpPr/>
          <p:nvPr/>
        </p:nvGrpSpPr>
        <p:grpSpPr>
          <a:xfrm>
            <a:off x="597408" y="2279650"/>
            <a:ext cx="5003292" cy="1736217"/>
            <a:chOff x="597408" y="2279650"/>
            <a:chExt cx="5003292" cy="1736217"/>
          </a:xfrm>
        </p:grpSpPr>
        <p:sp>
          <p:nvSpPr>
            <p:cNvPr id="5" name="TextBox 5"/>
            <p:cNvSpPr txBox="1"/>
            <p:nvPr/>
          </p:nvSpPr>
          <p:spPr>
            <a:xfrm>
              <a:off x="597408" y="2279650"/>
              <a:ext cx="260908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图像中的个体识别</a:t>
              </a:r>
            </a:p>
          </p:txBody>
        </p:sp>
        <p:sp>
          <p:nvSpPr>
            <p:cNvPr id="6" name="Line 6"/>
            <p:cNvSpPr/>
            <p:nvPr/>
          </p:nvSpPr>
          <p:spPr>
            <a:xfrm>
              <a:off x="6096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7" name="TextBox 7"/>
            <p:cNvSpPr txBox="1"/>
            <p:nvPr/>
          </p:nvSpPr>
          <p:spPr>
            <a:xfrm>
              <a:off x="5974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找到目标的位置</a:t>
              </a:r>
              <a:br>
                <a:rPr lang="zh-CN" sz="2400" dirty="0">
                  <a:solidFill>
                    <a:schemeClr val="dk1"/>
                  </a:solidFill>
                  <a:latin typeface="+mn-lt"/>
                  <a:ea typeface="+mn-ea"/>
                  <a:cs typeface="+mn-cs"/>
                </a:rPr>
              </a:br>
              <a:r>
                <a:rPr lang="zh-CN" sz="2400" dirty="0">
                  <a:solidFill>
                    <a:schemeClr val="dk1"/>
                  </a:solidFill>
                  <a:latin typeface="+mn-lt"/>
                  <a:ea typeface="+mn-ea"/>
                  <a:cs typeface="+mn-cs"/>
                </a:rPr>
                <a:t>描出每个个体的轮廓</a:t>
              </a:r>
            </a:p>
          </p:txBody>
        </p:sp>
      </p:grpSp>
      <p:grpSp>
        <p:nvGrpSpPr>
          <p:cNvPr id="12" name="video-capability"/>
          <p:cNvGrpSpPr/>
          <p:nvPr/>
        </p:nvGrpSpPr>
        <p:grpSpPr>
          <a:xfrm>
            <a:off x="6579108" y="2279650"/>
            <a:ext cx="5003292" cy="1736217"/>
            <a:chOff x="6579108" y="2279650"/>
            <a:chExt cx="5003292" cy="1736217"/>
          </a:xfrm>
        </p:grpSpPr>
        <p:sp>
          <p:nvSpPr>
            <p:cNvPr id="9" name="TextBox 9"/>
            <p:cNvSpPr txBox="1"/>
            <p:nvPr/>
          </p:nvSpPr>
          <p:spPr>
            <a:xfrm>
              <a:off x="6579108" y="2279650"/>
              <a:ext cx="260908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视频中的连续跟踪</a:t>
              </a:r>
            </a:p>
          </p:txBody>
        </p:sp>
        <p:sp>
          <p:nvSpPr>
            <p:cNvPr id="10" name="Line 10"/>
            <p:cNvSpPr/>
            <p:nvPr/>
          </p:nvSpPr>
          <p:spPr>
            <a:xfrm>
              <a:off x="6591300" y="2847975"/>
              <a:ext cx="4991100" cy="9525"/>
            </a:xfrm>
            <a:custGeom>
              <a:avLst/>
              <a:gdLst/>
              <a:ahLst/>
              <a:cxnLst/>
              <a:rect l="l" t="t" r="r" b="b"/>
              <a:pathLst>
                <a:path w="4991100" h="9525">
                  <a:moveTo>
                    <a:pt x="0" y="0"/>
                  </a:moveTo>
                  <a:lnTo>
                    <a:pt x="4991100" y="0"/>
                  </a:lnTo>
                </a:path>
              </a:pathLst>
            </a:custGeom>
            <a:noFill/>
            <a:ln w="19050">
              <a:solidFill>
                <a:schemeClr val="accent6"/>
              </a:solidFill>
            </a:ln>
          </p:spPr>
        </p:sp>
        <p:sp>
          <p:nvSpPr>
            <p:cNvPr id="11" name="TextBox 11"/>
            <p:cNvSpPr txBox="1"/>
            <p:nvPr/>
          </p:nvSpPr>
          <p:spPr>
            <a:xfrm>
              <a:off x="6579108" y="2955925"/>
              <a:ext cx="2767584" cy="1059942"/>
            </a:xfrm>
            <a:prstGeom prst="rect">
              <a:avLst/>
            </a:prstGeom>
            <a:noFill/>
            <a:ln>
              <a:noFill/>
            </a:ln>
          </p:spPr>
          <p:txBody>
            <a:bodyPr wrap="none" lIns="0" tIns="0" rIns="0" bIns="0" anchor="t" anchorCtr="0">
              <a:spAutoFit/>
            </a:bodyPr>
            <a:lstStyle/>
            <a:p>
              <a:pPr algn="l">
                <a:lnSpc>
                  <a:spcPts val="4650"/>
                </a:lnSpc>
              </a:pPr>
              <a:r>
                <a:rPr lang="zh-CN" sz="2400" dirty="0">
                  <a:solidFill>
                    <a:schemeClr val="dk1"/>
                  </a:solidFill>
                  <a:latin typeface="+mn-lt"/>
                  <a:ea typeface="+mn-ea"/>
                  <a:cs typeface="+mn-cs"/>
                </a:rPr>
                <a:t>连续跟随个体移动</a:t>
              </a:r>
              <a:br>
                <a:rPr lang="zh-CN" sz="2400" dirty="0">
                  <a:solidFill>
                    <a:schemeClr val="dk1"/>
                  </a:solidFill>
                  <a:latin typeface="+mn-lt"/>
                  <a:ea typeface="+mn-ea"/>
                  <a:cs typeface="+mn-cs"/>
                </a:rPr>
              </a:br>
              <a:r>
                <a:rPr lang="zh-CN" sz="2400" dirty="0">
                  <a:solidFill>
                    <a:schemeClr val="dk1"/>
                  </a:solidFill>
                  <a:latin typeface="+mn-lt"/>
                  <a:ea typeface="+mn-ea"/>
                  <a:cs typeface="+mn-cs"/>
                </a:rPr>
                <a:t>记录它出现过的位置</a:t>
              </a:r>
            </a:p>
          </p:txBody>
        </p:sp>
      </p:grpSp>
      <p:grpSp>
        <p:nvGrpSpPr>
          <p:cNvPr id="15" name="remaining-situations"/>
          <p:cNvGrpSpPr/>
          <p:nvPr/>
        </p:nvGrpSpPr>
        <p:grpSpPr>
          <a:xfrm>
            <a:off x="597408" y="5137150"/>
            <a:ext cx="7655814" cy="925068"/>
            <a:chOff x="597408" y="5137150"/>
            <a:chExt cx="7655814" cy="925068"/>
          </a:xfrm>
        </p:grpSpPr>
        <p:sp>
          <p:nvSpPr>
            <p:cNvPr id="13" name="TextBox 13"/>
            <p:cNvSpPr txBox="1"/>
            <p:nvPr/>
          </p:nvSpPr>
          <p:spPr>
            <a:xfrm>
              <a:off x="597408" y="5137150"/>
              <a:ext cx="64861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复杂条件下，连续记录仍可能中断或不稳定。</a:t>
              </a:r>
            </a:p>
          </p:txBody>
        </p:sp>
        <p:sp>
          <p:nvSpPr>
            <p:cNvPr id="14" name="TextBox 14"/>
            <p:cNvSpPr txBox="1"/>
            <p:nvPr/>
          </p:nvSpPr>
          <p:spPr>
            <a:xfrm>
              <a:off x="598932" y="5651500"/>
              <a:ext cx="7654290"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困难主要集中在个体拥挤、相互接触和较长时间遮挡的场景。</a:t>
              </a:r>
            </a:p>
          </p:txBody>
        </p:sp>
      </p:grpSp>
      <p:sp>
        <p:nvSpPr>
          <p:cNvPr id="16" name="TextBox 1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03 / 15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280660" cy="964565"/>
            <a:chOff x="594360" y="415925"/>
            <a:chExt cx="528066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01 研究背景</a:t>
              </a:r>
            </a:p>
          </p:txBody>
        </p:sp>
        <p:sp>
          <p:nvSpPr>
            <p:cNvPr id="3" name="TextBox 3"/>
            <p:cNvSpPr txBox="1"/>
            <p:nvPr/>
          </p:nvSpPr>
          <p:spPr>
            <a:xfrm>
              <a:off x="594360" y="793750"/>
              <a:ext cx="528066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密集场景仍然存在的主要困难</a:t>
              </a:r>
            </a:p>
          </p:txBody>
        </p:sp>
      </p:grpSp>
      <p:grpSp>
        <p:nvGrpSpPr>
          <p:cNvPr id="7" name="crowding"/>
          <p:cNvGrpSpPr/>
          <p:nvPr/>
        </p:nvGrpSpPr>
        <p:grpSpPr>
          <a:xfrm>
            <a:off x="597408" y="2184400"/>
            <a:ext cx="8826246" cy="469392"/>
            <a:chOff x="597408" y="2184400"/>
            <a:chExt cx="8826246" cy="469392"/>
          </a:xfrm>
        </p:grpSpPr>
        <p:sp>
          <p:nvSpPr>
            <p:cNvPr id="5" name="TextBox 5"/>
            <p:cNvSpPr txBox="1"/>
            <p:nvPr/>
          </p:nvSpPr>
          <p:spPr>
            <a:xfrm>
              <a:off x="597408" y="2184400"/>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个体挤在一起</a:t>
              </a:r>
            </a:p>
          </p:txBody>
        </p:sp>
        <p:sp>
          <p:nvSpPr>
            <p:cNvPr id="6" name="TextBox 6"/>
            <p:cNvSpPr txBox="1"/>
            <p:nvPr/>
          </p:nvSpPr>
          <p:spPr>
            <a:xfrm>
              <a:off x="4313682" y="2222500"/>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容易少认或重复认，数量记录出现偏差。</a:t>
              </a:r>
            </a:p>
          </p:txBody>
        </p:sp>
      </p:grpSp>
      <p:grpSp>
        <p:nvGrpSpPr>
          <p:cNvPr id="11" name="contact"/>
          <p:cNvGrpSpPr/>
          <p:nvPr/>
        </p:nvGrpSpPr>
        <p:grpSpPr>
          <a:xfrm>
            <a:off x="597408" y="3105150"/>
            <a:ext cx="10984992" cy="720217"/>
            <a:chOff x="597408" y="3105150"/>
            <a:chExt cx="10984992" cy="720217"/>
          </a:xfrm>
        </p:grpSpPr>
        <p:sp>
          <p:nvSpPr>
            <p:cNvPr id="8" name="Line 8"/>
            <p:cNvSpPr/>
            <p:nvPr/>
          </p:nvSpPr>
          <p:spPr>
            <a:xfrm>
              <a:off x="609600" y="31051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3355975"/>
              <a:ext cx="196291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相邻个体接触</a:t>
              </a:r>
            </a:p>
          </p:txBody>
        </p:sp>
        <p:sp>
          <p:nvSpPr>
            <p:cNvPr id="10" name="TextBox 10"/>
            <p:cNvSpPr txBox="1"/>
            <p:nvPr/>
          </p:nvSpPr>
          <p:spPr>
            <a:xfrm>
              <a:off x="4313682" y="3394075"/>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轮廓难以分开，个体区域记录不准确。</a:t>
              </a:r>
            </a:p>
          </p:txBody>
        </p:sp>
      </p:grpSp>
      <p:grpSp>
        <p:nvGrpSpPr>
          <p:cNvPr id="15" name="reappearance"/>
          <p:cNvGrpSpPr/>
          <p:nvPr/>
        </p:nvGrpSpPr>
        <p:grpSpPr>
          <a:xfrm>
            <a:off x="597408" y="4276725"/>
            <a:ext cx="10984992" cy="720217"/>
            <a:chOff x="597408" y="4276725"/>
            <a:chExt cx="10984992" cy="720217"/>
          </a:xfrm>
        </p:grpSpPr>
        <p:sp>
          <p:nvSpPr>
            <p:cNvPr id="12" name="Line 12"/>
            <p:cNvSpPr/>
            <p:nvPr/>
          </p:nvSpPr>
          <p:spPr>
            <a:xfrm>
              <a:off x="609600" y="42767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4527550"/>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遮挡后重新出现</a:t>
              </a:r>
            </a:p>
          </p:txBody>
        </p:sp>
        <p:sp>
          <p:nvSpPr>
            <p:cNvPr id="14" name="TextBox 14"/>
            <p:cNvSpPr txBox="1"/>
            <p:nvPr/>
          </p:nvSpPr>
          <p:spPr>
            <a:xfrm>
              <a:off x="4313682" y="45656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可能换成新编号，原有记录难以接续。</a:t>
              </a:r>
            </a:p>
          </p:txBody>
        </p:sp>
      </p:grpSp>
      <p:grpSp>
        <p:nvGrpSpPr>
          <p:cNvPr id="17" name="research-need"/>
          <p:cNvGrpSpPr/>
          <p:nvPr/>
        </p:nvGrpSpPr>
        <p:grpSpPr>
          <a:xfrm>
            <a:off x="597408" y="5689600"/>
            <a:ext cx="8424672" cy="469392"/>
            <a:chOff x="597408" y="5689600"/>
            <a:chExt cx="8424672" cy="469392"/>
          </a:xfrm>
        </p:grpSpPr>
        <p:sp>
          <p:nvSpPr>
            <p:cNvPr id="16" name="TextBox 16"/>
            <p:cNvSpPr txBox="1"/>
            <p:nvPr/>
          </p:nvSpPr>
          <p:spPr>
            <a:xfrm>
              <a:off x="597408" y="5689600"/>
              <a:ext cx="8424672"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研究目标：提高个体识别、轮廓区分和连续记录的可靠性。</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04 / 15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069080" cy="964565"/>
            <a:chOff x="594360" y="415925"/>
            <a:chExt cx="406908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a:t>
              </a:r>
            </a:p>
          </p:txBody>
        </p:sp>
        <p:sp>
          <p:nvSpPr>
            <p:cNvPr id="3" name="TextBox 3"/>
            <p:cNvSpPr txBox="1"/>
            <p:nvPr/>
          </p:nvSpPr>
          <p:spPr>
            <a:xfrm>
              <a:off x="594360" y="793750"/>
              <a:ext cx="40690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研究方法分为三个模块</a:t>
              </a:r>
            </a:p>
          </p:txBody>
        </p:sp>
      </p:grpSp>
      <p:grpSp>
        <p:nvGrpSpPr>
          <p:cNvPr id="9" name="evaluation-module"/>
          <p:cNvGrpSpPr/>
          <p:nvPr/>
        </p:nvGrpSpPr>
        <p:grpSpPr>
          <a:xfrm>
            <a:off x="601218" y="1822450"/>
            <a:ext cx="10989564" cy="972693"/>
            <a:chOff x="601218" y="1822450"/>
            <a:chExt cx="10989564" cy="972693"/>
          </a:xfrm>
        </p:grpSpPr>
        <p:sp>
          <p:nvSpPr>
            <p:cNvPr id="5" name="TextBox 5"/>
            <p:cNvSpPr txBox="1"/>
            <p:nvPr/>
          </p:nvSpPr>
          <p:spPr>
            <a:xfrm>
              <a:off x="601218" y="1911350"/>
              <a:ext cx="683133"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模块一</a:t>
              </a:r>
            </a:p>
          </p:txBody>
        </p:sp>
        <p:sp>
          <p:nvSpPr>
            <p:cNvPr id="6" name="TextBox 6"/>
            <p:cNvSpPr txBox="1"/>
            <p:nvPr/>
          </p:nvSpPr>
          <p:spPr>
            <a:xfrm>
              <a:off x="1797558" y="1822450"/>
              <a:ext cx="325526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实例级评价与失败定位</a:t>
              </a:r>
            </a:p>
          </p:txBody>
        </p:sp>
        <p:sp>
          <p:nvSpPr>
            <p:cNvPr id="7" name="TextBox 7"/>
            <p:cNvSpPr txBox="1"/>
            <p:nvPr/>
          </p:nvSpPr>
          <p:spPr>
            <a:xfrm>
              <a:off x="1799082" y="2384425"/>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从同一检测结果出发，区分框与轮廓的错误。</a:t>
              </a:r>
            </a:p>
          </p:txBody>
        </p:sp>
        <p:sp>
          <p:nvSpPr>
            <p:cNvPr id="8" name="TextBox 8"/>
            <p:cNvSpPr txBox="1"/>
            <p:nvPr/>
          </p:nvSpPr>
          <p:spPr>
            <a:xfrm>
              <a:off x="10963180" y="1911350"/>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06—07</a:t>
              </a:r>
            </a:p>
          </p:txBody>
        </p:sp>
      </p:grpSp>
      <p:grpSp>
        <p:nvGrpSpPr>
          <p:cNvPr id="15" name="exploration-module"/>
          <p:cNvGrpSpPr/>
          <p:nvPr/>
        </p:nvGrpSpPr>
        <p:grpSpPr>
          <a:xfrm>
            <a:off x="601218" y="3162300"/>
            <a:ext cx="10989564" cy="1090168"/>
            <a:chOff x="601218" y="3162300"/>
            <a:chExt cx="10989564" cy="1090168"/>
          </a:xfrm>
        </p:grpSpPr>
        <p:sp>
          <p:nvSpPr>
            <p:cNvPr id="10" name="Line 10"/>
            <p:cNvSpPr/>
            <p:nvPr/>
          </p:nvSpPr>
          <p:spPr>
            <a:xfrm>
              <a:off x="609600" y="31623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1" name="TextBox 11"/>
            <p:cNvSpPr txBox="1"/>
            <p:nvPr/>
          </p:nvSpPr>
          <p:spPr>
            <a:xfrm>
              <a:off x="601218" y="3397250"/>
              <a:ext cx="68313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模块二</a:t>
              </a:r>
            </a:p>
          </p:txBody>
        </p:sp>
        <p:sp>
          <p:nvSpPr>
            <p:cNvPr id="12" name="TextBox 12"/>
            <p:cNvSpPr txBox="1"/>
            <p:nvPr/>
          </p:nvSpPr>
          <p:spPr>
            <a:xfrm>
              <a:off x="1797558" y="3308350"/>
              <a:ext cx="2932176"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轮廓修正的探索实验</a:t>
              </a:r>
            </a:p>
          </p:txBody>
        </p:sp>
        <p:sp>
          <p:nvSpPr>
            <p:cNvPr id="13" name="TextBox 13"/>
            <p:cNvSpPr txBox="1"/>
            <p:nvPr/>
          </p:nvSpPr>
          <p:spPr>
            <a:xfrm>
              <a:off x="1799082" y="3841750"/>
              <a:ext cx="595807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先测可改进空间，再检查自动修正的实际效果。</a:t>
              </a:r>
            </a:p>
          </p:txBody>
        </p:sp>
        <p:sp>
          <p:nvSpPr>
            <p:cNvPr id="14" name="TextBox 14"/>
            <p:cNvSpPr txBox="1"/>
            <p:nvPr/>
          </p:nvSpPr>
          <p:spPr>
            <a:xfrm>
              <a:off x="10963180" y="3397250"/>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08—09</a:t>
              </a:r>
            </a:p>
          </p:txBody>
        </p:sp>
      </p:grpSp>
      <p:grpSp>
        <p:nvGrpSpPr>
          <p:cNvPr id="21" name="risk-module"/>
          <p:cNvGrpSpPr/>
          <p:nvPr/>
        </p:nvGrpSpPr>
        <p:grpSpPr>
          <a:xfrm>
            <a:off x="601218" y="4619625"/>
            <a:ext cx="10989564" cy="1090168"/>
            <a:chOff x="601218" y="4619625"/>
            <a:chExt cx="10989564" cy="1090168"/>
          </a:xfrm>
        </p:grpSpPr>
        <p:sp>
          <p:nvSpPr>
            <p:cNvPr id="16" name="Line 16"/>
            <p:cNvSpPr/>
            <p:nvPr/>
          </p:nvSpPr>
          <p:spPr>
            <a:xfrm>
              <a:off x="609600" y="46196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601218" y="4854575"/>
              <a:ext cx="683133"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模块三</a:t>
              </a:r>
            </a:p>
          </p:txBody>
        </p:sp>
        <p:sp>
          <p:nvSpPr>
            <p:cNvPr id="18" name="TextBox 18"/>
            <p:cNvSpPr txBox="1"/>
            <p:nvPr/>
          </p:nvSpPr>
          <p:spPr>
            <a:xfrm>
              <a:off x="1797558" y="4765675"/>
              <a:ext cx="293217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修正风险与适用范围</a:t>
              </a:r>
            </a:p>
          </p:txBody>
        </p:sp>
        <p:sp>
          <p:nvSpPr>
            <p:cNvPr id="19" name="TextBox 19"/>
            <p:cNvSpPr txBox="1"/>
            <p:nvPr/>
          </p:nvSpPr>
          <p:spPr>
            <a:xfrm>
              <a:off x="1799082" y="5299075"/>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分析哪些个体容易受损，再提出选择性应用方案。</a:t>
              </a:r>
            </a:p>
          </p:txBody>
        </p:sp>
        <p:sp>
          <p:nvSpPr>
            <p:cNvPr id="20" name="TextBox 20"/>
            <p:cNvSpPr txBox="1"/>
            <p:nvPr/>
          </p:nvSpPr>
          <p:spPr>
            <a:xfrm>
              <a:off x="10963180" y="4854575"/>
              <a:ext cx="627602"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10—12</a:t>
              </a:r>
            </a:p>
          </p:txBody>
        </p:sp>
      </p:grpSp>
      <p:grpSp>
        <p:nvGrpSpPr>
          <p:cNvPr id="24" name="footer"/>
          <p:cNvGrpSpPr/>
          <p:nvPr/>
        </p:nvGrpSpPr>
        <p:grpSpPr>
          <a:xfrm>
            <a:off x="603504" y="6410325"/>
            <a:ext cx="10984992" cy="234696"/>
            <a:chOff x="603504" y="6410325"/>
            <a:chExt cx="10984992" cy="234696"/>
          </a:xfrm>
        </p:grpSpPr>
        <p:sp>
          <p:nvSpPr>
            <p:cNvPr id="22" name="TextBox 22"/>
            <p:cNvSpPr txBox="1"/>
            <p:nvPr/>
          </p:nvSpPr>
          <p:spPr>
            <a:xfrm>
              <a:off x="603504" y="6410325"/>
              <a:ext cx="5650459"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实验基础：YOLO26m-seg、COCO 图像数据；密集专项与视频验证仍需补充。</a:t>
              </a:r>
            </a:p>
          </p:txBody>
        </p:sp>
        <p:sp>
          <p:nvSpPr>
            <p:cNvPr id="23" name="TextBox 2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用实例级指标定位错误并衡量修正代价</a:t>
              </a:r>
            </a:p>
          </p:txBody>
        </p:sp>
      </p:grpSp>
      <p:grpSp>
        <p:nvGrpSpPr>
          <p:cNvPr id="7" name="target-definition"/>
          <p:cNvGrpSpPr/>
          <p:nvPr/>
        </p:nvGrpSpPr>
        <p:grpSpPr>
          <a:xfrm>
            <a:off x="597408" y="1898650"/>
            <a:ext cx="9099804" cy="469392"/>
            <a:chOff x="597408" y="1898650"/>
            <a:chExt cx="9099804" cy="469392"/>
          </a:xfrm>
        </p:grpSpPr>
        <p:sp>
          <p:nvSpPr>
            <p:cNvPr id="5" name="TextBox 5"/>
            <p:cNvSpPr txBox="1"/>
            <p:nvPr/>
          </p:nvSpPr>
          <p:spPr>
            <a:xfrm>
              <a:off x="597408" y="1898650"/>
              <a:ext cx="162141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目标集合 T</a:t>
              </a:r>
            </a:p>
          </p:txBody>
        </p:sp>
        <p:sp>
          <p:nvSpPr>
            <p:cNvPr id="6" name="TextBox 6"/>
            <p:cNvSpPr txBox="1"/>
            <p:nvPr/>
          </p:nvSpPr>
          <p:spPr>
            <a:xfrm>
              <a:off x="3456432" y="1936750"/>
              <a:ext cx="624078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分割任务失败，框达标、同一检测的轮廓未达标。</a:t>
              </a:r>
            </a:p>
          </p:txBody>
        </p:sp>
      </p:grpSp>
      <p:grpSp>
        <p:nvGrpSpPr>
          <p:cNvPr id="11" name="gain-definition"/>
          <p:cNvGrpSpPr/>
          <p:nvPr/>
        </p:nvGrpSpPr>
        <p:grpSpPr>
          <a:xfrm>
            <a:off x="597408" y="2676525"/>
            <a:ext cx="10984992" cy="644017"/>
            <a:chOff x="597408" y="2676525"/>
            <a:chExt cx="10984992" cy="644017"/>
          </a:xfrm>
        </p:grpSpPr>
        <p:sp>
          <p:nvSpPr>
            <p:cNvPr id="8" name="Line 8"/>
            <p:cNvSpPr/>
            <p:nvPr/>
          </p:nvSpPr>
          <p:spPr>
            <a:xfrm>
              <a:off x="609600" y="26765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597408" y="2851150"/>
              <a:ext cx="2112435"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修正增益 ΔIoU</a:t>
              </a:r>
            </a:p>
          </p:txBody>
        </p:sp>
        <p:sp>
          <p:nvSpPr>
            <p:cNvPr id="10" name="TextBox 10"/>
            <p:cNvSpPr txBox="1"/>
            <p:nvPr/>
          </p:nvSpPr>
          <p:spPr>
            <a:xfrm>
              <a:off x="3456432" y="2889250"/>
              <a:ext cx="474859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修正后 IoU − 修正前 IoU，按图平均。</a:t>
              </a:r>
            </a:p>
          </p:txBody>
        </p:sp>
      </p:grpSp>
      <p:grpSp>
        <p:nvGrpSpPr>
          <p:cNvPr id="15" name="damage-definition"/>
          <p:cNvGrpSpPr/>
          <p:nvPr/>
        </p:nvGrpSpPr>
        <p:grpSpPr>
          <a:xfrm>
            <a:off x="597408" y="3629025"/>
            <a:ext cx="10984992" cy="644017"/>
            <a:chOff x="597408" y="3629025"/>
            <a:chExt cx="10984992" cy="644017"/>
          </a:xfrm>
        </p:grpSpPr>
        <p:sp>
          <p:nvSpPr>
            <p:cNvPr id="12" name="Line 12"/>
            <p:cNvSpPr/>
            <p:nvPr/>
          </p:nvSpPr>
          <p:spPr>
            <a:xfrm>
              <a:off x="609600" y="36290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3" name="TextBox 13"/>
            <p:cNvSpPr txBox="1"/>
            <p:nvPr/>
          </p:nvSpPr>
          <p:spPr>
            <a:xfrm>
              <a:off x="597408" y="3803650"/>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成功损伤率</a:t>
              </a:r>
            </a:p>
          </p:txBody>
        </p:sp>
        <p:sp>
          <p:nvSpPr>
            <p:cNvPr id="14" name="TextBox 14"/>
            <p:cNvSpPr txBox="1"/>
            <p:nvPr/>
          </p:nvSpPr>
          <p:spPr>
            <a:xfrm>
              <a:off x="3456432" y="3841750"/>
              <a:ext cx="5675376"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原成功实例中，修正后分割任务失败的比例。</a:t>
              </a:r>
            </a:p>
          </p:txBody>
        </p:sp>
      </p:grpSp>
      <p:grpSp>
        <p:nvGrpSpPr>
          <p:cNvPr id="19" name="overlap-definition"/>
          <p:cNvGrpSpPr/>
          <p:nvPr/>
        </p:nvGrpSpPr>
        <p:grpSpPr>
          <a:xfrm>
            <a:off x="597408" y="4581525"/>
            <a:ext cx="10984992" cy="644017"/>
            <a:chOff x="597408" y="4581525"/>
            <a:chExt cx="10984992" cy="644017"/>
          </a:xfrm>
        </p:grpSpPr>
        <p:sp>
          <p:nvSpPr>
            <p:cNvPr id="16" name="Line 16"/>
            <p:cNvSpPr/>
            <p:nvPr/>
          </p:nvSpPr>
          <p:spPr>
            <a:xfrm>
              <a:off x="609600" y="45815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7" name="TextBox 17"/>
            <p:cNvSpPr txBox="1"/>
            <p:nvPr/>
          </p:nvSpPr>
          <p:spPr>
            <a:xfrm>
              <a:off x="597408" y="4756150"/>
              <a:ext cx="1639824"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邻框重叠度</a:t>
              </a:r>
            </a:p>
          </p:txBody>
        </p:sp>
        <p:sp>
          <p:nvSpPr>
            <p:cNvPr id="18" name="TextBox 18"/>
            <p:cNvSpPr txBox="1"/>
            <p:nvPr/>
          </p:nvSpPr>
          <p:spPr>
            <a:xfrm>
              <a:off x="3456432" y="4794250"/>
              <a:ext cx="4195191"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当前框与邻近输出框的最大 IoU。</a:t>
              </a:r>
            </a:p>
          </p:txBody>
        </p:sp>
      </p:grpSp>
      <p:grpSp>
        <p:nvGrpSpPr>
          <p:cNvPr id="22" name="metric-notes"/>
          <p:cNvGrpSpPr/>
          <p:nvPr/>
        </p:nvGrpSpPr>
        <p:grpSpPr>
          <a:xfrm>
            <a:off x="601218" y="5540375"/>
            <a:ext cx="7668901" cy="646557"/>
            <a:chOff x="601218" y="5540375"/>
            <a:chExt cx="7668901" cy="646557"/>
          </a:xfrm>
        </p:grpSpPr>
        <p:sp>
          <p:nvSpPr>
            <p:cNvPr id="20" name="TextBox 20"/>
            <p:cNvSpPr txBox="1"/>
            <p:nvPr/>
          </p:nvSpPr>
          <p:spPr>
            <a:xfrm>
              <a:off x="601218" y="5540375"/>
              <a:ext cx="696125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IoU 为预测区域与标注区域的交并比；框与轮廓的诊断阈值均为 0.75。</a:t>
              </a:r>
            </a:p>
          </p:txBody>
        </p:sp>
        <p:sp>
          <p:nvSpPr>
            <p:cNvPr id="21" name="TextBox 21"/>
            <p:cNvSpPr txBox="1"/>
            <p:nvPr/>
          </p:nvSpPr>
          <p:spPr>
            <a:xfrm>
              <a:off x="601218" y="5864225"/>
              <a:ext cx="766890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邻框不限类别，排除同 raw 的副本；它反映预测框重叠，不等同于真实密度。</a:t>
              </a:r>
            </a:p>
          </p:txBody>
        </p:sp>
      </p:grpSp>
      <p:grpSp>
        <p:nvGrpSpPr>
          <p:cNvPr id="25" name="footer"/>
          <p:cNvGrpSpPr/>
          <p:nvPr/>
        </p:nvGrpSpPr>
        <p:grpSpPr>
          <a:xfrm>
            <a:off x="603504" y="6410325"/>
            <a:ext cx="10984992" cy="234696"/>
            <a:chOff x="603504" y="6410325"/>
            <a:chExt cx="10984992" cy="234696"/>
          </a:xfrm>
        </p:grpSpPr>
        <p:sp>
          <p:nvSpPr>
            <p:cNvPr id="23" name="TextBox 23"/>
            <p:cNvSpPr txBox="1"/>
            <p:nvPr/>
          </p:nvSpPr>
          <p:spPr>
            <a:xfrm>
              <a:off x="603504" y="6410325"/>
              <a:ext cx="67976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自定义诊断口径基于现有 IoU 与匹配结果；完整方法效果仍需同配置 COCO AP 验收。[E0—E4]</a:t>
              </a:r>
            </a:p>
          </p:txBody>
        </p:sp>
        <p:sp>
          <p:nvSpPr>
            <p:cNvPr id="24" name="TextBox 24"/>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170162" cy="964565"/>
            <a:chOff x="594360" y="415925"/>
            <a:chExt cx="6170162"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rgbClr val="315E9D"/>
                  </a:solidFill>
                  <a:latin typeface="+mn-lt"/>
                  <a:ea typeface="+mn-ea"/>
                  <a:cs typeface="+mn-cs"/>
                </a:rPr>
                <a:t>02 研究方法 · 模块一</a:t>
              </a:r>
            </a:p>
          </p:txBody>
        </p:sp>
        <p:sp>
          <p:nvSpPr>
            <p:cNvPr id="3" name="TextBox 3"/>
            <p:cNvSpPr txBox="1"/>
            <p:nvPr/>
          </p:nvSpPr>
          <p:spPr>
            <a:xfrm>
              <a:off x="594360" y="793750"/>
              <a:ext cx="6170162"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6,229 个失败实例仍有合格检测框</a:t>
              </a:r>
            </a:p>
          </p:txBody>
        </p:sp>
      </p:grpSp>
      <p:grpSp>
        <p:nvGrpSpPr>
          <p:cNvPr id="6" name="experiment-scope"/>
          <p:cNvGrpSpPr/>
          <p:nvPr/>
        </p:nvGrpSpPr>
        <p:grpSpPr>
          <a:xfrm>
            <a:off x="601218" y="1682750"/>
            <a:ext cx="6458331" cy="322707"/>
            <a:chOff x="601218" y="1682750"/>
            <a:chExt cx="6458331" cy="322707"/>
          </a:xfrm>
        </p:grpSpPr>
        <p:sp>
          <p:nvSpPr>
            <p:cNvPr id="5" name="TextBox 5"/>
            <p:cNvSpPr txBox="1"/>
            <p:nvPr/>
          </p:nvSpPr>
          <p:spPr>
            <a:xfrm>
              <a:off x="601218" y="1682750"/>
              <a:ext cx="645833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对正常推理输出逐实例核对：分割失败究竟发生在哪一类目标上？</a:t>
              </a:r>
            </a:p>
          </p:txBody>
        </p:sp>
      </p:grpSp>
      <p:grpSp>
        <p:nvGrpSpPr>
          <p:cNvPr id="26" name="failure-split"/>
          <p:cNvGrpSpPr/>
          <p:nvPr/>
        </p:nvGrpSpPr>
        <p:grpSpPr>
          <a:xfrm>
            <a:off x="601218" y="2476500"/>
            <a:ext cx="7723251" cy="2606421"/>
            <a:chOff x="601218" y="2476500"/>
            <a:chExt cx="7723251" cy="2606421"/>
          </a:xfrm>
        </p:grpSpPr>
        <p:grpSp>
          <p:nvGrpSpPr>
            <p:cNvPr id="11" name="failure-split-chartArea"/>
            <p:cNvGrpSpPr/>
            <p:nvPr/>
          </p:nvGrpSpPr>
          <p:grpSpPr>
            <a:xfrm>
              <a:off x="2952750" y="2476500"/>
              <a:ext cx="5143500" cy="2295525"/>
              <a:chOff x="2952750" y="2476500"/>
              <a:chExt cx="5143500" cy="2295525"/>
            </a:xfrm>
          </p:grpSpPr>
          <p:sp>
            <p:nvSpPr>
              <p:cNvPr id="7" name="Line 7"/>
              <p:cNvSpPr/>
              <p:nvPr/>
            </p:nvSpPr>
            <p:spPr>
              <a:xfrm>
                <a:off x="2952750" y="4762500"/>
                <a:ext cx="5143500" cy="9525"/>
              </a:xfrm>
              <a:custGeom>
                <a:avLst/>
                <a:gdLst/>
                <a:ahLst/>
                <a:cxnLst/>
                <a:rect l="l" t="t" r="r" b="b"/>
                <a:pathLst>
                  <a:path w="5143500" h="9525">
                    <a:moveTo>
                      <a:pt x="0" y="0"/>
                    </a:moveTo>
                    <a:lnTo>
                      <a:pt x="5143500" y="0"/>
                    </a:lnTo>
                  </a:path>
                </a:pathLst>
              </a:custGeom>
              <a:noFill/>
              <a:ln w="9525">
                <a:solidFill>
                  <a:srgbClr val="596B80"/>
                </a:solidFill>
              </a:ln>
            </p:spPr>
          </p:sp>
          <p:sp>
            <p:nvSpPr>
              <p:cNvPr id="8" name="Rectangle 8"/>
              <p:cNvSpPr/>
              <p:nvPr/>
            </p:nvSpPr>
            <p:spPr>
              <a:xfrm>
                <a:off x="2952750" y="2476500"/>
                <a:ext cx="4595717" cy="285750"/>
              </a:xfrm>
              <a:prstGeom prst="rect">
                <a:avLst/>
              </a:prstGeom>
              <a:solidFill>
                <a:srgbClr val="596B80"/>
              </a:solidFill>
              <a:ln>
                <a:noFill/>
              </a:ln>
            </p:spPr>
          </p:sp>
          <p:sp>
            <p:nvSpPr>
              <p:cNvPr id="9" name="Rectangle 9"/>
              <p:cNvSpPr/>
              <p:nvPr/>
            </p:nvSpPr>
            <p:spPr>
              <a:xfrm>
                <a:off x="2952750" y="3333750"/>
                <a:ext cx="4004862" cy="285750"/>
              </a:xfrm>
              <a:prstGeom prst="rect">
                <a:avLst/>
              </a:prstGeom>
              <a:solidFill>
                <a:schemeClr val="accent2"/>
              </a:solidFill>
              <a:ln>
                <a:noFill/>
              </a:ln>
            </p:spPr>
          </p:sp>
          <p:sp>
            <p:nvSpPr>
              <p:cNvPr id="10" name="Rectangle 10"/>
              <p:cNvSpPr/>
              <p:nvPr/>
            </p:nvSpPr>
            <p:spPr>
              <a:xfrm>
                <a:off x="2952750" y="4191000"/>
                <a:ext cx="643" cy="285750"/>
              </a:xfrm>
              <a:prstGeom prst="rect">
                <a:avLst/>
              </a:prstGeom>
              <a:solidFill>
                <a:schemeClr val="accent3"/>
              </a:solidFill>
              <a:ln>
                <a:noFill/>
              </a:ln>
            </p:spPr>
          </p:sp>
        </p:grpSp>
        <p:grpSp>
          <p:nvGrpSpPr>
            <p:cNvPr id="19" name="Group 19"/>
            <p:cNvGrpSpPr/>
            <p:nvPr/>
          </p:nvGrpSpPr>
          <p:grpSpPr>
            <a:xfrm>
              <a:off x="601218" y="2482850"/>
              <a:ext cx="7685627" cy="2046732"/>
              <a:chOff x="601218" y="2482850"/>
              <a:chExt cx="7685627" cy="2046732"/>
            </a:xfrm>
          </p:grpSpPr>
          <p:sp>
            <p:nvSpPr>
              <p:cNvPr id="12" name="TextBox 12"/>
              <p:cNvSpPr txBox="1"/>
              <p:nvPr/>
            </p:nvSpPr>
            <p:spPr>
              <a:xfrm>
                <a:off x="601218" y="24828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无合格框配对</a:t>
                </a:r>
              </a:p>
            </p:txBody>
          </p:sp>
          <p:sp>
            <p:nvSpPr>
              <p:cNvPr id="13" name="TextBox 13"/>
              <p:cNvSpPr txBox="1"/>
              <p:nvPr/>
            </p:nvSpPr>
            <p:spPr>
              <a:xfrm>
                <a:off x="601218" y="3206750"/>
                <a:ext cx="683133"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框合格</a:t>
                </a:r>
              </a:p>
            </p:txBody>
          </p:sp>
          <p:sp>
            <p:nvSpPr>
              <p:cNvPr id="14" name="TextBox 14"/>
              <p:cNvSpPr txBox="1"/>
              <p:nvPr/>
            </p:nvSpPr>
            <p:spPr>
              <a:xfrm>
                <a:off x="601218" y="3492500"/>
                <a:ext cx="1326871"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轮廓不合格 T</a:t>
                </a:r>
              </a:p>
            </p:txBody>
          </p:sp>
          <p:sp>
            <p:nvSpPr>
              <p:cNvPr id="15" name="TextBox 15"/>
              <p:cNvSpPr txBox="1"/>
              <p:nvPr/>
            </p:nvSpPr>
            <p:spPr>
              <a:xfrm>
                <a:off x="601218" y="4197350"/>
                <a:ext cx="13495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匹配竞争案例</a:t>
                </a:r>
              </a:p>
            </p:txBody>
          </p:sp>
          <p:sp>
            <p:nvSpPr>
              <p:cNvPr id="16" name="TextBox 16"/>
              <p:cNvSpPr txBox="1"/>
              <p:nvPr/>
            </p:nvSpPr>
            <p:spPr>
              <a:xfrm>
                <a:off x="7659243" y="2492375"/>
                <a:ext cx="62760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7,148</a:t>
                </a:r>
              </a:p>
            </p:txBody>
          </p:sp>
          <p:sp>
            <p:nvSpPr>
              <p:cNvPr id="17" name="TextBox 17"/>
              <p:cNvSpPr txBox="1"/>
              <p:nvPr/>
            </p:nvSpPr>
            <p:spPr>
              <a:xfrm>
                <a:off x="7068693" y="3349625"/>
                <a:ext cx="658144"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6,229</a:t>
                </a:r>
              </a:p>
            </p:txBody>
          </p:sp>
          <p:sp>
            <p:nvSpPr>
              <p:cNvPr id="18" name="TextBox 18"/>
              <p:cNvSpPr txBox="1"/>
              <p:nvPr/>
            </p:nvSpPr>
            <p:spPr>
              <a:xfrm>
                <a:off x="3077718" y="4206875"/>
                <a:ext cx="138932" cy="322707"/>
              </a:xfrm>
              <a:prstGeom prst="rect">
                <a:avLst/>
              </a:prstGeom>
              <a:noFill/>
              <a:ln>
                <a:noFill/>
              </a:ln>
            </p:spPr>
            <p:txBody>
              <a:bodyPr wrap="none" lIns="0" tIns="0" rIns="0" bIns="0" anchor="t" anchorCtr="0">
                <a:spAutoFit/>
              </a:bodyPr>
              <a:lstStyle/>
              <a:p>
                <a:pPr algn="l"/>
                <a:r>
                  <a:rPr lang="zh-CN" sz="1650" dirty="0">
                    <a:solidFill>
                      <a:schemeClr val="dk1"/>
                    </a:solidFill>
                    <a:latin typeface="+mn-lt"/>
                    <a:ea typeface="+mn-ea"/>
                    <a:cs typeface="+mn-cs"/>
                  </a:rPr>
                  <a:t>1</a:t>
                </a:r>
              </a:p>
            </p:txBody>
          </p:sp>
        </p:grpSp>
        <p:grpSp>
          <p:nvGrpSpPr>
            <p:cNvPr id="25" name="Group 25"/>
            <p:cNvGrpSpPr/>
            <p:nvPr/>
          </p:nvGrpSpPr>
          <p:grpSpPr>
            <a:xfrm>
              <a:off x="2902229" y="4848225"/>
              <a:ext cx="5422240" cy="234696"/>
              <a:chOff x="2902229" y="4848225"/>
              <a:chExt cx="5422240" cy="234696"/>
            </a:xfrm>
          </p:grpSpPr>
          <p:sp>
            <p:nvSpPr>
              <p:cNvPr id="20" name="TextBox 20"/>
              <p:cNvSpPr txBox="1"/>
              <p:nvPr/>
            </p:nvSpPr>
            <p:spPr>
              <a:xfrm>
                <a:off x="2902229" y="48482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401040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2,000</a:t>
                </a:r>
              </a:p>
            </p:txBody>
          </p:sp>
          <p:sp>
            <p:nvSpPr>
              <p:cNvPr id="22" name="TextBox 22"/>
              <p:cNvSpPr txBox="1"/>
              <p:nvPr/>
            </p:nvSpPr>
            <p:spPr>
              <a:xfrm>
                <a:off x="529628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4,000</a:t>
                </a:r>
              </a:p>
            </p:txBody>
          </p:sp>
          <p:sp>
            <p:nvSpPr>
              <p:cNvPr id="23" name="TextBox 23"/>
              <p:cNvSpPr txBox="1"/>
              <p:nvPr/>
            </p:nvSpPr>
            <p:spPr>
              <a:xfrm>
                <a:off x="6582156"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6,000</a:t>
                </a:r>
              </a:p>
            </p:txBody>
          </p:sp>
          <p:sp>
            <p:nvSpPr>
              <p:cNvPr id="24" name="TextBox 24"/>
              <p:cNvSpPr txBox="1"/>
              <p:nvPr/>
            </p:nvSpPr>
            <p:spPr>
              <a:xfrm>
                <a:off x="7868031" y="4848225"/>
                <a:ext cx="45643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8,000</a:t>
                </a:r>
              </a:p>
            </p:txBody>
          </p:sp>
        </p:grpSp>
      </p:grpSp>
      <p:grpSp>
        <p:nvGrpSpPr>
          <p:cNvPr id="31" name="target-share"/>
          <p:cNvGrpSpPr/>
          <p:nvPr/>
        </p:nvGrpSpPr>
        <p:grpSpPr>
          <a:xfrm>
            <a:off x="8686800" y="2355850"/>
            <a:ext cx="2709634" cy="2392807"/>
            <a:chOff x="8686800" y="2355850"/>
            <a:chExt cx="2709634" cy="2392807"/>
          </a:xfrm>
        </p:grpSpPr>
        <p:sp>
          <p:nvSpPr>
            <p:cNvPr id="27" name="TextBox 27"/>
            <p:cNvSpPr txBox="1"/>
            <p:nvPr/>
          </p:nvSpPr>
          <p:spPr>
            <a:xfrm>
              <a:off x="8686800" y="2355850"/>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46.56%</a:t>
              </a:r>
            </a:p>
          </p:txBody>
        </p:sp>
        <p:sp>
          <p:nvSpPr>
            <p:cNvPr id="28" name="TextBox 28"/>
            <p:cNvSpPr txBox="1"/>
            <p:nvPr/>
          </p:nvSpPr>
          <p:spPr>
            <a:xfrm>
              <a:off x="8695182" y="3336925"/>
              <a:ext cx="171754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分割失败中的</a:t>
              </a:r>
            </a:p>
          </p:txBody>
        </p:sp>
        <p:sp>
          <p:nvSpPr>
            <p:cNvPr id="29" name="TextBox 29"/>
            <p:cNvSpPr txBox="1"/>
            <p:nvPr/>
          </p:nvSpPr>
          <p:spPr>
            <a:xfrm>
              <a:off x="8695182" y="3775075"/>
              <a:ext cx="149565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目标 T 占比</a:t>
              </a:r>
            </a:p>
          </p:txBody>
        </p:sp>
        <p:sp>
          <p:nvSpPr>
            <p:cNvPr id="30" name="TextBox 30"/>
            <p:cNvSpPr txBox="1"/>
            <p:nvPr/>
          </p:nvSpPr>
          <p:spPr>
            <a:xfrm>
              <a:off x="8697468" y="4425950"/>
              <a:ext cx="161605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6,229 / 13,378</a:t>
              </a:r>
            </a:p>
          </p:txBody>
        </p:sp>
      </p:grpSp>
      <p:grpSp>
        <p:nvGrpSpPr>
          <p:cNvPr id="34" name="finding"/>
          <p:cNvGrpSpPr/>
          <p:nvPr/>
        </p:nvGrpSpPr>
        <p:grpSpPr>
          <a:xfrm>
            <a:off x="597408" y="5403850"/>
            <a:ext cx="7778496" cy="802132"/>
            <a:chOff x="597408" y="5403850"/>
            <a:chExt cx="7778496" cy="802132"/>
          </a:xfrm>
        </p:grpSpPr>
        <p:sp>
          <p:nvSpPr>
            <p:cNvPr id="32" name="TextBox 32"/>
            <p:cNvSpPr txBox="1"/>
            <p:nvPr/>
          </p:nvSpPr>
          <p:spPr>
            <a:xfrm>
              <a:off x="597408" y="5403850"/>
              <a:ext cx="77784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这部分错误可以在固定检测框后，继续研究轮廓修正。</a:t>
              </a:r>
            </a:p>
          </p:txBody>
        </p:sp>
        <p:sp>
          <p:nvSpPr>
            <p:cNvPr id="33" name="TextBox 33"/>
            <p:cNvSpPr txBox="1"/>
            <p:nvPr/>
          </p:nvSpPr>
          <p:spPr>
            <a:xfrm>
              <a:off x="601218" y="5883275"/>
              <a:ext cx="490347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其余错误尚未纳入这一修正对象，需要分别研究。</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649805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 COCO val2017 5,000 图；普通 GT 36,335，分割失败 13,378；比例不等同于 AP。</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088380" cy="964565"/>
            <a:chOff x="594360" y="415925"/>
            <a:chExt cx="608838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a:t>
              </a:r>
            </a:p>
          </p:txBody>
        </p:sp>
        <p:sp>
          <p:nvSpPr>
            <p:cNvPr id="3" name="TextBox 3"/>
            <p:cNvSpPr txBox="1"/>
            <p:nvPr/>
          </p:nvSpPr>
          <p:spPr>
            <a:xfrm>
              <a:off x="594360" y="793750"/>
              <a:ext cx="608838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固定检测后，仍存在轮廓修正空间</a:t>
              </a:r>
            </a:p>
          </p:txBody>
        </p:sp>
      </p:grpSp>
      <p:grpSp>
        <p:nvGrpSpPr>
          <p:cNvPr id="6" name="oracle-procedure"/>
          <p:cNvGrpSpPr/>
          <p:nvPr/>
        </p:nvGrpSpPr>
        <p:grpSpPr>
          <a:xfrm>
            <a:off x="601218" y="1654175"/>
            <a:ext cx="8013192" cy="322707"/>
            <a:chOff x="601218" y="1654175"/>
            <a:chExt cx="8013192" cy="322707"/>
          </a:xfrm>
        </p:grpSpPr>
        <p:sp>
          <p:nvSpPr>
            <p:cNvPr id="5" name="TextBox 5"/>
            <p:cNvSpPr txBox="1"/>
            <p:nvPr/>
          </p:nvSpPr>
          <p:spPr>
            <a:xfrm>
              <a:off x="601218" y="1654175"/>
              <a:ext cx="80131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固定原型与检测框，只优化组合系数；使用真实标注指导优化，测量可改进空间。</a:t>
              </a:r>
            </a:p>
          </p:txBody>
        </p:sp>
      </p:grpSp>
      <p:grpSp>
        <p:nvGrpSpPr>
          <p:cNvPr id="27" name="oracle-area"/>
          <p:cNvGrpSpPr/>
          <p:nvPr/>
        </p:nvGrpSpPr>
        <p:grpSpPr>
          <a:xfrm>
            <a:off x="598932" y="2063750"/>
            <a:ext cx="7316267" cy="3057271"/>
            <a:chOff x="598932" y="2063750"/>
            <a:chExt cx="7316267" cy="3057271"/>
          </a:xfrm>
        </p:grpSpPr>
        <p:grpSp>
          <p:nvGrpSpPr>
            <p:cNvPr id="11" name="oracle-area-chartArea"/>
            <p:cNvGrpSpPr/>
            <p:nvPr/>
          </p:nvGrpSpPr>
          <p:grpSpPr>
            <a:xfrm>
              <a:off x="2190750" y="2400300"/>
              <a:ext cx="5524500" cy="2047875"/>
              <a:chOff x="2190750" y="2400300"/>
              <a:chExt cx="5524500" cy="2047875"/>
            </a:xfrm>
          </p:grpSpPr>
          <p:sp>
            <p:nvSpPr>
              <p:cNvPr id="7" name="Line 7"/>
              <p:cNvSpPr/>
              <p:nvPr/>
            </p:nvSpPr>
            <p:spPr>
              <a:xfrm>
                <a:off x="2190750" y="4438650"/>
                <a:ext cx="5524500" cy="9525"/>
              </a:xfrm>
              <a:custGeom>
                <a:avLst/>
                <a:gdLst/>
                <a:ahLst/>
                <a:cxnLst/>
                <a:rect l="l" t="t" r="r" b="b"/>
                <a:pathLst>
                  <a:path w="5524500" h="9525">
                    <a:moveTo>
                      <a:pt x="0" y="0"/>
                    </a:moveTo>
                    <a:lnTo>
                      <a:pt x="5524500" y="0"/>
                    </a:lnTo>
                  </a:path>
                </a:pathLst>
              </a:custGeom>
              <a:noFill/>
              <a:ln w="9525">
                <a:solidFill>
                  <a:srgbClr val="596B80"/>
                </a:solidFill>
              </a:ln>
            </p:spPr>
          </p:sp>
          <p:sp>
            <p:nvSpPr>
              <p:cNvPr id="8" name="Rectangle 8"/>
              <p:cNvSpPr/>
              <p:nvPr/>
            </p:nvSpPr>
            <p:spPr>
              <a:xfrm>
                <a:off x="2190750" y="2400300"/>
                <a:ext cx="1418453" cy="266700"/>
              </a:xfrm>
              <a:prstGeom prst="rect">
                <a:avLst/>
              </a:prstGeom>
              <a:solidFill>
                <a:schemeClr val="accent2"/>
              </a:solidFill>
              <a:ln>
                <a:noFill/>
              </a:ln>
            </p:spPr>
          </p:sp>
          <p:sp>
            <p:nvSpPr>
              <p:cNvPr id="9" name="Rectangle 9"/>
              <p:cNvSpPr/>
              <p:nvPr/>
            </p:nvSpPr>
            <p:spPr>
              <a:xfrm>
                <a:off x="2190750" y="3162300"/>
                <a:ext cx="3798094" cy="266700"/>
              </a:xfrm>
              <a:prstGeom prst="rect">
                <a:avLst/>
              </a:prstGeom>
              <a:solidFill>
                <a:schemeClr val="accent2"/>
              </a:solidFill>
              <a:ln>
                <a:noFill/>
              </a:ln>
            </p:spPr>
          </p:sp>
          <p:sp>
            <p:nvSpPr>
              <p:cNvPr id="10" name="Rectangle 10"/>
              <p:cNvSpPr/>
              <p:nvPr/>
            </p:nvSpPr>
            <p:spPr>
              <a:xfrm>
                <a:off x="2190750" y="3924300"/>
                <a:ext cx="5022275" cy="266700"/>
              </a:xfrm>
              <a:prstGeom prst="rect">
                <a:avLst/>
              </a:prstGeom>
              <a:solidFill>
                <a:schemeClr val="accent2"/>
              </a:solidFill>
              <a:ln>
                <a:noFill/>
              </a:ln>
            </p:spPr>
          </p:sp>
        </p:grpSp>
        <p:grpSp>
          <p:nvGrpSpPr>
            <p:cNvPr id="15" name="Group 15"/>
            <p:cNvGrpSpPr/>
            <p:nvPr/>
          </p:nvGrpSpPr>
          <p:grpSpPr>
            <a:xfrm>
              <a:off x="598932" y="2365375"/>
              <a:ext cx="869442" cy="1934718"/>
              <a:chOff x="598932" y="2365375"/>
              <a:chExt cx="869442" cy="1934718"/>
            </a:xfrm>
          </p:grpSpPr>
          <p:sp>
            <p:nvSpPr>
              <p:cNvPr id="12" name="TextBox 12"/>
              <p:cNvSpPr txBox="1"/>
              <p:nvPr/>
            </p:nvSpPr>
            <p:spPr>
              <a:xfrm>
                <a:off x="598932" y="2365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小目标</a:t>
                </a:r>
              </a:p>
            </p:txBody>
          </p:sp>
          <p:sp>
            <p:nvSpPr>
              <p:cNvPr id="13" name="TextBox 13"/>
              <p:cNvSpPr txBox="1"/>
              <p:nvPr/>
            </p:nvSpPr>
            <p:spPr>
              <a:xfrm>
                <a:off x="598932" y="3127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中目标</a:t>
                </a:r>
              </a:p>
            </p:txBody>
          </p:sp>
          <p:sp>
            <p:nvSpPr>
              <p:cNvPr id="14" name="TextBox 14"/>
              <p:cNvSpPr txBox="1"/>
              <p:nvPr/>
            </p:nvSpPr>
            <p:spPr>
              <a:xfrm>
                <a:off x="598932" y="3889375"/>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大目标</a:t>
                </a:r>
              </a:p>
            </p:txBody>
          </p:sp>
        </p:grpSp>
        <p:grpSp>
          <p:nvGrpSpPr>
            <p:cNvPr id="19" name="Group 19"/>
            <p:cNvGrpSpPr/>
            <p:nvPr/>
          </p:nvGrpSpPr>
          <p:grpSpPr>
            <a:xfrm>
              <a:off x="2182368" y="2063750"/>
              <a:ext cx="2104720" cy="1846707"/>
              <a:chOff x="2182368" y="2063750"/>
              <a:chExt cx="2104720" cy="1846707"/>
            </a:xfrm>
          </p:grpSpPr>
          <p:sp>
            <p:nvSpPr>
              <p:cNvPr id="16" name="TextBox 16"/>
              <p:cNvSpPr txBox="1"/>
              <p:nvPr/>
            </p:nvSpPr>
            <p:spPr>
              <a:xfrm>
                <a:off x="2182368" y="2063750"/>
                <a:ext cx="2104720"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25.68%（38 / 148）</a:t>
                </a:r>
              </a:p>
            </p:txBody>
          </p:sp>
          <p:sp>
            <p:nvSpPr>
              <p:cNvPr id="17" name="TextBox 17"/>
              <p:cNvSpPr txBox="1"/>
              <p:nvPr/>
            </p:nvSpPr>
            <p:spPr>
              <a:xfrm>
                <a:off x="2182368" y="2825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68.75%（44 / 64）</a:t>
                </a:r>
              </a:p>
            </p:txBody>
          </p:sp>
          <p:sp>
            <p:nvSpPr>
              <p:cNvPr id="18" name="TextBox 18"/>
              <p:cNvSpPr txBox="1"/>
              <p:nvPr/>
            </p:nvSpPr>
            <p:spPr>
              <a:xfrm>
                <a:off x="2182368" y="3587750"/>
                <a:ext cx="1982553"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90.91%（40 / 44）</a:t>
                </a:r>
              </a:p>
            </p:txBody>
          </p:sp>
        </p:grpSp>
        <p:grpSp>
          <p:nvGrpSpPr>
            <p:cNvPr id="25" name="Group 25"/>
            <p:cNvGrpSpPr/>
            <p:nvPr/>
          </p:nvGrpSpPr>
          <p:grpSpPr>
            <a:xfrm>
              <a:off x="2140229" y="4619625"/>
              <a:ext cx="5774970" cy="234696"/>
              <a:chOff x="2140229" y="4619625"/>
              <a:chExt cx="5774970" cy="234696"/>
            </a:xfrm>
          </p:grpSpPr>
          <p:sp>
            <p:nvSpPr>
              <p:cNvPr id="20" name="TextBox 20"/>
              <p:cNvSpPr txBox="1"/>
              <p:nvPr/>
            </p:nvSpPr>
            <p:spPr>
              <a:xfrm>
                <a:off x="2140229" y="461962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1" name="TextBox 21"/>
              <p:cNvSpPr txBox="1"/>
              <p:nvPr/>
            </p:nvSpPr>
            <p:spPr>
              <a:xfrm>
                <a:off x="347693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25</a:t>
                </a:r>
              </a:p>
            </p:txBody>
          </p:sp>
          <p:sp>
            <p:nvSpPr>
              <p:cNvPr id="22" name="TextBox 22"/>
              <p:cNvSpPr txBox="1"/>
              <p:nvPr/>
            </p:nvSpPr>
            <p:spPr>
              <a:xfrm>
                <a:off x="4858055"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50</a:t>
                </a:r>
              </a:p>
            </p:txBody>
          </p:sp>
          <p:sp>
            <p:nvSpPr>
              <p:cNvPr id="23" name="TextBox 23"/>
              <p:cNvSpPr txBox="1"/>
              <p:nvPr/>
            </p:nvSpPr>
            <p:spPr>
              <a:xfrm>
                <a:off x="6239180" y="461962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75</a:t>
                </a:r>
              </a:p>
            </p:txBody>
          </p:sp>
          <p:sp>
            <p:nvSpPr>
              <p:cNvPr id="24" name="TextBox 24"/>
              <p:cNvSpPr txBox="1"/>
              <p:nvPr/>
            </p:nvSpPr>
            <p:spPr>
              <a:xfrm>
                <a:off x="7515301" y="4619625"/>
                <a:ext cx="39989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100%</a:t>
                </a:r>
              </a:p>
            </p:txBody>
          </p:sp>
        </p:grpSp>
        <p:sp>
          <p:nvSpPr>
            <p:cNvPr id="26" name="TextBox 26"/>
            <p:cNvSpPr txBox="1"/>
            <p:nvPr/>
          </p:nvSpPr>
          <p:spPr>
            <a:xfrm>
              <a:off x="2184654" y="4886325"/>
              <a:ext cx="28475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同一检测的轮廓达到 IoU ≥ 0.75 的比例</a:t>
              </a:r>
            </a:p>
          </p:txBody>
        </p:sp>
      </p:grpSp>
      <p:grpSp>
        <p:nvGrpSpPr>
          <p:cNvPr id="31" name="oracle-total"/>
          <p:cNvGrpSpPr/>
          <p:nvPr/>
        </p:nvGrpSpPr>
        <p:grpSpPr>
          <a:xfrm>
            <a:off x="8553450" y="2251075"/>
            <a:ext cx="2709634" cy="2732532"/>
            <a:chOff x="8553450" y="2251075"/>
            <a:chExt cx="2709634" cy="2732532"/>
          </a:xfrm>
        </p:grpSpPr>
        <p:sp>
          <p:nvSpPr>
            <p:cNvPr id="28" name="TextBox 28"/>
            <p:cNvSpPr txBox="1"/>
            <p:nvPr/>
          </p:nvSpPr>
          <p:spPr>
            <a:xfrm>
              <a:off x="8553450" y="2251075"/>
              <a:ext cx="2709634"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47.66%</a:t>
              </a:r>
            </a:p>
          </p:txBody>
        </p:sp>
        <p:sp>
          <p:nvSpPr>
            <p:cNvPr id="29" name="TextBox 29"/>
            <p:cNvSpPr txBox="1"/>
            <p:nvPr/>
          </p:nvSpPr>
          <p:spPr>
            <a:xfrm>
              <a:off x="8561832" y="3184525"/>
              <a:ext cx="2488311" cy="858393"/>
            </a:xfrm>
            <a:prstGeom prst="rect">
              <a:avLst/>
            </a:prstGeom>
            <a:noFill/>
            <a:ln>
              <a:noFill/>
            </a:ln>
          </p:spPr>
          <p:txBody>
            <a:bodyPr wrap="none" lIns="0" tIns="0" rIns="0" bIns="0" anchor="t" anchorCtr="0">
              <a:spAutoFit/>
            </a:bodyPr>
            <a:lstStyle/>
            <a:p>
              <a:pPr algn="l">
                <a:lnSpc>
                  <a:spcPts val="3525"/>
                </a:lnSpc>
              </a:pPr>
              <a:r>
                <a:rPr lang="zh-CN" sz="2100" dirty="0">
                  <a:solidFill>
                    <a:schemeClr val="dk1"/>
                  </a:solidFill>
                  <a:latin typeface="+mn-lt"/>
                  <a:ea typeface="+mn-ea"/>
                  <a:cs typeface="+mn-cs"/>
                </a:rPr>
                <a:t>256 个固定目标中</a:t>
              </a:r>
              <a:br>
                <a:rPr lang="zh-CN" sz="2100" dirty="0">
                  <a:solidFill>
                    <a:schemeClr val="dk1"/>
                  </a:solidFill>
                  <a:latin typeface="+mn-lt"/>
                  <a:ea typeface="+mn-ea"/>
                  <a:cs typeface="+mn-cs"/>
                </a:rPr>
              </a:br>
              <a:r>
                <a:rPr lang="zh-CN" sz="2100" dirty="0">
                  <a:solidFill>
                    <a:schemeClr val="dk1"/>
                  </a:solidFill>
                  <a:latin typeface="+mn-lt"/>
                  <a:ea typeface="+mn-ea"/>
                  <a:cs typeface="+mn-cs"/>
                </a:rPr>
                <a:t>找到 122 个达标结果</a:t>
              </a:r>
            </a:p>
          </p:txBody>
        </p:sp>
        <p:sp>
          <p:nvSpPr>
            <p:cNvPr id="30" name="TextBox 30"/>
            <p:cNvSpPr txBox="1"/>
            <p:nvPr/>
          </p:nvSpPr>
          <p:spPr>
            <a:xfrm>
              <a:off x="8564118" y="4318000"/>
              <a:ext cx="1902714" cy="665607"/>
            </a:xfrm>
            <a:prstGeom prst="rect">
              <a:avLst/>
            </a:prstGeom>
            <a:noFill/>
            <a:ln>
              <a:noFill/>
            </a:ln>
          </p:spPr>
          <p:txBody>
            <a:bodyPr wrap="none" lIns="0" tIns="0" rIns="0" bIns="0" anchor="t" anchorCtr="0">
              <a:spAutoFit/>
            </a:bodyPr>
            <a:lstStyle/>
            <a:p>
              <a:pPr algn="l">
                <a:lnSpc>
                  <a:spcPts val="2700"/>
                </a:lnSpc>
              </a:pPr>
              <a:r>
                <a:rPr lang="zh-CN" sz="1650" dirty="0">
                  <a:solidFill>
                    <a:schemeClr val="accent3"/>
                  </a:solidFill>
                  <a:latin typeface="+mn-lt"/>
                  <a:ea typeface="+mn-ea"/>
                  <a:cs typeface="+mn-cs"/>
                </a:rPr>
                <a:t>标注辅助的修正机会</a:t>
              </a:r>
              <a:br>
                <a:rPr lang="zh-CN" sz="1650" dirty="0">
                  <a:solidFill>
                    <a:schemeClr val="accent3"/>
                  </a:solidFill>
                  <a:latin typeface="+mn-lt"/>
                  <a:ea typeface="+mn-ea"/>
                  <a:cs typeface="+mn-cs"/>
                </a:rPr>
              </a:br>
              <a:r>
                <a:rPr lang="zh-CN" sz="1650" dirty="0">
                  <a:solidFill>
                    <a:schemeClr val="accent3"/>
                  </a:solidFill>
                  <a:latin typeface="+mn-lt"/>
                  <a:ea typeface="+mn-ea"/>
                  <a:cs typeface="+mn-cs"/>
                </a:rPr>
                <a:t>不代表自动方法收益</a:t>
              </a:r>
            </a:p>
          </p:txBody>
        </p:sp>
      </p:grpSp>
      <p:grpSp>
        <p:nvGrpSpPr>
          <p:cNvPr id="34" name="finding"/>
          <p:cNvGrpSpPr/>
          <p:nvPr/>
        </p:nvGrpSpPr>
        <p:grpSpPr>
          <a:xfrm>
            <a:off x="597408" y="5413375"/>
            <a:ext cx="7455408" cy="783082"/>
            <a:chOff x="597408" y="5413375"/>
            <a:chExt cx="7455408" cy="783082"/>
          </a:xfrm>
        </p:grpSpPr>
        <p:sp>
          <p:nvSpPr>
            <p:cNvPr id="32" name="TextBox 32"/>
            <p:cNvSpPr txBox="1"/>
            <p:nvPr/>
          </p:nvSpPr>
          <p:spPr>
            <a:xfrm>
              <a:off x="597408" y="5413375"/>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现有表示还有修正机会，下一步检验能否自动学到。</a:t>
              </a:r>
            </a:p>
          </p:txBody>
        </p:sp>
        <p:sp>
          <p:nvSpPr>
            <p:cNvPr id="33" name="TextBox 33"/>
            <p:cNvSpPr txBox="1"/>
            <p:nvPr/>
          </p:nvSpPr>
          <p:spPr>
            <a:xfrm>
              <a:off x="601218" y="5873750"/>
              <a:ext cx="601408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面积分组使用真实标注面积；这是固定样本的有限求解结果。</a:t>
              </a:r>
            </a:p>
          </p:txBody>
        </p:sp>
      </p:grpSp>
      <p:grpSp>
        <p:nvGrpSpPr>
          <p:cNvPr id="37" name="footer"/>
          <p:cNvGrpSpPr/>
          <p:nvPr/>
        </p:nvGrpSpPr>
        <p:grpSpPr>
          <a:xfrm>
            <a:off x="603504" y="6410325"/>
            <a:ext cx="10984992" cy="234696"/>
            <a:chOff x="603504" y="6410325"/>
            <a:chExt cx="10984992" cy="234696"/>
          </a:xfrm>
        </p:grpSpPr>
        <p:sp>
          <p:nvSpPr>
            <p:cNvPr id="35" name="TextBox 35"/>
            <p:cNvSpPr txBox="1"/>
            <p:nvPr/>
          </p:nvSpPr>
          <p:spPr>
            <a:xfrm>
              <a:off x="603504" y="6410325"/>
              <a:ext cx="7156094"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[E1] 从 T=6,229 中按冻结规则选取 256 个 GT；256/256 收敛；不外推为全体失败实例的修复率。</a:t>
              </a:r>
            </a:p>
          </p:txBody>
        </p:sp>
        <p:sp>
          <p:nvSpPr>
            <p:cNvPr id="36" name="TextBox 36"/>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02 研究方法 · 模块二</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自动修正尚未兼顾目标收益与整体保护</a:t>
              </a:r>
            </a:p>
          </p:txBody>
        </p:sp>
      </p:grpSp>
      <p:grpSp>
        <p:nvGrpSpPr>
          <p:cNvPr id="6" name="training-setup"/>
          <p:cNvGrpSpPr/>
          <p:nvPr/>
        </p:nvGrpSpPr>
        <p:grpSpPr>
          <a:xfrm>
            <a:off x="601218" y="1654175"/>
            <a:ext cx="9390355" cy="322707"/>
            <a:chOff x="601218" y="1654175"/>
            <a:chExt cx="9390355" cy="322707"/>
          </a:xfrm>
        </p:grpSpPr>
        <p:sp>
          <p:nvSpPr>
            <p:cNvPr id="5" name="TextBox 5"/>
            <p:cNvSpPr txBox="1"/>
            <p:nvPr/>
          </p:nvSpPr>
          <p:spPr>
            <a:xfrm>
              <a:off x="601218" y="1654175"/>
              <a:ext cx="9390355"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冻结基础模型，只训练轻量系数修正器；同 2,000 张训练图、3 轮，比较空间信息与损失函数。</a:t>
              </a:r>
            </a:p>
          </p:txBody>
        </p:sp>
      </p:grpSp>
      <p:grpSp>
        <p:nvGrpSpPr>
          <p:cNvPr id="34" name="pilot-effects"/>
          <p:cNvGrpSpPr/>
          <p:nvPr/>
        </p:nvGrpSpPr>
        <p:grpSpPr>
          <a:xfrm>
            <a:off x="598932" y="2120900"/>
            <a:ext cx="10500588" cy="2884932"/>
            <a:chOff x="598932" y="2120900"/>
            <a:chExt cx="10500588" cy="2884932"/>
          </a:xfrm>
        </p:grpSpPr>
        <p:grpSp>
          <p:nvGrpSpPr>
            <p:cNvPr id="16" name="pilot-effects-chartArea"/>
            <p:cNvGrpSpPr/>
            <p:nvPr/>
          </p:nvGrpSpPr>
          <p:grpSpPr>
            <a:xfrm>
              <a:off x="4000500" y="2257425"/>
              <a:ext cx="7048500" cy="2085975"/>
              <a:chOff x="4000500" y="2257425"/>
              <a:chExt cx="7048500" cy="2085975"/>
            </a:xfrm>
          </p:grpSpPr>
          <p:sp>
            <p:nvSpPr>
              <p:cNvPr id="7" name="Line 7"/>
              <p:cNvSpPr/>
              <p:nvPr/>
            </p:nvSpPr>
            <p:spPr>
              <a:xfrm>
                <a:off x="8699497" y="2257425"/>
                <a:ext cx="9525" cy="2076450"/>
              </a:xfrm>
              <a:custGeom>
                <a:avLst/>
                <a:gdLst/>
                <a:ahLst/>
                <a:cxnLst/>
                <a:rect l="l" t="t" r="r" b="b"/>
                <a:pathLst>
                  <a:path w="9525" h="2076450">
                    <a:moveTo>
                      <a:pt x="0" y="0"/>
                    </a:moveTo>
                    <a:lnTo>
                      <a:pt x="0" y="2076450"/>
                    </a:lnTo>
                  </a:path>
                </a:pathLst>
              </a:custGeom>
              <a:noFill/>
              <a:ln w="9525">
                <a:solidFill>
                  <a:srgbClr val="596B80"/>
                </a:solidFill>
                <a:custDash>
                  <a:ds d="500000" sp="500000"/>
                </a:custDash>
              </a:ln>
            </p:spPr>
          </p:sp>
          <p:sp>
            <p:nvSpPr>
              <p:cNvPr id="8" name="Line 8"/>
              <p:cNvSpPr/>
              <p:nvPr/>
            </p:nvSpPr>
            <p:spPr>
              <a:xfrm>
                <a:off x="4000500" y="4333875"/>
                <a:ext cx="7048500" cy="9525"/>
              </a:xfrm>
              <a:custGeom>
                <a:avLst/>
                <a:gdLst/>
                <a:ahLst/>
                <a:cxnLst/>
                <a:rect l="l" t="t" r="r" b="b"/>
                <a:pathLst>
                  <a:path w="7048500" h="9525">
                    <a:moveTo>
                      <a:pt x="0" y="0"/>
                    </a:moveTo>
                    <a:lnTo>
                      <a:pt x="7048500" y="0"/>
                    </a:lnTo>
                  </a:path>
                </a:pathLst>
              </a:custGeom>
              <a:noFill/>
              <a:ln w="9525">
                <a:solidFill>
                  <a:srgbClr val="596B80"/>
                </a:solidFill>
              </a:ln>
            </p:spPr>
          </p:sp>
          <p:grpSp>
            <p:nvGrpSpPr>
              <p:cNvPr id="12" name="Group 12"/>
              <p:cNvGrpSpPr/>
              <p:nvPr/>
            </p:nvGrpSpPr>
            <p:grpSpPr>
              <a:xfrm>
                <a:off x="5135937" y="2438400"/>
                <a:ext cx="5489296" cy="1676400"/>
                <a:chOff x="5135937" y="2438400"/>
                <a:chExt cx="5489296" cy="1676400"/>
              </a:xfrm>
            </p:grpSpPr>
            <p:sp>
              <p:nvSpPr>
                <p:cNvPr id="9" name="Freeform 9"/>
                <p:cNvSpPr/>
                <p:nvPr/>
              </p:nvSpPr>
              <p:spPr>
                <a:xfrm>
                  <a:off x="5135937" y="2438400"/>
                  <a:ext cx="2518181" cy="152400"/>
                </a:xfrm>
                <a:custGeom>
                  <a:avLst/>
                  <a:gdLst/>
                  <a:ahLst/>
                  <a:cxnLst/>
                  <a:rect l="l" t="t" r="r" b="b"/>
                  <a:pathLst>
                    <a:path w="2518181" h="152400">
                      <a:moveTo>
                        <a:pt x="0" y="76200"/>
                      </a:moveTo>
                      <a:lnTo>
                        <a:pt x="2518181" y="76200"/>
                      </a:lnTo>
                      <a:moveTo>
                        <a:pt x="0" y="0"/>
                      </a:moveTo>
                      <a:lnTo>
                        <a:pt x="0" y="152400"/>
                      </a:lnTo>
                      <a:moveTo>
                        <a:pt x="2518181" y="0"/>
                      </a:moveTo>
                      <a:lnTo>
                        <a:pt x="2518181" y="152400"/>
                      </a:lnTo>
                    </a:path>
                  </a:pathLst>
                </a:custGeom>
                <a:noFill/>
                <a:ln w="38100">
                  <a:solidFill>
                    <a:srgbClr val="596B80"/>
                  </a:solidFill>
                </a:ln>
              </p:spPr>
            </p:sp>
            <p:sp>
              <p:nvSpPr>
                <p:cNvPr id="10" name="Freeform 10"/>
                <p:cNvSpPr/>
                <p:nvPr/>
              </p:nvSpPr>
              <p:spPr>
                <a:xfrm>
                  <a:off x="6337144" y="3200400"/>
                  <a:ext cx="2375802" cy="152400"/>
                </a:xfrm>
                <a:custGeom>
                  <a:avLst/>
                  <a:gdLst/>
                  <a:ahLst/>
                  <a:cxnLst/>
                  <a:rect l="l" t="t" r="r" b="b"/>
                  <a:pathLst>
                    <a:path w="2375802" h="152400">
                      <a:moveTo>
                        <a:pt x="0" y="76200"/>
                      </a:moveTo>
                      <a:lnTo>
                        <a:pt x="2375802" y="76200"/>
                      </a:lnTo>
                      <a:moveTo>
                        <a:pt x="0" y="0"/>
                      </a:moveTo>
                      <a:lnTo>
                        <a:pt x="0" y="152400"/>
                      </a:lnTo>
                      <a:moveTo>
                        <a:pt x="2375802" y="0"/>
                      </a:moveTo>
                      <a:lnTo>
                        <a:pt x="2375802" y="152400"/>
                      </a:lnTo>
                    </a:path>
                  </a:pathLst>
                </a:custGeom>
                <a:noFill/>
                <a:ln w="38100">
                  <a:solidFill>
                    <a:srgbClr val="315E9D"/>
                  </a:solidFill>
                </a:ln>
              </p:spPr>
            </p:sp>
            <p:sp>
              <p:nvSpPr>
                <p:cNvPr id="11" name="Freeform 11"/>
                <p:cNvSpPr/>
                <p:nvPr/>
              </p:nvSpPr>
              <p:spPr>
                <a:xfrm>
                  <a:off x="8550707" y="3962400"/>
                  <a:ext cx="2074526" cy="152400"/>
                </a:xfrm>
                <a:custGeom>
                  <a:avLst/>
                  <a:gdLst/>
                  <a:ahLst/>
                  <a:cxnLst/>
                  <a:rect l="l" t="t" r="r" b="b"/>
                  <a:pathLst>
                    <a:path w="2074526" h="152400">
                      <a:moveTo>
                        <a:pt x="0" y="76200"/>
                      </a:moveTo>
                      <a:lnTo>
                        <a:pt x="2074526" y="76200"/>
                      </a:lnTo>
                      <a:moveTo>
                        <a:pt x="0" y="0"/>
                      </a:moveTo>
                      <a:lnTo>
                        <a:pt x="0" y="152400"/>
                      </a:lnTo>
                      <a:moveTo>
                        <a:pt x="2074526" y="0"/>
                      </a:moveTo>
                      <a:lnTo>
                        <a:pt x="2074526" y="152400"/>
                      </a:lnTo>
                    </a:path>
                  </a:pathLst>
                </a:custGeom>
                <a:noFill/>
                <a:ln w="38100">
                  <a:solidFill>
                    <a:schemeClr val="accent2"/>
                  </a:solidFill>
                </a:ln>
              </p:spPr>
            </p:sp>
          </p:grpSp>
          <p:sp>
            <p:nvSpPr>
              <p:cNvPr id="13" name="Ellipse 13"/>
              <p:cNvSpPr/>
              <p:nvPr/>
            </p:nvSpPr>
            <p:spPr>
              <a:xfrm>
                <a:off x="6365767" y="2447925"/>
                <a:ext cx="133350" cy="133350"/>
              </a:xfrm>
              <a:prstGeom prst="ellipse">
                <a:avLst/>
              </a:prstGeom>
              <a:solidFill>
                <a:srgbClr val="596B80"/>
              </a:solidFill>
              <a:ln>
                <a:noFill/>
              </a:ln>
            </p:spPr>
          </p:sp>
          <p:sp>
            <p:nvSpPr>
              <p:cNvPr id="14" name="Ellipse 14"/>
              <p:cNvSpPr/>
              <p:nvPr/>
            </p:nvSpPr>
            <p:spPr>
              <a:xfrm>
                <a:off x="7463209" y="3209925"/>
                <a:ext cx="133350" cy="133350"/>
              </a:xfrm>
              <a:prstGeom prst="ellipse">
                <a:avLst/>
              </a:prstGeom>
              <a:solidFill>
                <a:srgbClr val="315E9D"/>
              </a:solidFill>
              <a:ln>
                <a:noFill/>
              </a:ln>
            </p:spPr>
          </p:sp>
          <p:sp>
            <p:nvSpPr>
              <p:cNvPr id="15" name="Ellipse 15"/>
              <p:cNvSpPr/>
              <p:nvPr/>
            </p:nvSpPr>
            <p:spPr>
              <a:xfrm>
                <a:off x="9431531" y="3971925"/>
                <a:ext cx="133350" cy="133350"/>
              </a:xfrm>
              <a:prstGeom prst="ellipse">
                <a:avLst/>
              </a:prstGeom>
              <a:solidFill>
                <a:schemeClr val="accent2"/>
              </a:solidFill>
              <a:ln>
                <a:noFill/>
              </a:ln>
            </p:spPr>
          </p:sp>
        </p:grpSp>
        <p:grpSp>
          <p:nvGrpSpPr>
            <p:cNvPr id="20" name="Group 20"/>
            <p:cNvGrpSpPr/>
            <p:nvPr/>
          </p:nvGrpSpPr>
          <p:grpSpPr>
            <a:xfrm>
              <a:off x="598932" y="2346325"/>
              <a:ext cx="2909735" cy="1934718"/>
              <a:chOff x="598932" y="2346325"/>
              <a:chExt cx="2909735" cy="1934718"/>
            </a:xfrm>
          </p:grpSpPr>
          <p:sp>
            <p:nvSpPr>
              <p:cNvPr id="17" name="TextBox 17"/>
              <p:cNvSpPr txBox="1"/>
              <p:nvPr/>
            </p:nvSpPr>
            <p:spPr>
              <a:xfrm>
                <a:off x="598932" y="2346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空间打乱（BCE）</a:t>
                </a:r>
              </a:p>
            </p:txBody>
          </p:sp>
          <p:sp>
            <p:nvSpPr>
              <p:cNvPr id="18" name="TextBox 18"/>
              <p:cNvSpPr txBox="1"/>
              <p:nvPr/>
            </p:nvSpPr>
            <p:spPr>
              <a:xfrm>
                <a:off x="598932" y="3108325"/>
                <a:ext cx="221041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保留空间（BCE）</a:t>
                </a:r>
              </a:p>
            </p:txBody>
          </p:sp>
          <p:sp>
            <p:nvSpPr>
              <p:cNvPr id="19" name="TextBox 19"/>
              <p:cNvSpPr txBox="1"/>
              <p:nvPr/>
            </p:nvSpPr>
            <p:spPr>
              <a:xfrm>
                <a:off x="598932" y="3870325"/>
                <a:ext cx="290973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保留空间（soft-IoU）</a:t>
                </a:r>
              </a:p>
            </p:txBody>
          </p:sp>
        </p:grpSp>
        <p:grpSp>
          <p:nvGrpSpPr>
            <p:cNvPr id="24" name="Group 24"/>
            <p:cNvGrpSpPr/>
            <p:nvPr/>
          </p:nvGrpSpPr>
          <p:grpSpPr>
            <a:xfrm>
              <a:off x="6039232" y="2120900"/>
              <a:ext cx="3852184" cy="1846707"/>
              <a:chOff x="6039232" y="2120900"/>
              <a:chExt cx="3852184" cy="1846707"/>
            </a:xfrm>
          </p:grpSpPr>
          <p:sp>
            <p:nvSpPr>
              <p:cNvPr id="21" name="TextBox 21"/>
              <p:cNvSpPr txBox="1"/>
              <p:nvPr/>
            </p:nvSpPr>
            <p:spPr>
              <a:xfrm>
                <a:off x="6039232" y="2120900"/>
                <a:ext cx="786420" cy="322707"/>
              </a:xfrm>
              <a:prstGeom prst="rect">
                <a:avLst/>
              </a:prstGeom>
              <a:noFill/>
              <a:ln>
                <a:noFill/>
              </a:ln>
            </p:spPr>
            <p:txBody>
              <a:bodyPr wrap="none" lIns="0" tIns="0" rIns="0" bIns="0" anchor="t" anchorCtr="0">
                <a:spAutoFit/>
              </a:bodyPr>
              <a:lstStyle/>
              <a:p>
                <a:pPr algn="ctr"/>
                <a:r>
                  <a:rPr lang="zh-CN" sz="1650" b="1" dirty="0">
                    <a:solidFill>
                      <a:schemeClr val="accent5"/>
                    </a:solidFill>
                    <a:latin typeface="+mn-lt"/>
                    <a:ea typeface="+mn-ea"/>
                    <a:cs typeface="+mn-cs"/>
                  </a:rPr>
                  <a:t>−1.930</a:t>
                </a:r>
              </a:p>
            </p:txBody>
          </p:sp>
          <p:sp>
            <p:nvSpPr>
              <p:cNvPr id="22" name="TextBox 22"/>
              <p:cNvSpPr txBox="1"/>
              <p:nvPr/>
            </p:nvSpPr>
            <p:spPr>
              <a:xfrm>
                <a:off x="7136674" y="288290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−0.996</a:t>
                </a:r>
              </a:p>
            </p:txBody>
          </p:sp>
          <p:sp>
            <p:nvSpPr>
              <p:cNvPr id="23" name="TextBox 23"/>
              <p:cNvSpPr txBox="1"/>
              <p:nvPr/>
            </p:nvSpPr>
            <p:spPr>
              <a:xfrm>
                <a:off x="9104996" y="3644900"/>
                <a:ext cx="786420" cy="322707"/>
              </a:xfrm>
              <a:prstGeom prst="rect">
                <a:avLst/>
              </a:prstGeom>
              <a:noFill/>
              <a:ln>
                <a:noFill/>
              </a:ln>
            </p:spPr>
            <p:txBody>
              <a:bodyPr wrap="none" lIns="0" tIns="0" rIns="0" bIns="0" anchor="t" anchorCtr="0">
                <a:spAutoFit/>
              </a:bodyPr>
              <a:lstStyle/>
              <a:p>
                <a:pPr algn="ctr"/>
                <a:r>
                  <a:rPr lang="zh-CN" sz="1650" b="1" dirty="0">
                    <a:solidFill>
                      <a:schemeClr val="accent2"/>
                    </a:solidFill>
                    <a:latin typeface="+mn-lt"/>
                    <a:ea typeface="+mn-ea"/>
                    <a:cs typeface="+mn-cs"/>
                  </a:rPr>
                  <a:t>+0.680</a:t>
                </a:r>
              </a:p>
            </p:txBody>
          </p:sp>
        </p:grpSp>
        <p:grpSp>
          <p:nvGrpSpPr>
            <p:cNvPr id="32" name="Group 32"/>
            <p:cNvGrpSpPr/>
            <p:nvPr/>
          </p:nvGrpSpPr>
          <p:grpSpPr>
            <a:xfrm>
              <a:off x="3905555" y="4419600"/>
              <a:ext cx="7193965" cy="234696"/>
              <a:chOff x="3905555" y="4419600"/>
              <a:chExt cx="7193965" cy="234696"/>
            </a:xfrm>
          </p:grpSpPr>
          <p:sp>
            <p:nvSpPr>
              <p:cNvPr id="25" name="TextBox 25"/>
              <p:cNvSpPr txBox="1"/>
              <p:nvPr/>
            </p:nvSpPr>
            <p:spPr>
              <a:xfrm>
                <a:off x="390555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6" name="TextBox 26"/>
              <p:cNvSpPr txBox="1"/>
              <p:nvPr/>
            </p:nvSpPr>
            <p:spPr>
              <a:xfrm>
                <a:off x="5080302"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−3</a:t>
                </a:r>
              </a:p>
            </p:txBody>
          </p:sp>
          <p:sp>
            <p:nvSpPr>
              <p:cNvPr id="27" name="TextBox 27"/>
              <p:cNvSpPr txBox="1"/>
              <p:nvPr/>
            </p:nvSpPr>
            <p:spPr>
              <a:xfrm>
                <a:off x="6255058"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sp>
            <p:nvSpPr>
              <p:cNvPr id="28" name="TextBox 28"/>
              <p:cNvSpPr txBox="1"/>
              <p:nvPr/>
            </p:nvSpPr>
            <p:spPr>
              <a:xfrm>
                <a:off x="7429805" y="441960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29" name="TextBox 29"/>
              <p:cNvSpPr txBox="1"/>
              <p:nvPr/>
            </p:nvSpPr>
            <p:spPr>
              <a:xfrm>
                <a:off x="8648976"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30" name="TextBox 30"/>
              <p:cNvSpPr txBox="1"/>
              <p:nvPr/>
            </p:nvSpPr>
            <p:spPr>
              <a:xfrm>
                <a:off x="9823733"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a:t>
                </a:r>
              </a:p>
            </p:txBody>
          </p:sp>
          <p:sp>
            <p:nvSpPr>
              <p:cNvPr id="31" name="TextBox 31"/>
              <p:cNvSpPr txBox="1"/>
              <p:nvPr/>
            </p:nvSpPr>
            <p:spPr>
              <a:xfrm>
                <a:off x="10998479" y="441960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a:t>
                </a:r>
              </a:p>
            </p:txBody>
          </p:sp>
        </p:grpSp>
        <p:sp>
          <p:nvSpPr>
            <p:cNvPr id="33" name="TextBox 33"/>
            <p:cNvSpPr txBox="1"/>
            <p:nvPr/>
          </p:nvSpPr>
          <p:spPr>
            <a:xfrm>
              <a:off x="3992118" y="4683125"/>
              <a:ext cx="473279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目标组 ΔMaskIoU（百分点），横线为 95% 区间</a:t>
              </a:r>
            </a:p>
          </p:txBody>
        </p:sp>
      </p:grpSp>
      <p:grpSp>
        <p:nvGrpSpPr>
          <p:cNvPr id="37" name="acceptance-finding"/>
          <p:cNvGrpSpPr/>
          <p:nvPr/>
        </p:nvGrpSpPr>
        <p:grpSpPr>
          <a:xfrm>
            <a:off x="598932" y="5299075"/>
            <a:ext cx="7852181" cy="858393"/>
            <a:chOff x="598932" y="5299075"/>
            <a:chExt cx="7852181" cy="858393"/>
          </a:xfrm>
        </p:grpSpPr>
        <p:sp>
          <p:nvSpPr>
            <p:cNvPr id="35" name="TextBox 35"/>
            <p:cNvSpPr txBox="1"/>
            <p:nvPr/>
          </p:nvSpPr>
          <p:spPr>
            <a:xfrm>
              <a:off x="598932" y="5299075"/>
              <a:ext cx="7753369"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soft-IoU：目标均值 +0.680 pp，但总体仍下降 0.262 pp。</a:t>
              </a:r>
            </a:p>
          </p:txBody>
        </p:sp>
        <p:sp>
          <p:nvSpPr>
            <p:cNvPr id="36" name="TextBox 36"/>
            <p:cNvSpPr txBox="1"/>
            <p:nvPr/>
          </p:nvSpPr>
          <p:spPr>
            <a:xfrm>
              <a:off x="598932" y="5746750"/>
              <a:ext cx="7852181" cy="410718"/>
            </a:xfrm>
            <a:prstGeom prst="rect">
              <a:avLst/>
            </a:prstGeom>
            <a:noFill/>
            <a:ln>
              <a:noFill/>
            </a:ln>
          </p:spPr>
          <p:txBody>
            <a:bodyPr wrap="none" lIns="0" tIns="0" rIns="0" bIns="0" anchor="t" anchorCtr="0">
              <a:spAutoFit/>
            </a:bodyPr>
            <a:lstStyle/>
            <a:p>
              <a:pPr algn="l"/>
              <a:r>
                <a:rPr lang="zh-CN" sz="2100" dirty="0">
                  <a:solidFill>
                    <a:schemeClr val="accent3"/>
                  </a:solidFill>
                  <a:latin typeface="+mn-lt"/>
                  <a:ea typeface="+mn-ea"/>
                  <a:cs typeface="+mn-cs"/>
                </a:rPr>
                <a:t>原成功实例损伤 53 / 1,024，损伤上界 6.43%（要求 ≤1%）。</a:t>
              </a:r>
            </a:p>
          </p:txBody>
        </p:sp>
      </p:grpSp>
      <p:grpSp>
        <p:nvGrpSpPr>
          <p:cNvPr id="40" name="footer"/>
          <p:cNvGrpSpPr/>
          <p:nvPr/>
        </p:nvGrpSpPr>
        <p:grpSpPr>
          <a:xfrm>
            <a:off x="603504" y="6410325"/>
            <a:ext cx="10984992" cy="234696"/>
            <a:chOff x="603504" y="6410325"/>
            <a:chExt cx="10984992" cy="234696"/>
          </a:xfrm>
        </p:grpSpPr>
        <p:sp>
          <p:nvSpPr>
            <p:cNvPr id="38" name="TextBox 38"/>
            <p:cNvSpPr txBox="1"/>
            <p:nvPr/>
          </p:nvSpPr>
          <p:spPr>
            <a:xfrm>
              <a:off x="603504" y="6410325"/>
              <a:ext cx="628939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[E2/E3] 同 512 张开发图，目标 T=655；按图平均；三种配置均未通过全部验收门槛。</a:t>
              </a:r>
            </a:p>
          </p:txBody>
        </p:sp>
        <p:sp>
          <p:nvSpPr>
            <p:cNvPr id="39" name="TextBox 39"/>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小掩码的修正损伤更集中</a:t>
              </a:r>
            </a:p>
          </p:txBody>
        </p:sp>
      </p:grpSp>
      <p:grpSp>
        <p:nvGrpSpPr>
          <p:cNvPr id="6" name="stratification-setup"/>
          <p:cNvGrpSpPr/>
          <p:nvPr/>
        </p:nvGrpSpPr>
        <p:grpSpPr>
          <a:xfrm>
            <a:off x="601218" y="1654175"/>
            <a:ext cx="6641987" cy="322707"/>
            <a:chOff x="601218" y="1654175"/>
            <a:chExt cx="6641987" cy="322707"/>
          </a:xfrm>
        </p:grpSpPr>
        <p:sp>
          <p:nvSpPr>
            <p:cNvPr id="5" name="TextBox 5"/>
            <p:cNvSpPr txBox="1"/>
            <p:nvPr/>
          </p:nvSpPr>
          <p:spPr>
            <a:xfrm>
              <a:off x="601218" y="1654175"/>
              <a:ext cx="664198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复用同一 soft-IoU 修正结果，按推理时可见的原生掩码面积分组。</a:t>
              </a:r>
            </a:p>
          </p:txBody>
        </p:sp>
      </p:grpSp>
      <p:grpSp>
        <p:nvGrpSpPr>
          <p:cNvPr id="32" name="area-damage"/>
          <p:cNvGrpSpPr/>
          <p:nvPr/>
        </p:nvGrpSpPr>
        <p:grpSpPr>
          <a:xfrm>
            <a:off x="598932" y="2082800"/>
            <a:ext cx="10991850" cy="3142996"/>
            <a:chOff x="598932" y="2082800"/>
            <a:chExt cx="10991850" cy="3142996"/>
          </a:xfrm>
        </p:grpSpPr>
        <p:grpSp>
          <p:nvGrpSpPr>
            <p:cNvPr id="11" name="area-damage-chartArea"/>
            <p:cNvGrpSpPr/>
            <p:nvPr/>
          </p:nvGrpSpPr>
          <p:grpSpPr>
            <a:xfrm>
              <a:off x="2381250" y="2362200"/>
              <a:ext cx="7143750" cy="2314575"/>
              <a:chOff x="2381250" y="2362200"/>
              <a:chExt cx="7143750" cy="2314575"/>
            </a:xfrm>
          </p:grpSpPr>
          <p:sp>
            <p:nvSpPr>
              <p:cNvPr id="7" name="Line 7"/>
              <p:cNvSpPr/>
              <p:nvPr/>
            </p:nvSpPr>
            <p:spPr>
              <a:xfrm>
                <a:off x="2381250" y="4667250"/>
                <a:ext cx="7143750" cy="9525"/>
              </a:xfrm>
              <a:custGeom>
                <a:avLst/>
                <a:gdLst/>
                <a:ahLst/>
                <a:cxnLst/>
                <a:rect l="l" t="t" r="r" b="b"/>
                <a:pathLst>
                  <a:path w="7143750" h="9525">
                    <a:moveTo>
                      <a:pt x="0" y="0"/>
                    </a:moveTo>
                    <a:lnTo>
                      <a:pt x="7143750" y="0"/>
                    </a:lnTo>
                  </a:path>
                </a:pathLst>
              </a:custGeom>
              <a:noFill/>
              <a:ln w="9525">
                <a:solidFill>
                  <a:srgbClr val="596B80"/>
                </a:solidFill>
              </a:ln>
            </p:spPr>
          </p:sp>
          <p:sp>
            <p:nvSpPr>
              <p:cNvPr id="8" name="Rectangle 8"/>
              <p:cNvSpPr/>
              <p:nvPr/>
            </p:nvSpPr>
            <p:spPr>
              <a:xfrm>
                <a:off x="2381250" y="2362200"/>
                <a:ext cx="6118489" cy="323850"/>
              </a:xfrm>
              <a:prstGeom prst="rect">
                <a:avLst/>
              </a:prstGeom>
              <a:solidFill>
                <a:schemeClr val="accent3"/>
              </a:solidFill>
              <a:ln>
                <a:noFill/>
              </a:ln>
            </p:spPr>
          </p:sp>
          <p:sp>
            <p:nvSpPr>
              <p:cNvPr id="9" name="Rectangle 9"/>
              <p:cNvSpPr/>
              <p:nvPr/>
            </p:nvSpPr>
            <p:spPr>
              <a:xfrm>
                <a:off x="2381250" y="3219450"/>
                <a:ext cx="1474241" cy="323850"/>
              </a:xfrm>
              <a:prstGeom prst="rect">
                <a:avLst/>
              </a:prstGeom>
              <a:solidFill>
                <a:srgbClr val="315E9D"/>
              </a:solidFill>
              <a:ln>
                <a:noFill/>
              </a:ln>
            </p:spPr>
          </p:sp>
          <p:sp>
            <p:nvSpPr>
              <p:cNvPr id="10" name="Rectangle 10"/>
              <p:cNvSpPr/>
              <p:nvPr/>
            </p:nvSpPr>
            <p:spPr>
              <a:xfrm>
                <a:off x="2381250" y="4076700"/>
                <a:ext cx="270596" cy="323850"/>
              </a:xfrm>
              <a:prstGeom prst="rect">
                <a:avLst/>
              </a:prstGeom>
              <a:solidFill>
                <a:schemeClr val="accent2"/>
              </a:solidFill>
              <a:ln>
                <a:noFill/>
              </a:ln>
            </p:spPr>
          </p:sp>
        </p:grpSp>
        <p:grpSp>
          <p:nvGrpSpPr>
            <p:cNvPr id="15" name="Group 15"/>
            <p:cNvGrpSpPr/>
            <p:nvPr/>
          </p:nvGrpSpPr>
          <p:grpSpPr>
            <a:xfrm>
              <a:off x="598932" y="2355850"/>
              <a:ext cx="869442" cy="2125218"/>
              <a:chOff x="598932" y="2355850"/>
              <a:chExt cx="869442" cy="2125218"/>
            </a:xfrm>
          </p:grpSpPr>
          <p:sp>
            <p:nvSpPr>
              <p:cNvPr id="12" name="TextBox 12"/>
              <p:cNvSpPr txBox="1"/>
              <p:nvPr/>
            </p:nvSpPr>
            <p:spPr>
              <a:xfrm>
                <a:off x="598932" y="23558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a:t>
                </a:r>
              </a:p>
            </p:txBody>
          </p:sp>
          <p:sp>
            <p:nvSpPr>
              <p:cNvPr id="13" name="TextBox 13"/>
              <p:cNvSpPr txBox="1"/>
              <p:nvPr/>
            </p:nvSpPr>
            <p:spPr>
              <a:xfrm>
                <a:off x="598932" y="321310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中掩码</a:t>
                </a:r>
              </a:p>
            </p:txBody>
          </p:sp>
          <p:sp>
            <p:nvSpPr>
              <p:cNvPr id="14" name="TextBox 14"/>
              <p:cNvSpPr txBox="1"/>
              <p:nvPr/>
            </p:nvSpPr>
            <p:spPr>
              <a:xfrm>
                <a:off x="598932" y="4070350"/>
                <a:ext cx="86944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a:t>
                </a:r>
              </a:p>
            </p:txBody>
          </p:sp>
        </p:grpSp>
        <p:grpSp>
          <p:nvGrpSpPr>
            <p:cNvPr id="19" name="Group 19"/>
            <p:cNvGrpSpPr/>
            <p:nvPr/>
          </p:nvGrpSpPr>
          <p:grpSpPr>
            <a:xfrm>
              <a:off x="2791968" y="2406650"/>
              <a:ext cx="6671891" cy="2037207"/>
              <a:chOff x="2791968" y="2406650"/>
              <a:chExt cx="6671891" cy="2037207"/>
            </a:xfrm>
          </p:grpSpPr>
          <p:sp>
            <p:nvSpPr>
              <p:cNvPr id="16" name="TextBox 16"/>
              <p:cNvSpPr txBox="1"/>
              <p:nvPr/>
            </p:nvSpPr>
            <p:spPr>
              <a:xfrm>
                <a:off x="8630793" y="2406650"/>
                <a:ext cx="833066" cy="322707"/>
              </a:xfrm>
              <a:prstGeom prst="rect">
                <a:avLst/>
              </a:prstGeom>
              <a:noFill/>
              <a:ln>
                <a:noFill/>
              </a:ln>
            </p:spPr>
            <p:txBody>
              <a:bodyPr wrap="none" lIns="0" tIns="0" rIns="0" bIns="0" anchor="t" anchorCtr="0">
                <a:spAutoFit/>
              </a:bodyPr>
              <a:lstStyle/>
              <a:p>
                <a:pPr algn="l"/>
                <a:r>
                  <a:rPr lang="zh-CN" sz="1650" b="1" dirty="0">
                    <a:solidFill>
                      <a:schemeClr val="accent3"/>
                    </a:solidFill>
                    <a:latin typeface="+mn-lt"/>
                    <a:ea typeface="+mn-ea"/>
                    <a:cs typeface="+mn-cs"/>
                  </a:rPr>
                  <a:t>13.70%</a:t>
                </a:r>
              </a:p>
            </p:txBody>
          </p:sp>
          <p:sp>
            <p:nvSpPr>
              <p:cNvPr id="17" name="TextBox 17"/>
              <p:cNvSpPr txBox="1"/>
              <p:nvPr/>
            </p:nvSpPr>
            <p:spPr>
              <a:xfrm>
                <a:off x="3992118" y="3263900"/>
                <a:ext cx="704790" cy="322707"/>
              </a:xfrm>
              <a:prstGeom prst="rect">
                <a:avLst/>
              </a:prstGeom>
              <a:noFill/>
              <a:ln>
                <a:noFill/>
              </a:ln>
            </p:spPr>
            <p:txBody>
              <a:bodyPr wrap="none" lIns="0" tIns="0" rIns="0" bIns="0" anchor="t" anchorCtr="0">
                <a:spAutoFit/>
              </a:bodyPr>
              <a:lstStyle/>
              <a:p>
                <a:pPr algn="l"/>
                <a:r>
                  <a:rPr lang="zh-CN" sz="1650" b="1" dirty="0">
                    <a:solidFill>
                      <a:srgbClr val="315E9D"/>
                    </a:solidFill>
                    <a:latin typeface="+mn-lt"/>
                    <a:ea typeface="+mn-ea"/>
                    <a:cs typeface="+mn-cs"/>
                  </a:rPr>
                  <a:t>3.30%</a:t>
                </a:r>
              </a:p>
            </p:txBody>
          </p:sp>
          <p:sp>
            <p:nvSpPr>
              <p:cNvPr id="18" name="TextBox 18"/>
              <p:cNvSpPr txBox="1"/>
              <p:nvPr/>
            </p:nvSpPr>
            <p:spPr>
              <a:xfrm>
                <a:off x="2791968" y="4121150"/>
                <a:ext cx="704790" cy="322707"/>
              </a:xfrm>
              <a:prstGeom prst="rect">
                <a:avLst/>
              </a:prstGeom>
              <a:noFill/>
              <a:ln>
                <a:noFill/>
              </a:ln>
            </p:spPr>
            <p:txBody>
              <a:bodyPr wrap="none" lIns="0" tIns="0" rIns="0" bIns="0" anchor="t" anchorCtr="0">
                <a:spAutoFit/>
              </a:bodyPr>
              <a:lstStyle/>
              <a:p>
                <a:pPr algn="l"/>
                <a:r>
                  <a:rPr lang="zh-CN" sz="1650" b="1" dirty="0">
                    <a:solidFill>
                      <a:schemeClr val="accent2"/>
                    </a:solidFill>
                    <a:latin typeface="+mn-lt"/>
                    <a:ea typeface="+mn-ea"/>
                    <a:cs typeface="+mn-cs"/>
                  </a:rPr>
                  <a:t>0.61%</a:t>
                </a:r>
              </a:p>
            </p:txBody>
          </p:sp>
        </p:grpSp>
        <p:grpSp>
          <p:nvGrpSpPr>
            <p:cNvPr id="24" name="Group 24"/>
            <p:cNvGrpSpPr/>
            <p:nvPr/>
          </p:nvGrpSpPr>
          <p:grpSpPr>
            <a:xfrm>
              <a:off x="9763716" y="2082800"/>
              <a:ext cx="1827066" cy="2361057"/>
              <a:chOff x="9763716" y="2082800"/>
              <a:chExt cx="1827066" cy="2361057"/>
            </a:xfrm>
          </p:grpSpPr>
          <p:sp>
            <p:nvSpPr>
              <p:cNvPr id="20" name="TextBox 20"/>
              <p:cNvSpPr txBox="1"/>
              <p:nvPr/>
            </p:nvSpPr>
            <p:spPr>
              <a:xfrm>
                <a:off x="9763716" y="2082800"/>
                <a:ext cx="182706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损伤数 / 原成功数</a:t>
                </a:r>
              </a:p>
            </p:txBody>
          </p:sp>
          <p:sp>
            <p:nvSpPr>
              <p:cNvPr id="21" name="TextBox 21"/>
              <p:cNvSpPr txBox="1"/>
              <p:nvPr/>
            </p:nvSpPr>
            <p:spPr>
              <a:xfrm>
                <a:off x="10707738" y="240665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37 / 270</a:t>
                </a:r>
              </a:p>
            </p:txBody>
          </p:sp>
          <p:sp>
            <p:nvSpPr>
              <p:cNvPr id="22" name="TextBox 22"/>
              <p:cNvSpPr txBox="1"/>
              <p:nvPr/>
            </p:nvSpPr>
            <p:spPr>
              <a:xfrm>
                <a:off x="10707738" y="3263900"/>
                <a:ext cx="883044"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14 / 424</a:t>
                </a:r>
              </a:p>
            </p:txBody>
          </p:sp>
          <p:sp>
            <p:nvSpPr>
              <p:cNvPr id="23" name="TextBox 23"/>
              <p:cNvSpPr txBox="1"/>
              <p:nvPr/>
            </p:nvSpPr>
            <p:spPr>
              <a:xfrm>
                <a:off x="10829906" y="4121150"/>
                <a:ext cx="760876" cy="322707"/>
              </a:xfrm>
              <a:prstGeom prst="rect">
                <a:avLst/>
              </a:prstGeom>
              <a:noFill/>
              <a:ln>
                <a:noFill/>
              </a:ln>
            </p:spPr>
            <p:txBody>
              <a:bodyPr wrap="none" lIns="0" tIns="0" rIns="0" bIns="0" anchor="t" anchorCtr="0">
                <a:spAutoFit/>
              </a:bodyPr>
              <a:lstStyle/>
              <a:p>
                <a:pPr algn="r"/>
                <a:r>
                  <a:rPr lang="zh-CN" sz="1650" dirty="0">
                    <a:solidFill>
                      <a:schemeClr val="accent5"/>
                    </a:solidFill>
                    <a:latin typeface="+mn-lt"/>
                    <a:ea typeface="+mn-ea"/>
                    <a:cs typeface="+mn-cs"/>
                  </a:rPr>
                  <a:t>2 / 330</a:t>
                </a:r>
              </a:p>
            </p:txBody>
          </p:sp>
        </p:grpSp>
        <p:grpSp>
          <p:nvGrpSpPr>
            <p:cNvPr id="30" name="Group 30"/>
            <p:cNvGrpSpPr/>
            <p:nvPr/>
          </p:nvGrpSpPr>
          <p:grpSpPr>
            <a:xfrm>
              <a:off x="2330729" y="4752975"/>
              <a:ext cx="7349795" cy="234696"/>
              <a:chOff x="2330729" y="4752975"/>
              <a:chExt cx="7349795" cy="234696"/>
            </a:xfrm>
          </p:grpSpPr>
          <p:sp>
            <p:nvSpPr>
              <p:cNvPr id="25" name="TextBox 25"/>
              <p:cNvSpPr txBox="1"/>
              <p:nvPr/>
            </p:nvSpPr>
            <p:spPr>
              <a:xfrm>
                <a:off x="2330729"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4116667"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4</a:t>
                </a:r>
              </a:p>
            </p:txBody>
          </p:sp>
          <p:sp>
            <p:nvSpPr>
              <p:cNvPr id="27" name="TextBox 27"/>
              <p:cNvSpPr txBox="1"/>
              <p:nvPr/>
            </p:nvSpPr>
            <p:spPr>
              <a:xfrm>
                <a:off x="5902604" y="4752975"/>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8</a:t>
                </a:r>
              </a:p>
            </p:txBody>
          </p:sp>
          <p:sp>
            <p:nvSpPr>
              <p:cNvPr id="28" name="TextBox 28"/>
              <p:cNvSpPr txBox="1"/>
              <p:nvPr/>
            </p:nvSpPr>
            <p:spPr>
              <a:xfrm>
                <a:off x="7644117" y="4752975"/>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12</a:t>
                </a:r>
              </a:p>
            </p:txBody>
          </p:sp>
          <p:sp>
            <p:nvSpPr>
              <p:cNvPr id="29" name="TextBox 29"/>
              <p:cNvSpPr txBox="1"/>
              <p:nvPr/>
            </p:nvSpPr>
            <p:spPr>
              <a:xfrm>
                <a:off x="9369476" y="4752975"/>
                <a:ext cx="311048"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16%</a:t>
                </a:r>
              </a:p>
            </p:txBody>
          </p:sp>
        </p:grpSp>
        <p:sp>
          <p:nvSpPr>
            <p:cNvPr id="31" name="TextBox 31"/>
            <p:cNvSpPr txBox="1"/>
            <p:nvPr/>
          </p:nvSpPr>
          <p:spPr>
            <a:xfrm>
              <a:off x="2375154" y="4991100"/>
              <a:ext cx="308152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原成功实例修正后失去分割任务匹配的比例</a:t>
              </a:r>
            </a:p>
          </p:txBody>
        </p:sp>
      </p:grpSp>
      <p:grpSp>
        <p:nvGrpSpPr>
          <p:cNvPr id="35" name="stratum-finding"/>
          <p:cNvGrpSpPr/>
          <p:nvPr/>
        </p:nvGrpSpPr>
        <p:grpSpPr>
          <a:xfrm>
            <a:off x="597408" y="5394325"/>
            <a:ext cx="8045044" cy="802132"/>
            <a:chOff x="597408" y="5394325"/>
            <a:chExt cx="8045044" cy="802132"/>
          </a:xfrm>
        </p:grpSpPr>
        <p:sp>
          <p:nvSpPr>
            <p:cNvPr id="33" name="TextBox 33"/>
            <p:cNvSpPr txBox="1"/>
            <p:nvPr/>
          </p:nvSpPr>
          <p:spPr>
            <a:xfrm>
              <a:off x="597408" y="5394325"/>
              <a:ext cx="804504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小掩码占成功面板的 26.4%，却占损伤案例的 69.8%。</a:t>
              </a:r>
            </a:p>
          </p:txBody>
        </p:sp>
        <p:sp>
          <p:nvSpPr>
            <p:cNvPr id="34" name="TextBox 34"/>
            <p:cNvSpPr txBox="1"/>
            <p:nvPr/>
          </p:nvSpPr>
          <p:spPr>
            <a:xfrm>
              <a:off x="601218" y="5873750"/>
              <a:ext cx="636948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大掩码组点估计较低，仍不能据此宣布其损伤上界已经低于 1%。</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819900"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原成功面板 n=1,024；面积按原图像素：小&lt;32²，中[32²,96²)，大≥96²；描述性比例。</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6896100" cy="964565"/>
            <a:chOff x="594360" y="415925"/>
            <a:chExt cx="689610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689610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控制邻框重叠后，面积与损伤仍有关联</a:t>
              </a:r>
            </a:p>
          </p:txBody>
        </p:sp>
      </p:grpSp>
      <p:grpSp>
        <p:nvGrpSpPr>
          <p:cNvPr id="6" name="comparison-setup"/>
          <p:cNvGrpSpPr/>
          <p:nvPr/>
        </p:nvGrpSpPr>
        <p:grpSpPr>
          <a:xfrm>
            <a:off x="601218" y="1654175"/>
            <a:ext cx="7791069" cy="322707"/>
            <a:chOff x="601218" y="1654175"/>
            <a:chExt cx="7791069" cy="322707"/>
          </a:xfrm>
        </p:grpSpPr>
        <p:sp>
          <p:nvSpPr>
            <p:cNvPr id="5" name="TextBox 5"/>
            <p:cNvSpPr txBox="1"/>
            <p:nvPr/>
          </p:nvSpPr>
          <p:spPr>
            <a:xfrm>
              <a:off x="601218" y="1654175"/>
              <a:ext cx="7791069"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在相同面积或相同重叠程度内比较，再按固定权重汇总，减少两种因素的混杂。</a:t>
              </a:r>
            </a:p>
          </p:txBody>
        </p:sp>
      </p:grpSp>
      <p:grpSp>
        <p:nvGrpSpPr>
          <p:cNvPr id="32" name="adjusted-effects"/>
          <p:cNvGrpSpPr/>
          <p:nvPr/>
        </p:nvGrpSpPr>
        <p:grpSpPr>
          <a:xfrm>
            <a:off x="598932" y="2292350"/>
            <a:ext cx="10545013" cy="2742057"/>
            <a:chOff x="598932" y="2292350"/>
            <a:chExt cx="10545013" cy="2742057"/>
          </a:xfrm>
        </p:grpSpPr>
        <p:grpSp>
          <p:nvGrpSpPr>
            <p:cNvPr id="14" name="adjusted-effects-chartArea"/>
            <p:cNvGrpSpPr/>
            <p:nvPr/>
          </p:nvGrpSpPr>
          <p:grpSpPr>
            <a:xfrm>
              <a:off x="4286250" y="2381250"/>
              <a:ext cx="6762750" cy="1914525"/>
              <a:chOff x="4286250" y="2381250"/>
              <a:chExt cx="6762750" cy="1914525"/>
            </a:xfrm>
          </p:grpSpPr>
          <p:sp>
            <p:nvSpPr>
              <p:cNvPr id="7" name="Line 7"/>
              <p:cNvSpPr/>
              <p:nvPr/>
            </p:nvSpPr>
            <p:spPr>
              <a:xfrm>
                <a:off x="5638800" y="2381250"/>
                <a:ext cx="9525" cy="1905000"/>
              </a:xfrm>
              <a:custGeom>
                <a:avLst/>
                <a:gdLst/>
                <a:ahLst/>
                <a:cxnLst/>
                <a:rect l="l" t="t" r="r" b="b"/>
                <a:pathLst>
                  <a:path w="9525" h="1905000">
                    <a:moveTo>
                      <a:pt x="0" y="0"/>
                    </a:moveTo>
                    <a:lnTo>
                      <a:pt x="0" y="1905000"/>
                    </a:lnTo>
                  </a:path>
                </a:pathLst>
              </a:custGeom>
              <a:noFill/>
              <a:ln w="9525">
                <a:solidFill>
                  <a:srgbClr val="596B80"/>
                </a:solidFill>
                <a:custDash>
                  <a:ds d="500000" sp="500000"/>
                </a:custDash>
              </a:ln>
            </p:spPr>
          </p:sp>
          <p:sp>
            <p:nvSpPr>
              <p:cNvPr id="8" name="Line 8"/>
              <p:cNvSpPr/>
              <p:nvPr/>
            </p:nvSpPr>
            <p:spPr>
              <a:xfrm>
                <a:off x="4286250" y="4286250"/>
                <a:ext cx="6762750" cy="9525"/>
              </a:xfrm>
              <a:custGeom>
                <a:avLst/>
                <a:gdLst/>
                <a:ahLst/>
                <a:cxnLst/>
                <a:rect l="l" t="t" r="r" b="b"/>
                <a:pathLst>
                  <a:path w="6762750" h="9525">
                    <a:moveTo>
                      <a:pt x="0" y="0"/>
                    </a:moveTo>
                    <a:lnTo>
                      <a:pt x="6762750" y="0"/>
                    </a:lnTo>
                  </a:path>
                </a:pathLst>
              </a:custGeom>
              <a:noFill/>
              <a:ln w="9525">
                <a:solidFill>
                  <a:srgbClr val="596B80"/>
                </a:solidFill>
              </a:ln>
            </p:spPr>
          </p:sp>
          <p:grpSp>
            <p:nvGrpSpPr>
              <p:cNvPr id="11" name="Group 11"/>
              <p:cNvGrpSpPr/>
              <p:nvPr/>
            </p:nvGrpSpPr>
            <p:grpSpPr>
              <a:xfrm>
                <a:off x="4908375" y="2638425"/>
                <a:ext cx="5791553" cy="1295400"/>
                <a:chOff x="4908375" y="2638425"/>
                <a:chExt cx="5791553" cy="1295400"/>
              </a:xfrm>
            </p:grpSpPr>
            <p:sp>
              <p:nvSpPr>
                <p:cNvPr id="9" name="Freeform 9"/>
                <p:cNvSpPr/>
                <p:nvPr/>
              </p:nvSpPr>
              <p:spPr>
                <a:xfrm>
                  <a:off x="7171306" y="2638425"/>
                  <a:ext cx="3528622" cy="152400"/>
                </a:xfrm>
                <a:custGeom>
                  <a:avLst/>
                  <a:gdLst/>
                  <a:ahLst/>
                  <a:cxnLst/>
                  <a:rect l="l" t="t" r="r" b="b"/>
                  <a:pathLst>
                    <a:path w="3528622" h="152400">
                      <a:moveTo>
                        <a:pt x="0" y="76200"/>
                      </a:moveTo>
                      <a:lnTo>
                        <a:pt x="3528622" y="76200"/>
                      </a:lnTo>
                      <a:moveTo>
                        <a:pt x="0" y="0"/>
                      </a:moveTo>
                      <a:lnTo>
                        <a:pt x="0" y="152400"/>
                      </a:lnTo>
                      <a:moveTo>
                        <a:pt x="3528622" y="0"/>
                      </a:moveTo>
                      <a:lnTo>
                        <a:pt x="3528622" y="152400"/>
                      </a:lnTo>
                    </a:path>
                  </a:pathLst>
                </a:custGeom>
                <a:noFill/>
                <a:ln w="38100">
                  <a:solidFill>
                    <a:schemeClr val="accent3"/>
                  </a:solidFill>
                </a:ln>
              </p:spPr>
            </p:sp>
            <p:sp>
              <p:nvSpPr>
                <p:cNvPr id="10" name="Freeform 10"/>
                <p:cNvSpPr/>
                <p:nvPr/>
              </p:nvSpPr>
              <p:spPr>
                <a:xfrm>
                  <a:off x="4908375" y="3781425"/>
                  <a:ext cx="2669505" cy="152400"/>
                </a:xfrm>
                <a:custGeom>
                  <a:avLst/>
                  <a:gdLst/>
                  <a:ahLst/>
                  <a:cxnLst/>
                  <a:rect l="l" t="t" r="r" b="b"/>
                  <a:pathLst>
                    <a:path w="2669505" h="152400">
                      <a:moveTo>
                        <a:pt x="0" y="76200"/>
                      </a:moveTo>
                      <a:lnTo>
                        <a:pt x="2669505" y="76200"/>
                      </a:lnTo>
                      <a:moveTo>
                        <a:pt x="0" y="0"/>
                      </a:moveTo>
                      <a:lnTo>
                        <a:pt x="0" y="152400"/>
                      </a:lnTo>
                      <a:moveTo>
                        <a:pt x="2669505" y="0"/>
                      </a:moveTo>
                      <a:lnTo>
                        <a:pt x="2669505" y="152400"/>
                      </a:lnTo>
                    </a:path>
                  </a:pathLst>
                </a:custGeom>
                <a:noFill/>
                <a:ln w="38100">
                  <a:solidFill>
                    <a:srgbClr val="315E9D"/>
                  </a:solidFill>
                </a:ln>
              </p:spPr>
            </p:sp>
          </p:grpSp>
          <p:sp>
            <p:nvSpPr>
              <p:cNvPr id="12" name="Ellipse 12"/>
              <p:cNvSpPr/>
              <p:nvPr/>
            </p:nvSpPr>
            <p:spPr>
              <a:xfrm>
                <a:off x="8754637" y="2647950"/>
                <a:ext cx="133350" cy="133350"/>
              </a:xfrm>
              <a:prstGeom prst="ellipse">
                <a:avLst/>
              </a:prstGeom>
              <a:solidFill>
                <a:schemeClr val="accent3"/>
              </a:solidFill>
              <a:ln>
                <a:noFill/>
              </a:ln>
            </p:spPr>
          </p:sp>
          <p:sp>
            <p:nvSpPr>
              <p:cNvPr id="13" name="Ellipse 13"/>
              <p:cNvSpPr/>
              <p:nvPr/>
            </p:nvSpPr>
            <p:spPr>
              <a:xfrm>
                <a:off x="6461293" y="3790950"/>
                <a:ext cx="133350" cy="133350"/>
              </a:xfrm>
              <a:prstGeom prst="ellipse">
                <a:avLst/>
              </a:prstGeom>
              <a:solidFill>
                <a:srgbClr val="315E9D"/>
              </a:solidFill>
              <a:ln>
                <a:noFill/>
              </a:ln>
            </p:spPr>
          </p:sp>
        </p:grpSp>
        <p:grpSp>
          <p:nvGrpSpPr>
            <p:cNvPr id="17" name="Group 17"/>
            <p:cNvGrpSpPr/>
            <p:nvPr/>
          </p:nvGrpSpPr>
          <p:grpSpPr>
            <a:xfrm>
              <a:off x="598932" y="2460625"/>
              <a:ext cx="2325357" cy="1553718"/>
              <a:chOff x="598932" y="2460625"/>
              <a:chExt cx="2325357" cy="1553718"/>
            </a:xfrm>
          </p:grpSpPr>
          <p:sp>
            <p:nvSpPr>
              <p:cNvPr id="15" name="TextBox 15"/>
              <p:cNvSpPr txBox="1"/>
              <p:nvPr/>
            </p:nvSpPr>
            <p:spPr>
              <a:xfrm>
                <a:off x="598932" y="2460625"/>
                <a:ext cx="2325357"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小掩码 − 中大掩码</a:t>
                </a:r>
              </a:p>
            </p:txBody>
          </p:sp>
          <p:sp>
            <p:nvSpPr>
              <p:cNvPr id="16" name="TextBox 16"/>
              <p:cNvSpPr txBox="1"/>
              <p:nvPr/>
            </p:nvSpPr>
            <p:spPr>
              <a:xfrm>
                <a:off x="598932" y="3603625"/>
                <a:ext cx="2042655"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高重叠 − 低重叠</a:t>
                </a:r>
              </a:p>
            </p:txBody>
          </p:sp>
        </p:grpSp>
        <p:grpSp>
          <p:nvGrpSpPr>
            <p:cNvPr id="20" name="Group 20"/>
            <p:cNvGrpSpPr/>
            <p:nvPr/>
          </p:nvGrpSpPr>
          <p:grpSpPr>
            <a:xfrm>
              <a:off x="601218" y="2863850"/>
              <a:ext cx="2015871" cy="1465707"/>
              <a:chOff x="601218" y="2863850"/>
              <a:chExt cx="2015871" cy="1465707"/>
            </a:xfrm>
          </p:grpSpPr>
          <p:sp>
            <p:nvSpPr>
              <p:cNvPr id="18" name="TextBox 18"/>
              <p:cNvSpPr txBox="1"/>
              <p:nvPr/>
            </p:nvSpPr>
            <p:spPr>
              <a:xfrm>
                <a:off x="601218" y="2863850"/>
                <a:ext cx="1793748"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已控制邻框重叠度</a:t>
                </a:r>
              </a:p>
            </p:txBody>
          </p:sp>
          <p:sp>
            <p:nvSpPr>
              <p:cNvPr id="19" name="TextBox 19"/>
              <p:cNvSpPr txBox="1"/>
              <p:nvPr/>
            </p:nvSpPr>
            <p:spPr>
              <a:xfrm>
                <a:off x="601218" y="4006850"/>
                <a:ext cx="2015871"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已控制原生掩码面积</a:t>
                </a:r>
              </a:p>
            </p:txBody>
          </p:sp>
        </p:grpSp>
        <p:grpSp>
          <p:nvGrpSpPr>
            <p:cNvPr id="23" name="Group 23"/>
            <p:cNvGrpSpPr/>
            <p:nvPr/>
          </p:nvGrpSpPr>
          <p:grpSpPr>
            <a:xfrm>
              <a:off x="6134758" y="2292350"/>
              <a:ext cx="3143902" cy="1465707"/>
              <a:chOff x="6134758" y="2292350"/>
              <a:chExt cx="3143902" cy="1465707"/>
            </a:xfrm>
          </p:grpSpPr>
          <p:sp>
            <p:nvSpPr>
              <p:cNvPr id="21" name="TextBox 21"/>
              <p:cNvSpPr txBox="1"/>
              <p:nvPr/>
            </p:nvSpPr>
            <p:spPr>
              <a:xfrm>
                <a:off x="8363964" y="2292350"/>
                <a:ext cx="914696" cy="322707"/>
              </a:xfrm>
              <a:prstGeom prst="rect">
                <a:avLst/>
              </a:prstGeom>
              <a:noFill/>
              <a:ln>
                <a:noFill/>
              </a:ln>
            </p:spPr>
            <p:txBody>
              <a:bodyPr wrap="none" lIns="0" tIns="0" rIns="0" bIns="0" anchor="t" anchorCtr="0">
                <a:spAutoFit/>
              </a:bodyPr>
              <a:lstStyle/>
              <a:p>
                <a:pPr algn="ctr"/>
                <a:r>
                  <a:rPr lang="zh-CN" sz="1650" b="1" dirty="0">
                    <a:solidFill>
                      <a:schemeClr val="accent3"/>
                    </a:solidFill>
                    <a:latin typeface="+mn-lt"/>
                    <a:ea typeface="+mn-ea"/>
                    <a:cs typeface="+mn-cs"/>
                  </a:rPr>
                  <a:t>+11.765</a:t>
                </a:r>
              </a:p>
            </p:txBody>
          </p:sp>
          <p:sp>
            <p:nvSpPr>
              <p:cNvPr id="22" name="TextBox 22"/>
              <p:cNvSpPr txBox="1"/>
              <p:nvPr/>
            </p:nvSpPr>
            <p:spPr>
              <a:xfrm>
                <a:off x="6134758" y="3435350"/>
                <a:ext cx="786420" cy="322707"/>
              </a:xfrm>
              <a:prstGeom prst="rect">
                <a:avLst/>
              </a:prstGeom>
              <a:noFill/>
              <a:ln>
                <a:noFill/>
              </a:ln>
            </p:spPr>
            <p:txBody>
              <a:bodyPr wrap="none" lIns="0" tIns="0" rIns="0" bIns="0" anchor="t" anchorCtr="0">
                <a:spAutoFit/>
              </a:bodyPr>
              <a:lstStyle/>
              <a:p>
                <a:pPr algn="ctr"/>
                <a:r>
                  <a:rPr lang="zh-CN" sz="1650" b="1" dirty="0">
                    <a:solidFill>
                      <a:srgbClr val="315E9D"/>
                    </a:solidFill>
                    <a:latin typeface="+mn-lt"/>
                    <a:ea typeface="+mn-ea"/>
                    <a:cs typeface="+mn-cs"/>
                  </a:rPr>
                  <a:t>+3.287</a:t>
                </a:r>
              </a:p>
            </p:txBody>
          </p:sp>
        </p:grpSp>
        <p:grpSp>
          <p:nvGrpSpPr>
            <p:cNvPr id="30" name="Group 30"/>
            <p:cNvGrpSpPr/>
            <p:nvPr/>
          </p:nvGrpSpPr>
          <p:grpSpPr>
            <a:xfrm>
              <a:off x="4191305" y="4400550"/>
              <a:ext cx="6952640" cy="234696"/>
              <a:chOff x="4191305" y="4400550"/>
              <a:chExt cx="6952640" cy="234696"/>
            </a:xfrm>
          </p:grpSpPr>
          <p:sp>
            <p:nvSpPr>
              <p:cNvPr id="24" name="TextBox 24"/>
              <p:cNvSpPr txBox="1"/>
              <p:nvPr/>
            </p:nvSpPr>
            <p:spPr>
              <a:xfrm>
                <a:off x="419130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a:t>
                </a:r>
              </a:p>
            </p:txBody>
          </p:sp>
          <p:sp>
            <p:nvSpPr>
              <p:cNvPr id="25" name="TextBox 25"/>
              <p:cNvSpPr txBox="1"/>
              <p:nvPr/>
            </p:nvSpPr>
            <p:spPr>
              <a:xfrm>
                <a:off x="5588279" y="440055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0</a:t>
                </a:r>
              </a:p>
            </p:txBody>
          </p:sp>
          <p:sp>
            <p:nvSpPr>
              <p:cNvPr id="26" name="TextBox 26"/>
              <p:cNvSpPr txBox="1"/>
              <p:nvPr/>
            </p:nvSpPr>
            <p:spPr>
              <a:xfrm>
                <a:off x="6940829" y="4400550"/>
                <a:ext cx="101041"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5</a:t>
                </a:r>
              </a:p>
            </p:txBody>
          </p:sp>
          <p:sp>
            <p:nvSpPr>
              <p:cNvPr id="27" name="TextBox 27"/>
              <p:cNvSpPr txBox="1"/>
              <p:nvPr/>
            </p:nvSpPr>
            <p:spPr>
              <a:xfrm>
                <a:off x="824895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10</a:t>
                </a:r>
              </a:p>
            </p:txBody>
          </p:sp>
          <p:sp>
            <p:nvSpPr>
              <p:cNvPr id="28" name="TextBox 28"/>
              <p:cNvSpPr txBox="1"/>
              <p:nvPr/>
            </p:nvSpPr>
            <p:spPr>
              <a:xfrm>
                <a:off x="960150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15</a:t>
                </a:r>
              </a:p>
            </p:txBody>
          </p:sp>
          <p:sp>
            <p:nvSpPr>
              <p:cNvPr id="29" name="TextBox 29"/>
              <p:cNvSpPr txBox="1"/>
              <p:nvPr/>
            </p:nvSpPr>
            <p:spPr>
              <a:xfrm>
                <a:off x="10954055" y="4400550"/>
                <a:ext cx="189890" cy="234696"/>
              </a:xfrm>
              <a:prstGeom prst="rect">
                <a:avLst/>
              </a:prstGeom>
              <a:noFill/>
              <a:ln>
                <a:noFill/>
              </a:ln>
            </p:spPr>
            <p:txBody>
              <a:bodyPr wrap="none" lIns="0" tIns="0" rIns="0" bIns="0" anchor="t" anchorCtr="0">
                <a:spAutoFit/>
              </a:bodyPr>
              <a:lstStyle/>
              <a:p>
                <a:pPr algn="ctr"/>
                <a:r>
                  <a:rPr lang="zh-CN" sz="1200" dirty="0">
                    <a:solidFill>
                      <a:schemeClr val="accent5"/>
                    </a:solidFill>
                    <a:latin typeface="+mn-lt"/>
                    <a:ea typeface="+mn-ea"/>
                    <a:cs typeface="+mn-cs"/>
                  </a:rPr>
                  <a:t>20</a:t>
                </a:r>
              </a:p>
            </p:txBody>
          </p:sp>
        </p:grpSp>
        <p:sp>
          <p:nvSpPr>
            <p:cNvPr id="31" name="TextBox 31"/>
            <p:cNvSpPr txBox="1"/>
            <p:nvPr/>
          </p:nvSpPr>
          <p:spPr>
            <a:xfrm>
              <a:off x="4277868" y="4711700"/>
              <a:ext cx="4781302"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损伤率差（百分点），横线为校正后的 95% 区间</a:t>
              </a:r>
            </a:p>
          </p:txBody>
        </p:sp>
      </p:grpSp>
      <p:grpSp>
        <p:nvGrpSpPr>
          <p:cNvPr id="35" name="comparison-finding"/>
          <p:cNvGrpSpPr/>
          <p:nvPr/>
        </p:nvGrpSpPr>
        <p:grpSpPr>
          <a:xfrm>
            <a:off x="597408" y="5308600"/>
            <a:ext cx="7132320" cy="859282"/>
            <a:chOff x="597408" y="5308600"/>
            <a:chExt cx="7132320" cy="859282"/>
          </a:xfrm>
        </p:grpSpPr>
        <p:sp>
          <p:nvSpPr>
            <p:cNvPr id="33" name="TextBox 33"/>
            <p:cNvSpPr txBox="1"/>
            <p:nvPr/>
          </p:nvSpPr>
          <p:spPr>
            <a:xfrm>
              <a:off x="597408" y="5308600"/>
              <a:ext cx="713232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面积差异较稳定；邻框重叠差异的区间仍跨越零。</a:t>
              </a:r>
            </a:p>
          </p:txBody>
        </p:sp>
        <p:sp>
          <p:nvSpPr>
            <p:cNvPr id="34" name="TextBox 34"/>
            <p:cNvSpPr txBox="1"/>
            <p:nvPr/>
          </p:nvSpPr>
          <p:spPr>
            <a:xfrm>
              <a:off x="601218" y="5845175"/>
              <a:ext cx="7124700"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当前结果更支持先验证面积选择策略，尚不足以优先加入邻域交互模块。</a:t>
              </a:r>
            </a:p>
          </p:txBody>
        </p:sp>
      </p:grpSp>
      <p:grpSp>
        <p:nvGrpSpPr>
          <p:cNvPr id="38" name="footer"/>
          <p:cNvGrpSpPr/>
          <p:nvPr/>
        </p:nvGrpSpPr>
        <p:grpSpPr>
          <a:xfrm>
            <a:off x="603504" y="6410325"/>
            <a:ext cx="10984992" cy="234696"/>
            <a:chOff x="603504" y="6410325"/>
            <a:chExt cx="10984992" cy="234696"/>
          </a:xfrm>
        </p:grpSpPr>
        <p:sp>
          <p:nvSpPr>
            <p:cNvPr id="36" name="TextBox 36"/>
            <p:cNvSpPr txBox="1"/>
            <p:nvPr/>
          </p:nvSpPr>
          <p:spPr>
            <a:xfrm>
              <a:off x="603504" y="6410325"/>
              <a:ext cx="6971462"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[E4] n=1,024；校正 8 项比较；高重叠≥0.5、低重叠&lt;0.1；开发集探索性关联，不作因果结论。</a:t>
              </a:r>
            </a:p>
          </p:txBody>
        </p:sp>
        <p:sp>
          <p:nvSpPr>
            <p:cNvPr id="37" name="TextBox 3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5684520" cy="964565"/>
            <a:chOff x="594360" y="415925"/>
            <a:chExt cx="5684520" cy="964565"/>
          </a:xfrm>
        </p:grpSpPr>
        <p:sp>
          <p:nvSpPr>
            <p:cNvPr id="2" name="TextBox 2"/>
            <p:cNvSpPr txBox="1"/>
            <p:nvPr/>
          </p:nvSpPr>
          <p:spPr>
            <a:xfrm>
              <a:off x="601218" y="415925"/>
              <a:ext cx="2138039" cy="322707"/>
            </a:xfrm>
            <a:prstGeom prst="rect">
              <a:avLst/>
            </a:prstGeom>
            <a:noFill/>
            <a:ln>
              <a:noFill/>
            </a:ln>
          </p:spPr>
          <p:txBody>
            <a:bodyPr wrap="none" lIns="0" tIns="0" rIns="0" bIns="0" anchor="t" anchorCtr="0">
              <a:spAutoFit/>
            </a:bodyPr>
            <a:lstStyle/>
            <a:p>
              <a:pPr algn="l"/>
              <a:r>
                <a:rPr lang="zh-CN" sz="1650" dirty="0">
                  <a:solidFill>
                    <a:schemeClr val="accent3"/>
                  </a:solidFill>
                  <a:latin typeface="+mn-lt"/>
                  <a:ea typeface="+mn-ea"/>
                  <a:cs typeface="+mn-cs"/>
                </a:rPr>
                <a:t>02 研究方法 · 模块三</a:t>
              </a:r>
            </a:p>
          </p:txBody>
        </p:sp>
        <p:sp>
          <p:nvSpPr>
            <p:cNvPr id="3" name="TextBox 3"/>
            <p:cNvSpPr txBox="1"/>
            <p:nvPr/>
          </p:nvSpPr>
          <p:spPr>
            <a:xfrm>
              <a:off x="594360" y="793750"/>
              <a:ext cx="56845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已有证据支持先研究选择性修正</a:t>
              </a:r>
            </a:p>
          </p:txBody>
        </p:sp>
      </p:grpSp>
      <p:grpSp>
        <p:nvGrpSpPr>
          <p:cNvPr id="8" name="supported-finding"/>
          <p:cNvGrpSpPr/>
          <p:nvPr/>
        </p:nvGrpSpPr>
        <p:grpSpPr>
          <a:xfrm>
            <a:off x="597408" y="1841500"/>
            <a:ext cx="6679692" cy="848868"/>
            <a:chOff x="597408" y="1841500"/>
            <a:chExt cx="6679692" cy="848868"/>
          </a:xfrm>
        </p:grpSpPr>
        <p:sp>
          <p:nvSpPr>
            <p:cNvPr id="5" name="TextBox 5"/>
            <p:cNvSpPr txBox="1"/>
            <p:nvPr/>
          </p:nvSpPr>
          <p:spPr>
            <a:xfrm>
              <a:off x="597408" y="1841500"/>
              <a:ext cx="993648"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已确认</a:t>
              </a:r>
            </a:p>
          </p:txBody>
        </p:sp>
        <p:sp>
          <p:nvSpPr>
            <p:cNvPr id="6" name="TextBox 6"/>
            <p:cNvSpPr txBox="1"/>
            <p:nvPr/>
          </p:nvSpPr>
          <p:spPr>
            <a:xfrm>
              <a:off x="2732532" y="1879600"/>
              <a:ext cx="369646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部分失败实例仍有修正机会。</a:t>
              </a:r>
            </a:p>
          </p:txBody>
        </p:sp>
        <p:sp>
          <p:nvSpPr>
            <p:cNvPr id="7" name="TextBox 7"/>
            <p:cNvSpPr txBox="1"/>
            <p:nvPr/>
          </p:nvSpPr>
          <p:spPr>
            <a:xfrm>
              <a:off x="2732532" y="2279650"/>
              <a:ext cx="4544568"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现有修正器对小掩码的损伤更集中。</a:t>
              </a:r>
            </a:p>
          </p:txBody>
        </p:sp>
      </p:grpSp>
      <p:grpSp>
        <p:nvGrpSpPr>
          <p:cNvPr id="13" name="remaining-problem"/>
          <p:cNvGrpSpPr/>
          <p:nvPr/>
        </p:nvGrpSpPr>
        <p:grpSpPr>
          <a:xfrm>
            <a:off x="597408" y="2962275"/>
            <a:ext cx="10984992" cy="966343"/>
            <a:chOff x="597408" y="2962275"/>
            <a:chExt cx="10984992" cy="966343"/>
          </a:xfrm>
        </p:grpSpPr>
        <p:sp>
          <p:nvSpPr>
            <p:cNvPr id="9" name="Line 9"/>
            <p:cNvSpPr/>
            <p:nvPr/>
          </p:nvSpPr>
          <p:spPr>
            <a:xfrm>
              <a:off x="609600" y="296227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0" name="TextBox 10"/>
            <p:cNvSpPr txBox="1"/>
            <p:nvPr/>
          </p:nvSpPr>
          <p:spPr>
            <a:xfrm>
              <a:off x="597408" y="3079750"/>
              <a:ext cx="1316736" cy="469392"/>
            </a:xfrm>
            <a:prstGeom prst="rect">
              <a:avLst/>
            </a:prstGeom>
            <a:noFill/>
            <a:ln>
              <a:noFill/>
            </a:ln>
          </p:spPr>
          <p:txBody>
            <a:bodyPr wrap="none" lIns="0" tIns="0" rIns="0" bIns="0" anchor="t" anchorCtr="0">
              <a:spAutoFit/>
            </a:bodyPr>
            <a:lstStyle/>
            <a:p>
              <a:pPr algn="l"/>
              <a:r>
                <a:rPr lang="zh-CN" sz="2400" b="1" dirty="0">
                  <a:solidFill>
                    <a:schemeClr val="accent3"/>
                  </a:solidFill>
                  <a:latin typeface="+mn-lt"/>
                  <a:ea typeface="+mn-ea"/>
                  <a:cs typeface="+mn-cs"/>
                </a:rPr>
                <a:t>尚未解决</a:t>
              </a:r>
            </a:p>
          </p:txBody>
        </p:sp>
        <p:sp>
          <p:nvSpPr>
            <p:cNvPr id="11" name="TextBox 11"/>
            <p:cNvSpPr txBox="1"/>
            <p:nvPr/>
          </p:nvSpPr>
          <p:spPr>
            <a:xfrm>
              <a:off x="2732532" y="3117850"/>
              <a:ext cx="4827270"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当前自动修正还没有兼顾收益与保护。</a:t>
              </a:r>
            </a:p>
          </p:txBody>
        </p:sp>
        <p:sp>
          <p:nvSpPr>
            <p:cNvPr id="12" name="TextBox 12"/>
            <p:cNvSpPr txBox="1"/>
            <p:nvPr/>
          </p:nvSpPr>
          <p:spPr>
            <a:xfrm>
              <a:off x="2732532" y="3517900"/>
              <a:ext cx="539267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完整方法验收未通过，尚无全量提升结论。</a:t>
              </a:r>
            </a:p>
          </p:txBody>
        </p:sp>
      </p:grpSp>
      <p:grpSp>
        <p:nvGrpSpPr>
          <p:cNvPr id="18" name="next-hypothesis"/>
          <p:cNvGrpSpPr/>
          <p:nvPr/>
        </p:nvGrpSpPr>
        <p:grpSpPr>
          <a:xfrm>
            <a:off x="597408" y="4171950"/>
            <a:ext cx="10984992" cy="995807"/>
            <a:chOff x="597408" y="4171950"/>
            <a:chExt cx="10984992" cy="995807"/>
          </a:xfrm>
        </p:grpSpPr>
        <p:sp>
          <p:nvSpPr>
            <p:cNvPr id="14" name="Line 14"/>
            <p:cNvSpPr/>
            <p:nvPr/>
          </p:nvSpPr>
          <p:spPr>
            <a:xfrm>
              <a:off x="609600" y="41719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5" name="TextBox 15"/>
            <p:cNvSpPr txBox="1"/>
            <p:nvPr/>
          </p:nvSpPr>
          <p:spPr>
            <a:xfrm>
              <a:off x="597408" y="4289425"/>
              <a:ext cx="993648" cy="469392"/>
            </a:xfrm>
            <a:prstGeom prst="rect">
              <a:avLst/>
            </a:prstGeom>
            <a:noFill/>
            <a:ln>
              <a:noFill/>
            </a:ln>
          </p:spPr>
          <p:txBody>
            <a:bodyPr wrap="none" lIns="0" tIns="0" rIns="0" bIns="0" anchor="t" anchorCtr="0">
              <a:spAutoFit/>
            </a:bodyPr>
            <a:lstStyle/>
            <a:p>
              <a:pPr algn="l"/>
              <a:r>
                <a:rPr lang="zh-CN" sz="2400" b="1" dirty="0">
                  <a:solidFill>
                    <a:srgbClr val="315E9D"/>
                  </a:solidFill>
                  <a:latin typeface="+mn-lt"/>
                  <a:ea typeface="+mn-ea"/>
                  <a:cs typeface="+mn-cs"/>
                </a:rPr>
                <a:t>待验证</a:t>
              </a:r>
            </a:p>
          </p:txBody>
        </p:sp>
        <p:sp>
          <p:nvSpPr>
            <p:cNvPr id="16" name="TextBox 16"/>
            <p:cNvSpPr txBox="1"/>
            <p:nvPr/>
          </p:nvSpPr>
          <p:spPr>
            <a:xfrm>
              <a:off x="2732532" y="4327525"/>
              <a:ext cx="5109972"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大掩码应用现有修正，其余保留原结果。</a:t>
              </a:r>
            </a:p>
          </p:txBody>
        </p:sp>
        <p:sp>
          <p:nvSpPr>
            <p:cNvPr id="17" name="TextBox 17"/>
            <p:cNvSpPr txBox="1"/>
            <p:nvPr/>
          </p:nvSpPr>
          <p:spPr>
            <a:xfrm>
              <a:off x="2734818" y="4845050"/>
              <a:ext cx="540324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拟固定面积阈值 96² 原图像素，按完整输出重新验收。</a:t>
              </a:r>
            </a:p>
          </p:txBody>
        </p:sp>
      </p:grpSp>
      <p:grpSp>
        <p:nvGrpSpPr>
          <p:cNvPr id="21" name="evidence-scope"/>
          <p:cNvGrpSpPr/>
          <p:nvPr/>
        </p:nvGrpSpPr>
        <p:grpSpPr>
          <a:xfrm>
            <a:off x="601218" y="5568950"/>
            <a:ext cx="6680454" cy="627507"/>
            <a:chOff x="601218" y="5568950"/>
            <a:chExt cx="6680454" cy="627507"/>
          </a:xfrm>
        </p:grpSpPr>
        <p:sp>
          <p:nvSpPr>
            <p:cNvPr id="19" name="TextBox 19"/>
            <p:cNvSpPr txBox="1"/>
            <p:nvPr/>
          </p:nvSpPr>
          <p:spPr>
            <a:xfrm>
              <a:off x="601218" y="5568950"/>
              <a:ext cx="5654497"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当前证据来自 COCO 图像开发实验，支持后续验证方向。</a:t>
              </a:r>
            </a:p>
          </p:txBody>
        </p:sp>
        <p:sp>
          <p:nvSpPr>
            <p:cNvPr id="20" name="TextBox 20"/>
            <p:cNvSpPr txBox="1"/>
            <p:nvPr/>
          </p:nvSpPr>
          <p:spPr>
            <a:xfrm>
              <a:off x="601218" y="5873750"/>
              <a:ext cx="6680454"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密集专项与视频身份恢复仍需独立验证，再接入通用检测分割系统。</a:t>
              </a:r>
            </a:p>
          </p:txBody>
        </p:sp>
      </p:grpSp>
      <p:grpSp>
        <p:nvGrpSpPr>
          <p:cNvPr id="24" name="footer"/>
          <p:cNvGrpSpPr/>
          <p:nvPr/>
        </p:nvGrpSpPr>
        <p:grpSpPr>
          <a:xfrm>
            <a:off x="603504" y="6410325"/>
            <a:ext cx="10984992" cy="234696"/>
            <a:chOff x="603504" y="6410325"/>
            <a:chExt cx="10984992" cy="234696"/>
          </a:xfrm>
        </p:grpSpPr>
        <p:sp>
          <p:nvSpPr>
            <p:cNvPr id="22" name="TextBox 22"/>
            <p:cNvSpPr txBox="1"/>
            <p:nvPr/>
          </p:nvSpPr>
          <p:spPr>
            <a:xfrm>
              <a:off x="603504" y="6410325"/>
              <a:ext cx="6697675"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[E0—E4] 本页选择策略为待验证方案；既有阴性结果保留，不将探索结论视为方法已经有效。</a:t>
              </a:r>
            </a:p>
          </p:txBody>
        </p:sp>
        <p:sp>
          <p:nvSpPr>
            <p:cNvPr id="23" name="TextBox 23"/>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3665220" cy="964565"/>
            <a:chOff x="594360" y="415925"/>
            <a:chExt cx="366522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366522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通用系统的使用流程</a:t>
              </a:r>
            </a:p>
          </p:txBody>
        </p:sp>
      </p:grpSp>
      <p:grpSp>
        <p:nvGrpSpPr>
          <p:cNvPr id="8" name="choose-task"/>
          <p:cNvGrpSpPr/>
          <p:nvPr/>
        </p:nvGrpSpPr>
        <p:grpSpPr>
          <a:xfrm>
            <a:off x="590550" y="1870075"/>
            <a:ext cx="1896618" cy="2483993"/>
            <a:chOff x="590550" y="1870075"/>
            <a:chExt cx="1896618" cy="2483993"/>
          </a:xfrm>
        </p:grpSpPr>
        <p:sp>
          <p:nvSpPr>
            <p:cNvPr id="5" name="TextBox 5"/>
            <p:cNvSpPr txBox="1"/>
            <p:nvPr/>
          </p:nvSpPr>
          <p:spPr>
            <a:xfrm>
              <a:off x="590550" y="1870075"/>
              <a:ext cx="877725" cy="1047750"/>
            </a:xfrm>
            <a:prstGeom prst="rect">
              <a:avLst/>
            </a:prstGeom>
            <a:noFill/>
            <a:ln>
              <a:noFill/>
            </a:ln>
          </p:spPr>
          <p:txBody>
            <a:bodyPr wrap="none" lIns="0" tIns="0" rIns="0" bIns="0" anchor="t" anchorCtr="0">
              <a:spAutoFit/>
            </a:bodyPr>
            <a:lstStyle/>
            <a:p>
              <a:pPr algn="l"/>
              <a:r>
                <a:rPr lang="zh-CN" sz="5400" b="1" dirty="0">
                  <a:solidFill>
                    <a:srgbClr val="315E9D"/>
                  </a:solidFill>
                  <a:latin typeface="+mn-lt"/>
                  <a:ea typeface="+mn-ea"/>
                  <a:cs typeface="+mn-cs"/>
                </a:rPr>
                <a:t>01</a:t>
              </a:r>
            </a:p>
          </p:txBody>
        </p:sp>
        <p:sp>
          <p:nvSpPr>
            <p:cNvPr id="6" name="TextBox 6"/>
            <p:cNvSpPr txBox="1"/>
            <p:nvPr/>
          </p:nvSpPr>
          <p:spPr>
            <a:xfrm>
              <a:off x="59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选择任务</a:t>
              </a:r>
            </a:p>
          </p:txBody>
        </p:sp>
        <p:sp>
          <p:nvSpPr>
            <p:cNvPr id="7" name="TextBox 7"/>
            <p:cNvSpPr txBox="1"/>
            <p:nvPr/>
          </p:nvSpPr>
          <p:spPr>
            <a:xfrm>
              <a:off x="598932" y="3486150"/>
              <a:ext cx="18882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选择图片或视频</a:t>
              </a:r>
              <a:br>
                <a:rPr lang="zh-CN" sz="2100" dirty="0">
                  <a:solidFill>
                    <a:schemeClr val="dk1"/>
                  </a:solidFill>
                  <a:latin typeface="+mn-lt"/>
                  <a:ea typeface="+mn-ea"/>
                  <a:cs typeface="+mn-cs"/>
                </a:rPr>
              </a:br>
              <a:r>
                <a:rPr lang="zh-CN" sz="2100" dirty="0">
                  <a:solidFill>
                    <a:schemeClr val="dk1"/>
                  </a:solidFill>
                  <a:latin typeface="+mn-lt"/>
                  <a:ea typeface="+mn-ea"/>
                  <a:cs typeface="+mn-cs"/>
                </a:rPr>
                <a:t>设置识别对象</a:t>
              </a:r>
            </a:p>
          </p:txBody>
        </p:sp>
      </p:grpSp>
      <p:grpSp>
        <p:nvGrpSpPr>
          <p:cNvPr id="12" name="view-analysis"/>
          <p:cNvGrpSpPr/>
          <p:nvPr/>
        </p:nvGrpSpPr>
        <p:grpSpPr>
          <a:xfrm>
            <a:off x="4400550" y="1870075"/>
            <a:ext cx="2430018" cy="2483993"/>
            <a:chOff x="4400550" y="1870075"/>
            <a:chExt cx="2430018" cy="2483993"/>
          </a:xfrm>
        </p:grpSpPr>
        <p:sp>
          <p:nvSpPr>
            <p:cNvPr id="9" name="TextBox 9"/>
            <p:cNvSpPr txBox="1"/>
            <p:nvPr/>
          </p:nvSpPr>
          <p:spPr>
            <a:xfrm>
              <a:off x="440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2"/>
                  </a:solidFill>
                  <a:latin typeface="+mn-lt"/>
                  <a:ea typeface="+mn-ea"/>
                  <a:cs typeface="+mn-cs"/>
                </a:rPr>
                <a:t>02</a:t>
              </a:r>
            </a:p>
          </p:txBody>
        </p:sp>
        <p:sp>
          <p:nvSpPr>
            <p:cNvPr id="10" name="TextBox 10"/>
            <p:cNvSpPr txBox="1"/>
            <p:nvPr/>
          </p:nvSpPr>
          <p:spPr>
            <a:xfrm>
              <a:off x="440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查看分析</a:t>
              </a:r>
            </a:p>
          </p:txBody>
        </p:sp>
        <p:sp>
          <p:nvSpPr>
            <p:cNvPr id="11" name="TextBox 11"/>
            <p:cNvSpPr txBox="1"/>
            <p:nvPr/>
          </p:nvSpPr>
          <p:spPr>
            <a:xfrm>
              <a:off x="440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查看个体位置、轮廓</a:t>
              </a:r>
              <a:br>
                <a:rPr lang="zh-CN" sz="2100" dirty="0">
                  <a:solidFill>
                    <a:schemeClr val="dk1"/>
                  </a:solidFill>
                  <a:latin typeface="+mn-lt"/>
                  <a:ea typeface="+mn-ea"/>
                  <a:cs typeface="+mn-cs"/>
                </a:rPr>
              </a:br>
              <a:r>
                <a:rPr lang="zh-CN" sz="2100" dirty="0">
                  <a:solidFill>
                    <a:schemeClr val="dk1"/>
                  </a:solidFill>
                  <a:latin typeface="+mn-lt"/>
                  <a:ea typeface="+mn-ea"/>
                  <a:cs typeface="+mn-cs"/>
                </a:rPr>
                <a:t>与连续编号</a:t>
              </a:r>
            </a:p>
          </p:txBody>
        </p:sp>
      </p:grpSp>
      <p:grpSp>
        <p:nvGrpSpPr>
          <p:cNvPr id="16" name="save-records"/>
          <p:cNvGrpSpPr/>
          <p:nvPr/>
        </p:nvGrpSpPr>
        <p:grpSpPr>
          <a:xfrm>
            <a:off x="8210550" y="1870075"/>
            <a:ext cx="2430018" cy="2483993"/>
            <a:chOff x="8210550" y="1870075"/>
            <a:chExt cx="2430018" cy="2483993"/>
          </a:xfrm>
        </p:grpSpPr>
        <p:sp>
          <p:nvSpPr>
            <p:cNvPr id="13" name="TextBox 13"/>
            <p:cNvSpPr txBox="1"/>
            <p:nvPr/>
          </p:nvSpPr>
          <p:spPr>
            <a:xfrm>
              <a:off x="8210550" y="1870075"/>
              <a:ext cx="877725"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03</a:t>
              </a:r>
            </a:p>
          </p:txBody>
        </p:sp>
        <p:sp>
          <p:nvSpPr>
            <p:cNvPr id="14" name="TextBox 14"/>
            <p:cNvSpPr txBox="1"/>
            <p:nvPr/>
          </p:nvSpPr>
          <p:spPr>
            <a:xfrm>
              <a:off x="8217408" y="2879725"/>
              <a:ext cx="131673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保存记录</a:t>
              </a:r>
            </a:p>
          </p:txBody>
        </p:sp>
        <p:sp>
          <p:nvSpPr>
            <p:cNvPr id="15" name="TextBox 15"/>
            <p:cNvSpPr txBox="1"/>
            <p:nvPr/>
          </p:nvSpPr>
          <p:spPr>
            <a:xfrm>
              <a:off x="8218932" y="3486150"/>
              <a:ext cx="2421636" cy="867918"/>
            </a:xfrm>
            <a:prstGeom prst="rect">
              <a:avLst/>
            </a:prstGeom>
            <a:noFill/>
            <a:ln>
              <a:noFill/>
            </a:ln>
          </p:spPr>
          <p:txBody>
            <a:bodyPr wrap="none" lIns="0" tIns="0" rIns="0" bIns="0" anchor="t" anchorCtr="0">
              <a:spAutoFit/>
            </a:bodyPr>
            <a:lstStyle/>
            <a:p>
              <a:pPr algn="l">
                <a:lnSpc>
                  <a:spcPts val="3600"/>
                </a:lnSpc>
              </a:pPr>
              <a:r>
                <a:rPr lang="zh-CN" sz="2100" dirty="0">
                  <a:solidFill>
                    <a:schemeClr val="dk1"/>
                  </a:solidFill>
                  <a:latin typeface="+mn-lt"/>
                  <a:ea typeface="+mn-ea"/>
                  <a:cs typeface="+mn-cs"/>
                </a:rPr>
                <a:t>回看数量和个体记录</a:t>
              </a:r>
              <a:br>
                <a:rPr lang="zh-CN" sz="2100" dirty="0">
                  <a:solidFill>
                    <a:schemeClr val="dk1"/>
                  </a:solidFill>
                  <a:latin typeface="+mn-lt"/>
                  <a:ea typeface="+mn-ea"/>
                  <a:cs typeface="+mn-cs"/>
                </a:rPr>
              </a:br>
              <a:r>
                <a:rPr lang="zh-CN" sz="2100" dirty="0">
                  <a:solidFill>
                    <a:schemeClr val="dk1"/>
                  </a:solidFill>
                  <a:latin typeface="+mn-lt"/>
                  <a:ea typeface="+mn-ea"/>
                  <a:cs typeface="+mn-cs"/>
                </a:rPr>
                <a:t>导出结果与报表</a:t>
              </a:r>
            </a:p>
          </p:txBody>
        </p:sp>
      </p:grpSp>
      <p:grpSp>
        <p:nvGrpSpPr>
          <p:cNvPr id="19" name="usable-output"/>
          <p:cNvGrpSpPr/>
          <p:nvPr/>
        </p:nvGrpSpPr>
        <p:grpSpPr>
          <a:xfrm>
            <a:off x="597408" y="5334000"/>
            <a:ext cx="10984992" cy="729742"/>
            <a:chOff x="597408" y="5334000"/>
            <a:chExt cx="10984992" cy="729742"/>
          </a:xfrm>
        </p:grpSpPr>
        <p:sp>
          <p:nvSpPr>
            <p:cNvPr id="17" name="Line 17"/>
            <p:cNvSpPr/>
            <p:nvPr/>
          </p:nvSpPr>
          <p:spPr>
            <a:xfrm>
              <a:off x="609600" y="5334000"/>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8" name="TextBox 18"/>
            <p:cNvSpPr txBox="1"/>
            <p:nvPr/>
          </p:nvSpPr>
          <p:spPr>
            <a:xfrm>
              <a:off x="597408" y="5594350"/>
              <a:ext cx="5193792"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让分析结果可以查看、回看和保存。</a:t>
              </a:r>
            </a:p>
          </p:txBody>
        </p:sp>
      </p:grpSp>
      <p:grpSp>
        <p:nvGrpSpPr>
          <p:cNvPr id="22" name="footer"/>
          <p:cNvGrpSpPr/>
          <p:nvPr/>
        </p:nvGrpSpPr>
        <p:grpSpPr>
          <a:xfrm>
            <a:off x="603504" y="6410325"/>
            <a:ext cx="10984992" cy="234696"/>
            <a:chOff x="603504" y="6410325"/>
            <a:chExt cx="10984992" cy="234696"/>
          </a:xfrm>
        </p:grpSpPr>
        <p:sp>
          <p:nvSpPr>
            <p:cNvPr id="20" name="TextBox 20"/>
            <p:cNvSpPr txBox="1"/>
            <p:nvPr/>
          </p:nvSpPr>
          <p:spPr>
            <a:xfrm>
              <a:off x="603504" y="6410325"/>
              <a:ext cx="1466088"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拟建系统的主要功能</a:t>
              </a:r>
            </a:p>
          </p:txBody>
        </p:sp>
        <p:sp>
          <p:nvSpPr>
            <p:cNvPr id="21" name="TextBox 21"/>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03 系统设计</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猪只群体监测的应用案例</a:t>
              </a:r>
            </a:p>
          </p:txBody>
        </p:sp>
      </p:grpSp>
      <p:grpSp>
        <p:nvGrpSpPr>
          <p:cNvPr id="6" name="case-context"/>
          <p:cNvGrpSpPr/>
          <p:nvPr/>
        </p:nvGrpSpPr>
        <p:grpSpPr>
          <a:xfrm>
            <a:off x="598932" y="1889125"/>
            <a:ext cx="6806184" cy="410718"/>
            <a:chOff x="598932" y="1889125"/>
            <a:chExt cx="6806184" cy="410718"/>
          </a:xfrm>
        </p:grpSpPr>
        <p:sp>
          <p:nvSpPr>
            <p:cNvPr id="5" name="TextBox 5"/>
            <p:cNvSpPr txBox="1"/>
            <p:nvPr/>
          </p:nvSpPr>
          <p:spPr>
            <a:xfrm>
              <a:off x="598932" y="1889125"/>
              <a:ext cx="6806184" cy="410718"/>
            </a:xfrm>
            <a:prstGeom prst="rect">
              <a:avLst/>
            </a:prstGeom>
            <a:noFill/>
            <a:ln>
              <a:noFill/>
            </a:ln>
          </p:spPr>
          <p:txBody>
            <a:bodyPr wrap="none" lIns="0" tIns="0" rIns="0" bIns="0" anchor="t" anchorCtr="0">
              <a:spAutoFit/>
            </a:bodyPr>
            <a:lstStyle/>
            <a:p>
              <a:pPr algn="l"/>
              <a:r>
                <a:rPr lang="zh-CN" sz="2100" dirty="0">
                  <a:solidFill>
                    <a:schemeClr val="dk1"/>
                  </a:solidFill>
                  <a:latin typeface="+mn-lt"/>
                  <a:ea typeface="+mn-ea"/>
                  <a:cs typeface="+mn-cs"/>
                </a:rPr>
                <a:t>以密集聚集、外观相似的猪只群体作为应用验证场景。</a:t>
              </a:r>
            </a:p>
          </p:txBody>
        </p:sp>
      </p:grpSp>
      <p:grpSp>
        <p:nvGrpSpPr>
          <p:cNvPr id="9" name="case-needs"/>
          <p:cNvGrpSpPr/>
          <p:nvPr/>
        </p:nvGrpSpPr>
        <p:grpSpPr>
          <a:xfrm>
            <a:off x="597408" y="2784475"/>
            <a:ext cx="2689860" cy="1934718"/>
            <a:chOff x="597408" y="2784475"/>
            <a:chExt cx="2689860" cy="1934718"/>
          </a:xfrm>
        </p:grpSpPr>
        <p:sp>
          <p:nvSpPr>
            <p:cNvPr id="7" name="TextBox 7"/>
            <p:cNvSpPr txBox="1"/>
            <p:nvPr/>
          </p:nvSpPr>
          <p:spPr>
            <a:xfrm>
              <a:off x="5974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场景中需要关注</a:t>
              </a:r>
            </a:p>
          </p:txBody>
        </p:sp>
        <p:sp>
          <p:nvSpPr>
            <p:cNvPr id="8" name="TextBox 8"/>
            <p:cNvSpPr txBox="1"/>
            <p:nvPr/>
          </p:nvSpPr>
          <p:spPr>
            <a:xfrm>
              <a:off x="598932" y="3317875"/>
              <a:ext cx="26883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当前能看到多少个体</a:t>
              </a:r>
              <a:br>
                <a:rPr lang="zh-CN" sz="2100" dirty="0">
                  <a:solidFill>
                    <a:schemeClr val="dk1"/>
                  </a:solidFill>
                  <a:latin typeface="+mn-lt"/>
                  <a:ea typeface="+mn-ea"/>
                  <a:cs typeface="+mn-cs"/>
                </a:rPr>
              </a:br>
              <a:r>
                <a:rPr lang="zh-CN" sz="2100" dirty="0">
                  <a:solidFill>
                    <a:schemeClr val="dk1"/>
                  </a:solidFill>
                  <a:latin typeface="+mn-lt"/>
                  <a:ea typeface="+mn-ea"/>
                  <a:cs typeface="+mn-cs"/>
                </a:rPr>
                <a:t>个体在哪里、停留多久</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遮挡后能否接续原记录</a:t>
              </a:r>
            </a:p>
          </p:txBody>
        </p:sp>
      </p:grpSp>
      <p:grpSp>
        <p:nvGrpSpPr>
          <p:cNvPr id="12" name="case-records"/>
          <p:cNvGrpSpPr/>
          <p:nvPr/>
        </p:nvGrpSpPr>
        <p:grpSpPr>
          <a:xfrm>
            <a:off x="6655308" y="2784475"/>
            <a:ext cx="3223260" cy="1934718"/>
            <a:chOff x="6655308" y="2784475"/>
            <a:chExt cx="3223260" cy="1934718"/>
          </a:xfrm>
        </p:grpSpPr>
        <p:sp>
          <p:nvSpPr>
            <p:cNvPr id="10" name="TextBox 10"/>
            <p:cNvSpPr txBox="1"/>
            <p:nvPr/>
          </p:nvSpPr>
          <p:spPr>
            <a:xfrm>
              <a:off x="6655308" y="2784475"/>
              <a:ext cx="2286000" cy="469392"/>
            </a:xfrm>
            <a:prstGeom prst="rect">
              <a:avLst/>
            </a:prstGeom>
            <a:noFill/>
            <a:ln>
              <a:noFill/>
            </a:ln>
          </p:spPr>
          <p:txBody>
            <a:bodyPr wrap="none" lIns="0" tIns="0" rIns="0" bIns="0" anchor="t" anchorCtr="0">
              <a:spAutoFit/>
            </a:bodyPr>
            <a:lstStyle/>
            <a:p>
              <a:pPr algn="l"/>
              <a:r>
                <a:rPr lang="zh-CN" sz="2400" b="1" dirty="0">
                  <a:solidFill>
                    <a:schemeClr val="accent2"/>
                  </a:solidFill>
                  <a:latin typeface="+mn-lt"/>
                  <a:ea typeface="+mn-ea"/>
                  <a:cs typeface="+mn-cs"/>
                </a:rPr>
                <a:t>预期形成的记录</a:t>
              </a:r>
            </a:p>
          </p:txBody>
        </p:sp>
        <p:sp>
          <p:nvSpPr>
            <p:cNvPr id="11" name="TextBox 11"/>
            <p:cNvSpPr txBox="1"/>
            <p:nvPr/>
          </p:nvSpPr>
          <p:spPr>
            <a:xfrm>
              <a:off x="6656832" y="3317875"/>
              <a:ext cx="3221736" cy="1401318"/>
            </a:xfrm>
            <a:prstGeom prst="rect">
              <a:avLst/>
            </a:prstGeom>
            <a:noFill/>
            <a:ln>
              <a:noFill/>
            </a:ln>
          </p:spPr>
          <p:txBody>
            <a:bodyPr wrap="none" lIns="0" tIns="0" rIns="0" bIns="0" anchor="t" anchorCtr="0">
              <a:spAutoFit/>
            </a:bodyPr>
            <a:lstStyle/>
            <a:p>
              <a:pPr algn="l">
                <a:lnSpc>
                  <a:spcPts val="3900"/>
                </a:lnSpc>
              </a:pPr>
              <a:r>
                <a:rPr lang="zh-CN" sz="2100" dirty="0">
                  <a:solidFill>
                    <a:schemeClr val="dk1"/>
                  </a:solidFill>
                  <a:latin typeface="+mn-lt"/>
                  <a:ea typeface="+mn-ea"/>
                  <a:cs typeface="+mn-cs"/>
                </a:rPr>
                <a:t>数量变化记录</a:t>
              </a:r>
              <a:br>
                <a:rPr lang="zh-CN" sz="2100" dirty="0">
                  <a:solidFill>
                    <a:schemeClr val="dk1"/>
                  </a:solidFill>
                  <a:latin typeface="+mn-lt"/>
                  <a:ea typeface="+mn-ea"/>
                  <a:cs typeface="+mn-cs"/>
                </a:rPr>
              </a:br>
              <a:r>
                <a:rPr lang="zh-CN" sz="2100" dirty="0">
                  <a:solidFill>
                    <a:schemeClr val="dk1"/>
                  </a:solidFill>
                  <a:latin typeface="+mn-lt"/>
                  <a:ea typeface="+mn-ea"/>
                  <a:cs typeface="+mn-cs"/>
                </a:rPr>
                <a:t>个体位置与区域记录</a:t>
              </a:r>
              <a:br>
                <a:rPr lang="zh-CN" sz="2100" dirty="0">
                  <a:solidFill>
                    <a:schemeClr val="dk1"/>
                  </a:solidFill>
                  <a:latin typeface="+mn-lt"/>
                  <a:ea typeface="+mn-ea"/>
                  <a:cs typeface="+mn-cs"/>
                </a:rPr>
              </a:br>
              <a:r>
                <a:rPr lang="zh-CN" sz="2100" dirty="0">
                  <a:solidFill>
                    <a:schemeClr val="dk1"/>
                  </a:solidFill>
                  <a:latin typeface="+mn-lt"/>
                  <a:ea typeface="+mn-ea"/>
                  <a:cs typeface="+mn-cs"/>
                </a:rPr>
                <a:t>遮挡前后可回看的连续记录</a:t>
              </a:r>
            </a:p>
          </p:txBody>
        </p:sp>
      </p:grpSp>
      <p:grpSp>
        <p:nvGrpSpPr>
          <p:cNvPr id="15" name="general-scope"/>
          <p:cNvGrpSpPr/>
          <p:nvPr/>
        </p:nvGrpSpPr>
        <p:grpSpPr>
          <a:xfrm>
            <a:off x="598932" y="5438775"/>
            <a:ext cx="10983468" cy="642493"/>
            <a:chOff x="598932" y="5438775"/>
            <a:chExt cx="10983468" cy="642493"/>
          </a:xfrm>
        </p:grpSpPr>
        <p:sp>
          <p:nvSpPr>
            <p:cNvPr id="13" name="Line 13"/>
            <p:cNvSpPr/>
            <p:nvPr/>
          </p:nvSpPr>
          <p:spPr>
            <a:xfrm>
              <a:off x="609600" y="543877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14" name="TextBox 14"/>
            <p:cNvSpPr txBox="1"/>
            <p:nvPr/>
          </p:nvSpPr>
          <p:spPr>
            <a:xfrm>
              <a:off x="598932" y="5670550"/>
              <a:ext cx="7936992" cy="410718"/>
            </a:xfrm>
            <a:prstGeom prst="rect">
              <a:avLst/>
            </a:prstGeom>
            <a:noFill/>
            <a:ln>
              <a:noFill/>
            </a:ln>
          </p:spPr>
          <p:txBody>
            <a:bodyPr wrap="none" lIns="0" tIns="0" rIns="0" bIns="0" anchor="t" anchorCtr="0">
              <a:spAutoFit/>
            </a:bodyPr>
            <a:lstStyle/>
            <a:p>
              <a:pPr algn="l"/>
              <a:r>
                <a:rPr lang="zh-CN" sz="2100" dirty="0">
                  <a:solidFill>
                    <a:schemeClr val="accent5"/>
                  </a:solidFill>
                  <a:latin typeface="+mn-lt"/>
                  <a:ea typeface="+mn-ea"/>
                  <a:cs typeface="+mn-cs"/>
                </a:rPr>
                <a:t>系统可配置不同识别对象，具体效果在各应用场景中分别验证。</a:t>
              </a:r>
            </a:p>
          </p:txBody>
        </p:sp>
      </p:grpSp>
      <p:grpSp>
        <p:nvGrpSpPr>
          <p:cNvPr id="18" name="footer"/>
          <p:cNvGrpSpPr/>
          <p:nvPr/>
        </p:nvGrpSpPr>
        <p:grpSpPr>
          <a:xfrm>
            <a:off x="603504" y="6410325"/>
            <a:ext cx="10984992" cy="234696"/>
            <a:chOff x="603504" y="6410325"/>
            <a:chExt cx="10984992" cy="234696"/>
          </a:xfrm>
        </p:grpSpPr>
        <p:sp>
          <p:nvSpPr>
            <p:cNvPr id="16" name="TextBox 16"/>
            <p:cNvSpPr txBox="1"/>
            <p:nvPr/>
          </p:nvSpPr>
          <p:spPr>
            <a:xfrm>
              <a:off x="603504" y="6410325"/>
              <a:ext cx="981456" cy="234696"/>
            </a:xfrm>
            <a:prstGeom prst="rect">
              <a:avLst/>
            </a:prstGeom>
            <a:noFill/>
            <a:ln>
              <a:noFill/>
            </a:ln>
          </p:spPr>
          <p:txBody>
            <a:bodyPr wrap="none" lIns="0" tIns="0" rIns="0" bIns="0" anchor="t" anchorCtr="0">
              <a:spAutoFit/>
            </a:bodyPr>
            <a:lstStyle/>
            <a:p>
              <a:pPr algn="l"/>
              <a:r>
                <a:rPr lang="zh-CN" sz="1200" dirty="0">
                  <a:solidFill>
                    <a:schemeClr val="accent5"/>
                  </a:solidFill>
                  <a:latin typeface="+mn-lt"/>
                  <a:ea typeface="+mn-ea"/>
                  <a:cs typeface="+mn-cs"/>
                </a:rPr>
                <a:t>应用验证方案</a:t>
              </a:r>
            </a:p>
          </p:txBody>
        </p:sp>
        <p:sp>
          <p:nvSpPr>
            <p:cNvPr id="17" name="TextBox 17"/>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title"/>
          <p:cNvGrpSpPr/>
          <p:nvPr/>
        </p:nvGrpSpPr>
        <p:grpSpPr>
          <a:xfrm>
            <a:off x="594360" y="415925"/>
            <a:ext cx="4472940" cy="964565"/>
            <a:chOff x="594360" y="415925"/>
            <a:chExt cx="4472940" cy="964565"/>
          </a:xfrm>
        </p:grpSpPr>
        <p:sp>
          <p:nvSpPr>
            <p:cNvPr id="2" name="TextBox 2"/>
            <p:cNvSpPr txBox="1"/>
            <p:nvPr/>
          </p:nvSpPr>
          <p:spPr>
            <a:xfrm>
              <a:off x="601218" y="415925"/>
              <a:ext cx="1216228" cy="322707"/>
            </a:xfrm>
            <a:prstGeom prst="rect">
              <a:avLst/>
            </a:prstGeom>
            <a:noFill/>
            <a:ln>
              <a:noFill/>
            </a:ln>
          </p:spPr>
          <p:txBody>
            <a:bodyPr wrap="none" lIns="0" tIns="0" rIns="0" bIns="0" anchor="t" anchorCtr="0">
              <a:spAutoFit/>
            </a:bodyPr>
            <a:lstStyle/>
            <a:p>
              <a:pPr algn="l"/>
              <a:r>
                <a:rPr lang="zh-CN" sz="1650" dirty="0">
                  <a:solidFill>
                    <a:schemeClr val="accent2"/>
                  </a:solidFill>
                  <a:latin typeface="+mn-lt"/>
                  <a:ea typeface="+mn-ea"/>
                  <a:cs typeface="+mn-cs"/>
                </a:rPr>
                <a:t>04 研究安排</a:t>
              </a:r>
            </a:p>
          </p:txBody>
        </p:sp>
        <p:sp>
          <p:nvSpPr>
            <p:cNvPr id="3" name="TextBox 3"/>
            <p:cNvSpPr txBox="1"/>
            <p:nvPr/>
          </p:nvSpPr>
          <p:spPr>
            <a:xfrm>
              <a:off x="594360" y="793750"/>
              <a:ext cx="4472940"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现有基础与后续研究安排</a:t>
              </a:r>
            </a:p>
          </p:txBody>
        </p:sp>
      </p:grpSp>
      <p:grpSp>
        <p:nvGrpSpPr>
          <p:cNvPr id="7" name="existing-foundation"/>
          <p:cNvGrpSpPr/>
          <p:nvPr/>
        </p:nvGrpSpPr>
        <p:grpSpPr>
          <a:xfrm>
            <a:off x="597408" y="1898650"/>
            <a:ext cx="5147310" cy="1267968"/>
            <a:chOff x="597408" y="1898650"/>
            <a:chExt cx="5147310" cy="1267968"/>
          </a:xfrm>
        </p:grpSpPr>
        <p:sp>
          <p:nvSpPr>
            <p:cNvPr id="5" name="TextBox 5"/>
            <p:cNvSpPr txBox="1"/>
            <p:nvPr/>
          </p:nvSpPr>
          <p:spPr>
            <a:xfrm>
              <a:off x="597408" y="1936750"/>
              <a:ext cx="163982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可复用基础</a:t>
              </a:r>
            </a:p>
          </p:txBody>
        </p:sp>
        <p:sp>
          <p:nvSpPr>
            <p:cNvPr id="6" name="TextBox 6"/>
            <p:cNvSpPr txBox="1"/>
            <p:nvPr/>
          </p:nvSpPr>
          <p:spPr>
            <a:xfrm>
              <a:off x="3323082" y="1898650"/>
              <a:ext cx="2421636" cy="1267968"/>
            </a:xfrm>
            <a:prstGeom prst="rect">
              <a:avLst/>
            </a:prstGeom>
            <a:noFill/>
            <a:ln>
              <a:noFill/>
            </a:ln>
          </p:spPr>
          <p:txBody>
            <a:bodyPr wrap="none" lIns="0" tIns="0" rIns="0" bIns="0" anchor="t" anchorCtr="0">
              <a:spAutoFit/>
            </a:bodyPr>
            <a:lstStyle/>
            <a:p>
              <a:pPr algn="l">
                <a:lnSpc>
                  <a:spcPts val="3375"/>
                </a:lnSpc>
              </a:pPr>
              <a:r>
                <a:rPr lang="zh-CN" sz="2100" dirty="0">
                  <a:solidFill>
                    <a:schemeClr val="dk1"/>
                  </a:solidFill>
                  <a:latin typeface="+mn-lt"/>
                  <a:ea typeface="+mn-ea"/>
                  <a:cs typeface="+mn-cs"/>
                </a:rPr>
                <a:t>已有动物图像资料</a:t>
              </a:r>
              <a:br>
                <a:rPr lang="zh-CN" sz="2100" dirty="0">
                  <a:solidFill>
                    <a:schemeClr val="dk1"/>
                  </a:solidFill>
                  <a:latin typeface="+mn-lt"/>
                  <a:ea typeface="+mn-ea"/>
                  <a:cs typeface="+mn-cs"/>
                </a:rPr>
              </a:br>
              <a:r>
                <a:rPr lang="zh-CN" sz="2100" dirty="0">
                  <a:solidFill>
                    <a:schemeClr val="dk1"/>
                  </a:solidFill>
                  <a:latin typeface="+mn-lt"/>
                  <a:ea typeface="+mn-ea"/>
                  <a:cs typeface="+mn-cs"/>
                </a:rPr>
                <a:t>已有处理与导出流程</a:t>
              </a:r>
              <a:br>
                <a:rPr lang="zh-CN" sz="2100" dirty="0">
                  <a:solidFill>
                    <a:schemeClr val="dk1"/>
                  </a:solidFill>
                  <a:latin typeface="+mn-lt"/>
                  <a:ea typeface="+mn-ea"/>
                  <a:cs typeface="+mn-cs"/>
                </a:rPr>
              </a:br>
              <a:r>
                <a:rPr lang="zh-CN" sz="2100" dirty="0">
                  <a:solidFill>
                    <a:schemeClr val="dk1"/>
                  </a:solidFill>
                  <a:latin typeface="+mn-lt"/>
                  <a:ea typeface="+mn-ea"/>
                  <a:cs typeface="+mn-cs"/>
                </a:rPr>
                <a:t>前期实验与分析经验</a:t>
              </a:r>
            </a:p>
          </p:txBody>
        </p:sp>
      </p:grpSp>
      <p:grpSp>
        <p:nvGrpSpPr>
          <p:cNvPr id="15" name="next-tasks"/>
          <p:cNvGrpSpPr/>
          <p:nvPr/>
        </p:nvGrpSpPr>
        <p:grpSpPr>
          <a:xfrm>
            <a:off x="598932" y="3705225"/>
            <a:ext cx="10983468" cy="1147318"/>
            <a:chOff x="598932" y="3705225"/>
            <a:chExt cx="10983468" cy="1147318"/>
          </a:xfrm>
        </p:grpSpPr>
        <p:sp>
          <p:nvSpPr>
            <p:cNvPr id="8" name="Line 8"/>
            <p:cNvSpPr/>
            <p:nvPr/>
          </p:nvSpPr>
          <p:spPr>
            <a:xfrm>
              <a:off x="609600" y="3705225"/>
              <a:ext cx="10972800" cy="9525"/>
            </a:xfrm>
            <a:custGeom>
              <a:avLst/>
              <a:gdLst/>
              <a:ahLst/>
              <a:cxnLst/>
              <a:rect l="l" t="t" r="r" b="b"/>
              <a:pathLst>
                <a:path w="10972800" h="9525">
                  <a:moveTo>
                    <a:pt x="0" y="0"/>
                  </a:moveTo>
                  <a:lnTo>
                    <a:pt x="10972800" y="0"/>
                  </a:lnTo>
                </a:path>
              </a:pathLst>
            </a:custGeom>
            <a:noFill/>
            <a:ln w="19050">
              <a:solidFill>
                <a:schemeClr val="accent6"/>
              </a:solidFill>
            </a:ln>
          </p:spPr>
        </p:sp>
        <p:sp>
          <p:nvSpPr>
            <p:cNvPr id="9" name="TextBox 9"/>
            <p:cNvSpPr txBox="1"/>
            <p:nvPr/>
          </p:nvSpPr>
          <p:spPr>
            <a:xfrm>
              <a:off x="60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第一步</a:t>
              </a:r>
            </a:p>
          </p:txBody>
        </p:sp>
        <p:sp>
          <p:nvSpPr>
            <p:cNvPr id="10" name="TextBox 10"/>
            <p:cNvSpPr txBox="1"/>
            <p:nvPr/>
          </p:nvSpPr>
          <p:spPr>
            <a:xfrm>
              <a:off x="441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第二步</a:t>
              </a:r>
            </a:p>
          </p:txBody>
        </p:sp>
        <p:sp>
          <p:nvSpPr>
            <p:cNvPr id="11" name="TextBox 11"/>
            <p:cNvSpPr txBox="1"/>
            <p:nvPr/>
          </p:nvSpPr>
          <p:spPr>
            <a:xfrm>
              <a:off x="8221218" y="3968750"/>
              <a:ext cx="683133" cy="322707"/>
            </a:xfrm>
            <a:prstGeom prst="rect">
              <a:avLst/>
            </a:prstGeom>
            <a:noFill/>
            <a:ln>
              <a:noFill/>
            </a:ln>
          </p:spPr>
          <p:txBody>
            <a:bodyPr wrap="none" lIns="0" tIns="0" rIns="0" bIns="0" anchor="t" anchorCtr="0">
              <a:spAutoFit/>
            </a:bodyPr>
            <a:lstStyle/>
            <a:p>
              <a:pPr algn="l"/>
              <a:r>
                <a:rPr lang="zh-CN" sz="1650" dirty="0">
                  <a:solidFill>
                    <a:schemeClr val="accent5"/>
                  </a:solidFill>
                  <a:latin typeface="+mn-lt"/>
                  <a:ea typeface="+mn-ea"/>
                  <a:cs typeface="+mn-cs"/>
                </a:rPr>
                <a:t>第三步</a:t>
              </a:r>
            </a:p>
          </p:txBody>
        </p:sp>
        <p:sp>
          <p:nvSpPr>
            <p:cNvPr id="12" name="TextBox 12"/>
            <p:cNvSpPr txBox="1"/>
            <p:nvPr/>
          </p:nvSpPr>
          <p:spPr>
            <a:xfrm>
              <a:off x="598932" y="4441825"/>
              <a:ext cx="1717548" cy="410718"/>
            </a:xfrm>
            <a:prstGeom prst="rect">
              <a:avLst/>
            </a:prstGeom>
            <a:noFill/>
            <a:ln>
              <a:noFill/>
            </a:ln>
          </p:spPr>
          <p:txBody>
            <a:bodyPr wrap="none" lIns="0" tIns="0" rIns="0" bIns="0" anchor="t" anchorCtr="0">
              <a:spAutoFit/>
            </a:bodyPr>
            <a:lstStyle/>
            <a:p>
              <a:pPr algn="l"/>
              <a:r>
                <a:rPr lang="zh-CN" sz="2100" b="1" dirty="0">
                  <a:solidFill>
                    <a:srgbClr val="315E9D"/>
                  </a:solidFill>
                  <a:latin typeface="+mn-lt"/>
                  <a:ea typeface="+mn-ea"/>
                  <a:cs typeface="+mn-cs"/>
                </a:rPr>
                <a:t>完善方法验证</a:t>
              </a:r>
            </a:p>
          </p:txBody>
        </p:sp>
        <p:sp>
          <p:nvSpPr>
            <p:cNvPr id="13" name="TextBox 13"/>
            <p:cNvSpPr txBox="1"/>
            <p:nvPr/>
          </p:nvSpPr>
          <p:spPr>
            <a:xfrm>
              <a:off x="4408932" y="4441825"/>
              <a:ext cx="1717548" cy="410718"/>
            </a:xfrm>
            <a:prstGeom prst="rect">
              <a:avLst/>
            </a:prstGeom>
            <a:noFill/>
            <a:ln>
              <a:noFill/>
            </a:ln>
          </p:spPr>
          <p:txBody>
            <a:bodyPr wrap="none" lIns="0" tIns="0" rIns="0" bIns="0" anchor="t" anchorCtr="0">
              <a:spAutoFit/>
            </a:bodyPr>
            <a:lstStyle/>
            <a:p>
              <a:pPr algn="l"/>
              <a:r>
                <a:rPr lang="zh-CN" sz="2100" b="1" dirty="0">
                  <a:solidFill>
                    <a:schemeClr val="accent2"/>
                  </a:solidFill>
                  <a:latin typeface="+mn-lt"/>
                  <a:ea typeface="+mn-ea"/>
                  <a:cs typeface="+mn-cs"/>
                </a:rPr>
                <a:t>补充连续视频</a:t>
              </a:r>
            </a:p>
          </p:txBody>
        </p:sp>
        <p:sp>
          <p:nvSpPr>
            <p:cNvPr id="14" name="TextBox 14"/>
            <p:cNvSpPr txBox="1"/>
            <p:nvPr/>
          </p:nvSpPr>
          <p:spPr>
            <a:xfrm>
              <a:off x="8218932" y="4441825"/>
              <a:ext cx="2565654" cy="410718"/>
            </a:xfrm>
            <a:prstGeom prst="rect">
              <a:avLst/>
            </a:prstGeom>
            <a:noFill/>
            <a:ln>
              <a:noFill/>
            </a:ln>
          </p:spPr>
          <p:txBody>
            <a:bodyPr wrap="none" lIns="0" tIns="0" rIns="0" bIns="0" anchor="t" anchorCtr="0">
              <a:spAutoFit/>
            </a:bodyPr>
            <a:lstStyle/>
            <a:p>
              <a:pPr algn="l"/>
              <a:r>
                <a:rPr lang="zh-CN" sz="2100" b="1" dirty="0">
                  <a:solidFill>
                    <a:schemeClr val="accent1"/>
                  </a:solidFill>
                  <a:latin typeface="+mn-lt"/>
                  <a:ea typeface="+mn-ea"/>
                  <a:cs typeface="+mn-cs"/>
                </a:rPr>
                <a:t>系统联调与论文整理</a:t>
              </a:r>
            </a:p>
          </p:txBody>
        </p:sp>
      </p:grpSp>
      <p:grpSp>
        <p:nvGrpSpPr>
          <p:cNvPr id="17" name="expected-delivery"/>
          <p:cNvGrpSpPr/>
          <p:nvPr/>
        </p:nvGrpSpPr>
        <p:grpSpPr>
          <a:xfrm>
            <a:off x="597408" y="5651500"/>
            <a:ext cx="7455408" cy="469392"/>
            <a:chOff x="597408" y="5651500"/>
            <a:chExt cx="7455408" cy="469392"/>
          </a:xfrm>
        </p:grpSpPr>
        <p:sp>
          <p:nvSpPr>
            <p:cNvPr id="16" name="TextBox 16"/>
            <p:cNvSpPr txBox="1"/>
            <p:nvPr/>
          </p:nvSpPr>
          <p:spPr>
            <a:xfrm>
              <a:off x="597408" y="5651500"/>
              <a:ext cx="745540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预期成果：方法验证结果与可演示的通用分析系统。</a:t>
              </a:r>
            </a:p>
          </p:txBody>
        </p:sp>
      </p:grpSp>
      <p:sp>
        <p:nvSpPr>
          <p:cNvPr id="18" name="TextBox 18"/>
          <p:cNvSpPr txBox="1"/>
          <p:nvPr/>
        </p:nvSpPr>
        <p:spPr>
          <a:xfrm>
            <a:off x="11035132" y="6410325"/>
            <a:ext cx="553364" cy="234696"/>
          </a:xfrm>
          <a:prstGeom prst="rect">
            <a:avLst/>
          </a:prstGeom>
          <a:noFill/>
          <a:ln>
            <a:noFill/>
          </a:ln>
        </p:spPr>
        <p:txBody>
          <a:bodyPr wrap="none" lIns="0" tIns="0" rIns="0" bIns="0" anchor="t" anchorCtr="0">
            <a:spAutoFit/>
          </a:bodyPr>
          <a:lstStyle/>
          <a:p>
            <a:pPr algn="r"/>
            <a:r>
              <a:rPr lang="zh-CN" sz="1200" dirty="0">
                <a:solidFill>
                  <a:schemeClr val="accent5"/>
                </a:solidFill>
                <a:latin typeface="+mn-lt"/>
                <a:ea typeface="+mn-ea"/>
                <a:cs typeface="+mn-cs"/>
              </a:rPr>
              <a:t>15 / 15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nse_instance_thesis">
  <a:themeElements>
    <a:clrScheme name="dense_instance_thesis">
      <a:dk1>
        <a:srgbClr val="25374C"/>
      </a:dk1>
      <a:lt1>
        <a:srgbClr val="FFFFFF"/>
      </a:lt1>
      <a:dk2>
        <a:srgbClr val="1F497D"/>
      </a:dk2>
      <a:lt2>
        <a:srgbClr val="F1F5F8"/>
      </a:lt2>
      <a:accent1>
        <a:srgbClr val="172B46"/>
      </a:accent1>
      <a:accent2>
        <a:srgbClr val="007F82"/>
      </a:accent2>
      <a:accent3>
        <a:srgbClr val="C36D37"/>
      </a:accent3>
      <a:accent4>
        <a:srgbClr val="172B46"/>
      </a:accent4>
      <a:accent5>
        <a:srgbClr val="596B80"/>
      </a:accent5>
      <a:accent6>
        <a:srgbClr val="D4DEE7"/>
      </a:accent6>
      <a:hlink>
        <a:srgbClr val="007F82"/>
      </a:hlink>
      <a:folHlink>
        <a:srgbClr val="C36D37"/>
      </a:folHlink>
    </a:clrScheme>
    <a:fontScheme name="dense_instance_thesis">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nse_instance_the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2026-10-14T16:37:03Z</dcterms:created>
  <dcterms:modified xsi:type="dcterms:W3CDTF">2026-10-14T16:37:03Z</dcterms:modified>
  <cp:category/>
  <cp:contentStatus/>
</cp:coreProperties>
</file>